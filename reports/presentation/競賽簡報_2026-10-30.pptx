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本隊</c:v>
                </c:pt>
              </c:strCache>
            </c:strRef>
          </c:tx>
          <c:spPr>
            <a:ln w="31750">
              <a:solidFill>
                <a:srgbClr val="C8323A"/>
              </a:solidFill>
            </a:ln>
          </c:spPr>
          <c:marker>
            <c:symbol val="circle"/>
            <c:size val="6"/>
            <c:spPr>
              <a:solidFill>
                <a:srgbClr val="C8323A"/>
              </a:solidFill>
              <a:ln>
                <a:solidFill>
                  <a:srgbClr val="C8323A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  <c:pt idx="7">
                  <c:v>10-15</c:v>
                </c:pt>
                <c:pt idx="8">
                  <c:v>10-16</c:v>
                </c:pt>
                <c:pt idx="9">
                  <c:v>10-20</c:v>
                </c:pt>
                <c:pt idx="10">
                  <c:v>10-21</c:v>
                </c:pt>
                <c:pt idx="11">
                  <c:v>10-22</c:v>
                </c:pt>
                <c:pt idx="12">
                  <c:v>10-27</c:v>
                </c:pt>
                <c:pt idx="13">
                  <c:v>10-28</c:v>
                </c:pt>
                <c:pt idx="14">
                  <c:v>10-29</c:v>
                </c:pt>
                <c:pt idx="15">
                  <c:v>10-30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0.948</c:v>
                </c:pt>
                <c:pt idx="1">
                  <c:v>1.919</c:v>
                </c:pt>
                <c:pt idx="2">
                  <c:v>1.987</c:v>
                </c:pt>
                <c:pt idx="3">
                  <c:v>-0.21</c:v>
                </c:pt>
                <c:pt idx="4">
                  <c:v>-0.8</c:v>
                </c:pt>
                <c:pt idx="5">
                  <c:v>-5.842</c:v>
                </c:pt>
                <c:pt idx="6">
                  <c:v>-3.163</c:v>
                </c:pt>
                <c:pt idx="7">
                  <c:v>-14.191</c:v>
                </c:pt>
                <c:pt idx="8">
                  <c:v>-12.691</c:v>
                </c:pt>
                <c:pt idx="9">
                  <c:v>-18.56</c:v>
                </c:pt>
                <c:pt idx="10">
                  <c:v>-11.735</c:v>
                </c:pt>
                <c:pt idx="11">
                  <c:v>-13.545</c:v>
                </c:pt>
                <c:pt idx="12">
                  <c:v>-14.944</c:v>
                </c:pt>
                <c:pt idx="13">
                  <c:v>-11.978</c:v>
                </c:pt>
                <c:pt idx="14">
                  <c:v>-14.547</c:v>
                </c:pt>
                <c:pt idx="15">
                  <c:v>-17.327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19050">
              <a:solidFill>
                <a:srgbClr val="6B7489"/>
              </a:solidFill>
            </a:ln>
          </c:spPr>
          <c:marker>
            <c:symbol val="circle"/>
            <c:size val="6"/>
            <c:spPr>
              <a:solidFill>
                <a:srgbClr val="6B7489"/>
              </a:solidFill>
              <a:ln>
                <a:solidFill>
                  <a:srgbClr val="6B7489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  <c:pt idx="7">
                  <c:v>10-15</c:v>
                </c:pt>
                <c:pt idx="8">
                  <c:v>10-16</c:v>
                </c:pt>
                <c:pt idx="9">
                  <c:v>10-20</c:v>
                </c:pt>
                <c:pt idx="10">
                  <c:v>10-21</c:v>
                </c:pt>
                <c:pt idx="11">
                  <c:v>10-22</c:v>
                </c:pt>
                <c:pt idx="12">
                  <c:v>10-27</c:v>
                </c:pt>
                <c:pt idx="13">
                  <c:v>10-28</c:v>
                </c:pt>
                <c:pt idx="14">
                  <c:v>10-29</c:v>
                </c:pt>
                <c:pt idx="15">
                  <c:v>10-30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2.55</c:v>
                </c:pt>
                <c:pt idx="1">
                  <c:v>2.78</c:v>
                </c:pt>
                <c:pt idx="2">
                  <c:v>2.74</c:v>
                </c:pt>
                <c:pt idx="3">
                  <c:v>1.73</c:v>
                </c:pt>
                <c:pt idx="4">
                  <c:v>1.7</c:v>
                </c:pt>
                <c:pt idx="5">
                  <c:v>-0.28</c:v>
                </c:pt>
                <c:pt idx="6">
                  <c:v>0.31</c:v>
                </c:pt>
                <c:pt idx="7">
                  <c:v>-3.11</c:v>
                </c:pt>
                <c:pt idx="8">
                  <c:v>-2.81</c:v>
                </c:pt>
                <c:pt idx="9">
                  <c:v>-4.5</c:v>
                </c:pt>
                <c:pt idx="10">
                  <c:v>-3.28</c:v>
                </c:pt>
                <c:pt idx="11">
                  <c:v>-5.02</c:v>
                </c:pt>
                <c:pt idx="12">
                  <c:v>-4.91</c:v>
                </c:pt>
                <c:pt idx="13">
                  <c:v>-2.97</c:v>
                </c:pt>
                <c:pt idx="14">
                  <c:v>-4.35</c:v>
                </c:pt>
                <c:pt idx="15">
                  <c:v>-6.73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15 秒）各位評審好，我們是用多 Agent 資料驅動系統參賽的隊伍。競賽期間總資產 8,267,281 元，累積報酬 -17.33%。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14 秒）同期加權指數 -6.73%。我們共成交 90 筆、15 個標的，每天收盤持股率都在規定的 70% 以上（最低 75.1%）。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16 秒）核心是全市場一個月選股模型，每天排名，集中持有前 5 檔；持有滿 10 個交易日、出現扣成本後更好的股票就全部換股，最長抱 40 個交易日。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秒）我們用 2002 到 2026 年所有查得到的資料做樣本外回測，年化 +24.1%、同期大盤 +9.0%。過程中我們發現原本假設收盤價成交，年化 +47.2% 是高估的，改成實際做得到的隔日開盤成交才是真實數字。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13 秒）單一推薦 20 天後賺錢的機率約 50%，優勢來自賺多賠少，所以我們分散持有、嚴守停損，不宣稱任何 90% 準確率。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秒）系統由 13 個 Agent 分工：資料檢查、風險、國際市場、產業新聞、假消息過濾、論壇風向、財報、市場異常、多空辯論、影子組合與工程師監控；所有數字由程式計算，語言模型只負責分類與文字，並經過數字核對。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18 秒）每天做壓力測試：大盤跌 5% 估計影響 -471,011 元，占總資產 -5.71%；黑天鵝指標經 26 年回測沒有預測力，我們只當提醒、不用來恐慌賣出。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10 秒）貢獻最大的是 合庫金，+65,359 元；拖累最大的是 景碩，-249,560 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18 秒）我們讓系統另開一個完全照策略、開盤成交的影子帳戶。實際比影子差 -947,398 元，主要來自期貨 +0 元與成交時機 -49,598 元，這是我們的改進方向。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15 秒）我們建立自動檢查：發現盤後報告沿用盤中舊資料、回測假設不切實際、現金與官方差 1 元，每一個都找到原因、修正並加上測試，避免再犯。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12 秒）我們的重點不是預測多準，而是用可驗證的流程做決策：數字可追溯、風險可量化、錯誤能被系統發現。謝謝各位。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　決賽簡報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 Agent 資料驅動投資系統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數字可追溯・風險可量化・錯誤能被系統發現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-17.33%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累積報酬（2026-10-05～2026-10-30）・總資產 8,267,281 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成果總覽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累積報酬與加權指數比較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-17.33%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-6.73%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成交筆數／標的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90／15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98.3%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474720" y="1371600"/>
          <a:ext cx="81381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策略：全市場一個月選股＋結單轉股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每天排名、集中持有、條件式換股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全市場上市櫃股票與 ETF，每天以價量特徵預測未來 20 個交易日的超額報酬與創新高機率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集中持有綜合排名前 5 檔、等權配置；處置股、最新財報轉虧的股票不買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持有滿 10 個交易日後，出現扣成本後預期多 1% 以上的股票就全部換股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獲利 ≥ 10% 且有更好標的時提前換股；最長持有 40 個交易日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盤後算好、隔天開盤前預掛：回測顯示開盤成交的報酬遠高於盤中追價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驗證：所有查得到的歷史、樣本外、實際做得到的成交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2002-05-03～2026-10-14，每年只用當時以前的資料重訓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0"/>
                <a:gridCol w="1828800"/>
                <a:gridCol w="54864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年化報酬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隔日開盤成交（實際採用）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+24.1%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盤後算預測、隔天開盤前預掛單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同日收盤成交（舊假設）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6B7489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收盤算預測又用同一個收盤價成交，實戰做不到 → 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+9.0%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同期買進持有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任選 38 個交易日（一次競賽長度）報酬為正的比例 56%；最大回檔 -83%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參數只在前半段挑選，後半段不能變差才採用；近 5 年模擬對參數過度敏感，不自動調參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誠實的勝率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每天依模型排名分組，隔日開盤買、20 天後賣、扣成本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當天排名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賺錢機率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贏大盤機率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5,935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50.2%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+2.49%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1～5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29,549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+2.14%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6～20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88,574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+1.46%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45.8%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21～50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177,075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+1.06%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44.6%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51～150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586,541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+0.41%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42.0%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前 5 名分散持有賺錢機率 56%：優勢來自賺多賠少，所以分散、停損，不追求「每次都對」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系統架構：多 Agent 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數字由程式計算，LLM 只負責分類與文字並經數字核對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資料檢查：日 K 是否最新、和交易所是否一致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風險實驗室：壓力測試、追繳點位、VaR、黑天鵝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交易日曆：結算、除權息、處置股、競賽關鍵日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隔夜監控：夜盤、美股、持股開盤影響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國際市場：美日韓陸歐股、ADR、AI 半導體、商品匯率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產業新聞：持股與前 20 名所屬產業的利多利空（LLM）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假消息過濾：來源分級、多來源證實、誇大與澄清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論壇風向：PTT Stock 版提及與多空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多空辯論：只引用程式事實的多空論點與評審（LLM）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影子組合：完全照策略、開盤成交的帳戶與差距拆解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財報：每天檢查新公布財報、轉虧過濾、利多利空標記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市場異常：大盤波動百分位、市場寬度、產業偏離、個股異常量價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法說會：持股與前 20 名即將召開的法說會、剛開完的反應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風險控管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每天壓力測試、追繳預警、黑天鵝指標回測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80" cy="2880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86100"/>
                <a:gridCol w="2057400"/>
                <a:gridCol w="144018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估計損益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占總資產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-282,606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-3.43%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-471,011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-5.71%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−10%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-942,021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-11.42%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−20%（崩盤）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-1,884,043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-22.84%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費城半導體 −8%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-237,283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-2.88%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台幣急貶 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-110,662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-1.34%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6304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VIX 期限結構倒掛（VIX &gt; 3 個月 VIX）：僅資訊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高收益債 HYG 單日 ≤ −1.5%：僅資訊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日圓急升（美元兌日圓單日 ≤ −2%）：僅資訊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台幣兩日貶逾 1%：僅資訊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交易檢討：損益貢獻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已實現＋未實現，含手續費與證交稅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8229598" cy="4608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72752"/>
                <a:gridCol w="2420470"/>
                <a:gridCol w="19363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損益（元）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5880 合庫金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+65,359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2889 國票金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+47,652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2845 遠東銀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+10,133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+7,104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+2,725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…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3591 艾笛森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-54,862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-109,830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-164,550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6196 帆宣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-212,362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3189 景碩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-249,560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影子組合：如果完全照策略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同一套成本規則、開盤成交、不做期貨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實際帳戶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-17.33%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影子帳戶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-7.85%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差距（元）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-947,398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743200"/>
          <a:ext cx="8229599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878285"/>
                <a:gridCol w="2351314"/>
              </a:tblGrid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差距來源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期貨部位（影子沒有期貨）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成交時機（實際成交價 vs 當天開盤價）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-49,598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零碎成交多付的手續費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-334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選股與換股差異（其餘）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-897,466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發現問題、驗證、修正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系統自己會抓錯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0"/>
                <a:gridCol w="36576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發現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原因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盤後報告用到前一天價格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雲端沿用盤中快取，未滿 3 小時不更新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收盤後缺當天資料就強制更新＋資料檢查 Agent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回測年化被高估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假設收盤價成交，實戰做不到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改隔日開盤成交、全歷史樣本外驗證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持有現金與官方差 1 元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交割金額賣出無條件進位、損益四捨五入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兩種口徑分開計算，對帳完全一致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網站重啟要 2 分鐘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每次重抓 10 年資料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雲端打包快照，3 秒啟動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決策流程可驗證：每個數字都能追溯到程式與官方資料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風險可量化：壓力測試、追繳點位、影子組合把改進方向換算成金額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誠實面對不確定：公開真實勝率，不追求不存在的高準確率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下一步：降低期貨槓桿、開盤前預掛減少滑價、集中持有前 5 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Q&amp;A 預備（備用）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答案中的數字皆由系統產生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0972800" cy="5029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229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回答重點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模型準確率多少？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樣本外排名第 1 名 20 天後賺錢約 50%，前 5 名分散約 56%；優勢在賺多賠少。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怎麼避免過度擬合？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參數只在前半段挑、後半段不能變差才採用；全歷史回測、隔日開盤成交、競賽成本；近 5 年模擬太敏感的參數不自動採用。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期貨槓桿怎麼控管？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每天計算追繳點位與壓力測試並推播。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會不會亂講數字？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數字全部由程式計算，LLM 只做新聞分類與措辭，輸出經 Verifier 比對事實中的數字，對不上就刪除或改用模板。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回測和實際差多少？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 +24.1%；實際報酬 -17.33%，影子組合拆解出期貨與成交時機是主要差距。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遇到資料錯誤怎麼辦？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資料檢查 Agent 每次比對交易所即時資料，自動補正；持股缺價格時報告標示勿依此下單、不寫淨值。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為什麼持有這麼多檔？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早期建倉分散在多個穩健標的；系統已標示零碎部位，換股時一併整併到前 5 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黑天鵝怎麼處理？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VIX、高收益債、日圓、台幣等指標 26 年回測沒有預測力，只做提醒；真正的保護是停損與追繳預警。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論壇與新聞有用嗎？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論壇累積 60 個交易日前只當參考；新聞經假消息過濾（來源分級、多來源證實）後才進入判斷。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如果重來會改什麼？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降低期貨槓桿、開盤前預掛單減少滑價、從一開始就集中 5 檔，影子組合已量化這些改進的金額。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