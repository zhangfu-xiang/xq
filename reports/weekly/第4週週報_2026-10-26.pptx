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總資產</c:v>
                </c:pt>
              </c:strCache>
            </c:strRef>
          </c:tx>
          <c:spPr>
            <a:ln w="28575">
              <a:solidFill>
                <a:srgbClr val="6B46A8"/>
              </a:solidFill>
            </a:ln>
          </c:spPr>
          <c:marker>
            <c:spPr>
              <a:solidFill>
                <a:srgbClr val="6B46A8"/>
              </a:solidFill>
            </c:spPr>
          </c:marker>
          <c:cat>
            <c:strRef>
              <c:f>Sheet1!$A$2:$A$5</c:f>
              <c:strCache>
                <c:ptCount val="4"/>
                <c:pt idx="0">
                  <c:v>週二</c:v>
                </c:pt>
                <c:pt idx="1">
                  <c:v>週三</c:v>
                </c:pt>
                <c:pt idx="2">
                  <c:v>週四</c:v>
                </c:pt>
                <c:pt idx="3">
                  <c:v>週五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98.37</c:v>
                </c:pt>
                <c:pt idx="1">
                  <c:v>101.71</c:v>
                </c:pt>
                <c:pt idx="2">
                  <c:v>98.71</c:v>
                </c:pt>
                <c:pt idx="3">
                  <c:v>95.83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加權指數</c:v>
                </c:pt>
              </c:strCache>
            </c:strRef>
          </c:tx>
          <c:spPr>
            <a:ln w="28575">
              <a:solidFill>
                <a:srgbClr val="6B7489"/>
              </a:solidFill>
            </a:ln>
          </c:spPr>
          <c:marker>
            <c:spPr>
              <a:solidFill>
                <a:srgbClr val="6B7489"/>
              </a:solidFill>
            </c:spPr>
          </c:marker>
          <c:cat>
            <c:strRef>
              <c:f>Sheet1!$A$2:$A$5</c:f>
              <c:strCache>
                <c:ptCount val="4"/>
                <c:pt idx="0">
                  <c:v>週二</c:v>
                </c:pt>
                <c:pt idx="1">
                  <c:v>週三</c:v>
                </c:pt>
                <c:pt idx="2">
                  <c:v>週四</c:v>
                </c:pt>
                <c:pt idx="3">
                  <c:v>週五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100.12</c:v>
                </c:pt>
                <c:pt idx="1">
                  <c:v>102.16</c:v>
                </c:pt>
                <c:pt idx="2">
                  <c:v>100.71</c:v>
                </c:pt>
                <c:pt idx="3">
                  <c:v>98.2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DEE7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本週損益（元）</c:v>
                </c:pt>
              </c:strCache>
            </c:strRef>
          </c:tx>
          <c:dPt>
            <c:idx val="0"/>
            <c:spPr>
              <a:solidFill>
                <a:srgbClr val="178A55"/>
              </a:solidFill>
            </c:spPr>
          </c:dPt>
          <c:dPt>
            <c:idx val="1"/>
            <c:spPr>
              <a:solidFill>
                <a:srgbClr val="C8323A"/>
              </a:solidFill>
            </c:spPr>
          </c:dPt>
          <c:dPt>
            <c:idx val="2"/>
            <c:spPr>
              <a:solidFill>
                <a:srgbClr val="C8323A"/>
              </a:solidFill>
            </c:spPr>
          </c:dPt>
          <c:dPt>
            <c:idx val="3"/>
            <c:spPr>
              <a:solidFill>
                <a:srgbClr val="178A55"/>
              </a:solidFill>
            </c:spPr>
          </c:dPt>
          <c:dPt>
            <c:idx val="4"/>
            <c:spPr>
              <a:solidFill>
                <a:srgbClr val="178A55"/>
              </a:solidFill>
            </c:spPr>
          </c:dPt>
          <c:dPt>
            <c:idx val="5"/>
            <c:spPr>
              <a:solidFill>
                <a:srgbClr val="178A55"/>
              </a:solidFill>
            </c:spPr>
          </c:dPt>
          <c:dPt>
            <c:idx val="6"/>
            <c:spPr>
              <a:solidFill>
                <a:srgbClr val="178A55"/>
              </a:solidFill>
            </c:spPr>
          </c:dPt>
          <c:dPt>
            <c:idx val="7"/>
            <c:spPr>
              <a:solidFill>
                <a:srgbClr val="178A55"/>
              </a:solidFill>
            </c:spPr>
          </c:dPt>
          <c:cat>
            <c:strRef>
              <c:f>Sheet1!$A$2:$A$9</c:f>
              <c:strCache>
                <c:ptCount val="8"/>
                <c:pt idx="0">
                  <c:v>6182 合晶</c:v>
                </c:pt>
                <c:pt idx="1">
                  <c:v>5880 合庫金</c:v>
                </c:pt>
                <c:pt idx="2">
                  <c:v>1560 中砂</c:v>
                </c:pt>
                <c:pt idx="3">
                  <c:v>3264 欣銓</c:v>
                </c:pt>
                <c:pt idx="4">
                  <c:v>3037 欣興</c:v>
                </c:pt>
                <c:pt idx="5">
                  <c:v>3189 景碩</c:v>
                </c:pt>
                <c:pt idx="6">
                  <c:v>6213 聯茂</c:v>
                </c:pt>
                <c:pt idx="7">
                  <c:v>6196 帆宣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-10600</c:v>
                </c:pt>
                <c:pt idx="1">
                  <c:v>19200</c:v>
                </c:pt>
                <c:pt idx="2">
                  <c:v>22911</c:v>
                </c:pt>
                <c:pt idx="3">
                  <c:v>-26000</c:v>
                </c:pt>
                <c:pt idx="4">
                  <c:v>-54720</c:v>
                </c:pt>
                <c:pt idx="5">
                  <c:v>-88506</c:v>
                </c:pt>
                <c:pt idx="6">
                  <c:v>-90000</c:v>
                </c:pt>
                <c:pt idx="7">
                  <c:v>-131150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9DEE7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ews.google.com/rss/articles/CBMiUEFVX3lxTE5aR0xKNWc3bDR4bXpDcWhtWlNSUkdqMXM4TWRxajlLWk5TV21PTGVPalowcElKOGdnVlVsUFlfVkhfYTFROFN1WUNlUXpPN1JD0gFWQVVfeXFMTV9KZkVJVXRKUnVybnhqTWFJQ1ZMNkhjQXUxQ0YxSGxzVXdiaDVGNi1mWEpNdE9rVDhzZ3hGSXNYbzNLNlVpTzlTRVhXMU5fV3Rzdlp1UGc?oc=5" TargetMode="External"/><Relationship Id="rId3" Type="http://schemas.openxmlformats.org/officeDocument/2006/relationships/hyperlink" Target="https://tw.news.yahoo.com/2%E6%AA%94%E5%8F%B0%E8%82%A1%E8%A2%AB%E7%9B%B8%E4%B8%AD-%E5%A4%96%E5%AA%92%E6%8F%AD1%E5%8E%9F%E5%9B%A0%E5%96%8A-%E6%8A%8A%E6%8F%A1%E6%99%82%E6%A9%9F%E5%BF%AB%E5%8D%A1%E4%BD%8D-112200546.html" TargetMode="External"/><Relationship Id="rId4" Type="http://schemas.openxmlformats.org/officeDocument/2006/relationships/hyperlink" Target="https://www.cna.com.tw/news/afe/202610270011.aspx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ews.google.com/rss/articles/CBMiUEFVX3lxTE5aR0xKNWc3bDR4bXpDcWhtWlNSUkdqMXM4TWRxajlLWk5TV21PTGVPalowcElKOGdnVlVsUFlfVkhfYTFROFN1WUNlUXpPN1JD0gFWQVVfeXFMTV9KZkVJVXRKUnVybnhqTWFJQ1ZMNkhjQXUxQ0YxSGxzVXdiaDVGNi1mWEpNdE9rVDhzZ3hGSXNYbzNLNlVpTzlTRVhXMU5fV3Rzdlp1UGc?oc=5" TargetMode="External"/><Relationship Id="rId3" Type="http://schemas.openxmlformats.org/officeDocument/2006/relationships/hyperlink" Target="https://tw.news.yahoo.com/2%E6%AA%94%E5%8F%B0%E8%82%A1%E8%A2%AB%E7%9B%B8%E4%B8%AD-%E5%A4%96%E5%AA%92%E6%8F%AD1%E5%8E%9F%E5%9B%A0%E5%96%8A-%E6%8A%8A%E6%8F%A1%E6%99%82%E6%A9%9F%E5%BF%AB%E5%8D%A1%E4%BD%8D-112200546.html" TargetMode="External"/><Relationship Id="rId4" Type="http://schemas.openxmlformats.org/officeDocument/2006/relationships/hyperlink" Target="https://news.google.com/rss/articles/CBMiTEFVX3lxTE9MMVNTSDMxQ3VEZzU1LUQ4NTJNWkZMQl9ZVTVUNG9Zc2d0S1J3QjAwRmphdUhCQzM1WTlueFlpRzgxa3JzMmFDLTE3ZnY?oc=5" TargetMode="External"/><Relationship Id="rId5" Type="http://schemas.openxmlformats.org/officeDocument/2006/relationships/hyperlink" Target="https://tw.news.yahoo.com/%E6%AF%8F%E6%9C%88%E5%AD%983000%E5%85%83-%E8%A9%B2%E8%B2%B70050%E9%82%84%E5%8F%B0%E7%A9%8D%E9%9B%BB-%E7%9C%BE%E7%8B%82%E6%8E%A8%E9%80%99%E6%AA%94-%E6%9C%83%E6%84%9F%E8%AC%9D%E8%87%AA%E5%B7%B1-140000583.html" TargetMode="External"/><Relationship Id="rId6" Type="http://schemas.openxmlformats.org/officeDocument/2006/relationships/hyperlink" Target="https://www.cna.com.tw/news/afe/202610270011.aspx" TargetMode="External"/><Relationship Id="rId7" Type="http://schemas.openxmlformats.org/officeDocument/2006/relationships/hyperlink" Target="https://news.google.com/rss/articles/CBMiS0FVX3lxTE1IQXk3VkMxSFdqT050dHJpMlFZNUlNRmx6bXRLUTk2Nld1ajRvLUtsT0dEdWZ0Z2VBZENxUHlxOC1ONFIwWTFZNTdQbw?oc=5" TargetMode="External"/><Relationship Id="rId8" Type="http://schemas.openxmlformats.org/officeDocument/2006/relationships/hyperlink" Target="https://news.google.com/rss/articles/CBMi2gJBVV95cUxPdDVqWGU1ai1mdjN1UUU3bFIxTXZwd1Y1VkRPdUdteVhERXdZTDJ3RjlwTU9VMFN4ckdCYmRZYW85ZzBQUC1IdDg4emw1cUNfSGVObHRteWExUUVmZnR6c1NxQ1ZFLWpNTjdmak5VUVVKbDA4cERWaFowSmdPcE5XQTlXUmYtTi14RFpETjBLVWkxb05FRk53V0hLa0pWeHJOS3lwTXBmYmp1dVRRTlV0Z1hnRV9QbzlIckhlaVNfbU5fWUpYR054TlZMcWloa21HaldiYUhmeERzVVVVa3lmbUl6OTVlX1h2U092OUViOFJwYVB3dXVWdTZ6VVd5VEVVTHRyMENQWHRQUlZKMi1wTUtFdmF5cWlNWG9OejE4RmJGQlU0WEpqRWJnVFpOajMzcG5TVkN1VVJKTzM4QXBZN0JKTmdURWFJNGNwVURlRVoxa0xPV2tLSUln?oc=5" TargetMode="External"/><Relationship Id="rId9" Type="http://schemas.openxmlformats.org/officeDocument/2006/relationships/hyperlink" Target="https://tw.news.yahoo.com/%E5%8F%B0%E8%82%A1%E7%9B%A4%E5%89%8D-%E5%8F%B0%E6%8C%87%E5%A4%9C%E7%9B%A4%E9%A3%86774%E9%BB%9E-%E8%9E%8D%E8%B3%87%E5%A4%A7%E6%B8%9B104%E5%84%84-%E5%8F%B0%E8%82%A1%E4%BB%8A%E8%A6%81%E5%99%B4%E4%BA%86-225300659.html" TargetMode="External"/><Relationship Id="rId10" Type="http://schemas.openxmlformats.org/officeDocument/2006/relationships/hyperlink" Target="https://news.cnyes.com/news/id/6638686" TargetMode="External"/><Relationship Id="rId11" Type="http://schemas.openxmlformats.org/officeDocument/2006/relationships/hyperlink" Target="https://news.cnyes.com/news/id/6638543" TargetMode="External"/><Relationship Id="rId12" Type="http://schemas.openxmlformats.org/officeDocument/2006/relationships/hyperlink" Target="https://news.google.com/rss/articles/CBMimAJBVV95cUxQbUxoSEJGdVNoZmNYUFBDcktBbzZiSXFyeHJMTUdJTi1oQW1JcWIwSk1yYll2WjU4by1JTW1LdVNNaHhIZFBqRnNjeTU1bVdoMHNzOEdYNHEzOVdsOUtONzBVb1ptY0xjc1VGemkwQ0tUU3RfMndEU3NQakVmNjBSa2tXeldxbWFQQUlnWkR1azIzd19XVVBINkJuS3A0WmY2Zkg1NmpfaHdCQklOWE1ZYXpJSlo5OFRrZ0h2QTdJR0dmaWFTckc4dDZCbERCdmVET1FBYzdmTkRJVldZNlJFWUItUGstRUNIMHV0N3MyWTR5OUVyV3oxelR4RDV0eWxmZzlRa1J5Z1plaEp5czRuRFJtZXN1Y3Fy?oc=5" TargetMode="External"/><Relationship Id="rId13" Type="http://schemas.openxmlformats.org/officeDocument/2006/relationships/hyperlink" Target="https://tw.news.yahoo.com/%E5%8F%B0%E8%82%A1%E8%B3%87%E9%87%91%E8%BD%89%E5%90%91%E4%B8%AD%E4%BD%8E%E5%83%B9%E8%82%A1-%E8%B2%B7%E7%9B%A4%E6%93%81%E6%8A%B1%E9%87%91%E8%9E%8D-%E9%9B%BB%E4%BF%A1%E7%AD%89%E9%98%B2%E7%A6%A6%E6%80%A7%E6%97%8F%E7%BE%A4-223226182.html" TargetMode="External"/><Relationship Id="rId14" Type="http://schemas.openxmlformats.org/officeDocument/2006/relationships/hyperlink" Target="https://news.cnyes.com/news/id/6638979" TargetMode="External"/><Relationship Id="rId15" Type="http://schemas.openxmlformats.org/officeDocument/2006/relationships/hyperlink" Target="https://news.google.com/rss/articles/CBMiT0FVX3lxTE5JQllpMmRubklNV0hoMm1MTkpxenZTWVJnSlNVTWw0QXhHMkV5VXA1eFFvazBoRVQyUVZ2RVNNTERWWDZpaFNQX1g0N1hIV00?oc=5" TargetMode="External"/><Relationship Id="rId16" Type="http://schemas.openxmlformats.org/officeDocument/2006/relationships/hyperlink" Target="https://news.google.com/rss/articles/CBMib0FVX3lxTE9vVXg2MzQ2dW1TbG1kVDhTTXd6UzRzblBaSWEwOUtvMkdiTzNWMDZ0bHVuR3daNnYxX2FvZU55TTBabzV3OVh1aUZ4Mk9Ec3RBT2JxNldJa2dUcG04czM2dEsxYmptY09Vd0h1Z093SQ?oc=5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ews.google.com/rss/articles/CBMiUEFVX3lxTE41U2M5SHBNWGdIWUZzRW1MeXZEc2p5UGJxTndYckdjcTczbGFNT1hhcFdmNTB4WnRTWnFRTTctNDZXaXg0cWVzcUdNR3JPWDVo0gFWQVVfeXFMT1NWWGw4QkU2OF9aY09BWHNwLWRBM3dmNlVVNzVNVTRhbmVpVHlacUE5cmxXQmFSREc1dndMT2lpdjAwRXVQT2pLTTBycVRuVTVZMGpnSVE?oc=5" TargetMode="External"/><Relationship Id="rId3" Type="http://schemas.openxmlformats.org/officeDocument/2006/relationships/hyperlink" Target="https://news.google.com/rss/articles/CBMiakFVX3lxTFB6MkJSWV9YN0VzR2p0TllMSFZkZnM3NzZhMWtxLWhXVUxCNTlzMXRfaDRTanJYTDFya05YcFk0Q0xyMExLbnJzNWFVNnNULWt2d25mR3c0NjMwM2pPUHFBSEJlLUFzZE9WTFE?oc=5" TargetMode="External"/><Relationship Id="rId4" Type="http://schemas.openxmlformats.org/officeDocument/2006/relationships/hyperlink" Target="https://tw.news.yahoo.com/%E5%8F%B0%E8%82%A1%E5%A4%A7%E5%8F%8D%E6%94%BB-%E6%9D%9C%E9%87%91%E9%BE%8D%E5%BC%B7%E5%8B%A2%E5%8A%A0%E7%A2%BC%E5%88%B07%E6%88%90%E5%96%8A-%E6%8A%B1%E7%B7%8A-%E9%80%993%E6%AA%94-%E8%B3%BA%E5%88%B0%E6%98%8E%E5%B9%B4q1-200500668.html" TargetMode="External"/><Relationship Id="rId5" Type="http://schemas.openxmlformats.org/officeDocument/2006/relationships/hyperlink" Target="https://tw.news.yahoo.com/%E5%8F%B0%E8%82%A1%E7%8B%82%E9%A3%86939%E9%BB%9E%E4%BE%86%E7%9C%9F%E7%9A%84-%E7%BE%8E%E4%BC%8A%E5%92%8C%E8%AB%87%E9%87%8D%E7%87%83%E8%A1%8C%E6%83%85-%E9%83%AD%E5%93%B2%E6%A6%AE%E9%BB%9E%E5%90%8D%E9%80%99%E4%BA%9B%E4%BD%8E%E5%9F%BA%E6%9C%9F%E8%A3%9C%E6%BC%B2%E8%82%A1-141200546.html" TargetMode="External"/><Relationship Id="rId6" Type="http://schemas.openxmlformats.org/officeDocument/2006/relationships/hyperlink" Target="https://news.google.com/rss/articles/CBMiX0FVX3lxTE9idGVhSFRzbFRjWU9sRlhuT3cwMHBFTUEyNzM4U0tiTGNVaVFTenF3WlhNYTAxVGlZY0JzTFE3QUFtUDRsWmlYTXFvM2l3V3VNUkQ5QTA5U2RHLTFIZ3V3?oc=5" TargetMode="External"/><Relationship Id="rId7" Type="http://schemas.openxmlformats.org/officeDocument/2006/relationships/hyperlink" Target="https://news.cnyes.com/news/id/6639857" TargetMode="External"/><Relationship Id="rId8" Type="http://schemas.openxmlformats.org/officeDocument/2006/relationships/hyperlink" Target="https://www.cna.com.tw/news/afe/202610290014.aspx" TargetMode="External"/><Relationship Id="rId9" Type="http://schemas.openxmlformats.org/officeDocument/2006/relationships/hyperlink" Target="https://tw.news.yahoo.com/alphabet%E8%B2%A1%E5%A0%B1%E4%B8%8D%E5%A6%82%E9%A0%90%E6%9C%9F%E8%B7%8C%E9%80%BE12-%E7%BE%8E%E8%82%A14%E5%A4%A7%E6%8C%87%E6%95%B8%E5%85%A8%E8%B7%8C-%E5%8F%B0%E7%A9%8D%E9%9B%BBadr%E8%B7%8C1-75-222927341.html" TargetMode="External"/><Relationship Id="rId10" Type="http://schemas.openxmlformats.org/officeDocument/2006/relationships/hyperlink" Target="https://news.cnyes.com/news/id/6641281" TargetMode="External"/><Relationship Id="rId11" Type="http://schemas.openxmlformats.org/officeDocument/2006/relationships/hyperlink" Target="https://tw.stock.yahoo.com/news/%E4%BD%8E%E8%BB%8C%E8%A1%9B%E6%98%9F%E8%87%89%E7%B6%A0-%E9%80%99%E6%AA%94-%E5%B4%A9%E8%B7%8C%E5%81%9C%E6%8B%96%E9%87%91%E5%83%8F%E9%9B%BB-%E7%BE%A4%E5%89%B5-%E8%8F%AF%E9%80%9A-111500257.html" TargetMode="External"/><Relationship Id="rId12" Type="http://schemas.openxmlformats.org/officeDocument/2006/relationships/hyperlink" Target="https://news.google.com/rss/articles/CBMiS0FVX3lxTE5LTzlQd194QlN6QXpoRHNkSUdfbHJ6RWxLNDh1TkhIRGpMdnJmTkxQZTUtUWk5MFdxR3pEWWVXRjB0V1NZMXdOQlVfMA?oc=5" TargetMode="External"/><Relationship Id="rId13" Type="http://schemas.openxmlformats.org/officeDocument/2006/relationships/hyperlink" Target="https://news.google.com/rss/articles/CBMiS0FVX3lxTE1KMWtxdFNzUWpqeHJ0ejl5Y18yb2x0aTU0VFR2bjlRdzhTNF85OUlRS2hMMzFCZ1VId2k5eDFfU3RyZGg4ek94bGRINA?oc=5" TargetMode="External"/><Relationship Id="rId14" Type="http://schemas.openxmlformats.org/officeDocument/2006/relationships/hyperlink" Target="https://news.google.com/rss/articles/CBMiS0FVX3lxTE9HNy10V0E4MEFPRDVUUy1qS0JNSExWTDF0WGlDMENJNFlNMUJsajNXWExkbUI0MzJZMmQxT2RUSnZ1Y1dNR1VMTWlwRQ?oc=5" TargetMode="External"/><Relationship Id="rId15" Type="http://schemas.openxmlformats.org/officeDocument/2006/relationships/hyperlink" Target="https://news.google.com/rss/articles/CBMiZ0FVX3lxTFBaSWxJYng1ZTNDUUNfaEJoNGVZem03TG03OFRqQVR1RUN6OTlOYk9QMkNVWWFZN1NpcXpzbzZSVWtmYllJRmRPRzRESDhRWUpEbjFnQl9jc1lNZFFtelRhSmlaTHhYMjTSAWdBVV95cUxQWklsSWJ4NWUzQ1FDX2hCaDRlWXptN0xtNzhUakFUdUVDejk5TmJPUDJDVVlhWTdTaXF6c282UlVrZmJZSUZkT0c0REg4UVlKRG4xZ0JfY3NZTWRRbXpUYUppWkx4WDI0?oc=5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2026 德明X富達投資擂台　全國大專院校組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 4 週週報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B8C2D6"/>
                </a:solidFill>
                <a:latin typeface="Bahnschrift"/>
                <a:ea typeface="Microsoft JhengHei"/>
                <a:cs typeface="Microsoft JhengHei"/>
              </a:rPr>
              <a:t>2026-10-26～2026-10-30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5943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0" b="1">
                <a:solidFill>
                  <a:srgbClr val="5FD99C"/>
                </a:solidFill>
                <a:latin typeface="Bahnschrift"/>
                <a:ea typeface="Microsoft JhengHei"/>
                <a:cs typeface="Microsoft JhengHei"/>
              </a:rPr>
              <a:t>-4.17%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本週總資產報酬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9718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加權指數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2461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5FD99C"/>
                </a:solidFill>
                <a:latin typeface="Bahnschrift"/>
                <a:ea typeface="Microsoft JhengHei"/>
                <a:cs typeface="Microsoft JhengHei"/>
              </a:rPr>
              <a:t>-1.80%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9718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累積報酬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2461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5FD99C"/>
                </a:solidFill>
                <a:latin typeface="Bahnschrift"/>
                <a:ea typeface="Microsoft JhengHei"/>
                <a:cs typeface="Microsoft JhengHei"/>
              </a:rPr>
              <a:t>-17.33%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8404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期末總資產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1148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Bahnschrift"/>
                <a:ea typeface="Microsoft JhengHei"/>
                <a:cs typeface="Microsoft JhengHei"/>
              </a:rPr>
              <a:t>8,267,281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8404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持股率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41148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Bahnschrift"/>
                <a:ea typeface="Microsoft JhengHei"/>
                <a:cs typeface="Microsoft JhengHei"/>
              </a:rPr>
              <a:t>98.3%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7091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本週成交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9834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Bahnschrift"/>
                <a:ea typeface="Microsoft JhengHei"/>
                <a:cs typeface="Microsoft JhengHei"/>
              </a:rPr>
              <a:t>1 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749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本週總資產 -4.17%，加權指數 -1.80%，成交 1 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06440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58795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B8C2D6"/>
                </a:solidFill>
                <a:latin typeface="Bahnschrift"/>
                <a:ea typeface="Microsoft JhengHei"/>
                <a:cs typeface="Microsoft JhengHei"/>
              </a:rPr>
              <a:t>10/26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6053328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休市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4251" y="5879592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5811" y="5806440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32115" y="58795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B8C2D6"/>
                </a:solidFill>
                <a:latin typeface="Bahnschrift"/>
                <a:ea typeface="Microsoft JhengHei"/>
                <a:cs typeface="Microsoft JhengHei"/>
              </a:rPr>
              <a:t>10/27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32115" y="6053328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7A80"/>
                </a:solidFill>
                <a:latin typeface="Bahnschrift"/>
                <a:ea typeface="Microsoft JhengHei"/>
                <a:cs typeface="Microsoft JhengHei"/>
              </a:rPr>
              <a:t>+0.12%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1422" y="5879592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2982" y="5806440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9286" y="58795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B8C2D6"/>
                </a:solidFill>
                <a:latin typeface="Bahnschrift"/>
                <a:ea typeface="Microsoft JhengHei"/>
                <a:cs typeface="Microsoft JhengHei"/>
              </a:rPr>
              <a:t>10/28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9286" y="6053328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7A80"/>
                </a:solidFill>
                <a:latin typeface="Bahnschrift"/>
                <a:ea typeface="Microsoft JhengHei"/>
                <a:cs typeface="Microsoft JhengHei"/>
              </a:rPr>
              <a:t>+2.04%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8593" y="5879592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60153" y="5806440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457" y="58795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B8C2D6"/>
                </a:solidFill>
                <a:latin typeface="Bahnschrift"/>
                <a:ea typeface="Microsoft JhengHei"/>
                <a:cs typeface="Microsoft JhengHei"/>
              </a:rPr>
              <a:t>10/29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457" y="6053328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5FD99C"/>
                </a:solidFill>
                <a:latin typeface="Bahnschrift"/>
                <a:ea typeface="Microsoft JhengHei"/>
                <a:cs typeface="Microsoft JhengHei"/>
              </a:rPr>
              <a:t>-1.42%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5764" y="5879592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97324" y="5806440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3628" y="58795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B8C2D6"/>
                </a:solidFill>
                <a:latin typeface="Bahnschrift"/>
                <a:ea typeface="Microsoft JhengHei"/>
                <a:cs typeface="Microsoft JhengHei"/>
              </a:rPr>
              <a:t>10/30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3628" y="6053328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5FD99C"/>
                </a:solidFill>
                <a:latin typeface="Bahnschrift"/>
                <a:ea typeface="Microsoft JhengHei"/>
                <a:cs typeface="Microsoft JhengHei"/>
              </a:rPr>
              <a:t>-2.49%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82935" y="5879592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休市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+0.12%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+2.04%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-1.42%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-2.49%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78992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本週重點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6459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本週總資產 -4.17%，加權指數 -1.80%，成交 1 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103120"/>
            <a:ext cx="658368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80"/>
              </a:spcAft>
            </a:pPr>
            <a:r>
              <a:rPr sz="88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6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總資產由 8,626,977 元變為 8,267,281 元，累積報酬 -17.33%</a:t>
            </a:r>
          </a:p>
          <a:p>
            <a:pPr algn="l">
              <a:lnSpc>
                <a:spcPct val="130000"/>
              </a:lnSpc>
              <a:spcAft>
                <a:spcPts val="880"/>
              </a:spcAft>
            </a:pPr>
            <a:r>
              <a:rPr sz="88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6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期末持股率 98.3%（規則下限 70%）</a:t>
            </a:r>
          </a:p>
          <a:p>
            <a:pPr algn="l">
              <a:lnSpc>
                <a:spcPct val="130000"/>
              </a:lnSpc>
              <a:spcAft>
                <a:spcPts val="880"/>
              </a:spcAft>
            </a:pPr>
            <a:r>
              <a:rPr sz="88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6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累計成交 90 筆、交易過 15 檔標的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2057400"/>
            <a:ext cx="19050" cy="3840480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20574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本週總資產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27685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-4.17%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6974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同期加權指數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91693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-1.80%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33375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累積報酬（排名只看正報酬）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55701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-17.33%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39776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持股率（每日收盤須 ≥ 70%）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19709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4213D"/>
                </a:solidFill>
                <a:latin typeface="Bahnschrift"/>
                <a:ea typeface="Microsoft JhengHei"/>
                <a:cs typeface="Microsoft JhengHei"/>
              </a:rPr>
              <a:t>98.3%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46177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累計成交／門檻 10 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483717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4213D"/>
                </a:solidFill>
                <a:latin typeface="Bahnschrift"/>
                <a:ea typeface="Microsoft JhengHei"/>
                <a:cs typeface="Microsoft JhengHei"/>
              </a:rPr>
              <a:t>90 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52578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交易過的標的／門檻 5 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547725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4213D"/>
                </a:solidFill>
                <a:latin typeface="Bahnschrift"/>
                <a:ea typeface="Microsoft JhengHei"/>
                <a:cs typeface="Microsoft JhengHei"/>
              </a:rPr>
              <a:t>15 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4 週週報｜2026-10-26～2026-10-30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休市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+0.12%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+2.04%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-1.42%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-2.49%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78992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每日市場與總資產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6459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總資產與加權指數都以上週五收盤為 100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548640" y="2057400"/>
          <a:ext cx="566928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583680" y="2103120"/>
            <a:ext cx="502920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週二：加權 +0.12%；大摩指欣興與輝達的協議有助降低潛在產能過剩風險，重申目標價1,775元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週三：加權 +2.04%；美股四大指數收紅且費半勁揚，台指期夜盤大漲逾700點，融資大減激勵台股反攻氣勢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週四：加權 -1.42%；美國聯準會宣布利率按兵不動，美股主要指數齊揚且費半大漲1.75%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週五：加權 -2.49%；Alphabet財報不如預期引發市場對AI資本支出疑慮，拖累美股暴跌，台股大盤重挫667點且外資賣超688億元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4 週週報｜2026-10-26～2026-10-30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休市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+0.12%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+2.04%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-1.42%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-2.49%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78992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本週交易明細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6459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共 1 筆；理由來源標示系統建議、盤中建議、記錄備註或自行判斷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8640" y="2103120"/>
          <a:ext cx="11094412" cy="6583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88687"/>
                <a:gridCol w="693400"/>
                <a:gridCol w="792458"/>
                <a:gridCol w="2179260"/>
                <a:gridCol w="1188687"/>
                <a:gridCol w="1089630"/>
                <a:gridCol w="1386801"/>
                <a:gridCol w="2575489"/>
              </a:tblGrid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日期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動作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標的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數量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價格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金額（元）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理由來源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週二 10/27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賣出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2885 元大金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1,000 股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73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73,000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自行判斷（依當時盤勢與持倉整理）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4 週週報｜2026-10-26～2026-10-30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休市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 w="28575"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+0.12%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+2.04%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-1.42%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-2.49%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1143000"/>
            <a:ext cx="63500" cy="868680"/>
          </a:xfrm>
          <a:prstGeom prst="rect">
            <a:avLst/>
          </a:prstGeom>
          <a:solidFill>
            <a:srgbClr val="6B4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10789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週二　賣出 2885 元大金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1645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46A8"/>
                </a:solidFill>
                <a:latin typeface="Microsoft JhengHei"/>
                <a:ea typeface="Microsoft JhengHei"/>
                <a:cs typeface="Microsoft JhengHei"/>
              </a:rPr>
              <a:t>股票　</a:t>
            </a:r>
            <a:r>
              <a:rPr sz="1300" b="0">
                <a:solidFill>
                  <a:srgbClr val="3B4763"/>
                </a:solidFill>
                <a:latin typeface="Bahnschrift"/>
                <a:ea typeface="Microsoft JhengHei"/>
                <a:cs typeface="Microsoft JhengHei"/>
              </a:rPr>
              <a:t>1,000 股 × 73 ＝ 73,000 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33172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為什麼這樣做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33472"/>
            <a:ext cx="676656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7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相對成本 71.10 元 +2.7%，報酬有限，調節部位把資金留給更強的標的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理由來源：自行判斷（依當時盤勢與持倉整理）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2331720"/>
            <a:ext cx="19050" cy="3566160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331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當天市場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6060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加權 </a:t>
            </a:r>
            <a:r>
              <a:rPr sz="22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+0.12%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3200400"/>
            <a:ext cx="374903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6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2"/>
              </a:rPr>
              <a:t>大摩指欣興與輝達的協議有助降低潛在產能過剩風險，重申目標價1,775元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6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外媒點名致茂受惠於輝達AI晶片測試需求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6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AI新創公司Anthropic申請IPO，提振AI股與美股大盤。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4 週週報｜2026-10-26～2026-10-30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休市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+0.12%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+2.04%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-1.42%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-2.49%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78992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期末持股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6459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總資產 8,267,281 元；證券戶現金 -838,675 元；期貨戶權益 975,300 元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8640" y="2103120"/>
          <a:ext cx="11094411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70150"/>
                <a:gridCol w="2827988"/>
                <a:gridCol w="1305225"/>
                <a:gridCol w="1196456"/>
                <a:gridCol w="1196456"/>
                <a:gridCol w="1631531"/>
                <a:gridCol w="1087687"/>
                <a:gridCol w="978918"/>
              </a:tblGrid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標的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股數／口數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成本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現價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未實現損益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報酬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權重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3189 景碩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1,639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1,084.26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932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-247,002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-14.04%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18.5%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6196 帆宣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2,150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634.77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536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-210,400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-15.56%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13.9%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1560 中砂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1,091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1,017.82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867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-162,968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-14.82%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11.4%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5880 合庫金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24,000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26.14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69,600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+10.95%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8.4%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2889 國票金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40,416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16.04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17.15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45,857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+6.92%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8.4%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6213 聯茂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1,000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727.03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687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-39,000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-5.51%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8.3%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3037 欣興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570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1,181.68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989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-108,870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-16.31%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6.8%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3591 艾笛森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20,528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28.67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26.85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-36,573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-6.36%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6.7%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2845 遠東銀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36,071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12.97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13.25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10,818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+2.17%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5.8%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2915 潤泰全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7,173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57.54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57.60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1,035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+0.10%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5.0%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46A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3264 欣銓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1,000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265.38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220.50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-44,500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-16.91%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2.7%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4 週週報｜2026-10-26～2026-10-30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休市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+0.12%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+2.04%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-1.42%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-2.49%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78992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本週損益來源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6459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各檔本週損益（含已賣出部分）；紅色賺、綠色賠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548640" y="2011680"/>
          <a:ext cx="11094415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4 週週報｜2026-10-26～2026-10-30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週一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休市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4251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811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2115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115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+0.12%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422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2982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9286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9286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+2.04%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593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457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457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-1.42%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5764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7324" y="292608"/>
            <a:ext cx="2145731" cy="566928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3657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　</a:t>
            </a:r>
            <a:r>
              <a:rPr sz="10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10/30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3628" y="539496"/>
            <a:ext cx="18714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-2.49%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82935" y="36576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加權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78992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檢討與下週計畫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8288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本週檢討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286000"/>
            <a:ext cx="51206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總資產 -4.17%，落後加權指數 2.37 個百分點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最大貢獻：1560 中砂 +22,911 元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最大拖累：6196 帆宣 -131,150 元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本週 1 筆成交中，0 筆依系統建議、1 筆自行判斷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828800"/>
            <a:ext cx="19050" cy="4114800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8288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下週計畫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286000"/>
            <a:ext cx="53035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下週建議關注：5292 華懋、6962 奕力-KY、2889 國票金、1615 大山、3105 穩懋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期貨：依系統條件判斷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留意規則：累積報酬為正（才列入排名）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4 週週報｜2026-10-26～2026-10-30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本週新聞來源（1/2）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9844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週報引用的事件與原始新聞；點標題開啟原文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4415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 10/27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2"/>
              </a:rPr>
              <a:t>大摩指欣興與輝達的協議有助降低潛在產能過剩風險，重申目標價1,775元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UDN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 10/27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外媒點名致茂受惠於輝達AI晶片測試需求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 10/27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0056配息開獎，吸引市場資金動向關注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聚財網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 10/27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5"/>
              </a:rPr>
              <a:t>市場討論每月定期定額選擇元大台灣50或台積電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 10/27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6"/>
              </a:rPr>
              <a:t>AI新創公司Anthropic遞交IPO申請，帶動美股及科技晶片股走強反彈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 10/27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6"/>
              </a:rPr>
              <a:t>AI新創公司Anthropic申請IPO，提振AI股與美股大盤。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 10/27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7"/>
              </a:rPr>
              <a:t>Meta擬發行股票籌資以支應AI投資，輝達、超微、博通等有意認購。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鉅亨網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週二 10/27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8"/>
              </a:rPr>
              <a:t>美加貿易談判在鋼鐵與汽車關稅方面取得進展，特朗普貿易立場趨向加拿大要求。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信報網站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 10/28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9"/>
              </a:rPr>
              <a:t>美股四大指數收紅且費半勁揚，台指期夜盤大漲逾700點，融資大減激勵台股反攻氣勢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 10/28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0"/>
              </a:rPr>
              <a:t>欣興第三季稅後純益破百億創高，前三季稅後純益年增近8倍達282.1億元，EPS達17.85元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 10/28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1"/>
              </a:rPr>
              <a:t>欣興董事會決議處分日本子公司全數股權，並斥資百億元加碼湖口廠擴充高階產能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 10/28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2"/>
              </a:rPr>
              <a:t>三大法人大舉回補記憶體族群，南亞科獲注資57億元帶動股價大漲6.52%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Yahoo股市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 10/28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3"/>
              </a:rPr>
              <a:t>長鑫存儲宣稱導入4F²架構引發市場不安，導致全球記憶體族群短線承壓震盪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 10/28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9"/>
              </a:rPr>
              <a:t>AI熱潮持續，Anthropic IPO與科技巨頭投資帶動市場樂觀情緒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 10/28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4"/>
              </a:rPr>
              <a:t>部分科技股和AI概念股遭拋售，市場對AI融資成本與回報存在擔憂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週三 10/28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5"/>
              </a:rPr>
              <a:t>市場普遍預期聯準會本週將維持利率不變，但對12月升息仍有預期，使市場持續關注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鉅亨網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 10/29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6"/>
              </a:rPr>
              <a:t>美國聯準會宣布利率按兵不動，美股主要指數齊揚且費半大漲1.75%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知新聞　等 3 則報導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4 週週報｜2026-10-26～2026-10-30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本週新聞來源（2/2）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9844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週報引用的事件與原始新聞；點標題開啟原文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4415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 10/29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2"/>
              </a:rPr>
              <a:t>台股強勢反彈大漲939點，加權指數重新站上47000點關卡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UDN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 10/29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富邦台50（006208）擬進行股票分割1拆8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旺得富理財網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 10/29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分析師杜金龍點名欣興與南亞等潛力股看好一路賺到明年第一季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 10/29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5"/>
              </a:rPr>
              <a:t>分析師郭哲榮點名精材等低基期股後市發揮空間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 10/29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6"/>
              </a:rPr>
              <a:t>聯準會維持利率不變，但市場預期12月升息機率高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工商時報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 10/29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7"/>
              </a:rPr>
              <a:t>AI算力需求推升顯卡價格與記憶體漲價，帶動科技股與相關產業營收成長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週四 10/29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8"/>
              </a:rPr>
              <a:t>中東戰事加劇市場疑慮，推升國際油價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 10/30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9"/>
              </a:rPr>
              <a:t>Alphabet財報不如預期引發市場對AI資本支出疑慮，拖累美股暴跌，台股大盤重挫667點且外…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 10/30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0"/>
              </a:rPr>
              <a:t>日月光投控第三季純益季增28%達270億元，每股純益6.13元，預期第四季營收季增6%至8%並…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Factset 最新調查：日月光投資控股(ASX-US)EPS預估上修至1.24元，預估目標價為58.00元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 10/30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1"/>
              </a:rPr>
              <a:t>穩懋在科技股與大盤盤勢走弱下逆勢展現強勢，連續攻上2根漲停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 10/30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2"/>
              </a:rPr>
              <a:t>外資大舉調節台股，0050遭外資賣出下殺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FTNN 新聞網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 10/30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3"/>
              </a:rPr>
              <a:t>台股大盤重挫逾千點並失守半年線，外資單日大砍逾1100億元，10月累計賣超近1兆元。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三立新聞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 10/30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4"/>
              </a:rPr>
              <a:t>美國聯準會維持利率不變，但市場對12月升息機率仍有高預期，且通膨仍偏高。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鉅亨網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 10/30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9"/>
              </a:rPr>
              <a:t>Alphabet第三季財報不如預期，股價暴跌，加深市場對AI熱潮的疑慮。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　等 3 則報導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週五 10/30　</a:t>
            </a:r>
            <a:r>
              <a:rPr sz="1100" b="0" u="sng">
                <a:solidFill>
                  <a:srgbClr val="1F5FBF"/>
                </a:solidFill>
                <a:latin typeface="Microsoft JhengHei"/>
                <a:ea typeface="Microsoft JhengHei"/>
                <a:cs typeface="Microsoft JhengHei"/>
                <a:hlinkClick r:id="rId15"/>
              </a:rPr>
              <a:t>美國第三季GDP年化成長率達3.4%，優於預期，企業投資與消費強勁。</a:t>
            </a: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　大紀元　等 3 則報導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4 週週報｜2026-10-26～2026-10-30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週報檢查結果（1/2）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9844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通過 15 項・已自動修正 1 項・需注意 2 項・錯誤 0 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11094413" cy="462686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41825"/>
                <a:gridCol w="2750681"/>
                <a:gridCol w="733515"/>
                <a:gridCol w="6968392"/>
              </a:tblGrid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檢查項目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結果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說明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數據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週報酬＝期末÷期初−1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8,626,977 → 8,267,281，-4.17%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數據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最後交易日總資產＝期末總資產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2026-10-30：8,267,281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數據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各檔損益加總＝總資產變動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4560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注意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加總 -359,271，總資產變動 -359,696，差 +425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數據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加權指數每日漲跌連乘＝本週漲跌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每日連乘 -1.80%，本週 -1.80%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數據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成交金額＝數量×價格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 筆皆一致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數據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持股市值＝股數×收盤價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 檔皆一致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數據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持股率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98.3%（規則下限 70%）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理由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理由出處在成交前產生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皆引用收盤前已產生的報告或成交前資料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理由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理由與買賣方向一致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無矛盾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理由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停利／停損與實際損益一致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無衝突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4 週週報｜2026-10-26～2026-10-30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週報檢查結果（2/2）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9844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通過 15 項・已自動修正 1 項・需注意 2 項・錯誤 0 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11094413" cy="378561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41825"/>
                <a:gridCol w="2750681"/>
                <a:gridCol w="733515"/>
                <a:gridCol w="6968392"/>
              </a:tblGrid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檢查項目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結果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說明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理由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成交價與建議價差距 ≤ 5%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皆在 5% 內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新聞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每則事件都有新聞連結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32 則事件皆附連結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新聞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新聞時間不晚於當天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沒有引用未來新聞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新聞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事件不跨日重複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無重複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文字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交易說明與成交紀錄一致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 則皆一致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文字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每日盤勢描述與實際漲跌一致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5FB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已修正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改寫：週四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文字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沒有錯誤描述融資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8A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文字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 文字數字核對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4560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注意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未通過核對，改用固定格式文字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4 週週報｜2026-10-26～2026-10-30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資料來源與說明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成交：XQ 全球贏家成交回報（網站匯入或 AI 助理記錄）；同一筆委託分多次成交時合併為一列，價格為成交量加權平均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總資產採競賽 App「投資組合總值」口徑：初始 1,000 萬＋未實現＋已實現；股票用當天收盤價、期貨用該合約日盤結算價（與 App 對帳一致）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市場資料：證交所／櫃買中心日 K、加權指數、期交所行情；事件與國際大事來自當天報告收錄的新聞，原文連結見「本週新聞來源」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週報檢查 Agent：輸出前逐項核對數據、新聞時間與出處、交易理由是否在成交前產生及前後矛盾，結果見「週報檢查結果」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交易理由：優先引用當天系統建議的理由；自行判斷的交易依成交前一日的系統排名、價格位置、持股率與資金去向整理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文字說明採固定格式自動產生（AI 服務暫時無法使用或未通過數字核對）</a:t>
            </a:r>
          </a:p>
          <a:p>
            <a:pPr algn="l">
              <a:lnSpc>
                <a:spcPct val="130000"/>
              </a:lnSpc>
              <a:spcAft>
                <a:spcPts val="770"/>
              </a:spcAft>
            </a:pPr>
            <a:r>
              <a:rPr sz="77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4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持股率同 App：股票＋ETF 市值 ÷（市值＋持有現金＋期貨保證金＋期貨未實現）；損益同 App 不扣手續費，手續費另計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德明X富達投資擂台｜第 4 週週報｜2026-10-26～2026-10-30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