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總資產</c:v>
                </c:pt>
              </c:strCache>
            </c:strRef>
          </c:tx>
          <c:spPr>
            <a:ln w="28575">
              <a:solidFill>
                <a:srgbClr val="6B46A8"/>
              </a:solidFill>
            </a:ln>
          </c:spPr>
          <c:marker>
            <c:spPr>
              <a:solidFill>
                <a:srgbClr val="6B46A8"/>
              </a:solidFill>
            </c:spPr>
          </c:marker>
          <c:cat>
            <c:strRef>
              <c:f>Sheet1!$A$2:$A$6</c:f>
              <c:strCache>
                <c:ptCount val="5"/>
                <c:pt idx="0">
                  <c:v>週一</c:v>
                </c:pt>
                <c:pt idx="1">
                  <c:v>週二</c:v>
                </c:pt>
                <c:pt idx="2">
                  <c:v>週三</c:v>
                </c:pt>
                <c:pt idx="3">
                  <c:v>週四</c:v>
                </c:pt>
                <c:pt idx="4">
                  <c:v>週五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99.22</c:v>
                </c:pt>
                <c:pt idx="1">
                  <c:v>97.63</c:v>
                </c:pt>
                <c:pt idx="2">
                  <c:v>101.0</c:v>
                </c:pt>
                <c:pt idx="3">
                  <c:v>98.93</c:v>
                </c:pt>
                <c:pt idx="4">
                  <c:v>98.93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加權指數</c:v>
                </c:pt>
              </c:strCache>
            </c:strRef>
          </c:tx>
          <c:spPr>
            <a:ln w="28575">
              <a:solidFill>
                <a:srgbClr val="6B7489"/>
              </a:solidFill>
            </a:ln>
          </c:spPr>
          <c:marker>
            <c:spPr>
              <a:solidFill>
                <a:srgbClr val="6B7489"/>
              </a:solidFill>
            </c:spPr>
          </c:marker>
          <c:cat>
            <c:strRef>
              <c:f>Sheet1!$A$2:$A$6</c:f>
              <c:strCache>
                <c:ptCount val="5"/>
                <c:pt idx="0">
                  <c:v>週一</c:v>
                </c:pt>
                <c:pt idx="1">
                  <c:v>週二</c:v>
                </c:pt>
                <c:pt idx="2">
                  <c:v>週三</c:v>
                </c:pt>
                <c:pt idx="3">
                  <c:v>週四</c:v>
                </c:pt>
                <c:pt idx="4">
                  <c:v>週五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99.39</c:v>
                </c:pt>
                <c:pt idx="1">
                  <c:v>98.26</c:v>
                </c:pt>
                <c:pt idx="2">
                  <c:v>99.53</c:v>
                </c:pt>
                <c:pt idx="3">
                  <c:v>97.73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EE7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本週損益（元）</c:v>
                </c:pt>
              </c:strCache>
            </c:strRef>
          </c:tx>
          <c:dPt>
            <c:idx val="0"/>
            <c:spPr>
              <a:solidFill>
                <a:srgbClr val="C8323A"/>
              </a:solidFill>
            </c:spPr>
          </c:dPt>
          <c:dPt>
            <c:idx val="1"/>
            <c:spPr>
              <a:solidFill>
                <a:srgbClr val="178A55"/>
              </a:solidFill>
            </c:spPr>
          </c:dPt>
          <c:dPt>
            <c:idx val="2"/>
            <c:spPr>
              <a:solidFill>
                <a:srgbClr val="178A55"/>
              </a:solidFill>
            </c:spPr>
          </c:dPt>
          <c:dPt>
            <c:idx val="3"/>
            <c:spPr>
              <a:solidFill>
                <a:srgbClr val="C8323A"/>
              </a:solidFill>
            </c:spPr>
          </c:dPt>
          <c:dPt>
            <c:idx val="4"/>
            <c:spPr>
              <a:solidFill>
                <a:srgbClr val="178A55"/>
              </a:solidFill>
            </c:spPr>
          </c:dPt>
          <c:dPt>
            <c:idx val="5"/>
            <c:spPr>
              <a:solidFill>
                <a:srgbClr val="178A55"/>
              </a:solidFill>
            </c:spPr>
          </c:dPt>
          <c:dPt>
            <c:idx val="6"/>
            <c:spPr>
              <a:solidFill>
                <a:srgbClr val="178A55"/>
              </a:solidFill>
            </c:spPr>
          </c:dPt>
          <c:dPt>
            <c:idx val="7"/>
            <c:spPr>
              <a:solidFill>
                <a:srgbClr val="178A55"/>
              </a:solidFill>
            </c:spPr>
          </c:dPt>
          <c:cat>
            <c:strRef>
              <c:f>Sheet1!$A$2:$A$9</c:f>
              <c:strCache>
                <c:ptCount val="8"/>
                <c:pt idx="0">
                  <c:v>6213 聯茂</c:v>
                </c:pt>
                <c:pt idx="1">
                  <c:v>2845 遠東銀</c:v>
                </c:pt>
                <c:pt idx="2">
                  <c:v>6182 合晶</c:v>
                </c:pt>
                <c:pt idx="3">
                  <c:v>3591 艾笛森</c:v>
                </c:pt>
                <c:pt idx="4">
                  <c:v>2915 潤泰全</c:v>
                </c:pt>
                <c:pt idx="5">
                  <c:v>3189 景碩</c:v>
                </c:pt>
                <c:pt idx="6">
                  <c:v>6196 帆宣</c:v>
                </c:pt>
                <c:pt idx="7">
                  <c:v>1560 中砂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3000</c:v>
                </c:pt>
                <c:pt idx="1">
                  <c:v>-3607</c:v>
                </c:pt>
                <c:pt idx="2">
                  <c:v>-6000</c:v>
                </c:pt>
                <c:pt idx="3">
                  <c:v>6158</c:v>
                </c:pt>
                <c:pt idx="4">
                  <c:v>-8608</c:v>
                </c:pt>
                <c:pt idx="5">
                  <c:v>-22946</c:v>
                </c:pt>
                <c:pt idx="6">
                  <c:v>-25800</c:v>
                </c:pt>
                <c:pt idx="7">
                  <c:v>-30548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DEE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cnyes.com/news/id/6634417" TargetMode="External"/><Relationship Id="rId3" Type="http://schemas.openxmlformats.org/officeDocument/2006/relationships/hyperlink" Target="https://tw.news.yahoo.com/%E5%8F%B0%E8%82%A1%E8%B7%8C529%E9%BB%9E-%E6%AC%A3%E8%88%88%E9%87%8D%E6%8C%AB%E8%BF%916-%E5%8F%B0%E9%81%94%E9%9B%BB%E8%B7%8C%E9%80%BE2-%E4%B8%89%E5%A4%A7%E6%B3%95%E4%BA%BA%E7%8B%82%E8%B3%A3968%E5%84%84-100814551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cnyes.com/news/id/6634417" TargetMode="External"/><Relationship Id="rId3" Type="http://schemas.openxmlformats.org/officeDocument/2006/relationships/hyperlink" Target="https://tw.news.yahoo.com/%E5%8F%B0%E8%82%A1%E8%B7%8C529%E9%BB%9E-%E6%AC%A3%E8%88%88%E9%87%8D%E6%8C%AB%E8%BF%916-%E5%8F%B0%E9%81%94%E9%9B%BB%E8%B7%8C%E9%80%BE2-%E4%B8%89%E5%A4%A7%E6%B3%95%E4%BA%BA%E7%8B%82%E8%B3%A3968%E5%84%84-100814551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w.news.yahoo.com/%E5%8F%B0%E8%82%A1%E6%94%B6%E6%BC%B2141%E9%BB%9E-%E5%A4%96%E8%B3%87-%E9%80%A38%E8%B3%A3-%E6%9C%9F%E8%B2%A8%E7%A9%BA%E5%96%AE%E5%8F%8D%E6%B8%9B%E8%BF%914-000%E5%8F%A3-071752258.html" TargetMode="External"/><Relationship Id="rId3" Type="http://schemas.openxmlformats.org/officeDocument/2006/relationships/hyperlink" Target="https://news.cnyes.com/news/id/6632006" TargetMode="External"/><Relationship Id="rId4" Type="http://schemas.openxmlformats.org/officeDocument/2006/relationships/hyperlink" Target="https://news.cnyes.com/news/id/6631918" TargetMode="External"/><Relationship Id="rId5" Type="http://schemas.openxmlformats.org/officeDocument/2006/relationships/hyperlink" Target="https://news.google.com/rss/articles/CBMidkFVX3lxTE5BTnJva3VWRWtFY054WGxhbUttNU4wNzBJVEV6VFl5Rk9NWXB4ZTZQQXZFRDFQNWNJX2dnUWtvZ0kwbWhFSkhlMkxiWEFDTXJpdGtCQnlqY2RqcjktMDBjakdIZ25wOXBUazRxdHpPVUVWS2xwSWc?oc=5" TargetMode="External"/><Relationship Id="rId6" Type="http://schemas.openxmlformats.org/officeDocument/2006/relationships/hyperlink" Target="https://news.cnyes.com/news/id/6631982" TargetMode="External"/><Relationship Id="rId7" Type="http://schemas.openxmlformats.org/officeDocument/2006/relationships/hyperlink" Target="https://news.google.com/rss/articles/CBMiXEFVX3lxTFBhT1BDMEg3RFN4ZFJUV3VUVVFhME5BUkctaWtiUUU3M25LYlZkbGU3bGk0bHpCZTBUY2pnZzdMc3ZoamlQRzFKOG1YSGFMbjdHY3JHckNBLXVsOU9K0gFiQVVfeXFMTTE1TTRueWVHQTdkV3d5dnhoZUlHTEVCUS1xZDhQWFRzdUVsRE91TC1TYkpqQ1YyX08xRFdCZmdqcXFVekZzcmlCRS1rUWNuN0hkZlJNbThqNXlDQlRyV2RDenc?oc=5" TargetMode="External"/><Relationship Id="rId8" Type="http://schemas.openxmlformats.org/officeDocument/2006/relationships/hyperlink" Target="https://news.cnyes.com/news/id/6634417" TargetMode="External"/><Relationship Id="rId9" Type="http://schemas.openxmlformats.org/officeDocument/2006/relationships/hyperlink" Target="https://tw.news.yahoo.com/%E5%8F%B0%E8%82%A1%E8%B7%8C529%E9%BB%9E-%E6%AC%A3%E8%88%88%E9%87%8D%E6%8C%AB%E8%BF%916-%E5%8F%B0%E9%81%94%E9%9B%BB%E8%B7%8C%E9%80%BE2-%E4%B8%89%E5%A4%A7%E6%B3%95%E4%BA%BA%E7%8B%82%E8%B3%A3968%E5%84%84-100814551.html" TargetMode="External"/><Relationship Id="rId10" Type="http://schemas.openxmlformats.org/officeDocument/2006/relationships/hyperlink" Target="https://news.cnyes.com/news/id/6634313" TargetMode="External"/><Relationship Id="rId11" Type="http://schemas.openxmlformats.org/officeDocument/2006/relationships/hyperlink" Target="https://news.cnyes.com/news/id/6634134" TargetMode="External"/><Relationship Id="rId12" Type="http://schemas.openxmlformats.org/officeDocument/2006/relationships/hyperlink" Target="https://tw.news.yahoo.com/%E4%B8%89%E5%A4%A7%E6%B3%95%E4%BA%BA%E8%A1%80%E6%B4%97%E5%8F%B0%E8%82%A1968%E5%84%84-%E8%B6%85%E9%81%8E%E5%8D%83%E9%9A%BB%E5%80%8B%E8%82%A1%E5%80%92%E5%9C%B0-%E5%AE%83-%E9%80%86%E5%8B%A2%E5%A4%A7%E6%BC%B25-%E7%8D%A8%E6%92%90%E7%9B%A4-081600505.html" TargetMode="External"/><Relationship Id="rId13" Type="http://schemas.openxmlformats.org/officeDocument/2006/relationships/hyperlink" Target="https://tw.news.yahoo.com/%E9%AB%98%E9%9B%84%E5%BB%A0%E9%8B%BC%E6%A7%8B%E4%BD%9C%E6%A5%AD%E7%99%BC%E7%94%9F%E6%84%8F%E5%A4%96-%E5%8F%B0%E7%A9%8D%E9%9B%BB-%E5%B7%B2%E8%87%AA%E4%B8%BB%E5%81%9C%E5%B7%A5-113719496.html" TargetMode="External"/><Relationship Id="rId14" Type="http://schemas.openxmlformats.org/officeDocument/2006/relationships/hyperlink" Target="https://news.cnyes.com/news/id/6633948" TargetMode="External"/><Relationship Id="rId15" Type="http://schemas.openxmlformats.org/officeDocument/2006/relationships/hyperlink" Target="https://tw.news.yahoo.com/%E7%9B%A4%E5%89%8D-%E8%B2%A1%E5%A0%B1%E5%88%A9%E5%A4%9A%E6%B2%B9%E5%83%B9%E5%9B%9E%E8%90%BD%E6%BF%80%E5%8B%B5-%E5%8F%B0%E6%8C%87%E5%A4%9C%E7%9B%A4%E6%BC%B2634%E9%BB%9E-%E5%8F%B0%E8%82%A1%E4%BB%8A%E6%8B%9A%E6%AD%A2%E8%B7%8C-222400100.html" TargetMode="External"/><Relationship Id="rId16" Type="http://schemas.openxmlformats.org/officeDocument/2006/relationships/hyperlink" Target="https://tw.news.yahoo.com/%E5%8F%B0%E8%82%A1%E4%BF%AE%E6%AD%A3%E5%B7%B2%E5%88%B0%E5%B0%BE%E8%81%B2-%E5%B0%88%E5%AE%B6%E7%B5%A6%E5%87%BA%E4%BA%94%E5%80%8B%E7%90%86%E7%94%B1-215730247.html" TargetMode="External"/><Relationship Id="rId17" Type="http://schemas.openxmlformats.org/officeDocument/2006/relationships/hyperlink" Target="https://tw.news.yahoo.com/%E5%8F%B0%E8%82%A1-%E9%80%B1%E8%B7%8C2202%E9%BB%9E-%E8%92%B8%E7%99%BC7%E5%85%86%E5%85%83%E8%AA%B0%E5%AE%B3%E7%9A%84-%E9%80%99%E6%97%8F%E7%BE%A4%E7%8B%82%E8%B7%8C10-6-172500371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cnyes.com/news/id/6634628" TargetMode="External"/><Relationship Id="rId3" Type="http://schemas.openxmlformats.org/officeDocument/2006/relationships/hyperlink" Target="https://news.cnyes.com/news/id/6634562" TargetMode="External"/><Relationship Id="rId4" Type="http://schemas.openxmlformats.org/officeDocument/2006/relationships/hyperlink" Target="https://news.google.com/rss/articles/CBMiWEFVX3lxTFBRa2V0ZElid1dxRi1zU1Z1V0lxXzh0eEYtQzB3eE9xM0lxSmhSU3d5S2g4MVhEbU9QdmtjSFdMV1dGRVNhY1pQX2QwejNtSVg3NmNmWnV2cGs?oc=5" TargetMode="External"/><Relationship Id="rId5" Type="http://schemas.openxmlformats.org/officeDocument/2006/relationships/hyperlink" Target="https://news.google.com/rss/articles/CBMiWEFVX3lxTE9QUm5tejhXOFROeFlhU0kyTXlyT1dYYzFxNWstTzlON2JNWE5OQ09hMUFsNHRuTFlNX2ZfUHJzd1N2QWs5cmNuZHZWVTlZb0ZodDJSZ0dmMGQ?oc=5" TargetMode="External"/><Relationship Id="rId6" Type="http://schemas.openxmlformats.org/officeDocument/2006/relationships/hyperlink" Target="https://news.google.com/rss/articles/CBMiT0FVX3lxTFB1X2otVlVVc1lnNmplRlBvbzZucXU2WlBzU1Z4NlhEVlM0ZUhGTU91TC03QjRVQmNER0VJOVZFQmRmeG1aQzVVLVV6cG1iaFU?oc=5" TargetMode="External"/><Relationship Id="rId7" Type="http://schemas.openxmlformats.org/officeDocument/2006/relationships/hyperlink" Target="https://tw.news.yahoo.com/%E7%9B%A4%E5%89%8D-spacex%E8%B2%A1%E5%A0%B1%E5%A0%B1%E5%96%9C%E7%BE%8E%E8%82%A1%E7%8B%82%E6%AD%A1-%E5%8F%B0%E6%8C%87%E5%A4%9C%E7%9B%A4%E9%A3%86469%E9%BB%9E-%E5%8F%B0%E8%82%A1%E5%8F%8D%E6%94%BB%E8%99%9F%E8%A7%92%E9%9F%BF-222200809.html" TargetMode="External"/><Relationship Id="rId8" Type="http://schemas.openxmlformats.org/officeDocument/2006/relationships/hyperlink" Target="https://news.google.com/rss/articles/CBMiWEFVX3lxTE44RGJxMk9uWlo0Q2xReklOXzQ4alJYa3JvTW9uazNJbzN0b3l1UEJkclZRRXhVbzM2dzd0SDhNazhLdHlCUU9oamxpVVRZLXpDSmxMQXNBMTk?oc=5" TargetMode="External"/><Relationship Id="rId9" Type="http://schemas.openxmlformats.org/officeDocument/2006/relationships/hyperlink" Target="https://tw.news.yahoo.com/%E8%BC%9D%E9%81%94%E6%8E%A8%E6%96%B0%E8%A8%AD%E8%A8%88-%E9%B4%BB%E6%B5%B7-%E5%8F%B0%E9%81%94%E5%90%83%E8%A3%9C-223731644.html" TargetMode="External"/><Relationship Id="rId10" Type="http://schemas.openxmlformats.org/officeDocument/2006/relationships/hyperlink" Target="https://www.cna.com.tw/news/afe/202610210339.aspx" TargetMode="External"/><Relationship Id="rId11" Type="http://schemas.openxmlformats.org/officeDocument/2006/relationships/hyperlink" Target="https://tw.news.yahoo.com/%E5%8F%B0%E8%82%A1%E7%9B%A4%E4%B8%AD%E7%8B%82%E9%A3%86962%E9%BB%9E-%E9%83%AD%E5%93%B2%E6%A6%AE%E6%9B%9D%E6%9C%80%E5%BE%8C%E8%B2%B7%E9%BB%9E%E5%8F%AA%E5%89%A9%E5%85%A9%E5%A4%A9-%E9%BB%9E%E5%90%8D%E9%80%99%E4%BA%9B%E6%BD%9B%E5%8A%9B%E8%82%A1-190500161.html" TargetMode="External"/><Relationship Id="rId12" Type="http://schemas.openxmlformats.org/officeDocument/2006/relationships/hyperlink" Target="https://news.google.com/rss/articles/CBMiUkFVX3lxTE5RbEpqNHhRZXIxYUVwNGx6N1RwLXhreHVpQk8yeGs5bGdxbHlqc01wZ0dLY2hJVmI4dDNYcVp1d0h6dkViZ3NVQ094eXpTbFNLWUE?oc=5" TargetMode="External"/><Relationship Id="rId13" Type="http://schemas.openxmlformats.org/officeDocument/2006/relationships/hyperlink" Target="https://news.cnyes.com/news/id/6635435" TargetMode="External"/><Relationship Id="rId14" Type="http://schemas.openxmlformats.org/officeDocument/2006/relationships/hyperlink" Target="https://news.google.com/rss/articles/CBMigAFBVV95cUxNMmNQY3AtUHE1clI4Uml2QU9ZVUN2dDNWTHMwWVBFd1UtNERKNVlIRXhiSktscVp0SWxVWkJmcTZ1Ny0xTnVQM1Jvb0ZqcDVmRzhEUmVEY3NzN0VOald4LTZTOV9aZTFJa1l3eHN1RmZhU05wOGZ0VVRRRlhoem1qLQ?oc=5" TargetMode="External"/><Relationship Id="rId15" Type="http://schemas.openxmlformats.org/officeDocument/2006/relationships/hyperlink" Target="https://news.google.com/rss/articles/CBMiTEFVX3lxTE96WTBidXB2UTRFNl9KSDdrMmZPWUY5ZGh4eVI4blBZSXExN0xUQTZjemRGYUJzd0ZPU2IxaEtkS1BWRnd4TDh1dlNVMG0?oc=5" TargetMode="External"/><Relationship Id="rId16" Type="http://schemas.openxmlformats.org/officeDocument/2006/relationships/hyperlink" Target="https://tw.news.yahoo.com/%E5%8F%B0%E7%A9%8D%E9%9B%BB%E7%94%A2%E8%83%BD%E4%BE%9B%E4%B8%8D%E6%87%89%E6%B1%82-%E8%80%97%E6%9D%906%E6%AA%94%E5%BF%85%E6%94%B6-150500113.html" TargetMode="External"/><Relationship Id="rId17" Type="http://schemas.openxmlformats.org/officeDocument/2006/relationships/hyperlink" Target="https://tw.news.yahoo.com/%E5%8F%B0%E8%82%A1%E9%9C%87%E7%9B%AA-%E7%91%A4%E6%B1%A0%E9%87%91%E6%AF%8D-%E9%80%A35%E5%A4%A9%E7%A0%B8117%E5%84%84%E5%86%8D%E6%8E%837%E6%AA%94ai%E8%82%A1-%E9%80%99%E6%AA%94%E8%B2%B7%E5%88%B0%E5%8F%AA%E8%BC%B8%E5%8F%B0%E7%A9%8D%E9%9B%BB-112700462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w.news.yahoo.com/%E5%8F%B0%E7%A9%8D%E9%9B%BB%E5%B8%B6%E9%9A%8A%E5%87%BA%E6%B5%B7-%E5%8B%A4%E6%A5%AD%E7%9C%BE%E4%BF%A1%E6%8F%AD%E6%B5%B7%E5%A4%96%E8%A8%AD%E5%BB%A03%E9%A2%A8%E9%9A%AA-130000101.html" TargetMode="External"/><Relationship Id="rId3" Type="http://schemas.openxmlformats.org/officeDocument/2006/relationships/hyperlink" Target="https://news.google.com/rss/articles/CBMiS0FVX3lxTE1yQlBnZktidWhoWHFFOWFKc0xPa2EyajFKb21iZGRzM05xaEVSdWY1TXEyT182ZDRORXZEdmFzbHpacXJwVlcxeDdocw?oc=5" TargetMode="External"/><Relationship Id="rId4" Type="http://schemas.openxmlformats.org/officeDocument/2006/relationships/hyperlink" Target="https://news.google.com/rss/articles/CBMiTEFVX3lxTE96WTBidXB2UTRFNl9KSDdrMmZPWUY5ZGh4eVI4blBZSXExN0xUQTZjemRGYUJzd0ZPU2IxaEtkS1BWRnd4TDh1dlNVMG0?oc=5" TargetMode="External"/><Relationship Id="rId5" Type="http://schemas.openxmlformats.org/officeDocument/2006/relationships/hyperlink" Target="https://news.google.com/rss/articles/CBMiT0FVX3lxTFAtVTVPV3ZiM09uZTdKd09KVEMzWmk0YkhCMU5nZTU2UU1SdzhTcHZqWjdmRFpGZ2p3QkFiWVB5cnJIclNERUtWd2RHbzRKZTg?oc=5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2026 德明X富達投資擂台　全國大專院校組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 3 週週報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2026-10-19～2026-10-23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-1.07%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本週總資產報酬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971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加權指數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2461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Bahnschrift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971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累積報酬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2461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-13.55%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840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期末總資產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114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Bahnschrift"/>
                <a:ea typeface="Microsoft JhengHei"/>
                <a:cs typeface="Microsoft JhengHei"/>
              </a:rPr>
              <a:t>8,645,477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840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持股率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4114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Bahnschrift"/>
                <a:ea typeface="Microsoft JhengHei"/>
                <a:cs typeface="Microsoft JhengHei"/>
              </a:rPr>
              <a:t>96.2%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709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本週成交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983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Bahnschrift"/>
                <a:ea typeface="Microsoft JhengHei"/>
                <a:cs typeface="Microsoft JhengHei"/>
              </a:rPr>
              <a:t>2 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本週報酬為 -1.07%，總資產期末為 8,645,477 元。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-0.61%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4251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5811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32115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2115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-1.13%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1422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2982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9286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9286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7A80"/>
                </a:solidFill>
                <a:latin typeface="Bahnschrift"/>
                <a:ea typeface="Microsoft JhengHei"/>
                <a:cs typeface="Microsoft JhengHei"/>
              </a:rPr>
              <a:t>+1.28%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8593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0153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457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457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-1.81%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5764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97324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3628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3628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盤中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82935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-0.61%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-1.13%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+1.28%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-1.81%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盤中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本週重點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本週報酬為 -1.07%，總資產期末為 8,645,477 元。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10312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本週報酬為 -1.07%，總資產期末為 8,645,477 元。</a:t>
            </a:r>
          </a:p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市場波動劇烈，台股在週二重挫後，週三反彈，但週五又因AI疑慮而下跌。</a:t>
            </a:r>
          </a:p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本週進行兩筆元大金交易，主要為調節部位與順勢操作。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057400"/>
            <a:ext cx="19050" cy="384048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20574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本週總資產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27685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-1.07%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6974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同期加權指數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91693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B4763"/>
                </a:solidFill>
                <a:latin typeface="Bahnschrift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3375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累積報酬（排名只看正報酬）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55701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-13.55%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977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持股率（每日收盤須 ≥ 70%）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19709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96.2%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6177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累計成交／門檻 10 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83717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88 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52578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交易過的標的／門檻 5 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547725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14 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3 週週報｜2026-10-19～2026-10-23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-0.61%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-1.13%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+1.28%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-1.81%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盤中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每日市場與總資產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總資產與加權指數都以上週五收盤為 100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48640" y="2057400"/>
          <a:ext cx="56692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583680" y="2103120"/>
            <a:ext cx="50292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週一：台股收漲141點，站回4萬7千點，國際市場關注美國9月CPI與聯準會升息疑慮。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週二：台股重挫529.15點，三大法人合計賣超968.04億元，外資連10日賣超並匯出。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週三：台指期夜盤大漲634點，台股在連日重挫後有望止跌反彈，外資大賣795.3億元。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週四：加權 -1.81%；SpaceX與美超微財報報喜，美股四大指數全面收紅、費半漲近2%，台指期夜盤一度大漲逾400點，台股反攻號角響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週五：市場對AI資本支出回報疑慮重燃，美股科技股重挫，費城半導體指數狂瀉6.72%。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3 週週報｜2026-10-19～2026-10-23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-0.61%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-1.13%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+1.28%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-1.81%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盤中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本週交易明細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共 2 筆；理由來源標示系統建議、盤中建議、記錄備註或自行判斷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2103120"/>
          <a:ext cx="11094412" cy="9875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687"/>
                <a:gridCol w="693400"/>
                <a:gridCol w="792458"/>
                <a:gridCol w="2179260"/>
                <a:gridCol w="1188687"/>
                <a:gridCol w="1089630"/>
                <a:gridCol w="1386801"/>
                <a:gridCol w="2575489"/>
              </a:tblGrid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動作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標的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數量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價格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金額（元）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理由來源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週二 10/20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賣出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2885 元大金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1,000 股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71,000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自行判斷（依當時盤勢與持倉整理）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週二 10/20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832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買進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2885 元大金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1,000 股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71,000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自行判斷（依當時盤勢與持倉整理）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3 週週報｜2026-10-19～2026-10-23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-0.61%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 w="2857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-1.13%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+1.28%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-1.81%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盤中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143000"/>
            <a:ext cx="63500" cy="868680"/>
          </a:xfrm>
          <a:prstGeom prst="rect">
            <a:avLst/>
          </a:prstGeom>
          <a:solidFill>
            <a:srgbClr val="6B4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10789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週二　賣出 2885 元大金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46A8"/>
                </a:solidFill>
                <a:latin typeface="Microsoft JhengHei"/>
                <a:ea typeface="Microsoft JhengHei"/>
                <a:cs typeface="Microsoft JhengHei"/>
              </a:rPr>
              <a:t>股票　</a:t>
            </a:r>
            <a:r>
              <a:rPr sz="1300" b="0">
                <a:solidFill>
                  <a:srgbClr val="3B4763"/>
                </a:solidFill>
                <a:latin typeface="Bahnschrift"/>
                <a:ea typeface="Microsoft JhengHei"/>
                <a:cs typeface="Microsoft JhengHei"/>
              </a:rPr>
              <a:t>1,000 股 × 71 ＝ 71,000 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3172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為什麼這樣做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33472"/>
            <a:ext cx="67665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考量元大金股價站上月線與季線，距季線 +7.1%，且近 20 日上漲 3.3%，判斷為強勢股順勢加入。同時，將資金轉進金融保險，維持持股檔數分散風險。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2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相對成本 73.61 元 -3.5%，報酬有限，調節部位把資金留給更強的標的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理由來源：自行判斷（依當時盤勢與持倉整理）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331720"/>
            <a:ext cx="19050" cy="356616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當天市場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606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加權 </a:t>
            </a:r>
            <a:r>
              <a:rPr sz="22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-1.13%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200400"/>
            <a:ext cx="374903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台股終場重挫529.15點再度回測季線，三大法人合計賣超968.04億元，外資連10日賣超並匯出使新台幣重貶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台股重挫大跌之際欣興股價表現疲弱重挫近6%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外資持續賣超台股並匯出，導致新台幣重貶並跌破重要關卡。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3 週週報｜2026-10-19～2026-10-23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-0.61%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 w="2857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-1.13%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+1.28%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-1.81%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盤中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143000"/>
            <a:ext cx="63500" cy="868680"/>
          </a:xfrm>
          <a:prstGeom prst="rect">
            <a:avLst/>
          </a:prstGeom>
          <a:solidFill>
            <a:srgbClr val="6B4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10789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週二　買進 2885 元大金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46A8"/>
                </a:solidFill>
                <a:latin typeface="Microsoft JhengHei"/>
                <a:ea typeface="Microsoft JhengHei"/>
                <a:cs typeface="Microsoft JhengHei"/>
              </a:rPr>
              <a:t>股票　</a:t>
            </a:r>
            <a:r>
              <a:rPr sz="1300" b="0">
                <a:solidFill>
                  <a:srgbClr val="3B4763"/>
                </a:solidFill>
                <a:latin typeface="Bahnschrift"/>
                <a:ea typeface="Microsoft JhengHei"/>
                <a:cs typeface="Microsoft JhengHei"/>
              </a:rPr>
              <a:t>1,000 股 × 71 ＝ 71,000 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3172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為什麼這樣做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33472"/>
            <a:ext cx="67665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考量元大金股價站上月線與季線，距季線 +7.1%，且近 20 日上漲 3.3%，判斷為強勢股順勢加入。同時，將資金轉進金融保險，維持持股檔數分散風險。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2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股價站上月線與季線（距季線 +7.1%），近 20 日 +3.3%，順勢加入強勢股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2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近日已賣出 元大金，資金轉進金融保險，維持持股檔數分散風險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理由來源：自行判斷（依當時盤勢與持倉整理）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331720"/>
            <a:ext cx="19050" cy="356616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當天市場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606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加權 </a:t>
            </a:r>
            <a:r>
              <a:rPr sz="22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-1.13%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200400"/>
            <a:ext cx="374903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台股終場重挫529.15點再度回測季線，三大法人合計賣超968.04億元，外資連10日賣超並匯出使新台幣重貶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台股重挫大跌之際欣興股價表現疲弱重挫近6%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外資持續賣超台股並匯出，導致新台幣重貶並跌破重要關卡。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3 週週報｜2026-10-19～2026-10-23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-0.61%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-1.13%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+1.28%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-1.81%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盤中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期末持股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總資產 8,645,477 元；證券戶現金 -645,973 元；期貨戶權益 975,300 元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2103120"/>
          <a:ext cx="11094411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70150"/>
                <a:gridCol w="2827988"/>
                <a:gridCol w="1305225"/>
                <a:gridCol w="1196456"/>
                <a:gridCol w="1196456"/>
                <a:gridCol w="1631531"/>
                <a:gridCol w="1087687"/>
                <a:gridCol w="978918"/>
              </a:tblGrid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標的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股數／口數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成本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現價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未實現損益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報酬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權重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3189 景碩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1,639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1,084.26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986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-158,496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-9.06%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18.7%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6196 帆宣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2,150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634.77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597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-79,250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-5.95%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14.8%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1560 中砂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1,091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1,017.82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846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-185,879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-16.88%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10.7%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6213 聯茂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727.03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777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51,000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+6.87%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9.0%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2889 國票金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40,416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16.04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16.95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37,774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+5.68%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7.9%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5880 合庫金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24,000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26.14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28.20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50,400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+7.89%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7.8%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3037 欣興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570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1,181.68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1,085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-54,150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-8.18%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7.2%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3591 艾笛森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20,528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28.67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26.85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-36,573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-6.36%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6.4%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2845 遠東銀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36,071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12.97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13.30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12,621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+2.55%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5.5%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2915 潤泰全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7,173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57.54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57.80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2,469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+0.45%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4.8%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6182 合晶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115.67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104.50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-11,000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-9.65%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1.2%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3 週週報｜2026-10-19～2026-10-23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-0.61%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-1.13%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+1.28%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-1.81%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盤中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本週損益來源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各檔本週損益（含已賣出部分）；紅色賺、綠色賠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48640" y="2011680"/>
          <a:ext cx="11094415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3 週週報｜2026-10-19～2026-10-23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-0.61%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-1.13%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+1.28%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-1.81%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盤中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檢討與下週計畫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8288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本週檢討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28600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本週市場波動劇烈，團隊仍維持 96.2% 的高持股率，顯示對市場的信心。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在市場重挫時，能即時調節報酬有限的部位，並將資金轉進判斷為強勢的標的，是值得肯定的操作。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累積交易筆數已達 88 筆，交易過標的數達 14 檔，已遠超競賽門檻。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828800"/>
            <a:ext cx="19050" cy="411480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8288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下週計畫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286000"/>
            <a:ext cx="53035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下週目標配置為進攻籃 75%、穩健籃 25%、ETF籃 0%。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建議買進標的包括 1736 喬山、2885 元大金、1617 榮星、1808 潤隆、2468 華經、2069 運錩、6456 GIS-KY。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持續努力讓累積報酬轉正，以符合競賽排名門檻。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3 週週報｜2026-10-19～2026-10-23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本週新聞來源（1/3）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週報引用的事件與原始新聞；點標題開啟原文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 10/19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台股收漲141點，站回4萬7千點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 10/19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華碩攜北市府打造World Labs AI智匯教室 建置校園專屬AI算力中心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 10/19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00919第14次除息僅花20天填息 年化配息率13.77%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 10/19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美國9月CPI升至3.7%，超預期引發市場震盪，聯準會官員鷹派分歧，年底前是否再升息存疑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加密城市CryptoCity　等 2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 10/19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6"/>
              </a:rPr>
              <a:t>Fed主席華許表示全球央行同步緊縮，沒有國家能搭便車，暗示貨幣政策將維持緊縮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 10/19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7"/>
              </a:rPr>
              <a:t>新台幣連續重貶，破32.5關卡，央行午盤前出手阻貶，匯率暫收32.465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鏡週刊Mirror Media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10/20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8"/>
              </a:rPr>
              <a:t>台股終場重挫529.15點再度回測季線，三大法人合計賣超968.04億元，外資連10日賣超並匯…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10/20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9"/>
              </a:rPr>
              <a:t>台股重挫大跌之際欣興股價表現疲弱重挫近6%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10/20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0"/>
              </a:rPr>
              <a:t>欣興布局AI高階HDI與光模組，60層板已有樣品且NPO成技術焦點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10/20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1"/>
              </a:rPr>
              <a:t>電子權值股走弱，日月光投控跌幅逾1%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10/20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2"/>
              </a:rPr>
              <a:t>三大法人大舉提款台股，南亞等指標股面臨沉重賣壓走弱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10/20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8"/>
              </a:rPr>
              <a:t>外資持續賣超台股並匯出，導致新台幣重貶並跌破重要關卡。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10/20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3"/>
              </a:rPr>
              <a:t>台積電高雄廠區發生重大工安意外，造成多名施工人員傷亡並勒令停工。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10/20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4"/>
              </a:rPr>
              <a:t>美國年付利息突破一兆美元創新高，惠譽警告若財政狀況持續惡化，主權評等恐再遭下調。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10/21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5"/>
              </a:rPr>
              <a:t>台指期夜盤大漲634點，台股在連日重挫後有望止跌反彈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2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10/21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6"/>
              </a:rPr>
              <a:t>台股20日下跌529點收46292點，外資大賣795.3億元，新台幣重貶破32.6元創18個月…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10/21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7"/>
              </a:rPr>
              <a:t>台股一週下跌2202點、市值蒸發7兆元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3 週週報｜2026-10-19～2026-10-23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本週新聞來源（2/3）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週報引用的事件與原始新聞；點標題開啟原文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10/21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分析師看好半導體漲勢延續至2027年，AI與資料中心需求推動週期延長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10/21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經濟學家警告AI泡沫可能從投資人未關注處破裂，AI生態系債務恐達2兆美元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10/21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聯準會10月會議預料維持利率不變，多數經濟學家預期12月再升息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自由時報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10/21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美國擬在川習會前對中國加徵7.5%關稅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自由時報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10/21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6"/>
              </a:rPr>
              <a:t>美國進口商提訴挑戰川普對加拿大50%關稅，美加貿易協議預計中期選舉前無進展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鉅亨網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10/22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7"/>
              </a:rPr>
              <a:t>SpaceX與美超微財報報喜，美股四大指數全面收紅、費半漲近2%，台指期夜盤一度大漲逾400點…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10/22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8"/>
              </a:rPr>
              <a:t>外資終止連10賣，三大法人合計買超，台股大漲594.84點重回5日線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自由時報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10/22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9"/>
              </a:rPr>
              <a:t>輝達於柏林GTC推出DSX POD模組化AI工廠參考設計，鴻海、台達電、和碩、廣達、緯創、技嘉…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10/22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0"/>
              </a:rPr>
              <a:t>輝達與欣興、京元電等擴充供應鏈，並攜手矽品擴大CPO光學引擎產能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10/22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1"/>
              </a:rPr>
              <a:t>分析師點名精材為AI概念潛力股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2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10/22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2"/>
              </a:rPr>
              <a:t>市場等待聯準會下週決策，美元走弱、美債殖利率下降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蕃新聞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10/22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3"/>
              </a:rPr>
              <a:t>沙烏地阿美油田遭無人機攻擊、美國撤離部分外交人員，中東供應風險推升油價一度衝破110美元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2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10/22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4"/>
              </a:rPr>
              <a:t>台幣貶至32.672一年半新低後因外資匯入強彈1.29角，股匯同步走揚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今周刊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10/23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5"/>
              </a:rPr>
              <a:t>市場對AI資本支出回報疑慮重燃引發美股科技股重挫，台指期夜盤大跌且外資擴大賣超台股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聚財網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10/23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5"/>
              </a:rPr>
              <a:t>美股費城半導體指數狂瀉6.72%，晶片股遭到全面性拋售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聚財網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10/23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6"/>
              </a:rPr>
              <a:t>台積電擴大先進製程與封裝布局，中砂等半導體耗材廠受惠訂單滲透率提升與漲價潮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10/23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7"/>
              </a:rPr>
              <a:t>法人操盤之ETF持續買超AI供應鏈，欣興獲資金掃貨躍升為第二大持股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3 週週報｜2026-10-19～2026-10-23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本週新聞來源（3/3）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週報引用的事件與原始新聞；點標題開啟原文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10/23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勤業眾信示警半導體海外設廠風險，帆宣等廠務供應鏈海外投資暗藏客戶需求與營運風險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10/23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中東地緣政治緊張升溫，沙烏地能源設施遇襲、美國下令外交人員撤離沙國，布倫特原油大漲4%創5個月…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鉅亨網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10/23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市場對AI巨額資本支出與回報疑慮再起，Meta自由現金流轉負、CDS利差創新高，費半暴跌6.7…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聚財網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10/23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避險資金湧入美債，10年期美債殖利率跌破5%，創近一個月低點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鉅亨網　等 3 則報導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3 週週報｜2026-10-19～2026-10-23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週報檢查結果（1/2）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通過 14 項・已自動修正 2 項・需注意 2 項・錯誤 0 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94413" cy="46268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1825"/>
                <a:gridCol w="2750681"/>
                <a:gridCol w="733515"/>
                <a:gridCol w="6968392"/>
              </a:tblGrid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檢查項目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週報酬＝期末÷期初−1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8,739,107 → 8,645,477，-1.07%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最後交易日總資產＝期末總資產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2026-10-23：8,645,477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各檔損益加總＝總資產變動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4560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注意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加總 -93,211，總資產變動 -93,630，差 +419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成交金額＝數量×價格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筆皆一致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持股市值＝股數×收盤價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 檔皆一致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持股率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96.2%（規則下限 70%）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理由出處在成交前產生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皆引用收盤前已產生的報告或成交前資料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理由與買賣方向一致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無矛盾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停利／停損與實際損益一致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無衝突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成交價與建議價差距 ≤ 5%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皆在 5% 內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3 週週報｜2026-10-19～2026-10-23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週報檢查結果（2/2）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通過 14 項・已自動修正 2 項・需注意 2 項・錯誤 0 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94413" cy="37856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1825"/>
                <a:gridCol w="2750681"/>
                <a:gridCol w="733515"/>
                <a:gridCol w="6968392"/>
              </a:tblGrid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檢查項目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同週買賣同一檔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4560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注意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2885：買進與賣出理由需能互相解釋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新聞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每則事件都有新聞連結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38 則事件皆附連結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新聞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新聞時間不晚於當天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沒有引用未來新聞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新聞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事件不跨日重複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無重複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交易說明與成交紀錄一致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5FB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已修正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10-20 2885 說明與買進方向矛盾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每日盤勢描述與實際漲跌一致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5FB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已修正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改寫：週四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沒有錯誤描述融資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文字數字核對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所有數字可在資料中找到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3 週週報｜2026-10-19～2026-10-23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資料來源與說明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成交：XQ 全球贏家成交回報（網站匯入或 AI 助理記錄）；同一筆委託分多次成交時合併為一列，價格為成交量加權平均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總資產採競賽 App「投資組合總值」口徑：初始 1,000 萬＋未實現＋已實現；股票用當天收盤價、期貨用該合約日盤結算價（與 App 對帳一致）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市場資料：證交所／櫃買中心日 K、加權指數、期交所行情；事件與國際大事來自當天報告收錄的新聞，原文連結見「本週新聞來源」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週報檢查 Agent：輸出前逐項核對數據、新聞時間與出處、交易理由是否在成交前產生及前後矛盾，結果見「週報檢查結果」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交易理由：優先引用當天系統建議的理由；自行判斷的交易依成交前一日的系統排名、價格位置、持股率與資金去向整理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文字說明由開源 AI 模型依上述資料撰寫，所有數字已逐一與資料核對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持股率同 App：股票＋ETF 市值 ÷（市值＋持有現金＋期貨保證金＋期貨未實現）；損益同 App 不扣手續費，手續費另計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3 週週報｜2026-10-19～2026-10-23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