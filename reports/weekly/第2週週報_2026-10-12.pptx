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總資產</c:v>
                </c:pt>
              </c:strCache>
            </c:strRef>
          </c:tx>
          <c:spPr>
            <a:ln w="28575">
              <a:solidFill>
                <a:srgbClr val="6B46A8"/>
              </a:solidFill>
            </a:ln>
          </c:spPr>
          <c:marker>
            <c:spPr>
              <a:solidFill>
                <a:srgbClr val="6B46A8"/>
              </a:solidFill>
            </c:spPr>
          </c:marker>
          <c:cat>
            <c:strRef>
              <c:f>Sheet1!$A$2:$A$5</c:f>
              <c:strCache>
                <c:ptCount val="4"/>
                <c:pt idx="0">
                  <c:v>週一</c:v>
                </c:pt>
                <c:pt idx="1">
                  <c:v>週二</c:v>
                </c:pt>
                <c:pt idx="2">
                  <c:v>週三</c:v>
                </c:pt>
                <c:pt idx="3">
                  <c:v>週四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99.41</c:v>
                </c:pt>
                <c:pt idx="1">
                  <c:v>94.36</c:v>
                </c:pt>
                <c:pt idx="2">
                  <c:v>97.04</c:v>
                </c:pt>
                <c:pt idx="3">
                  <c:v>85.99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加權指數</c:v>
                </c:pt>
              </c:strCache>
            </c:strRef>
          </c:tx>
          <c:spPr>
            <a:ln w="28575">
              <a:solidFill>
                <a:srgbClr val="6B7489"/>
              </a:solidFill>
            </a:ln>
          </c:spPr>
          <c:marker>
            <c:spPr>
              <a:solidFill>
                <a:srgbClr val="6B7489"/>
              </a:solidFill>
            </c:spPr>
          </c:marker>
          <c:cat>
            <c:strRef>
              <c:f>Sheet1!$A$2:$A$5</c:f>
              <c:strCache>
                <c:ptCount val="4"/>
                <c:pt idx="0">
                  <c:v>週一</c:v>
                </c:pt>
                <c:pt idx="1">
                  <c:v>週二</c:v>
                </c:pt>
                <c:pt idx="2">
                  <c:v>週三</c:v>
                </c:pt>
                <c:pt idx="3">
                  <c:v>週四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99.98</c:v>
                </c:pt>
                <c:pt idx="1">
                  <c:v>98.03</c:v>
                </c:pt>
                <c:pt idx="2">
                  <c:v>98.61</c:v>
                </c:pt>
                <c:pt idx="3">
                  <c:v>95.25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9DEE7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本週損益（元）</c:v>
                </c:pt>
              </c:strCache>
            </c:strRef>
          </c:tx>
          <c:dPt>
            <c:idx val="0"/>
            <c:spPr>
              <a:solidFill>
                <a:srgbClr val="C8323A"/>
              </a:solidFill>
            </c:spPr>
          </c:dPt>
          <c:dPt>
            <c:idx val="1"/>
            <c:spPr>
              <a:solidFill>
                <a:srgbClr val="C8323A"/>
              </a:solidFill>
            </c:spPr>
          </c:dPt>
          <c:dPt>
            <c:idx val="2"/>
            <c:spPr>
              <a:solidFill>
                <a:srgbClr val="178A55"/>
              </a:solidFill>
            </c:spPr>
          </c:dPt>
          <c:dPt>
            <c:idx val="3"/>
            <c:spPr>
              <a:solidFill>
                <a:srgbClr val="178A55"/>
              </a:solidFill>
            </c:spPr>
          </c:dPt>
          <c:dPt>
            <c:idx val="4"/>
            <c:spPr>
              <a:solidFill>
                <a:srgbClr val="178A55"/>
              </a:solidFill>
            </c:spPr>
          </c:dPt>
          <c:dPt>
            <c:idx val="5"/>
            <c:spPr>
              <a:solidFill>
                <a:srgbClr val="178A55"/>
              </a:solidFill>
            </c:spPr>
          </c:dPt>
          <c:dPt>
            <c:idx val="6"/>
            <c:spPr>
              <a:solidFill>
                <a:srgbClr val="178A55"/>
              </a:solidFill>
            </c:spPr>
          </c:dPt>
          <c:dPt>
            <c:idx val="7"/>
            <c:spPr>
              <a:solidFill>
                <a:srgbClr val="178A55"/>
              </a:solidFill>
            </c:spPr>
          </c:dPt>
          <c:cat>
            <c:strRef>
              <c:f>Sheet1!$A$2:$A$9</c:f>
              <c:strCache>
                <c:ptCount val="8"/>
                <c:pt idx="0">
                  <c:v>2889 國票金</c:v>
                </c:pt>
                <c:pt idx="1">
                  <c:v>5880 合庫金</c:v>
                </c:pt>
                <c:pt idx="2">
                  <c:v>3591 艾笛森</c:v>
                </c:pt>
                <c:pt idx="3">
                  <c:v>3037 欣興</c:v>
                </c:pt>
                <c:pt idx="4">
                  <c:v>6196 帆宣</c:v>
                </c:pt>
                <c:pt idx="5">
                  <c:v>1560 中砂</c:v>
                </c:pt>
                <c:pt idx="6">
                  <c:v>3189 景碩</c:v>
                </c:pt>
                <c:pt idx="7">
                  <c:v>期貨與選擇權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12125</c:v>
                </c:pt>
                <c:pt idx="1">
                  <c:v>25200</c:v>
                </c:pt>
                <c:pt idx="2">
                  <c:v>-50294</c:v>
                </c:pt>
                <c:pt idx="3">
                  <c:v>-59850</c:v>
                </c:pt>
                <c:pt idx="4">
                  <c:v>-70150</c:v>
                </c:pt>
                <c:pt idx="5">
                  <c:v>-113487</c:v>
                </c:pt>
                <c:pt idx="6">
                  <c:v>-157344</c:v>
                </c:pt>
                <c:pt idx="7">
                  <c:v>-975536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D9DEE7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ews.google.com/rss/articles/CBMiU0FVX3lxTE5XT0pZbGVtM2ZRdjhSNXRYdVRCbkRUOVhwOXlWeDlVZXZYeGRvVkJmdXJWN2c2eU1fcU4yZk9RYS1yMmpLUHl5bjVXakZTY0k4aUZF?oc=5" TargetMode="External"/><Relationship Id="rId3" Type="http://schemas.openxmlformats.org/officeDocument/2006/relationships/hyperlink" Target="https://news.google.com/rss/articles/CBMipwFBVV95cUxPV1NoNngxMFY5TUxmc2Y4TXQtQmRjTzMyM3d1Nk5UTjhjZktQUWlYc0hYNzNkZTdQOVBFd0NueHUwdzFXSTV4SnEwZnBJTjVDX2YxTHNndE84T1R1SjZSNWdJMm5HR0VDbVpQamFLNnA0RUVXa28xaUF2NV9BbXFYcnJua2FZNXpBa1JnVGY3MkJLYmlEY1hrRlZ6QjROcFdVbFdPM09EZw?oc=5" TargetMode="External"/><Relationship Id="rId4" Type="http://schemas.openxmlformats.org/officeDocument/2006/relationships/hyperlink" Target="https://news.google.com/rss/articles/CBMiWEFVX3lxTFBkaVBEWXZiZ1Q2YUcxa2pJOVpJZXVfcTZiRVhNV1NzWUdReFVwMGtsVldIY0Z3VFNJbXNqemtGcG1wX01MRUdHQ0NHOHF1blk1NU9yeFJtdGQ?oc=5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ews.google.com/rss/articles/CBMiU0FVX3lxTE5XT0pZbGVtM2ZRdjhSNXRYdVRCbkRUOVhwOXlWeDlVZXZYeGRvVkJmdXJWN2c2eU1fcU4yZk9RYS1yMmpLUHl5bjVXakZTY0k4aUZF?oc=5" TargetMode="External"/><Relationship Id="rId3" Type="http://schemas.openxmlformats.org/officeDocument/2006/relationships/hyperlink" Target="https://news.google.com/rss/articles/CBMipwFBVV95cUxPV1NoNngxMFY5TUxmc2Y4TXQtQmRjTzMyM3d1Nk5UTjhjZktQUWlYc0hYNzNkZTdQOVBFd0NueHUwdzFXSTV4SnEwZnBJTjVDX2YxTHNndE84T1R1SjZSNWdJMm5HR0VDbVpQamFLNnA0RUVXa28xaUF2NV9BbXFYcnJua2FZNXpBa1JnVGY3MkJLYmlEY1hrRlZ6QjROcFdVbFdPM09EZw?oc=5" TargetMode="External"/><Relationship Id="rId4" Type="http://schemas.openxmlformats.org/officeDocument/2006/relationships/hyperlink" Target="https://news.google.com/rss/articles/CBMiWEFVX3lxTFBkaVBEWXZiZ1Q2YUcxa2pJOVpJZXVfcTZiRVhNV1NzWUdReFVwMGtsVldIY0Z3VFNJbXNqemtGcG1wX01MRUdHQ0NHOHF1blk1NU9yeFJtdGQ?oc=5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ews.cnyes.com/news/id/6628856" TargetMode="External"/><Relationship Id="rId3" Type="http://schemas.openxmlformats.org/officeDocument/2006/relationships/hyperlink" Target="https://news.google.com/rss/articles/CBMiX0FVX3lxTFBfaVBVa1hueGswVm5VYThGUFhsZlZpMGdJY2lKQzFqMFpDenRjcE1icVB5b2pSajlLUzZacEJLU2lFNzREeHUyOHpSTWF3bWViZjdGdzFVVm03SU1xUm9v0gFkQVVfeXFMUE5zN2g3blFPNGxCTWFXLWREV0xBTDFtZ0ltSUczdjRqRXhxalhTRF9CbC00czlYRzZVNkwtSWNRYXl1QWxSVE9HM3BwZTYwU3BSVHpnTUR0aGp6aTZVUkVNbnd6bQ?oc=5" TargetMode="External"/><Relationship Id="rId4" Type="http://schemas.openxmlformats.org/officeDocument/2006/relationships/hyperlink" Target="https://news.google.com/rss/articles/CBMiT0FVX3lxTE9EcndTbDg2a1Z0Y1FHUzQyakR3MXZNajlFVnVhZXhDbXVLSHZJbjZ3WGpMYy1jYXROUkEzMDRCVUJiNVRGT0NWZkdfQU15bEE?oc=5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ews.cnyes.com/news/id/6628856" TargetMode="External"/><Relationship Id="rId3" Type="http://schemas.openxmlformats.org/officeDocument/2006/relationships/hyperlink" Target="https://news.google.com/rss/articles/CBMiX0FVX3lxTFBfaVBVa1hueGswVm5VYThGUFhsZlZpMGdJY2lKQzFqMFpDenRjcE1icVB5b2pSajlLUzZacEJLU2lFNzREeHUyOHpSTWF3bWViZjdGdzFVVm03SU1xUm9v0gFkQVVfeXFMUE5zN2g3blFPNGxCTWFXLWREV0xBTDFtZ0ltSUczdjRqRXhxalhTRF9CbC00czlYRzZVNkwtSWNRYXl1QWxSVE9HM3BwZTYwU3BSVHpnTUR0aGp6aTZVUkVNbnd6bQ?oc=5" TargetMode="External"/><Relationship Id="rId4" Type="http://schemas.openxmlformats.org/officeDocument/2006/relationships/hyperlink" Target="https://news.google.com/rss/articles/CBMiT0FVX3lxTE9EcndTbDg2a1Z0Y1FHUzQyakR3MXZNajlFVnVhZXhDbXVLSHZJbjZ3WGpMYy1jYXROUkEzMDRCVUJiNVRGT0NWZkdfQU15bEE?oc=5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ews.cnyes.com/news/id/6628856" TargetMode="External"/><Relationship Id="rId3" Type="http://schemas.openxmlformats.org/officeDocument/2006/relationships/hyperlink" Target="https://news.google.com/rss/articles/CBMiX0FVX3lxTFBfaVBVa1hueGswVm5VYThGUFhsZlZpMGdJY2lKQzFqMFpDenRjcE1icVB5b2pSajlLUzZacEJLU2lFNzREeHUyOHpSTWF3bWViZjdGdzFVVm03SU1xUm9v0gFkQVVfeXFMUE5zN2g3blFPNGxCTWFXLWREV0xBTDFtZ0ltSUczdjRqRXhxalhTRF9CbC00czlYRzZVNkwtSWNRYXl1QWxSVE9HM3BwZTYwU3BSVHpnTUR0aGp6aTZVUkVNbnd6bQ?oc=5" TargetMode="External"/><Relationship Id="rId4" Type="http://schemas.openxmlformats.org/officeDocument/2006/relationships/hyperlink" Target="https://news.google.com/rss/articles/CBMiT0FVX3lxTE9EcndTbDg2a1Z0Y1FHUzQyakR3MXZNajlFVnVhZXhDbXVLSHZJbjZ3WGpMYy1jYXROUkEzMDRCVUJiNVRGT0NWZkdfQU15bEE?oc=5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ews.cnyes.com/news/id/6628856" TargetMode="External"/><Relationship Id="rId3" Type="http://schemas.openxmlformats.org/officeDocument/2006/relationships/hyperlink" Target="https://news.google.com/rss/articles/CBMiX0FVX3lxTFBfaVBVa1hueGswVm5VYThGUFhsZlZpMGdJY2lKQzFqMFpDenRjcE1icVB5b2pSajlLUzZacEJLU2lFNzREeHUyOHpSTWF3bWViZjdGdzFVVm03SU1xUm9v0gFkQVVfeXFMUE5zN2g3blFPNGxCTWFXLWREV0xBTDFtZ0ltSUczdjRqRXhxalhTRF9CbC00czlYRzZVNkwtSWNRYXl1QWxSVE9HM3BwZTYwU3BSVHpnTUR0aGp6aTZVUkVNbnd6bQ?oc=5" TargetMode="External"/><Relationship Id="rId4" Type="http://schemas.openxmlformats.org/officeDocument/2006/relationships/hyperlink" Target="https://news.google.com/rss/articles/CBMiT0FVX3lxTE9EcndTbDg2a1Z0Y1FHUzQyakR3MXZNajlFVnVhZXhDbXVLSHZJbjZ3WGpMYy1jYXROUkEzMDRCVUJiNVRGT0NWZkdfQU15bEE?oc=5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ews.google.com/rss/articles/CBMiU0FVX3lxTE5XT0pZbGVtM2ZRdjhSNXRYdVRCbkRUOVhwOXlWeDlVZXZYeGRvVkJmdXJWN2c2eU1fcU4yZk9RYS1yMmpLUHl5bjVXakZTY0k4aUZF?oc=5" TargetMode="External"/><Relationship Id="rId3" Type="http://schemas.openxmlformats.org/officeDocument/2006/relationships/hyperlink" Target="https://news.google.com/rss/articles/CBMipwFBVV95cUxPV1NoNngxMFY5TUxmc2Y4TXQtQmRjTzMyM3d1Nk5UTjhjZktQUWlYc0hYNzNkZTdQOVBFd0NueHUwdzFXSTV4SnEwZnBJTjVDX2YxTHNndE84T1R1SjZSNWdJMm5HR0VDbVpQamFLNnA0RUVXa28xaUF2NV9BbXFYcnJua2FZNXpBa1JnVGY3MkJLYmlEY1hrRlZ6QjROcFdVbFdPM09EZw?oc=5" TargetMode="External"/><Relationship Id="rId4" Type="http://schemas.openxmlformats.org/officeDocument/2006/relationships/hyperlink" Target="https://news.cnyes.com/news/id/6626116" TargetMode="External"/><Relationship Id="rId5" Type="http://schemas.openxmlformats.org/officeDocument/2006/relationships/hyperlink" Target="https://tw.news.yahoo.com/%E5%8F%B0%E8%82%A1%E9%81%87%E4%BA%82%E6%B5%81%E6%8B%9A%E5%85%88%E8%B9%B2%E5%BE%8C%E8%B7%B3-%E6%B3%95%E4%BA%BA%E6%8A%BC%E5%AF%B6%E5%8F%B0%E7%A9%8D%E6%B3%95%E8%AA%AA%E8%B2%B7%E7%9B%A4%E6%9C%89%E6%9C%9B%E9%80%B2%E5%A0%B4-%E6%8C%91%E6%88%B05%E8%90%AC%E9%97%9C-223957538.html" TargetMode="External"/><Relationship Id="rId6" Type="http://schemas.openxmlformats.org/officeDocument/2006/relationships/hyperlink" Target="https://news.cnyes.com/news/id/6627587" TargetMode="External"/><Relationship Id="rId7" Type="http://schemas.openxmlformats.org/officeDocument/2006/relationships/hyperlink" Target="https://news.google.com/rss/articles/CBMiWEFVX3lxTFBkaVBEWXZiZ1Q2YUcxa2pJOVpJZXVfcTZiRVhNV1NzWUdReFVwMGtsVldIY0Z3VFNJbXNqemtGcG1wX01MRUdHQ0NHOHF1blk1NU9yeFJtdGQ?oc=5" TargetMode="External"/><Relationship Id="rId8" Type="http://schemas.openxmlformats.org/officeDocument/2006/relationships/hyperlink" Target="https://tw.news.yahoo.com/%E5%8F%B0%E8%82%A1%E5%9C%8B%E6%85%B6%E9%80%A3%E5%81%87%E5%BE%8C%E6%81%90%E8%BF%8E%E5%8D%83%E9%BB%9E%E8%B7%8C%E5%8B%A2-%E5%8F%B0%E7%A9%8D%E9%9B%BBadr%E6%8C%AB4-%E8%91%89%E8%82%B2%E7%A2%A9%E7%A4%BA%E8%AD%A6-3%E5%A4%A7%E5%88%A9%E7%A9%BA-211334259.html" TargetMode="External"/><Relationship Id="rId9" Type="http://schemas.openxmlformats.org/officeDocument/2006/relationships/hyperlink" Target="https://news.cnyes.com/news/id/6628856" TargetMode="External"/><Relationship Id="rId10" Type="http://schemas.openxmlformats.org/officeDocument/2006/relationships/hyperlink" Target="https://news.google.com/rss/articles/CBMiX0FVX3lxTFBfaVBVa1hueGswVm5VYThGUFhsZlZpMGdJY2lKQzFqMFpDenRjcE1icVB5b2pSajlLUzZacEJLU2lFNzREeHUyOHpSTWF3bWViZjdGdzFVVm03SU1xUm9v0gFkQVVfeXFMUE5zN2g3blFPNGxCTWFXLWREV0xBTDFtZ0ltSUczdjRqRXhxalhTRF9CbC00czlYRzZVNkwtSWNRYXl1QWxSVE9HM3BwZTYwU3BSVHpnTUR0aGp6aTZVUkVNbnd6bQ?oc=5" TargetMode="External"/><Relationship Id="rId11" Type="http://schemas.openxmlformats.org/officeDocument/2006/relationships/hyperlink" Target="https://tw.news.yahoo.com/%E7%9B%A4%E5%89%8D-%E5%8F%B0%E8%82%A14%E8%90%AC9%E9%97%9C%E5%8D%A1%E6%8B%89%E8%AD%A6%E5%A0%B1-%E5%8F%B0%E6%8C%87%E5%A4%9C%E7%9B%A4%E9%87%8D%E6%8C%AB399%E9%BB%9E-%E4%BB%8A%E9%96%8B%E7%9B%A4%E6%81%90%E5%86%8D%E6%8E%80%E8%B3%A3%E5%A3%93-221900061.html" TargetMode="External"/><Relationship Id="rId12" Type="http://schemas.openxmlformats.org/officeDocument/2006/relationships/hyperlink" Target="https://news.google.com/rss/articles/CBMiWEFVX3lxTE1PTVRTOUJWTFBQajNMbUJxMmdfR0xYOEk4aEFDelNGRHc0cDJUSElyVTRNNE1mZHFYbVRUTEVYQjlYX2pDOE1DYUZId1VoRG5Pa0FHckNoR3c?oc=5" TargetMode="External"/><Relationship Id="rId13" Type="http://schemas.openxmlformats.org/officeDocument/2006/relationships/hyperlink" Target="https://news.google.com/rss/articles/CBMiUEFVX3lxTE52QWwtaV9sbXUzVDlxWDNKYUtZTkZaeFhPbG5scldRaGFDazVnYjdiVUxkaF9PSXVkdHNwakJZRDNtem1OeEZ6NHhPOTcxMzZl0gFWQVVfeXFMTVBSV3gwandRWjVFMU5FWndrakxqUVRvTmRBbGh4bFFOeXo3S2xGVW1rc29QaElvSE5hVlc0ckRnalVzTHZzNTVQa3BKTmhjTDFjSnVfVGc?oc=5" TargetMode="External"/><Relationship Id="rId14" Type="http://schemas.openxmlformats.org/officeDocument/2006/relationships/hyperlink" Target="https://news.google.com/rss/articles/CBMiT0FVX3lxTE9EcndTbDg2a1Z0Y1FHUzQyakR3MXZNajlFVnVhZXhDbXVLSHZJbjZ3WGpMYy1jYXROUkEzMDRCVUJiNVRGT0NWZkdfQU15bEE?oc=5" TargetMode="External"/><Relationship Id="rId15" Type="http://schemas.openxmlformats.org/officeDocument/2006/relationships/hyperlink" Target="https://news.google.com/rss/articles/CBMiT0FVX3lxTE9FczdmRFhwMy0wb2pmNTJaOEY5Q1FNbFhKMFcxSlE4V1VNRk9uZGZXUFRTT2h1LWswRk9ObWZlMk9XU0V3Qk9yREg5RnRjLW8?oc=5" TargetMode="External"/><Relationship Id="rId16" Type="http://schemas.openxmlformats.org/officeDocument/2006/relationships/hyperlink" Target="https://www.cna.com.tw/news/afe/202610130008.aspx" TargetMode="External"/><Relationship Id="rId17" Type="http://schemas.openxmlformats.org/officeDocument/2006/relationships/hyperlink" Target="https://news.google.com/rss/articles/CBMiiAFBVV95cUxQRS13TXNQQ2Y1UnFFVUdJcWV2bERQaXI1Mk1LWEhIZ2lkdEtiaEF2SUlQSEVaR1FGMDk4blBQdXRlUWRyX3JyWXgwcWYtVW95cVRzb0VUWEtjaVgyeFhrdm9mNFdkbGk3MUZHUkVNNUtXaHdEcEdueFBqRmlMYVVlNmUxcm1wei1P?oc=5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tw.news.yahoo.com/%E5%A4%96%E8%B3%87%E5%A4%A7%E6%92%A4%E9%80%80-%E8%82%A1%E5%8C%AF%E9%81%87%E4%BA%82%E6%B5%81-%E5%8F%B0%E8%82%A1%E5%85%AC%E8%82%A1%E6%95%91%E6%8F%B4%E5%96%AE%E6%97%A5%E8%B2%B7%E8%B6%85412%E5%84%84%E5%85%83-222758792.html" TargetMode="External"/><Relationship Id="rId3" Type="http://schemas.openxmlformats.org/officeDocument/2006/relationships/hyperlink" Target="https://tw.news.yahoo.com/%E7%9B%A4%E5%89%8D-%E7%BE%8E%E8%82%A1%E5%9B%9E%E7%A9%A9%E8%9E%8D%E8%B3%87%E6%B8%9B83%E5%84%84-%E5%8F%B0%E6%8C%87%E5%A4%9C%E7%9B%A4%E5%8F%8D%E5%BD%88363%E9%BB%9E-%E5%8F%B0%E8%82%A1%E4%BB%8A%E6%8B%9A%E6%AD%A2%E8%B7%8C%E5%8F%8D%E6%94%BB-222200011.html" TargetMode="External"/><Relationship Id="rId4" Type="http://schemas.openxmlformats.org/officeDocument/2006/relationships/hyperlink" Target="https://news.google.com/rss/articles/CBMia0FVX3lxTFBKNUNpR3RJTkU2MjRaUm9aU0JXaU96OVFWQ0VNS2hvZDJvX2w1Tkkwc3JIZnFULXM5bVo0TF9ZODh6amZNQWpYOWxRYUpSN1JvTjNzaENtcTFrRnBkeGVOdXBoaHMyUTFrdnhF?oc=5" TargetMode="External"/><Relationship Id="rId5" Type="http://schemas.openxmlformats.org/officeDocument/2006/relationships/hyperlink" Target="https://tw.stock.yahoo.com/news/%E6%99%B6%E7%89%87%E8%82%A1%E6%8B%8B%E5%94%AE%E6%BD%AE-%E7%BE%8E%E8%82%A14%E5%A4%A7%E6%8C%87%E6%95%B8%E5%85%A8%E6%94%B6%E9%BB%91-%E5%8F%B0%E7%A9%8D%E9%9B%BBadr%E9%80%86%E5%8B%A2%E4%B8%8A%E6%BC%B2-220846237.html" TargetMode="External"/><Relationship Id="rId6" Type="http://schemas.openxmlformats.org/officeDocument/2006/relationships/hyperlink" Target="https://news.google.com/rss/articles/CBMiiAFBVV95cUxQRS13TXNQQ2Y1UnFFVUdJcWV2bERQaXI1Mk1LWEhIZ2lkdEtiaEF2SUlQSEVaR1FGMDk4blBQdXRlUWRyX3JyWXgwcWYtVW95cVRzb0VUWEtjaVgyeFhrdm9mNFdkbGk3MUZHUkVNNUtXaHdEcEdueFBqRmlMYVVlNmUxcm1wei1P?oc=5" TargetMode="External"/><Relationship Id="rId7" Type="http://schemas.openxmlformats.org/officeDocument/2006/relationships/hyperlink" Target="https://news.google.com/rss/articles/CBMiT0FVX3lxTE9vV3JueGIxSHg3MDY4XzJpLU1odXB0MjNSSXpJV2luT1R0SXhJRGFMOVJlYWxKU0FsRS1MTFExTHN2M0lwY0QtNE1Ybl82V00?oc=5" TargetMode="External"/><Relationship Id="rId8" Type="http://schemas.openxmlformats.org/officeDocument/2006/relationships/hyperlink" Target="https://news.google.com/rss/articles/CBMikgFBVV95cUxONXB2eFYweTJzOXBZdTBWZmJoSUtWZHNlYmx4THlTaEt5cGR6aGtaVWU4R0d6Q2FlWEtMcm1oRWU3MXZ3YnRoUGk0TGVrV09PQ1hhNkNyaVZOMnZaNHJmWGZ0OUdvUFlRVlFsUTl0dXhXUWROYkRuUWVOam45Vk5sNklmUHJ4anVyNVRGUmNLZ1Rxdw?oc=5" TargetMode="External"/><Relationship Id="rId9" Type="http://schemas.openxmlformats.org/officeDocument/2006/relationships/hyperlink" Target="https://tw.news.yahoo.com/%E7%9B%A4%E5%89%8D-%E7%BE%8Ecpi%E9%AB%98%E9%A0%90%E6%9C%9F4%E5%A4%A7%E6%8C%87%E6%95%B8%E5%85%A8%E5%80%92-%E5%8F%B0%E6%8C%87%E5%A4%9C%E7%9B%A4%E5%B4%A9853%E9%BB%9E-%E5%8F%B0%E8%82%A1%E4%BB%8A%E6%81%90%E5%A4%B1%E5%AE%884%E8%90%AC8-223000407.html" TargetMode="External"/><Relationship Id="rId10" Type="http://schemas.openxmlformats.org/officeDocument/2006/relationships/hyperlink" Target="https://news.cnyes.com/news/id/6630669" TargetMode="External"/><Relationship Id="rId11" Type="http://schemas.openxmlformats.org/officeDocument/2006/relationships/hyperlink" Target="https://tw.stock.yahoo.com/news/%E9%80%9A%E8%86%A8%E6%8E%80%E5%8D%87%E6%81%AF%E7%96%91%E6%85%AE%E7%BE%8E%E8%82%A1%E6%94%B6%E9%BB%91-%E5%8F%B0%E6%8C%87%E6%9C%9F%E4%B8%8B%E6%AE%BA853%E9%BB%9E-%E5%8F%B0%E7%A9%8D%E9%9B%BBadr%E6%8C%AB%E9%80%BE3-221546492.html" TargetMode="External"/><Relationship Id="rId12" Type="http://schemas.openxmlformats.org/officeDocument/2006/relationships/hyperlink" Target="https://news.google.com/rss/articles/CBMibkFVX3lxTE00RFVCclEyUlBMN095SHFaNU9rSWlGRlBER05sY3puaFk3NFZLdHpLdkhuLTBlZ2F3b0pLTlp1VDRrQUxyM08yUGdoa0Rwc2ZMV2ZEcS1xd25ybGo5VTdfcy1kdXFxWmdqLUF3X21B?oc=5" TargetMode="External"/><Relationship Id="rId13" Type="http://schemas.openxmlformats.org/officeDocument/2006/relationships/hyperlink" Target="https://news.cnyes.com/news/id/6630698" TargetMode="External"/><Relationship Id="rId14" Type="http://schemas.openxmlformats.org/officeDocument/2006/relationships/hyperlink" Target="https://tw.news.yahoo.com/%E7%BE%8E%E8%82%A1%E6%94%B6%E7%9B%A4-%E9%80%9A%E8%86%A8%E5%8D%87%E6%81%AF%E7%96%91%E6%85%AE-%E7%BE%8E%E8%82%A1%E6%94%B6%E9%BB%91-amd%E9%87%8D%E6%8C%AB5-73-224100149.html" TargetMode="External"/><Relationship Id="rId15" Type="http://schemas.openxmlformats.org/officeDocument/2006/relationships/hyperlink" Target="https://news.google.com/rss/articles/CBMikgFBVV95cUxQU3k1c0NuY1oydnYtUWlyVFFPM0Voc0tkQzdMQUxzaHFmeklxT2FJVy1ldmw4MktuRko3ZHMta29WUHRLc2lKd1ZWaHFNYzAwMjFjdWRNUTNha3oteTlXSHBEMFZ5ODFLVmRYMVhJRzY1SURhb1FUSVBxUFdJcGRIYW53QjBYTW9wU19COExoa0k3QQ?oc=5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B8C2D6"/>
                </a:solidFill>
                <a:latin typeface="Microsoft JhengHei"/>
                <a:ea typeface="Microsoft JhengHei"/>
                <a:cs typeface="Microsoft JhengHei"/>
              </a:rPr>
              <a:t>2026 德明X富達投資擂台　全國大專院校組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第 2 週週報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B8C2D6"/>
                </a:solidFill>
                <a:latin typeface="Bahnschrift"/>
                <a:ea typeface="Microsoft JhengHei"/>
                <a:cs typeface="Microsoft JhengHei"/>
              </a:rPr>
              <a:t>2026-10-12～2026-10-15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0" b="1">
                <a:solidFill>
                  <a:srgbClr val="5FD99C"/>
                </a:solidFill>
                <a:latin typeface="Bahnschrift"/>
                <a:ea typeface="Microsoft JhengHei"/>
                <a:cs typeface="Microsoft JhengHei"/>
              </a:rPr>
              <a:t>-14.01%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B8C2D6"/>
                </a:solidFill>
                <a:latin typeface="Microsoft JhengHei"/>
                <a:ea typeface="Microsoft JhengHei"/>
                <a:cs typeface="Microsoft JhengHei"/>
              </a:rPr>
              <a:t>本週總資產報酬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9718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8C2D6"/>
                </a:solidFill>
                <a:latin typeface="Microsoft JhengHei"/>
                <a:ea typeface="Microsoft JhengHei"/>
                <a:cs typeface="Microsoft JhengHei"/>
              </a:rPr>
              <a:t>加權指數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24612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5FD99C"/>
                </a:solidFill>
                <a:latin typeface="Bahnschrift"/>
                <a:ea typeface="Microsoft JhengHei"/>
                <a:cs typeface="Microsoft JhengHei"/>
              </a:rPr>
              <a:t>-4.75%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29718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8C2D6"/>
                </a:solidFill>
                <a:latin typeface="Microsoft JhengHei"/>
                <a:ea typeface="Microsoft JhengHei"/>
                <a:cs typeface="Microsoft JhengHei"/>
              </a:rPr>
              <a:t>累積報酬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324612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5FD99C"/>
                </a:solidFill>
                <a:latin typeface="Bahnschrift"/>
                <a:ea typeface="Microsoft JhengHei"/>
                <a:cs typeface="Microsoft JhengHei"/>
              </a:rPr>
              <a:t>-14.19%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84048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8C2D6"/>
                </a:solidFill>
                <a:latin typeface="Microsoft JhengHei"/>
                <a:ea typeface="Microsoft JhengHei"/>
                <a:cs typeface="Microsoft JhengHei"/>
              </a:rPr>
              <a:t>期末總資產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41148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FFFFF"/>
                </a:solidFill>
                <a:latin typeface="Bahnschrift"/>
                <a:ea typeface="Microsoft JhengHei"/>
                <a:cs typeface="Microsoft JhengHei"/>
              </a:rPr>
              <a:t>8,580,889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384048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8C2D6"/>
                </a:solidFill>
                <a:latin typeface="Microsoft JhengHei"/>
                <a:ea typeface="Microsoft JhengHei"/>
                <a:cs typeface="Microsoft JhengHei"/>
              </a:rPr>
              <a:t>持股率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41148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FFFFF"/>
                </a:solidFill>
                <a:latin typeface="Bahnschrift"/>
                <a:ea typeface="Microsoft JhengHei"/>
                <a:cs typeface="Microsoft JhengHei"/>
              </a:rPr>
              <a:t>104.2%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70916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8C2D6"/>
                </a:solidFill>
                <a:latin typeface="Microsoft JhengHei"/>
                <a:ea typeface="Microsoft JhengHei"/>
                <a:cs typeface="Microsoft JhengHei"/>
              </a:rPr>
              <a:t>本週成交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498348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FFFFF"/>
                </a:solidFill>
                <a:latin typeface="Bahnschrift"/>
                <a:ea typeface="Microsoft JhengHei"/>
                <a:cs typeface="Microsoft JhengHei"/>
              </a:rPr>
              <a:t>8 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749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本週虧損14.01%，大盤下跌4.75%，主要因期貨虧損導致持股率超過100%，操作上減碼負面新聞股並布局半導體強勢股。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806440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2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5879592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B8C2D6"/>
                </a:solidFill>
                <a:latin typeface="Microsoft JhengHei"/>
                <a:ea typeface="Microsoft JhengHei"/>
                <a:cs typeface="Microsoft JhengHei"/>
              </a:rPr>
              <a:t>週一　</a:t>
            </a:r>
            <a:r>
              <a:rPr sz="1000" b="0">
                <a:solidFill>
                  <a:srgbClr val="B8C2D6"/>
                </a:solidFill>
                <a:latin typeface="Bahnschrift"/>
                <a:ea typeface="Microsoft JhengHei"/>
                <a:cs typeface="Microsoft JhengHei"/>
              </a:rPr>
              <a:t>10/12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6053328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FD99C"/>
                </a:solidFill>
                <a:latin typeface="Bahnschrift"/>
                <a:ea typeface="Microsoft JhengHei"/>
                <a:cs typeface="Microsoft JhengHei"/>
              </a:rPr>
              <a:t>-0.02%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4251" y="587959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B8C2D6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85811" y="5806440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2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32115" y="5879592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B8C2D6"/>
                </a:solidFill>
                <a:latin typeface="Microsoft JhengHei"/>
                <a:ea typeface="Microsoft JhengHei"/>
                <a:cs typeface="Microsoft JhengHei"/>
              </a:rPr>
              <a:t>週二　</a:t>
            </a:r>
            <a:r>
              <a:rPr sz="1000" b="0">
                <a:solidFill>
                  <a:srgbClr val="B8C2D6"/>
                </a:solidFill>
                <a:latin typeface="Bahnschrift"/>
                <a:ea typeface="Microsoft JhengHei"/>
                <a:cs typeface="Microsoft JhengHei"/>
              </a:rPr>
              <a:t>10/13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2115" y="6053328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FD99C"/>
                </a:solidFill>
                <a:latin typeface="Bahnschrift"/>
                <a:ea typeface="Microsoft JhengHei"/>
                <a:cs typeface="Microsoft JhengHei"/>
              </a:rPr>
              <a:t>-1.95%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1422" y="587959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B8C2D6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2982" y="5806440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2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9286" y="5879592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B8C2D6"/>
                </a:solidFill>
                <a:latin typeface="Microsoft JhengHei"/>
                <a:ea typeface="Microsoft JhengHei"/>
                <a:cs typeface="Microsoft JhengHei"/>
              </a:rPr>
              <a:t>週三　</a:t>
            </a:r>
            <a:r>
              <a:rPr sz="1000" b="0">
                <a:solidFill>
                  <a:srgbClr val="B8C2D6"/>
                </a:solidFill>
                <a:latin typeface="Bahnschrift"/>
                <a:ea typeface="Microsoft JhengHei"/>
                <a:cs typeface="Microsoft JhengHei"/>
              </a:rPr>
              <a:t>10/14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9286" y="6053328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7A80"/>
                </a:solidFill>
                <a:latin typeface="Bahnschrift"/>
                <a:ea typeface="Microsoft JhengHei"/>
                <a:cs typeface="Microsoft JhengHei"/>
              </a:rPr>
              <a:t>+0.59%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08593" y="587959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B8C2D6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60153" y="5806440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2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457" y="5879592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B8C2D6"/>
                </a:solidFill>
                <a:latin typeface="Microsoft JhengHei"/>
                <a:ea typeface="Microsoft JhengHei"/>
                <a:cs typeface="Microsoft JhengHei"/>
              </a:rPr>
              <a:t>週四　</a:t>
            </a:r>
            <a:r>
              <a:rPr sz="1000" b="0">
                <a:solidFill>
                  <a:srgbClr val="B8C2D6"/>
                </a:solidFill>
                <a:latin typeface="Bahnschrift"/>
                <a:ea typeface="Microsoft JhengHei"/>
                <a:cs typeface="Microsoft JhengHei"/>
              </a:rPr>
              <a:t>10/15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457" y="6053328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FD99C"/>
                </a:solidFill>
                <a:latin typeface="Bahnschrift"/>
                <a:ea typeface="Microsoft JhengHei"/>
                <a:cs typeface="Microsoft JhengHei"/>
              </a:rPr>
              <a:t>-3.41%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5764" y="587959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B8C2D6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97324" y="5806440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22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43628" y="5879592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B8C2D6"/>
                </a:solidFill>
                <a:latin typeface="Microsoft JhengHei"/>
                <a:ea typeface="Microsoft JhengHei"/>
                <a:cs typeface="Microsoft JhengHei"/>
              </a:rPr>
              <a:t>週五　</a:t>
            </a:r>
            <a:r>
              <a:rPr sz="1000" b="0">
                <a:solidFill>
                  <a:srgbClr val="B8C2D6"/>
                </a:solidFill>
                <a:latin typeface="Bahnschrift"/>
                <a:ea typeface="Microsoft JhengHei"/>
                <a:cs typeface="Microsoft JhengHei"/>
              </a:rPr>
              <a:t>10/16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3628" y="6053328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C2D6"/>
                </a:solidFill>
                <a:latin typeface="Microsoft JhengHei"/>
                <a:ea typeface="Microsoft JhengHei"/>
                <a:cs typeface="Microsoft JhengHei"/>
              </a:rPr>
              <a:t>盤中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82935" y="5879592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B8C2D6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週一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-0.02%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251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5811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32115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週二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2115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-1.95%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422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2982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69286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週三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9286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8323A"/>
                </a:solidFill>
                <a:latin typeface="Bahnschrift"/>
                <a:ea typeface="Microsoft JhengHei"/>
                <a:cs typeface="Microsoft JhengHei"/>
              </a:rPr>
              <a:t>+0.59%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593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0153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457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週四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457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-3.41%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5764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97324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3628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週五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3628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盤中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82935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107899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本週重點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164592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本週虧損14.01%，大盤下跌4.75%，主要因期貨虧損導致持股率超過100%，操作上減碼負面新聞股並布局半導體強勢股。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103120"/>
            <a:ext cx="658368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80"/>
              </a:spcAft>
            </a:pPr>
            <a:r>
              <a:rPr sz="88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6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週報酬-14.01%，較大盤-4.75%表現較差，主要受期貨未實現虧損影響。</a:t>
            </a:r>
          </a:p>
          <a:p>
            <a:pPr algn="l">
              <a:lnSpc>
                <a:spcPct val="130000"/>
              </a:lnSpc>
              <a:spcAft>
                <a:spcPts val="880"/>
              </a:spcAft>
            </a:pPr>
            <a:r>
              <a:rPr sz="88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6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本週共8筆成交，減碼潤泰全、聯茂，買進合晶、欣興、中砂等半導體與電子零組件股。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0" y="2057400"/>
            <a:ext cx="19050" cy="3840480"/>
          </a:xfrm>
          <a:prstGeom prst="rect">
            <a:avLst/>
          </a:prstGeom>
          <a:solidFill>
            <a:srgbClr val="D9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205740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本週總資產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227685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-14.01%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269748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同期加權指數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91693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-4.75%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33375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累積報酬（排名只看正報酬）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355701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-14.19%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39776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持股率（每日收盤須 ≥ 70%）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19709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4213D"/>
                </a:solidFill>
                <a:latin typeface="Bahnschrift"/>
                <a:ea typeface="Microsoft JhengHei"/>
                <a:cs typeface="Microsoft JhengHei"/>
              </a:rPr>
              <a:t>104.2%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46177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累計成交／門檻 10 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483717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4213D"/>
                </a:solidFill>
                <a:latin typeface="Bahnschrift"/>
                <a:ea typeface="Microsoft JhengHei"/>
                <a:cs typeface="Microsoft JhengHei"/>
              </a:rPr>
              <a:t>83 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525780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交易過的標的／門檻 5 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0" y="547725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4213D"/>
                </a:solidFill>
                <a:latin typeface="Bahnschrift"/>
                <a:ea typeface="Microsoft JhengHei"/>
                <a:cs typeface="Microsoft JhengHei"/>
              </a:rPr>
              <a:t>13 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2026 德明X富達投資擂台｜第 2 週週報｜2026-10-12～2026-10-15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週一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-0.02%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251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5811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32115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週二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2115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-1.95%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422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2982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69286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週三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9286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8323A"/>
                </a:solidFill>
                <a:latin typeface="Bahnschrift"/>
                <a:ea typeface="Microsoft JhengHei"/>
                <a:cs typeface="Microsoft JhengHei"/>
              </a:rPr>
              <a:t>+0.59%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593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0153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457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週四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457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-3.41%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5764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97324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3628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週五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3628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盤中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82935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107899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每日市場與總資產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164592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總資產與加權指數都以上週五收盤為 100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548640" y="2057400"/>
          <a:ext cx="566928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583680" y="2103120"/>
            <a:ext cx="5029200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715"/>
              </a:spcAft>
            </a:pPr>
            <a:r>
              <a:rPr sz="715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3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週一：大盤跌0.02%，中歐就混動車貿易達成諒解，台積電將公布第三季財報。</a:t>
            </a:r>
          </a:p>
          <a:p>
            <a:pPr algn="l">
              <a:lnSpc>
                <a:spcPct val="130000"/>
              </a:lnSpc>
              <a:spcAft>
                <a:spcPts val="715"/>
              </a:spcAft>
            </a:pPr>
            <a:r>
              <a:rPr sz="715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3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週二：大盤跌1.95%，南亞科第3季稅後純益大幅成長，台積電ADR跌1.98%。</a:t>
            </a:r>
          </a:p>
          <a:p>
            <a:pPr algn="l">
              <a:lnSpc>
                <a:spcPct val="130000"/>
              </a:lnSpc>
              <a:spcAft>
                <a:spcPts val="715"/>
              </a:spcAft>
            </a:pPr>
            <a:r>
              <a:rPr sz="715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3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週三：大盤漲0.59%，外資單日賣超台股1653億元創史上第三大，國家隊進場護盤。</a:t>
            </a:r>
          </a:p>
          <a:p>
            <a:pPr algn="l">
              <a:lnSpc>
                <a:spcPct val="130000"/>
              </a:lnSpc>
              <a:spcAft>
                <a:spcPts val="715"/>
              </a:spcAft>
            </a:pPr>
            <a:r>
              <a:rPr sz="715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3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週四：大盤跌3.41%，台股恐失守4萬8點，台指期夜盤崩853點。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2026 德明X富達投資擂台｜第 2 週週報｜2026-10-12～2026-10-15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週一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-0.02%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251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5811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32115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週二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2115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-1.95%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422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2982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69286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週三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9286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8323A"/>
                </a:solidFill>
                <a:latin typeface="Bahnschrift"/>
                <a:ea typeface="Microsoft JhengHei"/>
                <a:cs typeface="Microsoft JhengHei"/>
              </a:rPr>
              <a:t>+0.59%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593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0153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457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週四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457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-3.41%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5764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97324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3628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週五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3628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盤中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82935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107899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本週交易明細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164592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共 8 筆；理由來源標示系統建議、盤中建議、記錄備註或自行判斷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48640" y="2103120"/>
          <a:ext cx="11094412" cy="296265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8687"/>
                <a:gridCol w="693400"/>
                <a:gridCol w="792458"/>
                <a:gridCol w="2179260"/>
                <a:gridCol w="1188687"/>
                <a:gridCol w="1089630"/>
                <a:gridCol w="1386801"/>
                <a:gridCol w="2575489"/>
              </a:tblGrid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48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日期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48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動作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48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類別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48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標的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B748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數量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B748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價格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B748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金額（元）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48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理由來源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週一 10/12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8A5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賣出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46A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股票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2915 潤泰全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7,000 股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58.79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411,500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2026-10-12 開盤前更新建議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週一 10/12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8A5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賣出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46A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股票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6213 聯茂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523 股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806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421,538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2026-10-12 開盤前更新建議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週一 10/12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8A5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賣出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46A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股票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2915 潤泰全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172 股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58.60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10,079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2026-10-12 開盤前更新建議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週二 10/13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832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買進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46A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股票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6182 合晶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1,000 股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115.50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115,500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自行判斷（依當時盤勢與持倉整理）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週二 10/13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8A5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賣出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46A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股票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6213 聯茂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48 股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764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36,672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2026-10-13 開盤前更新建議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週二 10/13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832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買進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46A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股票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3037 欣興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20 股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1,180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23,600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自行判斷（依當時盤勢與持倉整理）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週二 10/13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832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買進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46A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股票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3037 欣興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550 股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1,180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649,000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自行判斷（依當時盤勢與持倉整理）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週二 10/13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C832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買進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46A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股票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1560 中砂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50 股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945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47,250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2026-10-13 開盤前更新建議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2026 德明X富達投資擂台｜第 2 週週報｜2026-10-12～2026-10-15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 w="2857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週一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-0.02%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251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5811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32115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週二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2115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-1.95%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422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2982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69286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週三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9286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8323A"/>
                </a:solidFill>
                <a:latin typeface="Bahnschrift"/>
                <a:ea typeface="Microsoft JhengHei"/>
                <a:cs typeface="Microsoft JhengHei"/>
              </a:rPr>
              <a:t>+0.59%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593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0153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457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週四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457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-3.41%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5764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97324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3628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週五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3628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盤中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82935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1143000"/>
            <a:ext cx="63500" cy="868680"/>
          </a:xfrm>
          <a:prstGeom prst="rect">
            <a:avLst/>
          </a:prstGeom>
          <a:solidFill>
            <a:srgbClr val="6B4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1078992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週一　賣出 2915 潤泰全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1645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46A8"/>
                </a:solidFill>
                <a:latin typeface="Microsoft JhengHei"/>
                <a:ea typeface="Microsoft JhengHei"/>
                <a:cs typeface="Microsoft JhengHei"/>
              </a:rPr>
              <a:t>股票　</a:t>
            </a:r>
            <a:r>
              <a:rPr sz="1300" b="0">
                <a:solidFill>
                  <a:srgbClr val="3B4763"/>
                </a:solidFill>
                <a:latin typeface="Bahnschrift"/>
                <a:ea typeface="Microsoft JhengHei"/>
                <a:cs typeface="Microsoft JhengHei"/>
              </a:rPr>
              <a:t>7,172 股 × 58.78 ＝ 421,579 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33172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為什麼這樣做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633472"/>
            <a:ext cx="676656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7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風險警示：重大負面新聞：營收大幅下降；先減碼一半，保留部位觀察後續。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理由來源：2026-10-12 開盤前更新建議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20" y="2331720"/>
            <a:ext cx="19050" cy="3566160"/>
          </a:xfrm>
          <a:prstGeom prst="rect">
            <a:avLst/>
          </a:prstGeom>
          <a:solidFill>
            <a:srgbClr val="D9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當天市場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26060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加權 </a:t>
            </a:r>
            <a:r>
              <a:rPr sz="22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-0.02%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3200400"/>
            <a:ext cx="37490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6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2"/>
              </a:rPr>
              <a:t>中歐就混動車貿易達成諒解，有望避免加徵關稅。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6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台積電將於15日公布第三季財報，市場高度關注其獲利及展望。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6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美啟動337調查鴻海、台達電、廣達等台廠，引發市場對供應鏈的擔憂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800600"/>
            <a:ext cx="37490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系統建議價 </a:t>
            </a:r>
            <a:r>
              <a:rPr sz="1300" b="1">
                <a:solidFill>
                  <a:srgbClr val="14213D"/>
                </a:solidFill>
                <a:latin typeface="Bahnschrift"/>
                <a:ea typeface="Microsoft JhengHei"/>
                <a:cs typeface="Microsoft JhengHei"/>
              </a:rPr>
              <a:t>58.30</a:t>
            </a:r>
            <a:r>
              <a:rPr sz="11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實際成交 </a:t>
            </a:r>
            <a:r>
              <a:rPr sz="1300" b="1">
                <a:solidFill>
                  <a:srgbClr val="14213D"/>
                </a:solidFill>
                <a:latin typeface="Bahnschrift"/>
                <a:ea typeface="Microsoft JhengHei"/>
                <a:cs typeface="Microsoft JhengHei"/>
              </a:rPr>
              <a:t>58.78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差距 </a:t>
            </a:r>
            <a:r>
              <a:rPr sz="1300" b="1">
                <a:solidFill>
                  <a:srgbClr val="C8323A"/>
                </a:solidFill>
                <a:latin typeface="Bahnschrift"/>
                <a:ea typeface="Microsoft JhengHei"/>
                <a:cs typeface="Microsoft JhengHei"/>
              </a:rPr>
              <a:t>+0.83%</a:t>
            </a: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（賣出高於建議價為佳）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2026 德明X富達投資擂台｜第 2 週週報｜2026-10-12～2026-10-15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 w="2857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週一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-0.02%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251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5811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32115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週二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2115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-1.95%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422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2982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69286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週三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9286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8323A"/>
                </a:solidFill>
                <a:latin typeface="Bahnschrift"/>
                <a:ea typeface="Microsoft JhengHei"/>
                <a:cs typeface="Microsoft JhengHei"/>
              </a:rPr>
              <a:t>+0.59%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593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0153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457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週四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457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-3.41%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5764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97324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3628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週五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3628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盤中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82935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1143000"/>
            <a:ext cx="63500" cy="868680"/>
          </a:xfrm>
          <a:prstGeom prst="rect">
            <a:avLst/>
          </a:prstGeom>
          <a:solidFill>
            <a:srgbClr val="6B4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1078992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週一　賣出 6213 聯茂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1645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46A8"/>
                </a:solidFill>
                <a:latin typeface="Microsoft JhengHei"/>
                <a:ea typeface="Microsoft JhengHei"/>
                <a:cs typeface="Microsoft JhengHei"/>
              </a:rPr>
              <a:t>股票　</a:t>
            </a:r>
            <a:r>
              <a:rPr sz="1300" b="0">
                <a:solidFill>
                  <a:srgbClr val="3B4763"/>
                </a:solidFill>
                <a:latin typeface="Bahnschrift"/>
                <a:ea typeface="Microsoft JhengHei"/>
                <a:cs typeface="Microsoft JhengHei"/>
              </a:rPr>
              <a:t>523 股 × 806 ＝ 421,538 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33172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為什麼這樣做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633472"/>
            <a:ext cx="676656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7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進攻籃第 1 段停利：報酬 +11.03% ≥ 10%；同時風險警示：列為處置股（連續三次及當日沖銷標準，115/10/08～115/10/19）：改為分盤撮合、可能需預收款，流動性變差，減碼三分之一。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理由來源：2026-10-12 開盤前更新建議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20" y="2331720"/>
            <a:ext cx="19050" cy="3566160"/>
          </a:xfrm>
          <a:prstGeom prst="rect">
            <a:avLst/>
          </a:prstGeom>
          <a:solidFill>
            <a:srgbClr val="D9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當天市場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26060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加權 </a:t>
            </a:r>
            <a:r>
              <a:rPr sz="22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-0.02%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3200400"/>
            <a:ext cx="37490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6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2"/>
              </a:rPr>
              <a:t>中歐就混動車貿易達成諒解，有望避免加徵關稅。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6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台積電將於15日公布第三季財報，市場高度關注其獲利及展望。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6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美啟動337調查鴻海、台達電、廣達等台廠，引發市場對供應鏈的擔憂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800600"/>
            <a:ext cx="37490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系統建議價 </a:t>
            </a:r>
            <a:r>
              <a:rPr sz="1300" b="1">
                <a:solidFill>
                  <a:srgbClr val="14213D"/>
                </a:solidFill>
                <a:latin typeface="Bahnschrift"/>
                <a:ea typeface="Microsoft JhengHei"/>
                <a:cs typeface="Microsoft JhengHei"/>
              </a:rPr>
              <a:t>797</a:t>
            </a:r>
            <a:r>
              <a:rPr sz="11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實際成交 </a:t>
            </a:r>
            <a:r>
              <a:rPr sz="1300" b="1">
                <a:solidFill>
                  <a:srgbClr val="14213D"/>
                </a:solidFill>
                <a:latin typeface="Bahnschrift"/>
                <a:ea typeface="Microsoft JhengHei"/>
                <a:cs typeface="Microsoft JhengHei"/>
              </a:rPr>
              <a:t>806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差距 </a:t>
            </a:r>
            <a:r>
              <a:rPr sz="1300" b="1">
                <a:solidFill>
                  <a:srgbClr val="C8323A"/>
                </a:solidFill>
                <a:latin typeface="Bahnschrift"/>
                <a:ea typeface="Microsoft JhengHei"/>
                <a:cs typeface="Microsoft JhengHei"/>
              </a:rPr>
              <a:t>+1.13%</a:t>
            </a: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（賣出高於建議價為佳）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2026 德明X富達投資擂台｜第 2 週週報｜2026-10-12～2026-10-15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週一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-0.02%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251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5811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 w="2857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32115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週二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2115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-1.95%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422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2982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69286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週三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9286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8323A"/>
                </a:solidFill>
                <a:latin typeface="Bahnschrift"/>
                <a:ea typeface="Microsoft JhengHei"/>
                <a:cs typeface="Microsoft JhengHei"/>
              </a:rPr>
              <a:t>+0.59%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593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0153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457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週四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457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-3.41%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5764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97324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3628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週五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3628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盤中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82935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1143000"/>
            <a:ext cx="63500" cy="868680"/>
          </a:xfrm>
          <a:prstGeom prst="rect">
            <a:avLst/>
          </a:prstGeom>
          <a:solidFill>
            <a:srgbClr val="6B4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1078992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週二　買進 6182 合晶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1645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46A8"/>
                </a:solidFill>
                <a:latin typeface="Microsoft JhengHei"/>
                <a:ea typeface="Microsoft JhengHei"/>
                <a:cs typeface="Microsoft JhengHei"/>
              </a:rPr>
              <a:t>股票　</a:t>
            </a:r>
            <a:r>
              <a:rPr sz="1300" b="0">
                <a:solidFill>
                  <a:srgbClr val="3B4763"/>
                </a:solidFill>
                <a:latin typeface="Bahnschrift"/>
                <a:ea typeface="Microsoft JhengHei"/>
                <a:cs typeface="Microsoft JhengHei"/>
              </a:rPr>
              <a:t>1,000 股 × 115.50 ＝ 115,500 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33172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為什麼這樣做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633472"/>
            <a:ext cx="676656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7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股價站上月線與季線（距季線 +8.8%），近 20 日 +12.2%，順勢加入強勢股；屬半導體業，前一晚費城半導體 -2.67%、輝達 -1.29%，族群受美股拖累開低，趁震盪時分批承接；前一交易日持股率 75.1%，接近 70% 下限，買進拉高持股率保留緩衝；近日已賣出 潤泰全、聯茂，資金轉進半導體業，維持持股檔數分散風險。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7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2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風險：新建立的部位，先以中等部位觀察，跌破月線再檢討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理由來源：自行判斷（依當時盤勢與持倉整理）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20" y="2331720"/>
            <a:ext cx="19050" cy="3566160"/>
          </a:xfrm>
          <a:prstGeom prst="rect">
            <a:avLst/>
          </a:prstGeom>
          <a:solidFill>
            <a:srgbClr val="D9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當天市場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26060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加權 </a:t>
            </a:r>
            <a:r>
              <a:rPr sz="22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-1.95%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3200400"/>
            <a:ext cx="37490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6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2"/>
              </a:rPr>
              <a:t>南亞科第3季稅後純益876.27億元，季增74.6%、年增55倍，每股純益25.4元；累計前三季稅後純益1637.77億元，每股純益49.28元。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6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台積電ADR跌1.98%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6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Fed官員哈馬克表示利率仍需更高，盼降通膨不傷就業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2026 德明X富達投資擂台｜第 2 週週報｜2026-10-12～2026-10-15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週一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-0.02%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251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5811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 w="2857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32115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週二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2115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-1.95%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422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2982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69286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週三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9286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8323A"/>
                </a:solidFill>
                <a:latin typeface="Bahnschrift"/>
                <a:ea typeface="Microsoft JhengHei"/>
                <a:cs typeface="Microsoft JhengHei"/>
              </a:rPr>
              <a:t>+0.59%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593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0153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457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週四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457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-3.41%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5764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97324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3628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週五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3628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盤中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82935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1143000"/>
            <a:ext cx="63500" cy="868680"/>
          </a:xfrm>
          <a:prstGeom prst="rect">
            <a:avLst/>
          </a:prstGeom>
          <a:solidFill>
            <a:srgbClr val="6B4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1078992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週二　賣出 6213 聯茂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1645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46A8"/>
                </a:solidFill>
                <a:latin typeface="Microsoft JhengHei"/>
                <a:ea typeface="Microsoft JhengHei"/>
                <a:cs typeface="Microsoft JhengHei"/>
              </a:rPr>
              <a:t>股票　</a:t>
            </a:r>
            <a:r>
              <a:rPr sz="1300" b="0">
                <a:solidFill>
                  <a:srgbClr val="3B4763"/>
                </a:solidFill>
                <a:latin typeface="Bahnschrift"/>
                <a:ea typeface="Microsoft JhengHei"/>
                <a:cs typeface="Microsoft JhengHei"/>
              </a:rPr>
              <a:t>48 股 × 764 ＝ 36,672 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33172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為什麼這樣做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633472"/>
            <a:ext cx="676656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7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風險警示：列為處置股（連續三次及當日沖銷標準，115/10/08～115/10/19）：改為分盤撮合、可能需預收款，流動性變差，減碼三分之一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理由來源：2026-10-13 開盤前更新建議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20" y="2331720"/>
            <a:ext cx="19050" cy="3566160"/>
          </a:xfrm>
          <a:prstGeom prst="rect">
            <a:avLst/>
          </a:prstGeom>
          <a:solidFill>
            <a:srgbClr val="D9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當天市場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26060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加權 </a:t>
            </a:r>
            <a:r>
              <a:rPr sz="22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-1.95%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3200400"/>
            <a:ext cx="37490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6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2"/>
              </a:rPr>
              <a:t>南亞科第3季稅後純益876.27億元，季增74.6%、年增55倍，每股純益25.4元；累計前三季稅後純益1637.77億元，每股純益49.28元。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6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台積電ADR跌1.98%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6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Fed官員哈馬克表示利率仍需更高，盼降通膨不傷就業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800600"/>
            <a:ext cx="37490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系統建議價 </a:t>
            </a:r>
            <a:r>
              <a:rPr sz="1300" b="1">
                <a:solidFill>
                  <a:srgbClr val="14213D"/>
                </a:solidFill>
                <a:latin typeface="Bahnschrift"/>
                <a:ea typeface="Microsoft JhengHei"/>
                <a:cs typeface="Microsoft JhengHei"/>
              </a:rPr>
              <a:t>797</a:t>
            </a:r>
            <a:r>
              <a:rPr sz="11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實際成交 </a:t>
            </a:r>
            <a:r>
              <a:rPr sz="1300" b="1">
                <a:solidFill>
                  <a:srgbClr val="14213D"/>
                </a:solidFill>
                <a:latin typeface="Bahnschrift"/>
                <a:ea typeface="Microsoft JhengHei"/>
                <a:cs typeface="Microsoft JhengHei"/>
              </a:rPr>
              <a:t>764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差距 </a:t>
            </a:r>
            <a:r>
              <a:rPr sz="13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-4.14%</a:t>
            </a: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（賣出高於建議價為佳）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2026 德明X富達投資擂台｜第 2 週週報｜2026-10-12～2026-10-15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週一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-0.02%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251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5811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 w="2857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32115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週二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2115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-1.95%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422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2982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69286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週三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9286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8323A"/>
                </a:solidFill>
                <a:latin typeface="Bahnschrift"/>
                <a:ea typeface="Microsoft JhengHei"/>
                <a:cs typeface="Microsoft JhengHei"/>
              </a:rPr>
              <a:t>+0.59%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593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0153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457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週四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457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-3.41%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5764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97324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3628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週五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3628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盤中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82935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1143000"/>
            <a:ext cx="63500" cy="868680"/>
          </a:xfrm>
          <a:prstGeom prst="rect">
            <a:avLst/>
          </a:prstGeom>
          <a:solidFill>
            <a:srgbClr val="6B4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1078992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週二　買進 3037 欣興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1645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46A8"/>
                </a:solidFill>
                <a:latin typeface="Microsoft JhengHei"/>
                <a:ea typeface="Microsoft JhengHei"/>
                <a:cs typeface="Microsoft JhengHei"/>
              </a:rPr>
              <a:t>股票　</a:t>
            </a:r>
            <a:r>
              <a:rPr sz="1300" b="0">
                <a:solidFill>
                  <a:srgbClr val="3B4763"/>
                </a:solidFill>
                <a:latin typeface="Bahnschrift"/>
                <a:ea typeface="Microsoft JhengHei"/>
                <a:cs typeface="Microsoft JhengHei"/>
              </a:rPr>
              <a:t>570 股 × 1,180 ＝ 672,600 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33172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為什麼這樣做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633472"/>
            <a:ext cx="676656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7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系統進攻籃候選第 8 名，模型預期一個月超額報酬 +10.7%，月營收年增 +65%；當天未排進下單清單，自行判斷提前布局；股價站上月線與季線（距季線 +23.7%），近 20 日 +26.4%，順勢加入強勢股；屬電子零組件業，前一晚費城半導體 -2.67%、輝達 -1.29%，族群受美股拖累開低，趁震盪時分批承接；前一交易日持股率 75.1%，接近 70% 下限，買進拉高持股率保留緩衝。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7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2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風險：新建立的部位，先以中等部位觀察，跌破月線再檢討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理由來源：自行判斷（依當時盤勢與持倉整理）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20" y="2331720"/>
            <a:ext cx="19050" cy="3566160"/>
          </a:xfrm>
          <a:prstGeom prst="rect">
            <a:avLst/>
          </a:prstGeom>
          <a:solidFill>
            <a:srgbClr val="D9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當天市場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26060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加權 </a:t>
            </a:r>
            <a:r>
              <a:rPr sz="22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-1.95%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3200400"/>
            <a:ext cx="37490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6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2"/>
              </a:rPr>
              <a:t>南亞科第3季稅後純益876.27億元，季增74.6%、年增55倍，每股純益25.4元；累計前三季稅後純益1637.77億元，每股純益49.28元。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6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台積電ADR跌1.98%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6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Fed官員哈馬克表示利率仍需更高，盼降通膨不傷就業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2026 德明X富達投資擂台｜第 2 週週報｜2026-10-12～2026-10-15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週一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-0.02%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251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5811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 w="2857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32115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週二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2115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-1.95%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422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2982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69286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週三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9286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8323A"/>
                </a:solidFill>
                <a:latin typeface="Bahnschrift"/>
                <a:ea typeface="Microsoft JhengHei"/>
                <a:cs typeface="Microsoft JhengHei"/>
              </a:rPr>
              <a:t>+0.59%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593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0153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457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週四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457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-3.41%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5764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97324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3628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週五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3628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盤中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82935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1143000"/>
            <a:ext cx="63500" cy="868680"/>
          </a:xfrm>
          <a:prstGeom prst="rect">
            <a:avLst/>
          </a:prstGeom>
          <a:solidFill>
            <a:srgbClr val="6B4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1078992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週二　買進 1560 中砂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1645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46A8"/>
                </a:solidFill>
                <a:latin typeface="Microsoft JhengHei"/>
                <a:ea typeface="Microsoft JhengHei"/>
                <a:cs typeface="Microsoft JhengHei"/>
              </a:rPr>
              <a:t>股票　</a:t>
            </a:r>
            <a:r>
              <a:rPr sz="1300" b="0">
                <a:solidFill>
                  <a:srgbClr val="3B4763"/>
                </a:solidFill>
                <a:latin typeface="Bahnschrift"/>
                <a:ea typeface="Microsoft JhengHei"/>
                <a:cs typeface="Microsoft JhengHei"/>
              </a:rPr>
              <a:t>50 股 × 945 ＝ 47,250 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33172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為什麼這樣做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633472"/>
            <a:ext cx="676656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7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【進攻籃】綜合分數 +0.70 達門檻（+0.30）；一個月模型預期超額報酬排名全市場前 6%、創新高機率 79.5%；一個月模型：創 52 週新高機率 79.5%（全市場基準 18.3%，排名前 9%），預期超額報酬 +8.13%（排名前 6%）；距 52 週高點 -4.7%（52 週高 1060.0，現價 1010.0）。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7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2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出場計畫：一個月目標：突破 52 週高點 1060.0 元（距現價 4.7%）即確認創新高，續抱讓獲利奔跑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7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2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風險：隔夜美股：美國國防ETF -0.30%、標普500 -0.06%；預測開盤 -0.68%（開低，命中率 83.5%）、開盤後 +0.04%（震盪）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理由來源：2026-10-13 開盤前更新建議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20" y="2331720"/>
            <a:ext cx="19050" cy="3566160"/>
          </a:xfrm>
          <a:prstGeom prst="rect">
            <a:avLst/>
          </a:prstGeom>
          <a:solidFill>
            <a:srgbClr val="D9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當天市場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26060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加權 </a:t>
            </a:r>
            <a:r>
              <a:rPr sz="22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-1.95%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3200400"/>
            <a:ext cx="37490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6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2"/>
              </a:rPr>
              <a:t>南亞科第3季稅後純益876.27億元，季增74.6%、年增55倍，每股純益25.4元；累計前三季稅後純益1637.77億元，每股純益49.28元。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6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台積電ADR跌1.98%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60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Fed官員哈馬克表示利率仍需更高，盼降通膨不傷就業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800600"/>
            <a:ext cx="37490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系統建議價 </a:t>
            </a:r>
            <a:r>
              <a:rPr sz="1300" b="1">
                <a:solidFill>
                  <a:srgbClr val="14213D"/>
                </a:solidFill>
                <a:latin typeface="Bahnschrift"/>
                <a:ea typeface="Microsoft JhengHei"/>
                <a:cs typeface="Microsoft JhengHei"/>
              </a:rPr>
              <a:t>1,010</a:t>
            </a:r>
            <a:r>
              <a:rPr sz="11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實際成交 </a:t>
            </a:r>
            <a:r>
              <a:rPr sz="1300" b="1">
                <a:solidFill>
                  <a:srgbClr val="14213D"/>
                </a:solidFill>
                <a:latin typeface="Bahnschrift"/>
                <a:ea typeface="Microsoft JhengHei"/>
                <a:cs typeface="Microsoft JhengHei"/>
              </a:rPr>
              <a:t>945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差距 </a:t>
            </a:r>
            <a:r>
              <a:rPr sz="1300" b="1">
                <a:solidFill>
                  <a:srgbClr val="C8323A"/>
                </a:solidFill>
                <a:latin typeface="Bahnschrift"/>
                <a:ea typeface="Microsoft JhengHei"/>
                <a:cs typeface="Microsoft JhengHei"/>
              </a:rPr>
              <a:t>-6.44%</a:t>
            </a: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（買進低於建議價為佳）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2026 德明X富達投資擂台｜第 2 週週報｜2026-10-12～2026-10-15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週一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-0.02%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251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5811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32115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週二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2115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-1.95%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422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2982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69286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週三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9286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8323A"/>
                </a:solidFill>
                <a:latin typeface="Bahnschrift"/>
                <a:ea typeface="Microsoft JhengHei"/>
                <a:cs typeface="Microsoft JhengHei"/>
              </a:rPr>
              <a:t>+0.59%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593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0153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457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週四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457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-3.41%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5764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97324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3628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週五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3628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盤中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82935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107899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期末持股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164592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總資產 8,580,889 元；證券戶現金 41,923 元；期貨戶權益 821,840 元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48640" y="2103120"/>
          <a:ext cx="11094411" cy="39502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70150"/>
                <a:gridCol w="2827988"/>
                <a:gridCol w="1305225"/>
                <a:gridCol w="1196456"/>
                <a:gridCol w="1196456"/>
                <a:gridCol w="1631531"/>
                <a:gridCol w="1087687"/>
                <a:gridCol w="978918"/>
              </a:tblGrid>
              <a:tr h="32918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48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類別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48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標的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B748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股數／口數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B748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成本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B748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現價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B748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未實現損益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B748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報酬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6B748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權重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46A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股票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3189 景碩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1,639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1,084.26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979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78A55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-169,969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78A55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-9.71%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18.7%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46A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股票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1560 中砂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1,091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1,017.82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903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78A55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-123,692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78A55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-11.28%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11.5%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46A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股票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6213 聯茂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1,000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727.03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799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C8323A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73,000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C8323A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+9.90%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9.3%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46A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股票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6196 帆宣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1,150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652.95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613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78A55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-44,850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78A55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-6.12%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8.2%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46A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股票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2889 國票金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40,416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16.04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16.80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C8323A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31,712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C8323A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+4.74%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7.9%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46A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股票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5880 合庫金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24,000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26.14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27.50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C8323A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33,600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C8323A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+5.21%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7.7%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46A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股票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3037 欣興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570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1,181.68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1,075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78A55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-59,850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78A55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-9.03%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7.1%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46A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股票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3591 艾笛森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20,528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28.67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26.65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78A55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-40,679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78A55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-7.05%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6.4%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46A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股票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2845 遠東銀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36,071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12.97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13.25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C8323A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10,818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C8323A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+2.17%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46A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股票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2915 潤泰全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7,173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57.54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58.90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C8323A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10,360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C8323A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+2.36%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4.9%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B46A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股票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6182 合晶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1,000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115.67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110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78A55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-5,500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78A55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-4.90%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4213D"/>
                          </a:solidFill>
                          <a:latin typeface="Bahnschrift"/>
                          <a:ea typeface="Microsoft JhengHei"/>
                          <a:cs typeface="Microsoft JhengHei"/>
                        </a:rPr>
                        <a:t>1.3%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2026 德明X富達投資擂台｜第 2 週週報｜2026-10-12～2026-10-15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週一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-0.02%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251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5811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32115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週二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2115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-1.95%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422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2982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69286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週三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9286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8323A"/>
                </a:solidFill>
                <a:latin typeface="Bahnschrift"/>
                <a:ea typeface="Microsoft JhengHei"/>
                <a:cs typeface="Microsoft JhengHei"/>
              </a:rPr>
              <a:t>+0.59%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593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0153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457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週四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457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-3.41%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5764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97324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3628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週五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3628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盤中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82935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107899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本週損益來源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164592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各檔本週損益（含已賣出部分）；紅色賺、綠色賠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548640" y="2011680"/>
          <a:ext cx="11094415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2026 德明X富達投資擂台｜第 2 週週報｜2026-10-12～2026-10-15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94944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週一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-0.02%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4251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85811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32115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週二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2115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-1.95%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422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2982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69286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週三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9286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8323A"/>
                </a:solidFill>
                <a:latin typeface="Bahnschrift"/>
                <a:ea typeface="Microsoft JhengHei"/>
                <a:cs typeface="Microsoft JhengHei"/>
              </a:rPr>
              <a:t>+0.59%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593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0153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457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週四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457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78A55"/>
                </a:solidFill>
                <a:latin typeface="Bahnschrift"/>
                <a:ea typeface="Microsoft JhengHei"/>
                <a:cs typeface="Microsoft JhengHei"/>
              </a:rPr>
              <a:t>-3.41%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5764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97324" y="292608"/>
            <a:ext cx="2145731" cy="566928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3628" y="36576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週五　</a:t>
            </a:r>
            <a:r>
              <a:rPr sz="10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10/16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3628" y="539496"/>
            <a:ext cx="187141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盤中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82935" y="365760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加權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107899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檢討與下週計畫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18288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本週檢討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286000"/>
            <a:ext cx="51206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770"/>
              </a:spcAft>
            </a:pPr>
            <a:r>
              <a:rPr sz="77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4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減碼負面新聞股如潤泰全是正確風險控制。</a:t>
            </a:r>
          </a:p>
          <a:p>
            <a:pPr algn="l">
              <a:lnSpc>
                <a:spcPct val="130000"/>
              </a:lnSpc>
              <a:spcAft>
                <a:spcPts val="770"/>
              </a:spcAft>
            </a:pPr>
            <a:r>
              <a:rPr sz="77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4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依據系統排名與價格位置布局半導體強勢股符合進攻策略。</a:t>
            </a:r>
          </a:p>
          <a:p>
            <a:pPr algn="l">
              <a:lnSpc>
                <a:spcPct val="130000"/>
              </a:lnSpc>
              <a:spcAft>
                <a:spcPts val="770"/>
              </a:spcAft>
            </a:pPr>
            <a:r>
              <a:rPr sz="77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4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持股率超過100%主要受期貨虧損影響，需關注期貨部位對淨值的衝擊。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1828800"/>
            <a:ext cx="19050" cy="4114800"/>
          </a:xfrm>
          <a:prstGeom prst="rect">
            <a:avLst/>
          </a:prstGeom>
          <a:solidFill>
            <a:srgbClr val="D9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82880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下週計畫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2286000"/>
            <a:ext cx="530352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770"/>
              </a:spcAft>
            </a:pPr>
            <a:r>
              <a:rPr sz="77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4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目標配置：進攻籃80%，穩健籃20%，ETF籃0%。</a:t>
            </a:r>
          </a:p>
          <a:p>
            <a:pPr algn="l">
              <a:lnSpc>
                <a:spcPct val="130000"/>
              </a:lnSpc>
              <a:spcAft>
                <a:spcPts val="770"/>
              </a:spcAft>
            </a:pPr>
            <a:r>
              <a:rPr sz="77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4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建議買進：2103 台橡。</a:t>
            </a:r>
          </a:p>
          <a:p>
            <a:pPr algn="l">
              <a:lnSpc>
                <a:spcPct val="130000"/>
              </a:lnSpc>
              <a:spcAft>
                <a:spcPts val="770"/>
              </a:spcAft>
            </a:pPr>
            <a:r>
              <a:rPr sz="77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4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尚未達標的規則：累積報酬為正（才列入排名）。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2026 德明X富達投資擂台｜第 2 週週報｜2026-10-12～2026-10-15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3152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本週新聞來源（1/2）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98448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週報引用的事件與原始新聞；點標題開啟原文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4415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週一 10/12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2"/>
              </a:rPr>
              <a:t>中歐就混動車貿易達成諒解，有望避免加徵關稅。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澳門力報　等 2 則報導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週一 10/12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台積電將於15日公布第三季財報，市場高度關注其獲利及展望。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TechNews 科技新報　等 3 則報導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週一 10/12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台積電第三季營收創單季新高，超越財測高標。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　等 3 則報導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週一 10/12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5"/>
              </a:rPr>
              <a:t>國慶連假期間國際情勢與AI指標廠傳負面消息，美科技股與費半走跌，台股今日恐面臨補跌壓力，甚至跌…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　等 3 則報導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週一 10/12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6"/>
              </a:rPr>
              <a:t>美國國際貿易委員會對鴻海、廣達等台廠啟動337調查，AI伺服器類股恐受衝擊，部分業者回應營運未…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　等 3 則報導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週一 10/12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7"/>
              </a:rPr>
              <a:t>美啟動337調查鴻海、台達電、廣達等台廠，引發市場對供應鏈的擔憂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自由時報　等 3 則報導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週一 10/12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8"/>
              </a:rPr>
              <a:t>台積電ADR連續下跌約4%，台股恐面臨千點跌勢壓力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　等 3 則報導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週一 10/12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5"/>
              </a:rPr>
              <a:t>中東地緣政治局勢升溫，包括利雅德機場遇襲及荷姆茲海峽船隻被擊中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　等 3 則報導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週二 10/13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9"/>
              </a:rPr>
              <a:t>南亞科第3季稅後純益876.27億元，季增74.6%、年增55倍，每股純益25.4元；累計前三…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週二 10/13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10"/>
              </a:rPr>
              <a:t>台積電ADR跌1.98%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自由財經　等 2 則報導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週二 10/13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11"/>
              </a:rPr>
              <a:t>台指夜盤跌399點 今恐再掀賣壓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　等 2 則報導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週二 10/13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12"/>
              </a:rPr>
              <a:t>台股暴跌 資金湧美債ETF避險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自由時報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週二 10/13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13"/>
              </a:rPr>
              <a:t>高盛喊台股攻 57,500點 隱含約17%上漲空間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UDN　等 2 則報導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週二 10/13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14"/>
              </a:rPr>
              <a:t>Fed官員哈馬克表示利率仍需更高，盼降通膨不傷就業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鉅亨網　等 3 則報導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週二 10/13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15"/>
              </a:rPr>
              <a:t>美元指數守住18個月高點，中東局勢緊張、美國通膨牽動市場情緒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鉅亨網　等 2 則報導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週二 10/13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16"/>
              </a:rPr>
              <a:t>國際油價因利雅德國際機場遇攻擊上漲近2美元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　等 3 則報導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週三 10/14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17"/>
              </a:rPr>
              <a:t>外資單日賣超台股1653億元創史上第三大，台股盤中重挫逾千點、終場跌960點失守4.9萬點，台…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富聯網　等 3 則報導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2026 德明X富達投資擂台｜第 2 週週報｜2026-10-12～2026-10-15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3152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本週新聞來源（2/2）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98448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週報引用的事件與原始新聞；點標題開啟原文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4415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週三 10/14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2"/>
              </a:rPr>
              <a:t>公股券商、投信等國家隊進場護盤，單日買超412億元，台股終場險守48K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　等 2 則報導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週三 10/14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3"/>
              </a:rPr>
              <a:t>台指夜盤反彈363點，市場預期台股力拚止跌反攻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　等 2 則報導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週三 10/14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4"/>
              </a:rPr>
              <a:t>外資台指期淨空單飆高至87239口，偏空操作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中時新聞網　等 3 則報導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週三 10/14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5"/>
              </a:rPr>
              <a:t>AI投資熱潮疑慮引發晶片股拋售潮，美股四大指數收黑、費半連五跌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　等 3 則報導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週三 10/14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6"/>
              </a:rPr>
              <a:t>外資大幅賣超台股1,653億元，台幣爆量重貶1.9角、貶破32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富聯網　等 3 則報導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週三 10/14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7"/>
              </a:rPr>
              <a:t>波士頓Fed總裁柯林斯表示今年底前仍可能再升息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鉅亨網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週三 10/14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8"/>
              </a:rPr>
              <a:t>中東局勢影響 NYMEX原油上漲0.4%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MoneyDJ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週四 10/15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9"/>
              </a:rPr>
              <a:t>台股今恐失守4萬8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週四 10/15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9"/>
              </a:rPr>
              <a:t>台指期夜盤崩853點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週四 10/15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10"/>
              </a:rPr>
              <a:t>台指期夜盤大跌853點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週四 10/15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11"/>
              </a:rPr>
              <a:t>台指期下殺853點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週四 10/15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12"/>
              </a:rPr>
              <a:t>台指期夜盤翻黑下殺463點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中時新聞網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週四 10/15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13"/>
              </a:rPr>
              <a:t>美國9月CPI年增3.7%高於預期，引發市場對聯準會進一步升息的疑慮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　等 3 則報導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週四 10/15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14"/>
              </a:rPr>
              <a:t>美股主要指數因通膨升息疑慮而收黑，科技與半導體股賣壓沉重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　等 3 則報導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週四 10/15　</a:t>
            </a:r>
            <a:r>
              <a:rPr sz="1100" b="0" u="sng">
                <a:solidFill>
                  <a:srgbClr val="1F5FBF"/>
                </a:solidFill>
                <a:latin typeface="Microsoft JhengHei"/>
                <a:ea typeface="Microsoft JhengHei"/>
                <a:cs typeface="Microsoft JhengHei"/>
                <a:hlinkClick r:id="rId15"/>
              </a:rPr>
              <a:t>國際油價因中東攻擊頻傳而上漲1%</a:t>
            </a: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　MoneyDJ　等 3 則報導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2026 德明X富達投資擂台｜第 2 週週報｜2026-10-12～2026-10-15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3152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週報檢查結果（1/2）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98448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通過 15 項・已自動修正 1 項・需注意 2 項・錯誤 0 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4413" cy="46268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1825"/>
                <a:gridCol w="2750681"/>
                <a:gridCol w="733515"/>
                <a:gridCol w="6968392"/>
              </a:tblGrid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48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類別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48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檢查項目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48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結果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48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說明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數據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週報酬＝期末÷期初−1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8A5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通過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9,979,013 → 8,580,889，-14.01%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數據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最後交易日總資產＝期末總資產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8A5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通過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2026-10-15 8,580,889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數據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各檔損益加總＝總資產變動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8A5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通過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加總 -1,398,123，總資產變動 -1,398,124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數據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加權指數每日漲跌連乘＝本週漲跌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8A5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通過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每日連乘 -4.75%，本週 -4.75%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數據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成交金額＝數量×價格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8A5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通過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 筆皆一致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數據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持股市值＝股數×收盤價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8A5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通過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14 檔皆一致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數據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持股率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4560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注意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104.2% 超過 100%：期貨未實現虧損讓分母變小（不是融資），文字已加註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理由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理由出處在成交前產生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8A5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通過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皆引用收盤前已產生的報告或成交前資料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理由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理由與買賣方向一致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8A5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通過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無矛盾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理由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停利／停損與實際損益一致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8A5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通過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無衝突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2026 德明X富達投資擂台｜第 2 週週報｜2026-10-12～2026-10-15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3152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週報檢查結果（2/2）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98448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通過 15 項・已自動修正 1 項・需注意 2 項・錯誤 0 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4413" cy="37856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1825"/>
                <a:gridCol w="2750681"/>
                <a:gridCol w="733515"/>
                <a:gridCol w="6968392"/>
              </a:tblGrid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48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類別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48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檢查項目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48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結果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B748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說明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理由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成交價與建議價差距 ≤ 5%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B4560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注意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10-13 買 1560 成交 945.0 建議 1,010.0（-6.4%）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新聞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每則事件都有新聞連結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8A5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通過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40 則事件皆附連結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新聞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新聞時間不晚於當天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8A5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通過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沒有引用未來新聞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新聞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事件不跨日重複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8A5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通過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無重複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文字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交易說明與成交紀錄一致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8A5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通過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 則皆一致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文字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每日盤勢描述與實際漲跌一致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8A5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通過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一致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文字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沒有錯誤描述融資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5FB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已修正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刪除 1 句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文字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AI 文字數字核對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78A55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通過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所有數字可在資料中找到</a:t>
                      </a:r>
                    </a:p>
                  </a:txBody>
                  <a:tcPr marL="73152" marR="73152" marT="27432" marB="27432" anchor="ctr">
                    <a:noFill/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2026 德明X富達投資擂台｜第 2 週週報｜2026-10-12～2026-10-15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3152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資料來源與說明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94415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770"/>
              </a:spcAft>
            </a:pPr>
            <a:r>
              <a:rPr sz="77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4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成交：XQ 全球贏家成交回報（網站匯入或 AI 助理記錄）；同一筆委託分多次成交時合併為一列，價格為成交量加權平均</a:t>
            </a:r>
          </a:p>
          <a:p>
            <a:pPr algn="l">
              <a:lnSpc>
                <a:spcPct val="130000"/>
              </a:lnSpc>
              <a:spcAft>
                <a:spcPts val="770"/>
              </a:spcAft>
            </a:pPr>
            <a:r>
              <a:rPr sz="77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4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總資產採競賽 App「投資組合總值」口徑：初始 1,000 萬＋未實現＋已實現；股票用當天收盤價、期貨用該合約日盤結算價（與 App 對帳一致）</a:t>
            </a:r>
          </a:p>
          <a:p>
            <a:pPr algn="l">
              <a:lnSpc>
                <a:spcPct val="130000"/>
              </a:lnSpc>
              <a:spcAft>
                <a:spcPts val="770"/>
              </a:spcAft>
            </a:pPr>
            <a:r>
              <a:rPr sz="77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4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市場資料：證交所／櫃買中心日 K、加權指數、期交所行情；事件與國際大事來自當天報告收錄的新聞，原文連結見「本週新聞來源」</a:t>
            </a:r>
          </a:p>
          <a:p>
            <a:pPr algn="l">
              <a:lnSpc>
                <a:spcPct val="130000"/>
              </a:lnSpc>
              <a:spcAft>
                <a:spcPts val="770"/>
              </a:spcAft>
            </a:pPr>
            <a:r>
              <a:rPr sz="77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4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週報檢查 Agent：輸出前逐項核對數據、新聞時間與出處、交易理由是否在成交前產生及前後矛盾，結果見「週報檢查結果」</a:t>
            </a:r>
          </a:p>
          <a:p>
            <a:pPr algn="l">
              <a:lnSpc>
                <a:spcPct val="130000"/>
              </a:lnSpc>
              <a:spcAft>
                <a:spcPts val="770"/>
              </a:spcAft>
            </a:pPr>
            <a:r>
              <a:rPr sz="77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4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交易理由：優先引用當天系統建議的理由；自行判斷的交易依成交前一日的系統排名、價格位置、持股率與資金去向整理</a:t>
            </a:r>
          </a:p>
          <a:p>
            <a:pPr algn="l">
              <a:lnSpc>
                <a:spcPct val="130000"/>
              </a:lnSpc>
              <a:spcAft>
                <a:spcPts val="770"/>
              </a:spcAft>
            </a:pPr>
            <a:r>
              <a:rPr sz="77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4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文字說明由開源 AI 模型依上述資料撰寫，所有數字已逐一與資料核對</a:t>
            </a:r>
          </a:p>
          <a:p>
            <a:pPr algn="l">
              <a:lnSpc>
                <a:spcPct val="130000"/>
              </a:lnSpc>
              <a:spcAft>
                <a:spcPts val="770"/>
              </a:spcAft>
            </a:pPr>
            <a:r>
              <a:rPr sz="770" b="0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■ </a:t>
            </a:r>
            <a:r>
              <a:rPr sz="1400" b="0">
                <a:solidFill>
                  <a:srgbClr val="3B4763"/>
                </a:solidFill>
                <a:latin typeface="Microsoft JhengHei"/>
                <a:ea typeface="Microsoft JhengHei"/>
                <a:cs typeface="Microsoft JhengHei"/>
              </a:rPr>
              <a:t>持股率同 App：股票＋ETF 市值 ÷（市值＋持有現金＋期貨保證金＋期貨未實現）；損益同 App 不扣手續費，手續費另計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Microsoft JhengHei"/>
                <a:ea typeface="Microsoft JhengHei"/>
                <a:cs typeface="Microsoft JhengHei"/>
              </a:rPr>
              <a:t>2026 德明X富達投資擂台｜第 2 週週報｜2026-10-12～2026-10-15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489"/>
                </a:solidFill>
                <a:latin typeface="Bahnschrift"/>
                <a:ea typeface="Microsoft JhengHei"/>
                <a:cs typeface="Microsoft JhengHe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