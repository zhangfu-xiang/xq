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2026-10-22　|　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Microsoft JhengHei"/>
                <a:ea typeface="Microsoft JhengHei"/>
              </a:rPr>
              <a:t>開盤前更新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C9D6E8"/>
                </a:solidFill>
                <a:latin typeface="Microsoft JhengHei"/>
                <a:ea typeface="Microsoft JhengHei"/>
              </a:rPr>
              <a:t>2026-10-22　|　2026 德明X富達投資擂台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今日重點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2026-10-22　|　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總資產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881 萬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3673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0833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累積報酬</a:t>
            </a:r>
          </a:p>
          <a:p>
            <a:r>
              <a:rPr sz="3000" b="1">
                <a:solidFill>
                  <a:srgbClr val="2E8B57"/>
                </a:solidFill>
                <a:latin typeface="Microsoft JhengHei"/>
                <a:ea typeface="Microsoft JhengHei"/>
              </a:rPr>
              <a:t>-11.87%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0147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7307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執行後持股率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89.0%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86621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23781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大盤預測開盤</a:t>
            </a:r>
          </a:p>
          <a:p>
            <a:r>
              <a:rPr sz="3000" b="1">
                <a:solidFill>
                  <a:srgbClr val="C8423B"/>
                </a:solidFill>
                <a:latin typeface="Microsoft JhengHei"/>
                <a:ea typeface="Microsoft JhengHei"/>
              </a:rPr>
              <a:t>+0.54%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美股隔夜表現強勁，費城半導體指數上漲1.97%，那斯達克指數上漲1.05%，標普500指數上漲0.58%。輝達、超微、台積電ADR等科技股均有不錯漲幅，美超微更飆漲9.55%。國際方面，VIX恐慌指數下跌3.64%，西德州原油下跌3.69%。外資終止連十賣轉為買超，加上SpaceX財報利多與輝達黃仁勳宣布AI需求強勁，激勵台股強彈重回5日線，市場氛圍偏向樂觀。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今日台股預期將開高0.54%，盤中走勢判斷為續強。我們的模型在開盤跳空方向的命中率為82.8%，盤中走向的命中率為66.7%，顯示今日市場動能偏多。（08:20 更新：那斯達克期貨 29777.25，+0.34%）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庫存怎麼處理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2026-10-22　|　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2297"/>
                <a:gridCol w="1201148"/>
                <a:gridCol w="1091953"/>
                <a:gridCol w="1091953"/>
                <a:gridCol w="4367813"/>
                <a:gridCol w="109195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持股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建議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1,091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-13.84%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1 張又 91 股（共 1,091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868.0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40,416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+5.37%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40 張又 416 股（共 40,416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16.7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+7.13%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24 張（24,000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27.7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36,071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36 張又 71 股（共 36,071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13.1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7,173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+0.10%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7 張又 173 股（共 7,173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-15.03%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8 股（零股）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1985.0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1,639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-6.85%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減碼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 546 股（零股），保留 1 張又 93 股（共 1,093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1020.0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2,150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-3.11%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減碼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 716 股（零股），保留 1 張又 434 股（共 1,434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-6.91%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加碼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加買 535 股（零股），加碼後共 1 張又 105 股（共 1,105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1125.0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20,528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-3.22%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加買 28 張又 851 股（共 28,851 股），加碼後共 49 張又 379 股（共 49,379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2885 元大金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+0.28%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加碼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加買 8 張又 991 股（共 8,991 股），加碼後共 9 張又 991 股（共 9,991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71.3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+13.20%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1 張（1,000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-4.03%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1 張（1,000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-4.21%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3 張（3,000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警示提醒（嚴重 1／警告 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2026-10-22　|　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【嚴重】1560 中砂：已跌破停損價 936.69（目前 875.0）：依紀律全數出場 → 建議賣出 1 張又 91 股（共 1,091 股）（持有 1,091 股的 100%），限價 866.0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【警告】3189 景碩：負面新聞：EPS預估下修；股價偏弱，減碼三分之一 → 建議賣出 546 股（零股）（持有 1,639 股的 33%），限價 1020.0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【警告】6196 帆宣：負面新聞：發行可轉換公司債，可能稀釋股權；股價偏弱，減碼三分之一 → 建議賣出 716 股（零股）（持有 2,150 股的 33%），限價 618.0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【警告】2360 致茂：距停損價 2069.91 只剩 0.0%，先掛好停損單 → 建議賣出 2 股（零股）（持有 8 股的 25%），限價 2045.0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【提醒】2103 台橡：距停損價 27.7 只剩 2.9%，先掛好停損單 → 續抱，持續觀察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【提醒】3037 欣興：法人近 5 日賣超 11,876 張，籌碼轉弱 → 續抱，持續觀察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【提醒】電子零組件業 18 檔漲停：同產業集體漲停：華新科、聯茂、信昌電、天二科技、金山電、光頡 → 題材發酵中，但不追漲停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【提醒】光電業 6 檔漲停：同產業集體漲停：台表科、GIS-KY、玉晶光、冠西電、東捷、錦明 → 題材發酵中，但不追漲停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今日漲跌停與原因（漲停 52／跌停 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2026-10-22　|　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7465"/>
                <a:gridCol w="1640204"/>
                <a:gridCol w="702945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可能原因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跌停｜3441 聯一光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光電業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可能原因（新聞）：聯一光(3441) 今日股價與討論 - 股市爆料同學會 - CMoney；【13:24 即時新聞】聯一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跌停｜6141 柏承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可能原因（新聞）：【09:25 即時新聞】柏承(6141)亮燈漲停，市場關注晚間重訊記者會 - CMoney投資網誌；【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漲停｜2492 華新科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可能原因（新聞）：【即時新聞】華新科(2492)爆量鎖漲停，這「5檔概念股」買氣爆棚接棒上攻！ - CMoney；被動元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漲停｜6278 台表科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光電業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可能原因（新聞）：台表科(6278) 個股概覽 | 個股 - 股市 - CMoney；【09:50 即時新聞】台表科(6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漲停｜3374 精材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可能原因（新聞）：AI封測需求續升溫！精材(3374)逆勢亮燈鎖漲！ - 口袋證券；3374 精材 - 收盤是綠的不要不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漲停｜6213 聯茂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可能原因（新聞）：CCL指標股追價外資估聯茂獲利有望翻倍目標價直接喊上千金- 日報 - 工商時報；聯茂(6213) 個股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漲停｜6456 GIS-KY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光電業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可能原因（新聞）：【即時新聞】GIS-KY(6456)轉攻光通訊飆漲停！這「2檔概念股」資金輪動發酵？ - CMoney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漲停｜3406 玉晶光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光電業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可能原因（新聞）：玉晶光(3406) 個股概覽 | 個股 - 股市 - CMoney；玉晶光(3406) 48億引資3M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漲停｜6173 信昌電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可能原因（新聞）：AI伺服器需求帶動！信昌電(6173)股價逆勢攻漲停！ - 口袋證券；焦點股》信昌電：減資出關摜至跌停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漲停｜3532 台勝科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可能原因（新聞）：台勝科(3532)營收查詢｜月營收統計與YOY年增率圖表 - 股市爆料同學會 - CMoney；焦點股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三籃配置：進攻 75%／穩健 25%／ETF 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2026-10-22　|　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48640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比例如何決定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灰燈：大盤中性（距季線 +0.4%、20 日 +0.0%） → 進攻籃 80%（已持續 4 個交易日）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依據（報酬率第一）：十年回測每次前 20 名 20 日報酬，進攻籃在綠燈 6.0%／灰燈 6.2%／紅燈 3.7%，都高於穩健籃 4.4%／3.8%／2.1%，勝率相近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調整 Agent 偵測到 2 項失誤 → 進攻 −5%，待模型修正後再恢復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股票內部：進攻籃 75%、穩健籃 25%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今日配置（佔股票＋ETF 目標持股）：進攻籃 75%、穩健籃 25%、ETF 籃 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基準比例 0%（分散個股風險、證交稅 0.1%）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 ETF 籃比例 0%（佔股票＋ETF 目標持股；基準 0% 已依上述條件調整）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各籃內容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【進攻籃】目標 595 萬，執行後佔總資產 75.0%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進攻籃買進：3591 艾笛森、3037 欣興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【穩健籃】目標 198 萬，執行後佔總資產 25.0%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穩健籃買進：2850 新產、4541 晟田、3010 華立、2885 元大金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籃】目標 0 萬，執行後佔總資產 0.0%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籃買進：無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目前大盤處於灰燈狀態，距離季線有0.39%的距離，距離20日線有0.01%的距離。考量到Agent偵測到2項失誤，我們將進攻籃的比例從預設的80%下調5%，今日配置為進攻籃75%、穩健籃25%。穩健籃買進了新產、晟田、華立與元大金，這些標的穩健分數高，且預期最大回檔幅度較小。進攻籃則買進艾笛森與欣興，兩者綜合分數達門檻，且艾笛森一個月預期超額報酬排名全市場前1%，欣興則受惠於輝達擴大產能的利多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穩健籃候選（收正報酬機率高、回檔小、不追高）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2026-10-22　|　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7396"/>
                <a:gridCol w="2044930"/>
                <a:gridCol w="1278081"/>
                <a:gridCol w="1278081"/>
                <a:gridCol w="1022465"/>
                <a:gridCol w="1278081"/>
                <a:gridCol w="1278081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收正機率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預期回檔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穩健分數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訊號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00915 凱基優選高股息30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79.5%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2850 新產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金融保險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65.6%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00731 復華富時高息低波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72.0%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4541 晟田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其他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00900 富邦特選高股息30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70.3%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00940 元大台灣價值高息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3010 華立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電子通路業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2357 華碩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電腦及週邊設備業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55.1%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00930 永豐ESG低碳高息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61.5%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3617 碩天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其他電子業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59.2%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6416 瑞祺電通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通信網路業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53.1%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-8.9%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2034 允強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鋼鐵工業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期貨與選擇權：做多 微型臺指期貨 8 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2026-10-22　|　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0204"/>
                <a:gridCol w="2577465"/>
                <a:gridCol w="937260"/>
                <a:gridCol w="1405890"/>
                <a:gridCol w="1405890"/>
                <a:gridCol w="1640204"/>
                <a:gridCol w="1640204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動作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合約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口數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停損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保證金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最大損失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做多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TMF202611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47,013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45,439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280,400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125,920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期貨與選擇權判斷：做多 微型臺指期貨 8 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2026-10-22　|　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依據（模型估計，不是保證）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做多理由：方向模型：未來 5 個交易日上漲機率 62.1%（模型估計，不是保證）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做多：樣本外 63 次，命中率 65.1%（基準 63.2%），平均每次 +0.96%（已扣成本）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主要依據：加權 5 日報酬看多、距月線看空、距季線看多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目前累積報酬 -11.87%、距高點回撤 -13.59%、剩 26 個交易日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報酬為負或回撤 ≥ 4%：提高機率門檻、放寬每筆風險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方向模型：未來 5 個交易日上漲機率 62.1%（模型估計，不是保證）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做多：樣本外 63 次，命中率 65.1%（基準 63.2%），平均每次 +0.96%（已扣成本）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放空：樣本外交易僅 2 次，少於 20 次，證據不足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為何今日會漲／會跌（2026-10-20）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2026-10-22　|　10</a:t>
            </a:r>
          </a:p>
        </p:txBody>
      </p:sp>
      <p:pic>
        <p:nvPicPr>
          <p:cNvPr id="5" name="Picture 4" descr="2026-10-22_開盤前更新_a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3563815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5880 合庫金：今日下跌 -2.14%（-14,400 元），主因為「個股特有因素」（-1.16%）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2889 國票金：今日上漲 +0.89%（+6,062 元），主因為「個股特有因素」（+1.97%）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2845 遠東銀：今日下跌 -0.75%（-3,607 元），主因為「產業因素」（-1.01%）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2915 潤泰全：今日下跌 -2.03%（-8,608 元），主因為「個股特有因素」（-1.84%）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3189 景碩：今日下跌 -3.77%（-60,643 元），主因為「大盤因素」（-2.02%）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3591 艾笛森：今日上漲 +4.15%（+22,581 元），主因為「個股特有因素」（+4.10%）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漲跌歸因明細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2026-10-22　|　11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8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1605"/>
                <a:gridCol w="1196502"/>
                <a:gridCol w="1675102"/>
                <a:gridCol w="1196502"/>
                <a:gridCol w="1196502"/>
                <a:gridCol w="1196502"/>
                <a:gridCol w="191440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漲跌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大盤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個股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主因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-2.14%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-14,400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-0.90%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-1.16%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+0.89%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+6,062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+1.97%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-0.75%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-3,607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-1.01%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+0.35%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-2.03%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-8,608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-3.77%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-60,643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-2.02%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-0.33%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-1.42%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+4.15%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+22,581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-1.04%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-9,819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-1.58%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-10,750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-2.35%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-18,000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-1.64%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-0.80%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-0.48%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-0.74%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-0.25%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-1.73%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+1.64%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-2.33%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-2.02%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-5.80%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-37,050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-1.92%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-3.97%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2885 元大金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-0.61%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69494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昨日持股表現方面，合庫金下跌2.14%，主因為個股特有因素貢獻了-1.16%。國票金上漲0.89%，主因為個股特有因素貢獻了+1.97%。遠東銀下跌0.75%，主因為產業因素貢獻了-1.01%。潤泰全下跌2.03%，主因為個股特有因素貢獻了-1.84%。景碩下跌3.77%，主因為大盤因素貢獻了-2.02%。艾笛森上漲4.15%，主因為個股特有因素貢獻了+4.10%。中砂下跌1.04%，主因為大盤因素貢獻了-1.58%。帆宣下跌0.84%，主因為大盤因素貢獻了-1.45%。聯茂下跌2.35%，主因為大盤因素貢獻了-1.64%。台橡下跌0.52%，主因為個股特有因素貢獻了-0.74%。致茂下跌0.25%，主因為大盤因素貢獻了-1.73%。合晶下跌2.33%，主因為大盤因素貢獻了-2.02%。欣興下跌5.80%，主因為個股特有因素貢獻了-3.97%。元大金下跌1.67%，主因為產業因素貢獻了-1.01%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產業強弱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2026-10-22　|　12</a:t>
            </a:r>
          </a:p>
        </p:txBody>
      </p:sp>
      <p:pic>
        <p:nvPicPr>
          <p:cNvPr id="5" name="Picture 4" descr="2026-10-22_開盤前更新_s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19" y="1097280"/>
            <a:ext cx="7504457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虧損如何補回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2026-10-22　|　13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7373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目前累積損益為-1,187,158元，虧損11.87%，回到初始資金需上漲13.47%。現有持股依模型加權的一個月預期報酬為+5.89%。針對虧損與獲利部位，我們將採取以下策略：遠東銀、潤泰全、合庫金、國票金因已獲利且一個月預期報酬較低，將獲利換股至00915凱基優選高股息30，以爭取更高的預期報酬。致茂與中砂因已跌破停損價，將依紀律停損換股，致茂換至00915凱基優選高股息30，中砂換至4541晟田。元大金、台橡、合晶、帆宣、欣興、景碩將續抱，因其未滿10個交易日或模型預期仍為正且未觸及停損，換股效益不足以支付成本。艾笛森與聯茂則因模型排名仍在前段班且權重未達上限，可續抱並逢回加碼攤低成本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累積損益 -1,187,158 元（-11.87%），已實現 -977,655 元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回到初始資金需上漲 13.47%；只有正報酬才列入排名，補回虧損是第一優先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現有持股依模型加權的一個月預期報酬 +5.89%（約 +519,138 元）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進攻籃最佳替換候選：4541 晟田，一個月預期報酬 +15.76%，創新高機率 15.5%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穩健籃最佳替換候選：00915 凱基優選高股息30，一個月預期報酬 +6.00%，收正報酬機率 79.5%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【獲利換股】2845 遠東銀（+10,133 元）：已獲利 +10,133 元（+2.17%）先入袋；這檔一個月預期只剩 +0.78%，轉買 00915 凱基優選高股息30（預期 +6.00%）扣除換股成本後多 4.63%（門檻 1.0%），且收正報酬機率不低於原標的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【獲利換股】2915 潤泰全（+416 元）：已獲利 +416 元（+0.10%）先入袋；這檔一個月預期只剩 +2.00%，轉買 00915 凱基優選高股息30（預期 +6.00%）扣除換股成本後多 3.42%（門檻 1.0%），且收正報酬機率不低於原標的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【獲利換股】5880 合庫金（+44,705 元）：已獲利 +44,705 元（+7.13%）先入袋；這檔一個月預期只剩 +2.38%，轉買 00915 凱基優選高股息30（預期 +6.00%）扣除換股成本後多 3.03%（門檻 1.0%），且收正報酬機率不低於原標的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【續抱】2885 元大金（+198 元）：買進第 2 個交易日，未滿 10 個交易日不換股、不因分數小幅轉弱賣出（模型排名每天都會小幅變動，來回換股要付約 0.58% 成本）；跌破停損 67.62 才出場。提醒：已獲利 +0.28%，00915 凱基優選高股息30 預期報酬較高，滿 10 個交易日後若仍如此會建議獲利換股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【獲利換股】2889 國票金（+34,783 元）：已獲利 +34,783 元（+5.37%）先入袋；這檔一個月預期只剩 +2.80%，轉買 00915 凱基優選高股息30（預期 +6.00%）扣除換股成本後多 2.61%（門檻 1.0%），且收正報酬機率不低於原標的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【續抱】2103 台橡（-3,727 元）：買進第 9 個交易日，未滿 10 個交易日不換股、不因分數小幅轉弱賣出（模型排名每天都會小幅變動，來回換股要付約 0.58% 成本）；跌破停損 27.7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【停損換股】2360 致茂（-2,845 元）：收盤 2010.0 已跌破停損價 2069.91，依紀律出場；資金轉往評分最高的候選標的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【續抱】6182 合晶（-4,665 元）：買進第 7 個交易日，未滿 10 個交易日不換股、不因分數小幅轉弱賣出（模型排名每天都會小幅變動，來回換股要付約 0.58% 成本）；跌破停損 97.31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【續抱】6196 帆宣（-42,512 元）：模型預期仍為正，未觸及停損，換股的預期效益不足以支付換股成本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【停損換股】1560 中砂（-153,640 元）：收盤 877.0 已跌破停損價 936.69，依紀律出場；資金轉往評分最高的候選標的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【續抱】3037 欣興（-46,560 元）：買進第 7 個交易日，未滿 10 個交易日不換股、不因分數小幅轉弱賣出（模型排名每天都會小幅變動，來回換股要付約 0.58% 成本）；跌破停損 1046.11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【續抱】3189 景碩（-121,718 元）：模型預期仍為正，未觸及停損，換股的預期效益不足以支付換股成本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【續抱並可加碼】3591 艾笛森（-18,938 元）：模型排名仍在全市場前 11%、股價在月線之上、虧損未擴大，權重 6.5% 仍低於上限，可逢回加碼攤低成本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【續抱並可加碼】6213 聯茂（+95,965 元）：模型排名仍在全市場前 1%、股價在月線之上、虧損未擴大，權重 9.3% 仍低於上限，可逢回加碼攤低成本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國際大事對持股的影響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2026-10-22　|　14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55448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針對國際大事對持股的影響，我們有以下分析：
1. 歐盟呼籲SpaceX恢復烏克蘭星鏈完整服務：此事件對景碩、中砂、帆宣、聯茂、致茂、合晶、欣興不利且敏感度高，將嚴守停損、暫停加碼，若事件延續且跌破月線，將先減碼一半。對艾笛森、元大金輕度不利，列入觀察，暫不調整部位。對合庫金、國票金、遠東銀、潤泰全影響有限，維持原決策。
2. SpaceX第三季營收年增161%並實現獲利：此事件對景碩、艾笛森、中砂、帆宣、聯茂、致茂、合晶、欣興、元大金有利，支持續抱，若一個月模型仍在前段班，可作為加碼依據。對合庫金、國票金、遠東銀、潤泰全影響有限，維持原決策。
3. 輝達執行長黃仁勳宣布AI需求異常強勁：此事件對景碩、艾笛森、中砂、帆宣、聯茂、台橡、致茂、合晶、欣興、元大金有利，支持續抱，若一個月模型仍在前段班，可作為加碼依據。對國票金、潤泰全影響有限，維持原決策。
4. 沙烏地阿美油田遇無人機攻擊：此事件對艾笛森、帆宣、聯茂、致茂、合晶輕度不利，列入觀察，暫不調整部位。對台橡有利，支持續抱，若一個月模型仍在前段班，可作為加碼依據。對元大金影響有限，維持原決策。
5. 市場評估聯準會利率路徑：此事件對合庫金影響有限，維持原決策。
6. 北京在中歐貿易談判中展現讓步：此事件對帆宣、致茂、欣興有利，支持續抱，若一個月模型仍在前段班，可作為加碼依據。對合庫金、遠東銀影響有限，維持原決策。
7. 美歐本月至少7家公司延後逾50億美元債券與貸款發行：此事件對景碩、中砂、帆宣、聯茂、致茂、合晶、欣興不利且敏感度高，將嚴守停損、暫停加碼，若事件延續且跌破月線，將先減碼一半。對艾笛森、元大金輕度不利，列入觀察，暫不調整部位。對合庫金、國票金、遠東銀、潤泰全影響有限，維持原決策。
8. 德州儀器第四季財測優於預期：此事件對景碩、艾笛森、中砂、帆宣、聯茂、台橡、致茂、合晶、欣興、元大金有利，支持續抱，若一個月模型仍在前段班，可作為加碼依據。對國票金、潤泰全影響有限，維持原決策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0"/>
            <a:ext cx="10972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歐盟呼籲SpaceX恢復烏克蘭星鏈完整服務，因近期降速影響烏軍。 → VIX恐慌指數↑：預估 -74,120 元（-0.84%）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SpaceX第三季營收年增161%並實現獲利，馬斯克暗示與特斯拉合併。 → 標普500↑：預估 +79,207 元（+0.90%）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輝達執行長黃仁勳宣布AI需求異常強勁，產能成為瓶頸，並推出DSX POD模組化AI工廠架構。 → 費城半導體↑：預估 +87,420 元（+0.99%）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沙烏地阿美油田遇無人機攻擊，美國撤離部分外交人員，國際油價一度衝破110美元。 → 西德州原油↑：預估 -21,229 元（-0.24%）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市場評估聯準會利率路徑，因CPI意外升溫，加息陰影再起。 → 美國10年債殖利率↑：預估 -874 元（-0.01%）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北京在中歐貿易談判中展現讓步，顯示貿易關係可能趨緩。 → 中國大型股ETF↑：預估 +13,416 元（+0.15%）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美歐本月至少7家公司延後逾50億美元債券與貸款發行，因高負債企業受利率與通膨壓力影響。 → VIX恐慌指數↑：預估 -74,120 元（-0.84%）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德州儀器第四季財測優於預期，顯示工業與AI晶片需求復甦。 → 費城半導體↑：預估 +87,420 元（+0.99%）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國際事件：歐盟呼籲SpaceX恢復烏克蘭星鏈完整服務，因近期降速影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2026-10-22　|　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-0.0244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-0.20%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-1,344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-1,434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-0.0271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-0.22%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-1,051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-1,157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-0.1313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-1.05%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-17,382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999.0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-0.0531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-2,393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-0.1268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-1.02%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-9,759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936.69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-17,850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599.23 元、暫停加碼；若事件延續且跌破月線，先減碼一半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-0.1554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-1.25%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-10,288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639.23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-0.06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-0.1746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-1.40%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-225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2069.91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-0.1583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-1.27%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-1,410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97.31 元、暫停加碼；若事件延續且跌破月線，先減碼一半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-0.1859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-1.49%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-9,342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1046.11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2885 元大金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-0.0844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-0.68%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國際事件：SpaceX第三季營收年增161%並實現獲利，馬斯克暗示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2026-10-22　|　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0.1499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+0.12%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+806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0.2032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+1,161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0.1466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+0.12%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+574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0.2851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+992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1.6094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+1.33%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+22,017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0.5331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+2,506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1.2099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+9,568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1.6097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+17,586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1.6549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+1.37%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+11,275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0.3369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+0.09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1.7277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+1.43%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+230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1.6783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+1,543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2.0257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+1.67%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+10,471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2885 元大金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0.8153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國際事件：輝達執行長黃仁勳宣布AI需求異常強勁，產能成為瓶頸，並推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2026-10-22　|　17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0.0382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0.0609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+1,229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0.0378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+0.12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0.0696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+826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0.5347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+1.55%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+25,659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0.1751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+2,848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0.4224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+1.22%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+11,673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+18,511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0.4223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+1.22%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+10,041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0.1361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+331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0.6249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+1.81%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+291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0.5465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+1.58%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+1,754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0.7597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+2.20%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+13,794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2885 元大金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0.2247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全市場一個月創新高潛力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2026-10-22　|　18</a:t>
            </a:r>
          </a:p>
        </p:txBody>
      </p:sp>
      <p:pic>
        <p:nvPicPr>
          <p:cNvPr id="5" name="Picture 4" descr="2026-10-22_開盤前更新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317673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掃描 703 檔上市櫃股票與 ETF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全市場基準創新高率 17.9%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模型：梯度提升樹，滾動時間外驗證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美股隔夜表現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2026-10-22　|　19</a:t>
            </a:r>
          </a:p>
        </p:txBody>
      </p:sp>
      <p:pic>
        <p:nvPicPr>
          <p:cNvPr id="5" name="Picture 4" descr="2026-10-22_開盤前更新_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760" y="1097280"/>
            <a:ext cx="383417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台股開盤預測（美股 → 台股）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2026-10-22　|　20</a:t>
            </a:r>
          </a:p>
        </p:txBody>
      </p:sp>
      <p:pic>
        <p:nvPicPr>
          <p:cNvPr id="5" name="Picture 4" descr="2026-10-22_開盤前更新_p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327918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Ridge 迴歸：費半、那指期、台積電 ADR、VIX、匯率、產業對應美股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命中率＝樣本外方向命中率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低於 55% 或不如基準者降權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交易建議總表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2026-10-22　|　21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6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2658"/>
                <a:gridCol w="2646381"/>
                <a:gridCol w="1764254"/>
                <a:gridCol w="1323190"/>
                <a:gridCol w="1323190"/>
                <a:gridCol w="1984785"/>
                <a:gridCol w="1102658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動作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停損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權重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進攻｜6196 帆宣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張+716股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447,500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進攻｜3189 景碩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張+546股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1020.0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565,110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 張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27.7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672,000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40 張+416股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16.7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683,030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 張+71股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13.1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477,941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 張+173股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413,165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張+91股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868.0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956,807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穩健｜2360 致茂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張+8股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1985.0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16,080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穩健｜2850 新產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 張+684股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165.5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157.5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444,202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穩健｜4541 晟田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 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59.7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56.2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417,900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穩健｜3010 華立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 張+511股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139.0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130.5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627,029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7.1%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穩健｜2885 元大金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 張+991股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71.3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67.8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641,058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進攻｜3591 艾笛森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 張+851股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28.2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25.35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813,598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進攻｜3037 欣興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張+535股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1125.0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1010.0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601,875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6196 帆宣｜0 張 + 716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2026-10-22　|　22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風險警示：負面新聞：發行可轉換公司債，可能稀釋股權；股價偏弱，減碼三分之一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觸發條件中最嚴重者決定賣出比例：33%；限價取最近價 × 0.99（不低於跌停價）以提高成交機率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1,434 股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3189 景碩｜0 張 + 546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2026-10-22　|　23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風險警示：負面新聞：EPS預估下修；股價偏弱，減碼三分之一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觸發條件中最嚴重者決定賣出比例：33%；限價取最近價 × 0.99（不低於跌停價）以提高成交機率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1,093 股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5880 合庫金｜24 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2026-10-22　|　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換股計畫 → 獲利換股：已獲利 +44,705 元（+7.13%）先入袋；這檔一個月預期只剩 +2.38%，轉買 00915 凱基優選高股息30（預期 +6.00%）扣除換股成本後多 3.03%（門檻 1.0%），且收正報酬機率不低於原標的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24 張（24,000 股），回收資金約 672,000 元，依分數重新配置到同一籃的買進候選（最佳替換標的 00915 凱基優選高股息30，實際買進股數受單一標的與產業上限約束，見買進明細）；部分換股會讓兩檔都表現平庸，因此一次換完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2889 國票金｜40 張 + 416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2026-10-22　|　25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換股計畫 → 獲利換股：已獲利 +34,783 元（+5.37%）先入袋；這檔一個月預期只剩 +2.80%，轉買 00915 凱基優選高股息30（預期 +6.00%）扣除換股成本後多 2.61%（門檻 1.0%），且收正報酬機率不低於原標的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40 張又 416 股（共 40,416 股），回收資金約 683,030 元，依分數重新配置到同一籃的買進候選（最佳替換標的 00915 凱基優選高股息30，實際買進股數受單一標的與產業上限約束，見買進明細）；部分換股會讓兩檔都表現平庸，因此一次換完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2845 遠東銀｜36 張 + 71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2026-10-22　|　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換股計畫 → 獲利換股：已獲利 +10,133 元（+2.17%）先入袋；這檔一個月預期只剩 +0.78%，轉買 00915 凱基優選高股息30（預期 +6.00%）扣除換股成本後多 4.63%（門檻 1.0%），且收正報酬機率不低於原標的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36 張又 71 股（共 36,071 股），回收資金約 477,941 元，依分數重新配置到同一籃的買進候選（最佳替換標的 00915 凱基優選高股息30，實際買進股數受單一標的與產業上限約束，見買進明細）；部分換股會讓兩檔都表現平庸，因此一次換完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2915 潤泰全｜7 張 + 173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2026-10-22　|　27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換股計畫 → 獲利換股：已獲利 +416 元（+0.10%）先入袋；這檔一個月預期只剩 +2.00%，轉買 00915 凱基優選高股息30（預期 +6.00%）扣除換股成本後多 3.42%（門檻 1.0%），且收正報酬機率不低於原標的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7 張又 173 股（共 7,173 股），回收資金約 413,165 元，依分數重新配置到同一籃的買進候選（最佳替換標的 00915 凱基優選高股息30，實際買進股數受單一標的與產業上限約束，見買進明細）；部分換股會讓兩檔都表現平庸，因此一次換完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1560 中砂｜1 張 + 91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2026-10-22　|　28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877.00 元 ≤ 停損價 936.69 元（成本 1017.82 元，損益 -13.84%）；同時風險警示：已跌破停損價 936.69（目前 875.0）：依紀律全數出場；法人近 5 日賣超 1,016 張，籌碼轉弱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2360 致茂｜0 張 + 8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2026-10-22　|　29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2010.00 元 ≤ 停損價 2069.91 元（成本 2365.62 元，損益 -15.03%）；同時風險警示：距停損價 2069.91 只剩 0.0%，先掛好停損單；負面新聞：現金增資發行普通股，可能稀釋股權；股價偏弱，減碼三分之一；法人近 5 日賣超 2,834 張，籌碼轉弱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買進【穩健籃】2850 新產｜2 張 + 684 股｜限價 165.5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2026-10-22　|　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新產穩健分數高，一個月收正報酬機率65.6%，預期最大回檔-7.2%，且基本面良好。買進2張又684股，金額約444,202元，停損價為157.50元，訊號轉弱或持有滿10個交易日後再評估出場。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+0.85 達門檻（+0.20）；一個月收正報酬機率 65.6%、預期最大回檔 -7.2%，且未過熱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65.6%（全市場基準 51.8%），預期最大回檔 -7.2%（回檔幅度排名全市場最小的前 15%）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持有到比賽結束（約 40 個交易日）：收正報酬機率 69.3%、預期報酬 +16.9%（模型估計，不是保證）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0.13（大盤漲跌 1% 時約變動 0.13%），日波動 1.78%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25% → 目標金額 1,982,889 元（已持有 71,300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8,812,842 元 × 每筆風險 0.8% × 信心係數 1.50（由穩健分數 +0.85 換算）= 105,754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7.86 與距 10 日低點 159.00 的距離 6.50 之較大者 = 7.86 元（進場 165.50 → 停損 157.50 元，4.7%）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105,754 ÷ 7.86 = 13,460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受「流動性上限（20 日均量 324 張 × 2%）」限制，下修至 6,485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3,800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165.71 與前一日收盤 165.5 的較低者 = 165.5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取整後：2 張又 684 股（共 2,684 股），金額約 444,202 元，佔總資產 5.0%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+0.85 高，信心係數 1.50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【多買】日均波動（ATR）2.4%，波動溫和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65.6%，可提高「正報酬晉級」機率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+23.3%，基本面支撐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【少買】成交量不足，為避免衝擊價格而少買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【少買】預期最大回檔 -7.2%，下檔風險偏大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157.50 元全數賣出 2 張又 684 股（共 2,684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訊號轉弱（穩健分數 ≤ -0.30）先減碼一半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結單轉股：持有滿 10 個交易日後，綜合排名出現扣成本後預期多 1% 以上的股票就全部賣出換股；獲利已達 10% 時多 2% 就可以當天換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買進【穩健籃】4541 晟田｜7 張｜限價 59.7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2026-10-22　|　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晟田穩健分數高，一個月收正報酬機率61.6%，預期最大回檔-7.7%，且法人連續買超。買進7張，金額約417,900元，停損價為56.20元，訊號轉弱或持有滿10個交易日後再評估出場。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+0.84 達門檻（+0.20）；一個月收正報酬機率 61.6%、預期最大回檔 -7.7%，且未過熱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61.6%（全市場基準 51.8%），預期最大回檔 -7.7%（回檔幅度排名全市場最小的前 18%）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持有到比賽結束（約 40 個交易日）：收正報酬機率 70.7%、預期報酬 +24.5%（模型估計，不是保證）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0.93（大盤漲跌 1% 時約變動 0.93%），日波動 1.88%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25% → 目標金額 1,982,889 元（已持有 71,300 元）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8,812,842 元 × 每筆風險 0.8% × 信心係數 1.50（由穩健分數 +0.84 換算）= 105,754 元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3.41 與距 10 日低點 56.80 的距離 2.90 之較大者 = 3.41 元（進場 59.70 → 停損 56.20 元，5.7%）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105,754 ÷ 3.41 = 30,974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受「流動性上限（20 日均量 848 張 × 2%）」限制，下修至 16,967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9,942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受可用資金限制，實際買 7,000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60.31 與前一日收盤 59.79999923706055 的較低者 = 59.7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取整後：7 張（7,000 股），金額約 417,900 元，佔總資產 4.7%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零股 24 股只有 1,433 元，低於 14,035 元會被最低手續費 20 元拉高費率（約 1.40%），所以不買零股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+0.84 高，信心係數 1.50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【多買】日均波動（ATR）2.9%，波動溫和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【多買】法人連續買超 4 日，籌碼穩定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61.6%，可提高「正報酬晉級」機率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+30.2%，基本面支撐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【少買】成交量不足，為避免衝擊價格而少買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【少買】預期最大回檔 -7.7%，下檔風險偏大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56.20 元全數賣出 7 張（7,000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訊號轉弱（穩健分數 ≤ -0.30）先減碼一半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結單轉股：持有滿 10 個交易日後，綜合排名出現扣成本後預期多 1% 以上的股票就全部賣出換股；獲利已達 10% 時多 2% 就可以當天換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買進【穩健籃】3010 華立｜4 張 + 511 股｜限價 139.0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2026-10-22　|　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華立穩健分數高，一個月收正報酬機率58.2%，預期最大回檔-7.2%，且月營收年增率高。買進4張又511股，金額約627,029元，停損價為130.50元，訊號轉弱或持有滿10個交易日後再評估出場。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+0.65 達門檻（+0.20）；一個月收正報酬機率 58.2%、預期最大回檔 -7.2%，且未過熱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58.2%（全市場基準 51.8%），預期最大回檔 -7.2%（回檔幅度排名全市場最小的前 15%）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持有到比賽結束（約 40 個交易日）：收正報酬機率 57.9%、預期報酬 +6.6%（模型估計，不是保證）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0.51（大盤漲跌 1% 時約變動 0.51%），日波動 1.36%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25% → 目標金額 1,982,889 元（已持有 71,300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8,812,842 元 × 每筆風險 0.8% × 信心係數 1.31（由穩健分數 +0.65 換算）= 92,623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7.07 與距 10 日低點 130.50 的距離 8.50 之較大者 = 8.50 元（進場 139.00 → 停損 130.50 元，6.1%）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92,623 ÷ 8.50 = 10,897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6,385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140.04 與前一日收盤 139.0 的較低者 = 139.0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取整後：4 張又 511 股（共 4,511 股），金額約 627,029 元，佔總資產 7.1%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+0.65 高，信心係數 1.31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【多買】日均波動（ATR）2.5%，波動溫和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+41.3%，基本面支撐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【少買】一個月收正報酬機率 58.2%，勝率普通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【少買】預期最大回檔 -7.2%，下檔風險偏大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130.50 元全數賣出 4 張又 511 股（共 4,511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訊號轉弱（穩健分數 ≤ -0.30）先減碼一半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結單轉股：持有滿 10 個交易日後，綜合排名出現扣成本後預期多 1% 以上的股票就全部賣出換股；獲利已達 10% 時多 2% 就可以當天換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買進【穩健籃】2885 元大金｜8 張 + 991 股｜限價 71.3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2026-10-22　|　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元大金穩健分數高，一個月收正報酬機率60.4%，預期最大回檔-5.7%，且基本面良好。買進8張又991股，金額約641,058元，停損價為67.80元，訊號轉弱或持有滿10個交易日後再評估出場。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+0.46 達門檻（+0.20）；一個月收正報酬機率 60.4%、預期最大回檔 -5.7%，且未過熱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60.4%（全市場基準 51.8%），預期最大回檔 -5.7%（回檔幅度排名全市場最小的前 7%）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持有到比賽結束（約 40 個交易日）：收正報酬機率 52.5%、預期報酬 +4.4%（模型估計，不是保證）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0.65（大盤漲跌 1% 時約變動 0.65%），日波動 1.46%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25% → 目標金額 1,982,889 元（已持有 71,300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8,812,842 元 × 每筆風險 0.8% × 信心係數 1.07（由穩健分數 +0.46 換算）= 75,702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3.49 與距 10 日低點 68.30 的距離 3.00 之較大者 = 3.49 元（進場 71.30 → 停損 67.80 元，4.9%）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75,702 ÷ 3.49 = 21,718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12,726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71.53 與前一日收盤 71.30000305175781 的較低者 = 71.3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取整後：8 張又 991 股（共 8,991 股），金額約 641,058 元，佔總資產 7.3%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+0.46 高，信心係數 1.07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【多買】日均波動（ATR）2.4%，波動溫和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60.4%，可提高「正報酬晉級」機率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+22.7%，基本面支撐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【少買】預期最大回檔 -5.7%，下檔風險偏大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67.80 元全數賣出 8 張又 991 股（共 8,991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訊號轉弱（穩健分數 ≤ -0.30）先減碼一半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結單轉股：持有滿 10 個交易日後，綜合排名出現扣成本後預期多 1% 以上的股票就全部賣出換股；獲利已達 10% 時多 2% 就可以當天換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買進【進攻籃】3591 艾笛森｜28 張 + 851 股｜限價 28.2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2026-10-22　|　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艾笛森綜合分數高，一個月預期超額報酬排名全市場前1%，且月營收年增率高。買進28張又851股，金額約813,598元，停損價為25.35元，目標突破52週高點33.34元，訊號轉弱或持有滿10個交易日後再評估出場。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+0.59 達門檻（+0.30）；一個月模型預期超額報酬排名全市場前 1%、創新高機率 41.3%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41.3%（全市場基準 17.9%，排名前 22%），預期超額報酬 +11.73%（排名前 1%）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-16.8%（52 週高 33.34，現價 27.75）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+5.2%、近 60 日 +3.0%，相對大盤 20 日 +7.1%、60 日 +1.6%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75% → 目標金額 5,948,668 元（已持有 5,193,192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8,812,842 元 × 每筆風險 0.8% × 信心係數 1.24（由綜合分數 +0.59 換算）= 87,423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2.89 與距 10 日低點 25.30 的距離 2.90 之較大者，但不超過進場價 10%（2.82） = 2.82 元（進場 28.20 → 停損 25.35 元，10.0%）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87,423 ÷ 2.82 = 31,001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進攻籃合計超過籃子上限，等比例下修 2,150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28.02 × (1 + 0.5%) = 28.2，提高成交機率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取整後：28 張又 851 股（共 28,851 股），金額約 813,598 元，佔總資產 9.2%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+0.59 高，信心係數 1.24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+40.6%，基本面支撐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【多買】使用融資（自備 40%）放大部位：進攻籃允許融資，且融資借款仍在總資產 30% 上限內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【少買】日均波動（ATR）5.2%，波動大 → 停損距離遠 → 股數少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【少買】一個月內創新高機率 41.3%，勝率普通故保守配置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33.34 元（距現價 16.8%）即確認創新高，續抱讓獲利奔跑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25.35 元全數賣出 28 張又 851 股（共 28,851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買進【進攻籃】3037 欣興｜0 張 + 535 股｜限價 1125.0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2026-10-22　|　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欣興綜合分數達門檻，一個月預期超額報酬排名全市場前11%，且受惠輝達擴大產能利多。買進535股，金額約601,875元，停損價為1010.00元，目標突破52週高點1420.0元，訊號轉弱或持有滿10個交易日後再評估出場。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+0.34 達門檻（+0.30）；一個月模型預期超額報酬排名全市場前 11%、創新高機率 23.5%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23.5%（全市場基準 17.9%，排名前 34%），預期超額報酬 +5.79%（排名前 11%）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-22.5%（52 週高 1420.0，現價 1100.0）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+12.1%、近 60 日 +31.1%，相對大盤 20 日 +14.0%、60 日 +25.1%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75% → 目標金額 5,948,668 元（已持有 5,193,192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8,812,842 元 × 每筆風險 0.8% × 信心係數 0.92（由綜合分數 +0.34 換算）= 64,774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147.86 與距 10 日低點 1040.00 的距離 85.00 之較大者，但不超過進場價 10%（112.50） = 112.50 元（進場 1125.00 → 停損 1010.00 元，10.0%）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64,774 ÷ 112.50 = 576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進攻籃合計超過籃子上限，等比例下修 40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1119.39 × (1 + 0.5%) = 1125.0，提高成交機率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取整後：535 股（零股），金額約 601,875 元，佔總資產 6.8%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+64.7%，基本面支撐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【多買】使用融資（自備 40%）放大部位：進攻籃允許融資，且融資借款仍在總資產 30% 上限內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【少買】綜合分數 +0.34 普通，信心係數 0.92 &lt; 1 縮小部位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【少買】日均波動（ATR）6.7%，波動大 → 停損距離遠 → 股數少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【少買】一個月內創新高機率 23.5%，勝率普通故保守配置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1420.0 元（距現價 22.5%）即確認創新高，續抱讓獲利奔跑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1010.00 元全數賣出 535 股（零股）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執行後持股配置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2026-10-22　|　36</a:t>
            </a:r>
          </a:p>
        </p:txBody>
      </p:sp>
      <p:pic>
        <p:nvPicPr>
          <p:cNvPr id="5" name="Picture 4" descr="2026-10-22_開盤前更新_all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4848447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期貨戶轉入證券戶：274,300 元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競賽規則檢查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2026-10-22　|　37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8159"/>
                <a:gridCol w="1065516"/>
                <a:gridCol w="710344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項目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結果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說明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禁止交易權證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無權證標的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目前持股率 ≥ 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 96.3%（每日收盤檢查，未達扣報酬率 0.2%）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執行建議後持股率 ≥ 70%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預估 89.0%（目標 90%）；注意只算實際成交，掛單未成交不算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交易過的標的 ≥ 5（每日收盤追蹤）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已成交 14 檔＋本次建議 = 17 檔；執行後持有 11 檔（未達每次扣報酬率 0.2%）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總交易筆數 ≥ 10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累計 88 筆＋本次建議 14 筆 = 102 筆；剩餘 26 個交易日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融資借款在自訂上限內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 849,284 元 / 上限 2,643,853 元（總資產 30%）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累積報酬為正（才列入排名）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注意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目前累積報酬 -11.87%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模型健康度與調整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2026-10-22　|　38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1874520"/>
                <a:gridCol w="374904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指標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樣本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表現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大盤隔夜跳空命中率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85.2%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個股隔夜跳空命中率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70.5%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一個月推薦實際超額報酬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1070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一個月推薦實際創新高比例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名創新高率 / 基準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86.5% / 30.3%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名月超額報酬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+6.15%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4297680"/>
            <a:ext cx="10972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目前未偵測到重大失誤，參數維持不變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累積報酬走勢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2026-10-22　|　39</a:t>
            </a:r>
          </a:p>
        </p:txBody>
      </p:sp>
      <p:pic>
        <p:nvPicPr>
          <p:cNvPr id="5" name="Picture 4" descr="2026-10-22_開盤前更新_na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097280"/>
            <a:ext cx="11247120" cy="44988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