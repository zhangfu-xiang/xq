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Microsoft JhengHei"/>
                <a:ea typeface="Microsoft JhengHei"/>
              </a:rPr>
              <a:t>盤前報告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6984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0">
                <a:solidFill>
                  <a:srgbClr val="C9D6E8"/>
                </a:solidFill>
                <a:latin typeface="Microsoft JhengHei"/>
                <a:ea typeface="Microsoft JhengHei"/>
              </a:rPr>
              <a:t>2026-10-05　|　2026 德明X富達投資擂台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今日重點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總資產</a:t>
            </a:r>
          </a:p>
          <a:p>
            <a:r>
              <a:rPr sz="3000" b="1">
                <a:solidFill>
                  <a:srgbClr val="1F2328"/>
                </a:solidFill>
                <a:latin typeface="Microsoft JhengHei"/>
                <a:ea typeface="Microsoft JhengHei"/>
              </a:rPr>
              <a:t>1,000 萬</a:t>
            </a:r>
          </a:p>
        </p:txBody>
      </p:sp>
      <p:sp>
        <p:nvSpPr>
          <p:cNvPr id="7" name="Rectangle 6"/>
          <p:cNvSpPr/>
          <p:nvPr/>
        </p:nvSpPr>
        <p:spPr>
          <a:xfrm>
            <a:off x="3333673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0833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累積報酬</a:t>
            </a:r>
          </a:p>
          <a:p>
            <a:r>
              <a:rPr sz="3000" b="1">
                <a:solidFill>
                  <a:srgbClr val="1F2328"/>
                </a:solidFill>
                <a:latin typeface="Microsoft JhengHei"/>
                <a:ea typeface="Microsoft JhengHei"/>
              </a:rPr>
              <a:t>+0.00%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0147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47307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執行後持股率</a:t>
            </a:r>
          </a:p>
          <a:p>
            <a:r>
              <a:rPr sz="3000" b="1">
                <a:solidFill>
                  <a:srgbClr val="1F2328"/>
                </a:solidFill>
                <a:latin typeface="Microsoft JhengHei"/>
                <a:ea typeface="Microsoft JhengHei"/>
              </a:rPr>
              <a:t>96.8%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86621" y="1280160"/>
            <a:ext cx="2647873" cy="14630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223781" y="1371600"/>
            <a:ext cx="2373553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57606A"/>
                </a:solidFill>
                <a:latin typeface="Microsoft JhengHei"/>
                <a:ea typeface="Microsoft JhengHei"/>
              </a:rPr>
              <a:t>大盤預測開盤</a:t>
            </a:r>
          </a:p>
          <a:p>
            <a:r>
              <a:rPr sz="3000" b="1">
                <a:solidFill>
                  <a:srgbClr val="C8423B"/>
                </a:solidFill>
                <a:latin typeface="Microsoft JhengHei"/>
                <a:ea typeface="Microsoft JhengHei"/>
              </a:rPr>
              <a:t>+0.69%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美股隔夜因美國非農就業數據爆冷，降低升息預期，帶動那斯達克上漲 1.19%，費城半導體指數更是大漲 2.4%。輝達上漲 1.34%，台積電ADR勁揚 2.96%，顯示科技股表現強勁。VIX恐慌指數下跌 6.59%，市場風險情緒明顯降溫。整體而言，市場樂觀預期台股將挑戰歷史新高及五萬點大關。</a:t>
            </a:r>
          </a:p>
          <a:p>
            <a:pPr>
              <a:spcAft>
                <a:spcPts val="400"/>
              </a:spcAft>
            </a:pPr>
            <a:r>
              <a:rPr sz="1600" b="0">
                <a:solidFill>
                  <a:srgbClr val="1F2328"/>
                </a:solidFill>
                <a:latin typeface="Microsoft JhengHei"/>
                <a:ea typeface="Microsoft JhengHei"/>
              </a:rPr>
              <a:t>• 受美股大漲激勵，今日台股預期將開高 0.69%，並在開盤後呈現續強走勢。我們的模型預測開盤方向的命中率為 80.0%，盤中走勢方向的命中率為 65.5%，顯示對今日大盤走勢有可靠的判斷。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攻守配置：進攻 65%／穩健 35%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5486400" cy="512064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</a:rPr>
              <a:t>比例如何決定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基準配置：進攻籃 60%、穩健籃 40%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大盤健康上漲 → 進攻 +5%：站上季線 +6.7%、20 日漲幅 +5.0%，且模型無重大失誤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今日配置：進攻籃 65%、穩健籃 35%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188720"/>
            <a:ext cx="52120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5F"/>
                </a:solidFill>
                <a:latin typeface="Microsoft JhengHei"/>
                <a:ea typeface="Microsoft JhengHei"/>
              </a:rPr>
              <a:t>兩籃內容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【進攻籃】目標 585 萬，執行後佔總資產 61.8%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進攻籃買進：3037 欣興、3189 景碩、1303 南亞、3591 艾笛森、6213 聯茂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【穩健籃】目標 315 萬，執行後佔總資產 35.0%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穩健籃買進：3617 碩天、2892 第一金、2886 兆豐金、3034 聯詠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今日配置調整為進攻籃 65%、穩健籃 35%。調整原因是考量大盤健康上漲，加權指數站上季線 6.69%，近 20 日漲幅達 5.01%，且模型無重大失誤，因此將進攻籃比例增加 5%。進攻籃買進欣興、景碩、南亞、艾笛森、聯茂，這些標的具備高創新高機率與預期超額報酬。穩健籃則買進碩天、第一金、兆豐金、聯詠，這些標的具有高收正報酬機率與低預期最大回檔，以維持整體投資組合的穩健性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穩健籃候選（收正報酬機率高、回檔小、不追高）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4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7396"/>
                <a:gridCol w="2044930"/>
                <a:gridCol w="1278081"/>
                <a:gridCol w="1278081"/>
                <a:gridCol w="1022465"/>
                <a:gridCol w="1278081"/>
                <a:gridCol w="127808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產業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收正機率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預期回檔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穩健分數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訊號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3617 碩天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其他電子業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74.9%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-3.9%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0.71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2892 第一金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金融保險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2886 兆豐金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金融保險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73.1%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-0.09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3034 聯詠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半導體業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2634 漢翔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航運業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71.1%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2393 億光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光電業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2618 長榮航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航運業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66.5%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-3.5%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0.25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+0.74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3479 安勤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電腦及週邊設備業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71.2%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-5.5%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4541 晟田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其他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66.4%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0.70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+0.70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2880 華南金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金融保險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9958 世紀鋼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鋼鐵工業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62.7%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-4.8%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2820 華票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金融保險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買進候選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為何今日會漲／會跌（2026-10-02）｜候選股示範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5</a:t>
            </a:r>
          </a:p>
        </p:txBody>
      </p:sp>
      <p:pic>
        <p:nvPicPr>
          <p:cNvPr id="5" name="Picture 4" descr="2026-10-05_盤前報告_at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589520" cy="4696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28016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3037 欣興：今日上漲 +7.41%，主因為「個股特有因素」（+5.71%）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3189 景碩：今日上漲 +3.96%，主因為「個股特有因素」（+2.66%）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3311 閎暉：今日上漲 +9.97%，主因為「個股特有因素」（+8.36%）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1303 南亞：今日上漲 +2.36%，主因為「產業因素」（+1.99%）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3591 艾笛森：今日上漲 +5.20%，主因為「個股特有因素」（+4.07%）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漲跌歸因明細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71605"/>
                <a:gridCol w="1196502"/>
                <a:gridCol w="1675102"/>
                <a:gridCol w="1196502"/>
                <a:gridCol w="1196502"/>
                <a:gridCol w="1196502"/>
                <a:gridCol w="191440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漲跌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損益(元)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大盤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產業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個股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主因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+7.41%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+0.42%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+1.28%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+5.71%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個股特有因素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+3.96%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+2.66%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個股特有因素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3311 閎暉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+9.97%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+0.13%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+1.48%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+8.36%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個股特有因素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1303 南亞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+2.36%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+0.39%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產業因素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+5.20%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+0.17%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+0.97%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+4.07%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個股特有因素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365760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欣興今日上漲 7.41%，主要驅動因素為個股特有因素，貢獻了 5.71%。產業因素（電子零組件業）貢獻 1.28%，大盤因素貢獻 0.42%。景碩今日上漲 3.96%，主要驅動因素為個股特有因素，貢獻了 2.66%。產業因素（半導體業）貢獻 0.84%，大盤因素貢獻 0.46%。閎暉今日上漲 9.97%，主要驅動因素為個股特有因素，貢獻了 8.36%。產業因素（通信網路業）貢獻 1.48%，大盤因素貢獻 0.13%。南亞今日上漲 2.36%，主要驅動因素為產業因素（塑膠工業），貢獻了 1.99%。大盤因素貢獻 0.39%，個股特有因素則為 -0.02%。艾笛森今日上漲 5.20%，主要驅動因素為個股特有因素，貢獻了 4.07%。產業因素（光電業）貢獻 0.97%，大盤因素貢獻 0.17%。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產業強弱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7</a:t>
            </a:r>
          </a:p>
        </p:txBody>
      </p:sp>
      <p:pic>
        <p:nvPicPr>
          <p:cNvPr id="5" name="Picture 4" descr="2026-10-05_盤前報告_sec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3619" y="1097280"/>
            <a:ext cx="7504457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虧損如何補回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8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7373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109728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目前累積損益為 0 元，為維持獲利，我們將持續關注持股的表現。若進攻籃有標的表現不如預期，最佳替換候選為艾笛森，其一個月預期報酬高達 18.44%，且創新高機率為 69.3%。穩健籃若有標的需要調整，最佳替換候選為第一金，其一個月收正報酬機率為 75.9%，預期報酬穩健。對於所有持股，將嚴格執行停損與停利計畫，並在訊號轉弱時適時減碼一半，以鎖定獲利並控制風險。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08960"/>
            <a:ext cx="109728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累積損益 +0 元（+0.00%），已實現 +0 元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進攻籃最佳替換候選：3591 艾笛森，一個月預期報酬 +18.44%，創新高機率 69.3%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穩健籃最佳替換候選：2892 第一金，一個月預期報酬 +2.05%，收正報酬機率 75.9%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目前無持股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國際大事對持股的影響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9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11247120" cy="155448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88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1F2328"/>
                </a:solidFill>
                <a:latin typeface="Microsoft JhengHei"/>
                <a:ea typeface="Microsoft JhengHei"/>
              </a:rPr>
              <a:t>• 美國9月非農就業數據遠低於預期，降低聯準會10月升息機率。此事件對我們持股的美國10年債殖利率因子影響不顯著，所有持股的歷史相關性均未達統計顯著，因此暫不調整部位。美國非農數據爆冷降低升息預期，帶動美股全面收紅。此事件對標普500因子有正面影響，預計為欣興帶來 16,800 元、景碩 12,800 元、南亞 7,600 元、艾笛森 4,400 元的潛在獲利，總計 41,600 元。我們將支持續抱這些股票，若一個月模型仍在前段班，可作為加碼依據。輝達股價創歷史新高，市值逼近6兆美元，AI晶片需求持續帶動成長。此事件對費城半導體因子有正面影響，預計為欣興帶來 21,600 元、景碩 14,500 元、南亞 11,400 元、艾笛森 4,800 元的潛在獲利，總計 52,300 元。我們將支持續抱這些股票，若一個月模型仍在前段班，可作為加碼依據。台積電傳探索與馬斯克旗下Terafab合作，並考慮在德州設立第二座晶圓廠。此事件對費城半導體因子有正面影響，預計為欣興帶來 21,600 元、景碩 14,500 元、南亞 11,400 元、艾笛森 4,800 元的潛在獲利，總計 52,300 元。我們將支持續抱這些股票，若一個月模型仍在前段班，可作為加碼依據。G20貿易部長會議就美國遏制中國產能過剩提案出現分歧，美國將公布反制措施。此事件對中國大型股ETF因子對欣興有輕度不利影響，預計潛在虧損 7,100 元。我們將列入觀察，暫不調整部位。荷莫茲海峽兩油輪遇襲，引發關鍵航道航運威脅。此事件對西德州原油因子對艾笛森有輕度不利影響，預計潛在虧損 5,100 元。我們將列入觀察，暫不調整部位。俄羅斯總統普丁下令軍方不再遵守戰爭規則，加大對烏克蘭平民攻擊。此事件對VIX恐慌指數因子對欣興有不利影響，預計潛在虧損 15,100 元。對景碩、南亞、艾笛森也有輕度不利影響，預計潛在虧損分別為 9,900 元、7,400 元、4,000 元，總計 36,400 元。對於欣興，我們將嚴守停損，若事件延續且跌破月線，先減碼一半。其他輕度不利的標的則列入觀察。北韓向東海發射彈道飛彈，南韓與日本加強監視警戒。此事件對VIX恐慌指數因子對欣興有不利影響，預計潛在虧損 15,100 元。對景碩、南亞、艾笛森也有輕度不利影響，預計潛在虧損分別為 9,900 元、7,400 元、4,000 元，總計 36,400 元。對於欣興，我們將嚴守停損，若事件延續且跌破月線，先減碼一半。其他輕度不利的標的則列入觀察。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926080"/>
            <a:ext cx="109728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美國9月非農就業數據遠低於預期，降低聯準會10月升息機率。 → 美國10年債殖利率↓：預估 +0 元（+0.00%）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美國非農數據爆冷降低升息預期，帶動美股全面收紅。 → 標普500↑：預估 +41,600 元（+0.42%）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輝達股價創歷史新高，市值逼近6兆美元，AI晶片需求持續帶動成長。 → 費城半導體↑：預估 +52,300 元（+0.52%）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台積電傳探索與馬斯克旗下Terafab合作，並考慮在德州設立第二座晶圓廠。 → 費城半導體↑：預估 +52,300 元（+0.52%）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G20貿易部長會議就美國遏制中國產能過剩提案出現分歧，美國將公布反制措施。 → 中國大型股ETF↓：預估 -7,100 元（-0.07%）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荷莫茲海峽兩油輪遇襲，引發關鍵航道航運威脅。 → 西德州原油↑：預估 -5,100 元（-0.05%）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俄羅斯總統普丁下令軍方不再遵守戰爭規則，加大對烏克蘭平民攻擊。 → VIX恐慌指數↑：預估 -36,400 元（-0.36%）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北韓向東海發射彈道飛彈，南韓與日本加強監視警戒。 → VIX恐慌指數↑：預估 -36,400 元（-0.36%）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國際事件：美國9月非農就業數據遠低於預期，降低聯準會10月升息機率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317"/>
                <a:gridCol w="1102658"/>
                <a:gridCol w="1102658"/>
                <a:gridCol w="1323190"/>
                <a:gridCol w="551329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敏感度β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預估影響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後續決策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-0.0172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-0.01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-0.0638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-0.05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3311 閎暉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-0.00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1303 南亞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0.0198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+0.02 未達統計顯著（|r| &lt; 0.125），不列入影響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-0.0207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-0.03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國際事件：美國非農數據爆冷降低升息預期，帶動美股全面收紅。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317"/>
                <a:gridCol w="1102658"/>
                <a:gridCol w="1102658"/>
                <a:gridCol w="1323190"/>
                <a:gridCol w="551329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敏感度β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預估影響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後續決策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2.0531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+1.68%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+16,800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1.5621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+1.28%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+12,800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3311 閎暉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0.1682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+0.05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1303 南亞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0.9243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+0.76%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+7,600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0.543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+0.44%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+4,400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國際事件：輝達股價創歷史新高，市值逼近6兆美元，AI晶片需求持續帶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7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5317"/>
                <a:gridCol w="1102658"/>
                <a:gridCol w="1102658"/>
                <a:gridCol w="1323190"/>
                <a:gridCol w="551329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敏感度β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預估影響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金額(元)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後續決策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0.7507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+2.16%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+21,600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3189 景碩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0.5041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+1.45%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+14,500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3311 閎暉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0.1052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歷史相關性 +0.12 未達統計顯著（|r| &lt; 0.125），不列入影響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1303 南亞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0.3972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+1.14%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+11,400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3591 艾笛森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0.168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C8423B"/>
                          </a:solidFill>
                          <a:latin typeface="Microsoft JhengHei"/>
                          <a:ea typeface="Microsoft JhengHei"/>
                        </a:rPr>
                        <a:t>+0.48%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+4,800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有利：支持續抱；若一個月模型仍在前段班，可作為加碼依據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全市場一個月創新高潛力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13</a:t>
            </a:r>
          </a:p>
        </p:txBody>
      </p:sp>
      <p:pic>
        <p:nvPicPr>
          <p:cNvPr id="5" name="Picture 4" descr="2026-10-05_盤前報告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6317673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28016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掃描 593 檔上市櫃股票與 ETF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全市場基準創新高率 21.3%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模型：梯度提升樹，滾動時間外驗證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美股隔夜表現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14</a:t>
            </a:r>
          </a:p>
        </p:txBody>
      </p:sp>
      <p:pic>
        <p:nvPicPr>
          <p:cNvPr id="5" name="Picture 4" descr="2026-10-05_盤前報告_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760" y="1097280"/>
            <a:ext cx="3834174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台股開盤預測（美股 → 台股）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15</a:t>
            </a:r>
          </a:p>
        </p:txBody>
      </p:sp>
      <p:pic>
        <p:nvPicPr>
          <p:cNvPr id="5" name="Picture 4" descr="2026-10-05_盤前報告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1553671" cy="52120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28016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Ridge 迴歸：費半、那指期、台積電 ADR、VIX、匯率、產業對應美股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命中率＝樣本外方向命中率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低於 55% 或不如基準者降權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交易建議總表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6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2658"/>
                <a:gridCol w="2646381"/>
                <a:gridCol w="1764254"/>
                <a:gridCol w="1323190"/>
                <a:gridCol w="1323190"/>
                <a:gridCol w="1984785"/>
                <a:gridCol w="1102658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動作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標的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數量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限價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停損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金額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權重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穩健｜3617 碩天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 張+696股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243.5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231.5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656,476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6.6%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穩健｜2892 第一金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24 張+617股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36.55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947,754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穩健｜2886 兆豐金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19 張+421股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48.8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46.25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947,745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穩健｜3034 聯詠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 張+764股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537.0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503.0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947,268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進攻｜3037 欣興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 張+14股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1345.0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1210.0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1,363,830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13.6%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進攻｜3189 景碩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 張+262股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1080.0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972.0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1,362,960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進攻｜1303 南亞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 張+89股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266.0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239.0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1,353,674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進攻｜3591 艾笛森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25 張+986股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28.9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750,995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買進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進攻｜6213 聯茂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2 張+28股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664.0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597.0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1,346,592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13.5%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買進【穩健籃】3617 碩天｜2 張 + 696 股｜限價 243.5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碩天穩健分數高達 +0.87，一個月收正報酬機率 74.9%，且預期最大回檔僅 -3.9%，顯示其穩健性與上漲潛力兼具。本次買進 2 張又 696 股，金額約 656,476 元，是依據風險預算 225,000 元及穩健籃上限，並考量流動性限制後所決定。若收盤跌破 231.50 元將全數停損，或在漲至 258.0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【穩健籃】穩健分數 +0.87 達門檻（+0.20）；一個月收正報酬機率 74.9%、預期最大回檔 -3.9%，且未過熱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穩健模型：未來一個月收正報酬機率 74.9%（全市場基準 52.6%），預期最大回檔 -3.9%（回檔幅度排名全市場最小的前 7%）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風險：60 日 β = 0.71（大盤漲跌 1% 時約變動 0.71%），日波動 1.54%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位置：股價相對月線 +0.1%、RSI14 = 51.1，未過熱、不追高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籃子配置：穩健籃佔目標持股 35% → 目標金額 3,150,000 元（已持有 0 元）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1.50（由穩健分數 +0.87 換算）= 225,000 元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11.71 與距 10 日低點 239.00 的距離 4.50 之較大者 = 11.71 元（進場 243.50 → 停損 231.50 元，4.8%）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225,000 ÷ 11.71 = 19,207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受「流動性上限（20 日均量 285 張 × 2%）」限制，下修至 5,691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穩健籃合計超過籃子上限，等比例下修 2,994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進場價：穩健籃不追價：限價取預測開盤價 245.88 與前一日收盤 243.5 的較低者 = 243.5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取整後：2 張又 696 股（共 2,696 股），金額約 656,476 元，佔總資產 6.6%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【多買】穩健分數 +0.87 高，信心係數 1.50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【多買】日均波動（ATR）2.4%，波動溫和 → 可承擔較多股數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【多買】一個月收正報酬機率 74.9%，可提高「正報酬晉級」機率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【多買】預期最大回檔 -3.9%，下檔有限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【少買】成交量不足，為避免衝擊價格而少買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231.50 元全數賣出 2 張又 696 股（共 2,696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258.0 元（+6%）賣出 898 股（零股），停損上移至成本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2 段停利：漲至 272.5 元（+12%）再賣剩餘的 50%，其餘用移動停損（最高價 − 2×ATR）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買進【穩健籃】2892 第一金｜24 張 + 617 股｜限價 38.5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第一金穩健分數高達 +0.87，一個月收正報酬機率 75.9%，預期最大回檔僅 -3.6%，且法人連續買超 3 日，籌碼穩定。本次買進 24 張又 617 股，金額約 947,754 元，是依據風險預算 225,000 元及穩健籃單檔上限所決定。若收盤跌破 36.55 元將全數停損，或在漲至 40.8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【穩健籃】穩健分數 +0.87 達門檻（+0.20）；一個月收正報酬機率 75.9%、預期最大回檔 -3.6%，且未過熱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穩健模型：未來一個月收正報酬機率 75.9%（全市場基準 52.6%），預期最大回檔 -3.6%（回檔幅度排名全市場最小的前 5%）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風險：60 日 β = 0.11（大盤漲跌 1% 時約變動 0.11%），日波動 1.33%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位置：股價相對月線 -0.8%、RSI14 = 56.1，未過熱、不追高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籃子配置：穩健籃佔目標持股 35% → 目標金額 3,150,000 元（已持有 0 元）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1.50（由穩健分數 +0.87 換算）= 225,000 元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1.94 與距 10 日低點 38.15 的距離 0.35 之較大者 = 1.94 元（進場 38.50 → 停損 36.55 元，5.0%）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225,000 ÷ 1.94 = 116,236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受「穩健籃單檔上限 20%」限制，下修至 51,948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穩健籃合計超過籃子上限，等比例下修 27,331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進場價：穩健籃不追價：限價取預測開盤價 38.69 與前一日收盤 38.54999923706055 的較低者 = 38.5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取整後：24 張又 617 股（共 24,617 股），金額約 947,754 元，佔總資產 9.5%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【多買】穩健分數 +0.87 高，信心係數 1.50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【多買】日均波動（ATR）2.5%，波動溫和 → 可承擔較多股數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【多買】法人連續買超 3 日，籌碼穩定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【多買】一個月收正報酬機率 75.9%，可提高「正報酬晉級」機率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【多買】預期最大回檔 -3.6%，下檔有限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【少買】已達穩健籃單檔上限，分散風險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36.55 元全數賣出 24 張又 617 股（共 24,617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40.8 元（+6%）賣出 8 張又 204 股（共 8,204 股），停損上移至成本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2 段停利：漲至 43.1 元（+12%）再賣剩餘的 50%，其餘用移動停損（最高價 − 2×ATR）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買進【穩健籃】2886 兆豐金｜19 張 + 421 股｜限價 48.8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兆豐金穩健分數高達 +0.86，一個月收正報酬機率 73.1%，預期最大回檔僅 -4.0%，且股價相對月線有回檔，未過熱。本次買進 19 張又 421 股，金額約 947,745 元，是依據風險預算 225,000 元及穩健籃單檔上限所決定。若收盤跌破 46.25 元將全數停損，或在漲至 51.7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【穩健籃】穩健分數 +0.86 達門檻（+0.20）；一個月收正報酬機率 73.1%、預期最大回檔 -4.0%，且未過熱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穩健模型：未來一個月收正報酬機率 73.1%（全市場基準 52.6%），預期最大回檔 -4.0%（回檔幅度排名全市場最小的前 8%）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風險：60 日 β = -0.09（大盤漲跌 1% 時約變動 -0.09%），日波動 1.54%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位置：股價相對月線 -3.1%、RSI14 = 44.4，未過熱、不追高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籃子配置：穩健籃佔目標持股 35% → 目標金額 3,150,000 元（已持有 0 元）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1.50（由穩健分數 +0.86 換算）= 225,000 元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2.52 與距 10 日低點 48.35 的距離 0.45 之較大者 = 2.52 元（進場 48.80 → 停損 46.25 元，5.2%）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225,000 ÷ 2.52 = 89,235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受「穩健籃單檔上限 20%」限制，下修至 40,984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穩健籃合計超過籃子上限，等比例下修 21,562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進場價：穩健籃不追價：限價取預測開盤價 48.98 與前一日收盤 48.849998474121094 的較低者 = 48.8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取整後：19 張又 421 股（共 19,421 股），金額約 947,745 元，佔總資產 9.5%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【多買】穩健分數 +0.86 高，信心係數 1.50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【多買】日均波動（ATR）2.6%，波動溫和 → 可承擔較多股數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【多買】一個月收正報酬機率 73.1%，可提高「正報酬晉級」機率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【多買】預期最大回檔 -4.0%，下檔有限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【少買】已達穩健籃單檔上限，分散風險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46.25 元全數賣出 19 張又 421 股（共 19,421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51.7 元（+6%）賣出 6 張又 473 股（共 6,473 股），停損上移至成本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2 段停利：漲至 54.6 元（+12%）再賣剩餘的 50%，其餘用移動停損（最高價 − 2×ATR）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買進【穩健籃】3034 聯詠｜1 張 + 764 股｜限價 537.0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聯詠穩健分數高達 +0.85，一個月收正報酬機率 70.2%，預期最大回檔僅 -4.2%，且月營收年增 26.3% 提供基本面支撐。本次買進 1 張又 764 股，金額約 947,268 元，是依據風險預算 225,000 元及穩健籃單檔上限所決定。若收盤跌破 503.00 元將全數停損，或在漲至 569.0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【穩健籃】穩健分數 +0.85 達門檻（+0.20）；一個月收正報酬機率 70.2%、預期最大回檔 -4.2%，且未過熱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穩健模型：未來一個月收正報酬機率 70.2%（全市場基準 52.6%），預期最大回檔 -4.2%（回檔幅度排名全市場最小的前 9%）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風險：60 日 β = 0.56（大盤漲跌 1% 時約變動 0.56%），日波動 1.72%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位置：股價相對月線 -1.2%、RSI14 = 47.6，未過熱、不追高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籃子配置：穩健籃佔目標持股 35% → 目標金額 3,150,000 元（已持有 0 元）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1.50（由穩健分數 +0.85 換算）= 225,000 元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33.57 與距 10 日低點 525.00 的距離 12.00 之較大者 = 33.57 元（進場 537.00 → 停損 503.00 元，6.3%）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225,000 ÷ 33.57 = 6,702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受「穩健籃單檔上限 20%」限制，下修至 3,724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穩健籃合計超過籃子上限，等比例下修 1,959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進場價：穩健籃不追價：限價取預測開盤價 541.89 與前一日收盤 537.0 的較低者 = 537.0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取整後：1 張又 764 股（共 1,764 股），金額約 947,268 元，佔總資產 9.5%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【多買】穩健分數 +0.85 高，信心係數 1.50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【多買】日均波動（ATR）3.1%，波動溫和 → 可承擔較多股數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【多買】一個月收正報酬機率 70.2%，可提高「正報酬晉級」機率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【多買】預期最大回檔 -4.2%，下檔有限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+26.3%，基本面支撐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【少買】已達穩健籃單檔上限，分散風險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503.00 元全數賣出 1 張又 764 股（共 1,764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569.0 元（+6%）賣出 587 股（零股），停損上移至成本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2 段停利：漲至 601.0 元（+12%）再賣剩餘的 50%，其餘用移動停損（最高價 − 2×ATR）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買進【進攻籃】3037 欣興｜1 張 + 14 股｜限價 1345.0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欣興綜合分數高達 +0.83，一個月內創新高機率 98.9%，預期超額報酬 +12.95%，且月營收年增 56.3% 表現強勁。本次買進 1 張又 14 股，金額約 1,363,830 元，是依據風險預算 225,000 元及進攻籃上限，並考量其波動度後所決定。若收盤跌破 1210.00 元將全數停損，或在漲至 1475.0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【進攻籃】綜合分數 +0.83 達門檻（+0.30）；一個月模型預期超額報酬排名全市場前 1%、創新高機率 98.9%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一個月模型：創 52 週新高機率 98.9%（全市場基準 21.3%，排名前 0%），預期超額報酬 +12.95%（排名前 1%）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距 52 週高點 +0.0%（52 週高 1305.0，現價 1305.0），正處於創高區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動能：近 20 日 +34.1%、近 60 日 +55.4%，相對大盤 20 日 +29.1%、60 日 +48.8%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籃子配置：進攻籃佔目標持股 65% → 目標金額 5,850,000 元（已持有 0 元）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1.50（由綜合分數 +0.83 換算）= 225,000 元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113.71 與距 10 日低點 940.00 的距離 405.00 之較大者，但不超過進場價 10%（134.50） = 134.50 元（進場 1345.00 → 停損 1210.00 元，10.0%）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225,000 ÷ 134.50 = 1,673 股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進攻籃合計超過籃子上限，等比例下修 659 股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進場價：限價 = 預測開盤價 1337.41 × (1 + 0.5%) = 1345.0，提高成交機率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取整後：1 張又 14 股（共 1,014 股），金額約 1,363,830 元，佔總資產 13.6%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【多買】綜合分數 +0.83 高，信心係數 1.50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【多買】法人連續買超 3 日，籌碼穩定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【多買】一個月內創新高機率 98.9%，勝率高可多配置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+56.3%，基本面支撐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【少買】日均波動（ATR）4.4%，波動大 → 停損距離遠 → 股數少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一個月目標：突破 52 週高點 1305.0 元（距現價 -0.0%）即確認創新高，續抱讓獲利奔跑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1210.00 元全數賣出 1 張又 14 股（共 1,014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1475.0 元（+10%）賣出 337 股（零股），停損上移至成本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買進【進攻籃】3189 景碩｜1 張 + 262 股｜限價 1080.0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景碩綜合分數高達 +0.81，一個月內創新高機率 95.8%，預期超額報酬 +11.13%，且法人連續買超 7 日，月營收年增 40.6%。本次買進 1 張又 262 股，金額約 1,362,960 元，是依據風險預算 225,000 元及進攻籃上限，並考量其波動度後所決定。若收盤跌破 972.00 元將全數停損，或在漲至 1185.0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【進攻籃】綜合分數 +0.81 達門檻（+0.30）；一個月模型預期超額報酬排名全市場前 3%、創新高機率 95.8%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一個月模型：創 52 週新高機率 95.8%（全市場基準 21.3%，排名前 2%），預期超額報酬 +11.13%（排名前 3%）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距 52 週高點 -1.9%（52 週高 1070.0，現價 1050.0），正處於創高區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動能：近 20 日 +24.0%、近 60 日 +52.8%，相對大盤 20 日 +19.0%、60 日 +46.2%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籃子配置：進攻籃佔目標持股 65% → 目標金額 5,850,000 元（已持有 0 元）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1.50（由綜合分數 +0.81 換算）= 225,000 元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97.71 與距 10 日低點 785.00 的距離 295.00 之較大者，但不超過進場價 10%（108.00） = 108.00 元（進場 1080.00 → 停損 972.00 元，10.0%）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225,000 ÷ 108.00 = 2,083 股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進攻籃合計超過籃子上限，等比例下修 820 股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進場價：限價 = 預測開盤價 1071.4 × (1 + 0.5%) = 1080.0，提高成交機率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取整後：1 張又 262 股（共 1,262 股），金額約 1,362,960 元，佔總資產 13.6%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【多買】綜合分數 +0.81 高，信心係數 1.50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【多買】法人連續買超 7 日，籌碼穩定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【多買】一個月內創新高機率 95.8%，勝率高可多配置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+40.6%，基本面支撐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【少買】日均波動（ATR）4.7%，波動大 → 停損距離遠 → 股數少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一個月目標：突破 52 週高點 1070.0 元（距現價 1.9%）即確認創新高，續抱讓獲利奔跑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972.00 元全數賣出 1 張又 262 股（共 1,262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1185.0 元（+10%）賣出 420 股（零股），停損上移至成本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買進【進攻籃】1303 南亞｜5 張 + 89 股｜限價 266.0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南亞綜合分數高達 +0.79，一個月內創新高機率 92.0%，預期超額報酬 +9.83%，且月營收年增 46.8% 表現亮眼。本次買進 5 張又 89 股，金額約 1,353,674 元，是依據風險預算 223,312 元及進攻籃上限，並考量其波動度後所決定。若收盤跌破 239.00 元將全數停損，或在漲至 292.5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【進攻籃】綜合分數 +0.79 達門檻（+0.30）；一個月模型預期超額報酬排名全市場前 5%、創新高機率 92.0%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一個月模型：創 52 週新高機率 92.0%（全市場基準 21.3%，排名前 3%），預期超額報酬 +9.83%（排名前 5%）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距 52 週高點 -1.9%（52 週高 265.0，現價 260.0），正處於創高區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動能：近 20 日 +9.5%、近 60 日 +56.2%，相對大盤 20 日 +4.5%、60 日 +49.6%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籃子配置：進攻籃佔目標持股 65% → 目標金額 5,850,000 元（已持有 0 元）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1.49（由綜合分數 +0.79 換算）= 223,312 元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26.71 與距 10 日低點 223.00 的距離 43.00 之較大者，但不超過進場價 10%（26.60） = 26.60 元（進場 266.00 → 停損 239.00 元，10.0%）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223,312 ÷ 26.60 = 8,395 股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進攻籃合計超過籃子上限，等比例下修 3,306 股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進場價：限價 = 預測開盤價 264.46 × (1 + 0.5%) = 266.0，提高成交機率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取整後：5 張又 89 股（共 5,089 股），金額約 1,353,674 元，佔總資產 13.5%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【多買】綜合分數 +0.79 高，信心係數 1.49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【多買】一個月內創新高機率 92.0%，勝率高可多配置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+46.8%，基本面支撐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【少買】日均波動（ATR）5.1%，波動大 → 停損距離遠 → 股數少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一個月目標：突破 52 週高點 265.0 元（距現價 1.9%）即確認創新高，續抱讓獲利奔跑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239.00 元全數賣出 5 張又 89 股（共 5,089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292.5 元（+10%）賣出 1 張又 696 股（共 1,696 股），停損上移至成本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買進【進攻籃】3591 艾笛森｜25 張 + 986 股｜限價 28.9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000" b="0">
                <a:solidFill>
                  <a:srgbClr val="1F2328"/>
                </a:solidFill>
                <a:latin typeface="Microsoft JhengHei"/>
                <a:ea typeface="Microsoft JhengHei"/>
              </a:rPr>
              <a:t>• 艾笛森綜合分數高達 +0.79，一個月內預期超額報酬高達 +17.77%，且月營收年增 40.6%，法人連續買超 4 日。本次買進 25 張又 986 股，金額約 750,995 元，是依據風險預算 223,125 元，並受流動性上限限制後所決定。若收盤跌破 26.00 元將全數停損，或在漲至 31.75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【進攻籃】綜合分數 +0.79 達門檻（+0.30）；一個月模型預期超額報酬排名全市場前 0%、創新高機率 69.3%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一個月模型：創 52 週新高機率 69.3%（全市場基準 21.3%，排名前 11%），預期超額報酬 +17.77%（排名前 0%）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距 52 週高點 -15.1%（52 週高 33.34，現價 28.3）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動能：近 20 日 +18.6%、近 60 日 -4.0%，相對大盤 20 日 +10.3%、60 日 -12.8%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籃子配置：進攻籃佔目標持股 65% → 目標金額 5,850,000 元（已持有 0 元）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1.49（由綜合分數 +0.79 換算）= 223,125 元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3.42 與距 10 日低點 23.30 的距離 5.60 之較大者，但不超過進場價 10%（2.89） = 2.89 元（進場 28.90 → 停損 26.00 元，10.0%）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223,125 ÷ 2.89 = 77,206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受「流動性上限（20 日均量 2,143 張 × 2%）」限制，下修至 42,866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進攻籃合計超過籃子上限，等比例下修 16,879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進場價：限價 = 預測開盤價 28.74 × (1 + 0.5%) = 28.9，提高成交機率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取整後：25 張又 986 股（共 25,986 股），金額約 750,995 元，佔總資產 7.5%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【多買】綜合分數 +0.79 高，信心係數 1.49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【多買】法人連續買超 4 日，籌碼穩定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【多買】一個月內創新高機率 69.3%，勝率高可多配置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+40.6%，基本面支撐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【少買】日均波動（ATR）6.0%，波動大 → 停損距離遠 → 股數少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【少買】成交量不足，為避免衝擊價格而少買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一個月目標：突破 52 週高點 33.34 元（距現價 15.1%）即確認創新高，續抱讓獲利奔跑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26.00 元全數賣出 25 張又 986 股（共 25,986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31.75 元（+10%）賣出 8 張又 661 股（共 8,661 股），停損上移至成本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買進【進攻籃】6213 聯茂｜2 張 + 28 股｜限價 664.0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143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聯茂綜合分數高達 +0.79，一個月內創新高機率 94.3%，預期超額報酬 +13.86%，且月營收年增 97.9% 成長強勁。本次買進 2 張又 28 股，金額約 1,346,592 元，是依據風險預算 222,188 元，並考量其RSI偏熱而限價等回檔。若收盤跌破 597.00 元將全數停損，或在漲至 730.0 元時分段停利，並在訊號轉弱時減碼一半。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5F"/>
                </a:solidFill>
                <a:latin typeface="Microsoft JhengHei"/>
                <a:ea typeface="Microsoft JhengHei"/>
              </a:rPr>
              <a:t>為何選擇這檔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【進攻籃】綜合分數 +0.79 達門檻（+0.30）；一個月模型預期超額報酬排名全市場前 1%、創新高機率 94.3%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一個月模型：創 52 週新高機率 94.3%（全市場基準 21.3%，排名前 3%），預期超額報酬 +13.86%（排名前 1%）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距 52 週高點 -2.4%（52 週高 700.0，現價 683.0），正處於創高區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動能：近 20 日 +27.4%、近 60 日 +80.2%，相對大盤 20 日 +22.4%、60 日 +73.6%</a:t>
            </a:r>
          </a:p>
        </p:txBody>
      </p:sp>
      <p:sp>
        <p:nvSpPr>
          <p:cNvPr id="8" name="Rectangle 7"/>
          <p:cNvSpPr/>
          <p:nvPr/>
        </p:nvSpPr>
        <p:spPr>
          <a:xfrm>
            <a:off x="6217920" y="1737360"/>
            <a:ext cx="5486400" cy="265176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828800"/>
            <a:ext cx="52120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1F3A5F"/>
                </a:solidFill>
                <a:latin typeface="Microsoft JhengHei"/>
                <a:ea typeface="Microsoft JhengHei"/>
              </a:rPr>
              <a:t>為何是這個股數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籃子配置：進攻籃佔目標持股 65% → 目標金額 5,850,000 元（已持有 0 元）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風險預算：總資產 10,000,000 元 × 每筆風險 1.5% × 信心係數 1.48（由綜合分數 +0.79 換算）= 222,188 元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停損距離：取 2×ATR14 = 75.86 與距 10 日低點 495.00 的距離 169.00 之較大者，但不超過進場價 10%（66.40） = 66.40 元（進場 664.00 → 停損 597.00 元，10.0%）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風險法可買股數 = 222,188 ÷ 66.40 = 3,346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進攻籃合計超過籃子上限，等比例下修 1,318 股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進場價：RSI14 = 76.3 &gt; 75 偏熱，不追價：限價設在前一日收盤 683.0 − 0.5×ATR 37.93 = 664.0，等回檔才買（可能當日不成交）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F2328"/>
                </a:solidFill>
                <a:latin typeface="Microsoft JhengHei"/>
                <a:ea typeface="Microsoft JhengHei"/>
              </a:rPr>
              <a:t>• 取整後：2 張又 28 股（共 2,028 股），金額約 1,346,592 元，佔總資產 13.5%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多買／少買原因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【多買】綜合分數 +0.79 高，信心係數 1.48 ≥ 1 放大部位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【多買】一個月內創新高機率 94.3%，勝率高可多配置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【多買】月營收年增 +97.9%，基本面支撐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【少買】日均波動（ATR）5.6%，波動大 → 停損距離遠 → 股數少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【少買】RSI14 = 76.3 偏熱，限價等回檔，可能買不到或買得少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4617720"/>
            <a:ext cx="5212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F3A5F"/>
                </a:solidFill>
                <a:latin typeface="Microsoft JhengHei"/>
                <a:ea typeface="Microsoft JhengHei"/>
              </a:rPr>
              <a:t>出場計畫（賣出條件與張數）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一個月目標：突破 52 週高點 700.0 元（距現價 2.4%）即確認創新高，續抱讓獲利奔跑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停損：收盤跌破 597.00 元全數賣出 2 張又 28 股（共 2,028 股）</a:t>
            </a:r>
          </a:p>
          <a:p>
            <a:pPr>
              <a:spcAft>
                <a:spcPts val="400"/>
              </a:spcAft>
            </a:pPr>
            <a:r>
              <a:rPr sz="1100" b="0">
                <a:solidFill>
                  <a:srgbClr val="1F2328"/>
                </a:solidFill>
                <a:latin typeface="Microsoft JhengHei"/>
                <a:ea typeface="Microsoft JhengHei"/>
              </a:rPr>
              <a:t>• 第 1 段停利：漲至 730.0 元（+10%）賣出 675 股（零股），停損上移至成本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執行後持股配置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26</a:t>
            </a:r>
          </a:p>
        </p:txBody>
      </p:sp>
      <p:pic>
        <p:nvPicPr>
          <p:cNvPr id="5" name="Picture 4" descr="2026-10-05_盤前報告_all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589520" cy="419202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solidFill>
            <a:srgbClr val="F3F5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75320" y="1280160"/>
            <a:ext cx="33832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328"/>
                </a:solidFill>
                <a:latin typeface="Microsoft JhengHei"/>
                <a:ea typeface="Microsoft JhengHei"/>
              </a:rPr>
              <a:t>• 期貨戶轉入證券戶：1,700,000 元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競賽規則檢查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19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8159"/>
                <a:gridCol w="1065516"/>
                <a:gridCol w="7103444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項目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結果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說明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禁止交易權證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無權證標的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目前持股率 ≥ 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注意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目前 0.0%（建倉期至 10/16，不罰）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執行建議後持股率 ≥ 70%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預估 96.8%（目標 90%）；注意只算實際成交，掛單未成交不算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投資組合至少 5 個標的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執行後持有 9 檔；累計交易過 9 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總交易筆數 ≥ 10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注意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累計 0 筆＋本次建議 9 筆 = 9 筆；剩餘 38 個交易日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融資借款在自訂上限內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通過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融資借款 0 元 / 上限 3,000,000 元（總資產 30%）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累積報酬為正（才列入排名）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注意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目前累積報酬 +0.00%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1F3A5F"/>
                </a:solidFill>
                <a:latin typeface="Microsoft JhengHei"/>
                <a:ea typeface="Microsoft JhengHei"/>
              </a:rPr>
              <a:t>模型健康度與調整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57606A"/>
                </a:solidFill>
                <a:latin typeface="Microsoft JhengHei"/>
                <a:ea typeface="Microsoft JhengHei"/>
              </a:rPr>
              <a:t>台股投資競賽 盤前報告 2026-10-05　|　28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18872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187452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指標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樣本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</a:rPr>
                        <a:t>表現</a:t>
                      </a:r>
                    </a:p>
                  </a:txBody>
                  <a:tcPr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大盤隔夜跳空命中率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累積中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個股隔夜跳空命中率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累積中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一個月推薦實際超額報酬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需滿 20 交易日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一個月推薦實際創新高比例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需滿 20 交易日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回測：前 20 名創新高率 / 基準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80.6% / 31.1%</a:t>
                      </a:r>
                    </a:p>
                  </a:txBody>
                  <a:tcPr>
                    <a:solidFill>
                      <a:srgbClr val="F3F5F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回測：前 20 名月超額報酬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F2328"/>
                          </a:solidFill>
                          <a:latin typeface="Microsoft JhengHei"/>
                          <a:ea typeface="Microsoft JhengHei"/>
                        </a:rPr>
                        <a:t>+6.89%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4297680"/>
            <a:ext cx="10972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F2328"/>
                </a:solidFill>
                <a:latin typeface="Microsoft JhengHei"/>
                <a:ea typeface="Microsoft JhengHei"/>
              </a:rPr>
              <a:t>• 目前未偵測到重大失誤，參數維持不變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