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2026-10-07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1,004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+0.37%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100.0%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+0.05%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美股隔夜那斯達克期貨微跌0.16%，費城半導體上漲0.34%，美元兌台幣升值0.34%至31.86，台股在法人賣壓212.57億元下收跌16點，接近五萬點心理關卡出現近關情怯。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台股開盤預測微幅上揚0.05%，盤中震盪為主，模型對開盤 gap 命中率達80.2%，顯示短期方向仍具不確定性。（注意：盤後版使用的美股資料為前一晚收盤，明早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1／警告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【嚴重】6716 應廣：重大負面新聞：應廣9月營收月增率-55.28%，年增率-26.76% → 暫緩買進，等利空明朗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【警告】5534 長虹：負面新聞：長虹出售3筆不動產予關係人 → 減半買進（2 張又 334 股（共 2,334 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【警告】2408 南亞科：負面新聞：南亞科國際有限公司董事會決議現金增資 → 減半買進（1 張又 559 股（共 1,559 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【警告】交易過的標的 0／5 檔，還差 5 檔：每日收盤追蹤「交易過的標的數目」，未達每次扣報酬率 0.2%（建倉期至 10/18 不罰） → 建倉期結束前至少成交 5 檔不同標的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【提醒】光電業 6 檔漲停：同產業集體漲停：聯一光、GIS-KY、冠西電、天鉞電、杭特、欣普羅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【提醒】化學工業 4 檔漲停：同產業集體漲停：磐亞、大立、永純、大恭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【提醒】交易筆數 1／10 筆，還差 9 筆：競賽期間買進、賣出各算一筆，總數需達 10 筆以上，否則不列入排名 → 照建議下單即可達標；只算實際成交，掛單沒成交不算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【提醒】TX202610 多 2 口，未實現損益 +37,200 元：均價 49,875、現價 49,968 → 依建議的停損停利執行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32／跌停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跌停｜1727 中華化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可能原因（新聞）：營收速報 - 中華化(1727)9月營收2.53億元年增率高達40.38％ - 鉅亨網；中華化(172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跌停｜6538 倉和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可能原因（新聞）：倉和(6538)千張大戶與散戶持股比例，持股籌碼集中度查詢 - 股市爆料同學會 - CMoney；【1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跌停｜2236 百達-KY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汽車工業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可能原因（新聞）：2236 百達-KY - 硬碟夾取臂全球市佔55%，希捷東芝趕快來競標吧 - 股市爆料同學會 - CM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跌停｜7772 耀穎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可能原因（新聞）：7772 耀穎 - 7772到底替衛星做什麼？ 它不是做衛星本體，也不是做低軌... - 股市爆料同學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漲停｜6257 矽格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可能原因（新聞）：矽格(6257)營收查詢｜月營收統計與YOY年增率圖表 - 股市爆料同學會 - CMoney；【11: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漲停｜3441 聯一光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可能原因（新聞）：【09:16 即時新聞】聯一光(3441) 亮燈漲停，AI光學與軍工題材同受關注 - CMoney投資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漲停｜1711 永光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可能原因（新聞）：【11:57 即時新聞】永光(1711)股價走強，特用化學與電子化學品表現成盤中焦點 - CMoney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漲停｜6456 GIS-KY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可能原因（新聞）：GIS-KY(6456)淨值比查詢｜PB值與河流圖分析合理價位 - 股市爆料同學會 - CMoney；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漲停｜7788 松川精密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可能原因（新聞）：松川精密(7788) 今日股價與討論 - 股市爆料同學會 - CMoney；【11:50 即時新聞】松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漲停｜2466 冠西電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可能原因（新聞）：【12:37 即時新聞】冠西電(2466)股價走強，市場聚焦營收放量題材 - CMoney；盈餘：冠西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漲停｜6716 應廣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可能原因（新聞）：【11:29 即時新聞】應廣(6716)股價走強，IC設計族群資金回流受關注 - CMoney投資網誌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漲停｜4556 旭然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可能原因（新聞）：【12:17 即時新聞】旭然(4556)股價走強站上123元，短線續攻成盤中焦點 - CMoney投資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76%／穩健 14%／ETF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+5.2%），積極進攻 → 進攻籃 85%（已持續 37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依據：2020-12～2026-10 加權指數 1,399 個交易日（訊號隔日生效、換籃成本 0.6% 照算；進攻 β1.3／穩健 β0.6 代理），綠燈進攻 85%／中性 60%／紅燈 30% 年化 26.3%、最大回檔 -29.0%，優於固定進攻 60%／穩健 40%（25.4%、-32.2%）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85%、穩健籃 15%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76%、穩健籃 14%、ETF 籃 10%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10%（佔股票＋ETF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691 萬，執行後佔總資產 76.5%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進攻籃買進：1303 南亞、6716 應廣、8046 南電、2408 南亞科、3189 景碩、6456 GIS-KY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122 萬，執行後佔總資產 13.5%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穩健籃買進：2820 華票、5534 長虹、1210 大成、6753 龍德造船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90 萬，執行後佔總資產 10.0%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籃買進：00692 富邦公司治理、00731 復華富時高息低波、00757 統一FANG+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今日進攻籃佔76.5%、穩健籃13.5%、ETF籃10%，進攻籃比例略低於綠燈下的85%，主要因資金需先穩定籌碼，穩健籃與ETF籃各買入低波動高息標的以分散風險。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00955 中信日本商社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00882 中信中國高股息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2820 華票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5534 長虹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00770 國泰北美科技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00934 中信成長高股息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009803 玉山市值動能50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51.2%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1210 大成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食品工業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+0.37%、距高點回撤 -1.52%、剩 36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正常狀態：訊號夠強時以小部位放大報酬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55.3%（模型估計，不是保證）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73 次，命中率 65.8%（基準 63.9%），平均每次 +1.17%（已扣成本）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1,290 點（停損距離）約虧損 516,000 元（總資產 5.1%），可考慮減碼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目前無虧損，累積損益+36,640元，將維持現有部位，依據模型建議持有至目標價位，若出現停損則執行出場，否則續抱讓獲利奔跑。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+36,640 元（+0.37%），已實現 +0 元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進攻籃最佳替換候選：3443 創意，一個月預期報酬 +19.99%，創新高機率 92.8%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穩健籃最佳替換候選：00939 統一台灣高息動能，一個月預期報酬 +4.34%，收正報酬機率 72.5%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目前無持股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印度央行升息對台股影響有限，歷史相關性未達顯著；荷姆茲海峽事件使原油上漲，對聯茂造成-0.75%影響，列入觀察；美股被警告類似2008崩盤第一階段，VIX上升導致南亞科等高beta股票承壓-1.44%，需嚴守停損；美元微貶對應廣有利+0.66%，可作為加碼依據；黃金跌破4,150美元對南電與南亞科造成輕度不利，暫不調整部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印度央行時隔近4年首度升息，Repo Rate至5.50%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荷姆茲海峽商船襲擊頻傳，航運成本飆升，日運費約130萬美元 → 西德州原油↑：預估 -7,527 元（-0.07%）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美股處於類似2008年崩盤第一階段的「否認」階段，恐持續6至9個月 → VIX恐慌指數↑：預估 -53,395 元（-0.53%）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達里歐警告AI是「經典泡沫」，利率上升與財富轉現金需求恐使泡沫接近破裂 → 費城半導體↓：預估 -70,858 元（-0.71%）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聯準會動向引觀望，新台幣微貶暫收31.788元 → 美元兌台幣↓：預估 +6,624 元（+0.07%）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黃金跌破4,150美元，美元走強抵消聯準會加息預期降溫效應 → 黃金↓：預估 -15,556 元（-0.15%）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美國關稅後貿易逆差仍擴大 資本財進口與出口下滑成關鍵 → 標普500↓：預估 -57,208 元（-0.57%）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新興市場喜迎十多年來最強企業獲利上修周期 → 中國大型股ETF↑：預估 +7,829 元（+0.08%）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國際事件：印度央行時隔近4年首度升息，Repo Rate至5.50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0.0238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6716 應廣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8046 南電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2408 南亞科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國際事件：荷姆茲海峽商船襲擊頻傳，航運成本飆升，日運費約130萬美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-7,527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6716 應廣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8046 南電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2408 南亞科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國際事件：美股處於類似2008年崩盤第一階段的「否認」階段，恐持續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-7,728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-12,144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—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6716 應廣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-10,338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—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8046 南電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2408 南亞科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-0.1829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-14,453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—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13</a:t>
            </a:r>
          </a:p>
        </p:txBody>
      </p:sp>
      <p:pic>
        <p:nvPicPr>
          <p:cNvPr id="5" name="Picture 4" descr="2026-10-07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655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14</a:t>
            </a:r>
          </a:p>
        </p:txBody>
      </p:sp>
      <p:pic>
        <p:nvPicPr>
          <p:cNvPr id="5" name="Picture 4" descr="2026-10-07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15</a:t>
            </a:r>
          </a:p>
        </p:txBody>
      </p:sp>
      <p:pic>
        <p:nvPicPr>
          <p:cNvPr id="5" name="Picture 4" descr="2026-10-07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47045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穩健｜2820 華票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 張+758股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327,983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穩健｜5534 長虹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 張+669股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331,499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穩健｜1210 大成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 張+499股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51.2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332,749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穩健｜6753 龍德造船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張+768股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362,608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進攻｜00692 富邦公司治理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張+443股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99.95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344,128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張+955股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進攻｜00757 統一FANG+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張+551股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144.2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140.9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367,854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進攻｜1303 南亞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 張+218股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1,487,130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進攻｜6716 應廣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 張+324股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149.5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134.5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1,393,938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進攻｜8046 南電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張+957股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1,454,640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進攻｜2408 南亞科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張+118股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488.0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1,652,540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張+239股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258,120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進攻｜6456 GIS-KY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 張+806股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96.6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1,430,260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買進【穩健籃】2820 華票｜19 張 + 758 股｜限價 16.6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穩健籃買入華票，因穩健分數+0.59達門檻，一個月收正報酬機率59.7%，風險小，買19張758股，停損16.15，目標先賣6張585股獲利6%。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+0.59 達門檻（+0.20）；一個月收正報酬機率 59.7%、預期最大回檔 -2.4%，且未過熱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59.7%（全市場基準 54.2%），預期最大回檔 -2.4%（回檔幅度排名全市場最小的前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64.0%、預期報酬 +11.4%（模型估計，不是保證）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0.02（大盤漲跌 1% 時約變動 0.02%），日波動 0.84%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1,219,452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1.24（由穩健分數 +0.59 換算）= 187,246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0.44 與距 10 日低點 16.60 的距離 0.00 之較大者 = 0.44 元（進場 16.60 → 停損 16.15 元，2.6%）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187,246 ÷ 0.44 = 429,745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2,976 張 × 2%）」限制，下修至 59,515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39,757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16.64 與前一日收盤 16.649999618530273 的較低者 = 16.6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取整後：19 張又 758 股（共 19,758 股），金額約 327,983 元，佔總資產 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+0.59 高，信心係數 1.24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-2.4%，下檔有限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+54.7%，基本面支撐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59.7%，勝率普通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16.15 元全數賣出 19 張又 758 股（共 19,758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17.55 元（+6%）賣出 6 張又 585 股（共 6,585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18.55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買進【穩健籃】5534 長虹｜4 張 + 669 股｜限價 71.0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穩健籃買入長虹，穩健分數+0.59，一個月收正報酬機率58.3%，買4張669股，停損68.7，目標先賣1張556股獲利6%。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+0.59 達門檻（+0.20）；一個月收正報酬機率 58.3%、預期最大回檔 -3.9%，且未過熱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58.3%（全市場基準 54.2%），預期最大回檔 -3.9%（回檔幅度排名全市場最小的前 10%）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66.8%、預期報酬 +12.1%（模型估計，不是保證）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0.03（大盤漲跌 1% 時約變動 0.03%），日波動 1.13%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1,219,452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1.24（由穩健分數 +0.59 換算）= 186,493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2.24 與距 10 日低點 70.60 的距離 0.40 之較大者 = 2.24 元（進場 71.00 → 停損 68.70 元，3.2%）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186,493 ÷ 2.24 = 83,150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703 張 × 2%）」限制，下修至 14,065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9,396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71.16 與前一日收盤 71.0999984741211 的較低者 = 71.0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 張又 669 股（共 4,669 股），金額約 331,499 元，佔總資產 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+0.59 高，信心係數 1.24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【多買】日均波動（ATR）1.6%，波動溫和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-3.9%，下檔有限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+88.6%，基本面支撐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58.3%，勝率普通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68.70 元全數賣出 4 張又 669 股（共 4,669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75.2 元（+6%）賣出 1 張又 556 股（共 1,556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79.5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買進【穩健籃】1210 大成｜6 張 + 499 股｜限價 51.2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穩健籃買入大成，穩健分數+0.57，一個月收正報酬機率55.5%，買6張499股，停損50.0，目標先賣2張166股獲利6%。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+0.57 達門檻（+0.20）；一個月收正報酬機率 55.5%、預期最大回檔 -2.8%，且未過熱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55.5%（全市場基準 54.2%），預期最大回檔 -2.8%（回檔幅度排名全市場最小的前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68.0%、預期報酬 +9.2%（模型估計，不是保證）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0.01（大盤漲跌 1% 時約變動 0.01%），日波動 0.62%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1,219,452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1.21（由穩健分數 +0.57 換算）= 182,730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1.13 與距 10 日低點 51.00 的距離 0.20 之較大者 = 1.13 元（進場 51.20 → 停損 50.00 元，2.2%）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182,730 ÷ 1.13 = 161,912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979 張 × 2%）」限制，下修至 19,579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13,079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51.32 與前一日收盤 51.29999923706055 的較低者 = 51.2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取整後：6 張又 499 股（共 6,499 股），金額約 332,749 元，佔總資產 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+0.57 高，信心係數 1.21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【多買】日均波動（ATR）1.1%，波動溫和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-2.8%，下檔有限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55.5%，勝率普通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50.00 元全數賣出 6 張又 499 股（共 6,499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54.2 元（+6%）賣出 2 張又 166 股（共 2,166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57.3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買進【穩健籃】6753 龍德造船｜2 張 + 768 股｜限價 131.0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穩健籃買入龍德造船，穩健分數+0.56，一個月收正報酬機率61.4%，買2張768股，停損126.0，目標先賣922股獲利6%。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+0.56 達門檻（+0.20）；一個月收正報酬機率 61.4%、預期最大回檔 -4.4%，且未過熱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61.4%（全市場基準 54.2%），預期最大回檔 -4.4%（回檔幅度排名全市場最小的前 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65.9%、預期報酬 +11.0%（模型估計，不是保證）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0.75（大盤漲跌 1% 時約變動 0.75%），日波動 1.08%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1,219,452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1.20（由穩健分數 +0.56 換算）= 180,660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4.93 與距 10 日低點 130.50 的距離 0.50 之較大者 = 4.93 元（進場 131.00 → 停損 126.00 元，3.8%）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180,660 ÷ 4.93 = 36,656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417 張 × 2%）」限制，下修至 8,338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5,570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131.34 與前一日收盤 131.0 的較低者 = 131.0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768 股（共 2,768 股），金額約 362,608 元，佔總資產 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+0.56 高，信心係數 1.20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【多買】日均波動（ATR）1.9%，波動溫和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61.4%，可提高「正報酬晉級」機率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-4.4%，下檔有限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126.00 元全數賣出 2 張又 768 股（共 2,768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138.5 元（+6%）賣出 922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146.5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買進【ETF籃】00692 富邦公司治理｜3 張 + 443 股｜限價 99.95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ETF籃買入富邦公司治理，ETF分數+0.99，一個月創52週新高機率97.7%，買3張443股，停損94.5，目標先賣1張147股獲利6%。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籃】市值型型 ETF，ETF 分數 +0.99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97.7%（全市場基準 20.8%，排名前 0%），預期超額報酬 +5.78%（排名前 15%）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-0.1%（52 週高 100.1，現價 100.0），正處於創高區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+8.1%、近 60 日 +9.1%，相對大盤 20 日 +1.0%、60 日 -0.7%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903,298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1.50（由ETF 分數 +0.99 換算）= 225,824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2.57 與距 10 日低點 94.50 的距離 5.45 之較大者 = 5.45 元（進場 99.95 → 停損 94.50 元，5.5%）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225,824 ÷ 5.45 = 41,436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705 張 × 2%）」限制，下修至 14,094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10,650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99.95 與前一日收盤 100.0 的較低者 = 99.95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443 股（共 3,443 股），金額約 344,128 元，佔總資產 3.4%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+0.99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5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78.8%，可提高「正報酬晉級」機率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94.50 元全數賣出 3 張又 443 股（共 3,443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105.9 元（+6%）賣出 1 張又 147 股（共 1,147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111.9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買進【ETF籃】00731 復華富時高息低波｜2 張 + 955 股｜限價 98.65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ETF籃買入復華富時高息低波，ETF分數+0.99，一個月創52週新高機率79.7%，買2張955股，停損96.55，目標先賣984股獲利6%。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+0.99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79.7%（全市場基準 20.8%，排名前 10%），預期超額報酬 +3.93%（排名前 31%）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-1.5%（52 週高 100.2，現價 98.7），正處於創高區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+0.3%、近 60 日 +11.0%，相對大盤 20 日 -6.7%、60 日 +1.2%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903,298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1.50（由ETF 分數 +0.99 換算）= 225,824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2.06 與距 10 日低點 96.65 的距離 2.00 之較大者 = 2.06 元（進場 98.65 → 停損 96.55 元，2.1%）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225,824 ÷ 2.06 = 109,396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605 張 × 2%）」限制，下修至 12,098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9,142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98.7 與前一日收盤 98.69999694824219 的較低者 = 98.65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955 股（共 2,955 股），金額約 291,511 元，佔總資產 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+0.99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70.9%，可提高「正報酬晉級」機率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-1.6%，下檔有限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96.55 元全數賣出 2 張又 955 股（共 2,955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104.55 元（+6%）賣出 984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110.45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買進【ETF籃】00757 統一FANG+｜2 張 + 551 股｜限價 144.2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ETF籃買入統一FANG+，ETF分數+0.97，一個月創52週新高機率95.5%，買2張551股，停損140.9，目標先賣850股獲利6%。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籃】其他型 ETF，ETF 分數 +0.97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95.5%（全市場基準 20.8%，排名前 3%），預期超額報酬 +2.58%（排名前 49%）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-0.4%（52 週高 145.35，現價 144.7），正處於創高區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+2.2%、近 60 日 +10.6%，相對大盤 20 日 -4.8%、60 日 +0.7%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903,298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1.50（由ETF 分數 +0.97 換算）= 225,824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2.99 與距 10 日低點 140.95 的距離 3.25 之較大者 = 3.25 元（進場 144.20 → 停損 140.90 元，2.3%）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225,824 ÷ 3.25 = 69,484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10,440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7,889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144.22 與前一日收盤 144.6999969482422 的較低者 = 144.2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551 股（共 2,551 股），金額約 367,854 元，佔總資產 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+0.97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72.0%，可提高「正報酬晉級」機率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-2.3%，下檔有限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140.90 元全數賣出 2 張又 551 股（共 2,551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152.85 元（+6%）賣出 850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161.5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買進【進攻籃】1303 南亞｜5 張 + 218 股｜限價 285.0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進攻籃買入南亞，綜合分數+0.84，一個月創新高機率94.4%，買5張218股，停損256.5，目標先賣1張739股獲利10%。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+0.84 達門檻（+0.30）；一個月模型預期超額報酬排名全市場前 1%、創新高機率 94.4%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94.4%（全市場基準 20.8%，排名前 4%），預期超額報酬 +14.04%（排名前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-2.3%（52 週高 300.0，現價 293.0），正處於創高區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+29.9%、近 60 日 +61.4%，相對大盤 20 日 +22.9%、60 日 +51.6%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1.50（由綜合分數 +0.84 換算）= 225,824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30.36 與距 10 日低點 223.00 的距離 62.00 之較大者，但不超過進場價 10%（28.50） = 28.50 元（進場 285.00 → 停損 256.50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225,824 ÷ 28.50 = 7,924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2,705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75.2 &gt; 75 偏熱，不追價：限價設在前一日收盤 293.0 − 0.5×ATR 15.18 = 285.0，等回檔才買（可能當日不成交）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 張又 218 股（共 5,218 股），金額約 1,487,130 元，佔總資產 14.8%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+0.84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94.4%，勝率高可多配置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+46.8%，基本面支撐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75.2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300.0 元（距現價 2.3%）即確認創新高，續抱讓獲利奔跑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256.50 元全數賣出 5 張又 218 股（共 5,218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313.5 元（+10%）賣出 1 張又 739 股（共 1,739 股），停損上移至成本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買進【進攻籃】6716 應廣｜9 張 + 324 股｜限價 149.5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進攻籃買入應廣，綜合分數+0.78，一個月創新高機率97.6%，買9張324股，停損134.5，目標先賣3張107股獲利10%。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3%、創新高機率 97.6%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97.6%（全市場基準 20.8%，排名前 0%），預期超額報酬 +10.75%（排名前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146.0，現價 146.0），正處於創高區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+24.8%、近 60 日 +42.4%，相對大盤 20 日 +17.8%、60 日 +32.6%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1.48（由綜合分數 +0.78 換算）= 222,437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11.36 與距 10 日低點 113.00 的距離 36.50 之較大者，但不超過進場價 10%（14.95） = 14.95 元（進場 149.50 → 停損 134.50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222,437 ÷ 14.95 = 14,879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708 張 × 2%）」限制，下修至 14,158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4,833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148.38 × (1 + 0.5%) = 149.5，提高成交機率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 張又 324 股（共 9,324 股），金額約 1,393,938 元，佔總資產 13.9%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97.6%，勝率高可多配置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+111.8%，基本面支撐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【少買】日均波動（ATR）3.9%，波動大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146.0 元（距現價 -0.0%）即確認創新高，續抱讓獲利奔跑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134.50 元全數賣出 9 張又 324 股（共 9,324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164.0 元（+10%）賣出 3 張又 107 股（共 3,107 股），停損上移至成本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買進【進攻籃】8046 南電｜0 張 + 957 股｜限價 1520.0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進攻籃買入南電，綜合分數+0.77，一個月創新高機率95.9%，買957股，停損1365.0，目標先賣318股獲利10%。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+0.77 達門檻（+0.30）；一個月模型預期超額報酬排名全市場前 8%、創新高機率 95.9%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95.9%（全市場基準 20.8%，排名前 2%），預期超額報酬 +8.18%（排名前 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-2.9%（52 週高 1550.0，現價 1505.0），正處於創高區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+42.6%、近 60 日 +23.9%，相對大盤 20 日 +35.6%、60 日 +14.0%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1.47（由綜合分數 +0.77 換算）= 220,932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157.14 與距 10 日低點 1050.00 的距離 470.00 之較大者，但不超過進場價 10%（152.00） = 152.00 元（進場 1520.00 → 停損 1365.00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220,932 ÷ 152.00 = 1,453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496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1509.99 × (1 + 0.5%) = 1520.0，提高成交機率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取整後：957 股（零股），金額約 1,454,640 元，佔總資產 14.5%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+0.77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9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95.9%，勝率高可多配置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+57.8%，基本面支撐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【少買】日均波動（ATR）5.2%，波動大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1550.0 元（距現價 2.9%）即確認創新高，續抱讓獲利奔跑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1365.00 元全數賣出 957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1670.0 元（+10%）賣出 318 股（零股），停損上移至成本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買進【進攻籃】2408 南亞科｜3 張 + 118 股｜限價 530.0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進攻籃買入南亞科，綜合分數+0.77，一個月創新高機率79.4%，買3張118股，停損488.0，目標先賣1張39股獲利10%。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+0.77 達門檻（+0.30）；一個月模型預期超額報酬排名全市場前 3%、創新高機率 79.4%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79.4%（全市場基準 20.8%，排名前 10%），預期超額報酬 +10.51%（排名前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-7.7%（52 週高 569.0，現價 525.0）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+5.9%、近 60 日 +20.5%，相對大盤 20 日 -1.2%、60 日 +10.7%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1.47（由綜合分數 +0.77 換算）= 220,555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41.07 與距 10 日低點 488.00 的距離 42.00 之較大者 = 42.00 元（進場 530.00 → 停損 488.00 元，7.9%）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220,555 ÷ 42.00 = 5,251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4,734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1,616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526.95 × (1 + 0.5%) = 530.0，提高成交機率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118 股（共 3,118 股），金額約 1,652,540 元，佔總資產 16.5%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+0.77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6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79.4%，勝率高可多配置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+576.6%，基本面支撐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【少買】日均波動（ATR）3.9%，波動大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569.0 元（距現價 7.7%）即確認創新高，續抱讓獲利奔跑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488.00 元全數賣出 3 張又 118 股（共 3,118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583.0 元（+10%）賣出 1 張又 39 股（共 1,039 股），停損上移至成本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買進【進攻籃】3189 景碩｜0 張 + 239 股｜限價 1080.0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進攻籃買入景碩，綜合分數+0.77，一個月創新高機率85.4%，買239股，停損972.0，目標先賣79股獲利10%。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+0.77 達門檻（+0.30）；一個月模型預期超額報酬排名全市場前 2%、創新高機率 85.4%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85.4%（全市場基準 20.8%，排名前 7%），預期超額報酬 +13.52%（排名前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-7.0%（52 週高 1150.0，現價 1070.0）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+30.6%、近 60 日 +34.6%，相對大盤 20 日 +23.6%、60 日 +24.7%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1.46（由綜合分數 +0.77 換算）= 219,238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112.71 與距 10 日低點 824.00 的距離 256.00 之較大者，但不超過進場價 10%（108.00） = 108.00 元（進場 1080.00 → 停損 972.00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219,238 ÷ 108.00 = 2,030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受「產業上限 50%（半導體業）」限制，下修至 363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124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1072.82 × (1 + 0.5%) = 1080.0，提高成交機率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取整後：239 股（零股），金額約 258,120 元，佔總資產 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+0.77 高，信心係數 1.46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85.4%，勝率高可多配置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+44.5%，基本面支撐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【少買】日均波動（ATR）5.3%，波動大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1150.0 元（距現價 7.0%）即確認創新高，續抱讓獲利奔跑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972.00 元全數賣出 239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1185.0 元（+10%）賣出 79 股（零股），停損上移至成本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買進【進攻籃】6456 GIS-KY｜14 張 + 806 股｜限價 96.6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進攻籃買入GIS-KY，綜合分數+0.75，一個月創新高機率97.2%，買14張806股，停損86.9，目標先賣4張934股獲利10%。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+0.75 達門檻（+0.30）；一個月模型預期超額報酬排名全市場前 6%、創新高機率 97.2%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97.2%（全市場基準 20.8%，排名前 1%），預期超額報酬 +8.95%（排名前 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99.6，現價 99.6），正處於創高區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+44.8%、近 60 日 +40.9%，相對大盤 20 日 +37.7%、60 日 +31.0%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1.44（由綜合分數 +0.75 換算）= 217,168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11.61 與距 10 日低點 65.90 的距離 30.70 之較大者，但不超過進場價 10%（9.66） = 9.66 元（進場 96.60 → 停損 86.90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217,168 ÷ 9.66 = 22,481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7,674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75.8 &gt; 75 偏熱，不追價：限價設在前一日收盤 99.5999984741211 − 0.5×ATR 5.81 = 96.6，等回檔才買（可能當日不成交）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取整後：14 張又 806 股（共 14,806 股），金額約 1,430,260 元，佔總資產 14.3%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+0.75 高，信心係數 1.44 ≥ 1 放大部位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97.2%，勝率高可多配置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+30.8%，基本面支撐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【少買】日均波動（ATR）5.8%，波動大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75.8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99.6 元（距現價 -0.0%）即確認創新高，續抱讓獲利奔跑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86.90 元全數賣出 14 張又 806 股（共 14,806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106.0 元（+10%）賣出 4 張又 934 股（共 4,934 股），停損上移至成本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30</a:t>
            </a:r>
          </a:p>
        </p:txBody>
      </p:sp>
      <p:pic>
        <p:nvPicPr>
          <p:cNvPr id="5" name="Picture 4" descr="2026-10-07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02259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期貨戶轉入證券戶：1,699,440 元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0.0%（建倉期至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100.0%（目標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0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1 筆＋本次建議 13 筆 = 14 筆；剩餘 36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858,156 元 / 上限 3,010,992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+0.37%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81.6% / 31.0%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2026-10-07　|　33</a:t>
            </a:r>
          </a:p>
        </p:txBody>
      </p:sp>
      <p:pic>
        <p:nvPicPr>
          <p:cNvPr id="5" name="Picture 4" descr="2026-10-07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