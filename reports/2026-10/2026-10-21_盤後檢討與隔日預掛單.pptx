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2026-10-21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881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-11.87%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64.2%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美股隔夜表現分歧，標普500上漲 0.28%，那斯達克微跌 0.02%，費城半導體則下跌 0.29%。然而，那斯達克期貨盤後上漲 0.72%，VIX恐慌指數也下跌 0.87%。國際方面，日經225上漲 0.85%，中國大型股ETF則下跌 0.06%。今日台股強勢反彈，電子股回神，AI相關族群需求強勁，但台積電工安事故導致全台新建廠區鋼構作業停工，新台幣匯率波動，且全球地緣政治與AI產業挑戰仍存。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今日台股開盤預計平盤，盤中走勢預期續強。我們的模型預測開盤跳空命中率為 82.8%，盤中走勢命中率為 66.7%，顯示模型對市場方向判斷具備一定可靠度。（注意：盤後版使用的美股資料為前一晚收盤，明早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546 股（零股），保留 1 張又 93 股（共 1,093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716 股（零股），保留 1 張又 434 股（共 1,434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190 股（零股），保留 380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9 張（9,000 股），加碼後共 10 張（10,000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+13.20%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3／警告 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【嚴重】2889 國票金：重大負面新聞：中國景氣拖累獲利且國旺租賃逾放飆破25%並啟動裁點精簡人力。；先減碼一半，保留部位觀察後續 → 建議賣出 20 張又 208 股（共 20,208 股）（持有 40,416 股的 50%），限價 16.7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877.0）：依紀律全數出場 → 建議賣出 1 張又 91 股（共 1,091 股）（持有 1,091 股的 100%），限價 868.0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2010.0）：依紀律全數出場 → 建議賣出 8 股（零股）（持有 8 股的 100%），限價 1985.0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【警告】3189 景碩：距停損價 999.0 只剩 1.1%，先掛好停損單 → 建議賣出 546 股（零股）（持有 1,639 股的 33%），限價 999.0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【警告】3591 艾笛森：負面新聞：艾笛森融資使用率及張數高，有追繳風險。；股價尚穩，先上調停損 → 停損上調至 26.3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帆宣：距停損價 599.23 只剩 2.6%，先掛好停損單 → 建議賣出 716 股（零股）（持有 2,150 股的 33%），限價 608.0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欣興：負面新聞：欣興發生工安意外。；股價偏弱，減碼三分之一 → 建議賣出 190 股（零股）（持有 570 股的 33%），限價 1085.0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【警告】4541 晟田：負面新聞：晟田有董監事持股轉讓申報。 → 減半買進（3 張又 500 股（共 3,500 股））或等回測支撐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8／跌停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跌停｜7835 永悅健康-創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數位雲端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可能原因（新聞）：台積電爆4040張救場買單收平盤 台股僅收跌289點 - ETtoday財經雲；美股反彈救不了！台股終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漲停｜6209 今國光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可能原因（新聞）：光學元件全面沸騰！「這檔」 處置期滿秒鎖漲停今國光2.1萬張買單爭進場、佳凌、歐特明強漲逾6% -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漲停｜6269 台郡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可能原因（新聞）：輝達題材撐腰！台郡再鎖漲停5天狂衝42% 台虹紅燈跟著閃 - Yahoo股市；【09:06 即時新聞】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漲停｜1709 和益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可能原因（新聞）：和益(1709)營收查詢｜月營收統計與YOY年增率圖表 - 股市爆料同學會 - CMoney；【10: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漲停｜4960 誠美材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可能原因（新聞）：誠美材 (4960.TW) 的分析師見解、目標價與建議 - Yahoo 財經；【09:57 即時新聞】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漲停｜4720 德淵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可能原因（新聞）：【10:58 即時新聞】德淵(4720) 盤中走強，低貝他防禦與營收創高成焦點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漲停｜6695 芯鼎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可能原因（新聞）：【09:46 即時新聞】芯鼎(6695) 攻上漲停，實體AI概念盤中走強 - CMoney投資網誌；芯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漲停｜6994 富威電力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可能原因（新聞）：【11:11 即時新聞】富威電力(6994)盤中上漲逾9%，市場聚焦風電履約爭議後續 - CMoney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漲停｜8201 無敵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其他電子類股表現疲軟，跌幅2.08%，總成交額135.56億 - TradingView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+1.6%、20 日 -0.6%） → 進攻籃 80%（已持續 5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595 萬，執行後佔總資產 67.5%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198 萬，執行後佔總資產 24.8%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穩健籃買進：4541 晟田、2850 新產、2476 鉅祥、2885 元大金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目前進攻籃與穩健籃的比例為 75% 比 25%。由於模型偵測到兩項失誤，我們將進攻籃比例從原定的 80% 暫時下調 5%，待模型修正後再恢復。今日穩健籃賣出合庫金、國票金、遠東銀、潤泰全，皆因已獲利且模型預期報酬不如最佳替換標的 00915 凱基優選高股息30，故進行獲利換股。致茂則因跌破停損價而全數出場。進攻籃方面，艾笛森因換股效益較高而全數賣出，中砂則因觸發停損而全數出場。同時，我們買進晟田、新產、鉅祥、元大金等穩健籃標的，以維持穩健部位的配置。然而，執行本次建議後，預估持股率將降至 64.2%，未達 70% 的目標，且執行後持有標的為 10 檔，未達每次扣報酬率 0.2% 的標準，這兩點需特別留意。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3617 碩天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5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46,998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45,393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175,250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5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這筆不是預測優勢，而是放大對大盤的曝險，用來加快補回虧損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依據：2024-02-16～2026-10-14 樣本外每 5 日一直做多 127 次，勝率 61.4%、平均 +0.76%（已扣成本）；這段期間大盤偏多，空頭時會同樣放大虧損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風控條件：加權指數在季線上（+1.56%）才加碼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-11.87%、距高點回撤 -13.59%、剩 27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59.2%（模型估計，不是保證）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63 次，命中率 65.1%（基準 63.1%），平均每次 +0.96%（已扣成本）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10</a:t>
            </a:r>
          </a:p>
        </p:txBody>
      </p:sp>
      <p:pic>
        <p:nvPicPr>
          <p:cNvPr id="5" name="Picture 4" descr="2026-10-21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+2.00%（+13,200 元），主因為「個股特有因素」（+1.43%）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國票金：今日下跌 -0.29%（-2,021 元），主因為「個股特有因素」（-1.09%）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元），主因為「產業因素」（+0.72%）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-0.52%（-2,152 元），主因為「個股特有因素」（-0.74%）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+6.88%（+106,535 元），主因為「個股特有因素」（+3.79%）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+0.54%（+3,079 元），主因為「大盤因素」（+0.81%）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+13,200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+106,535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+20,729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+25,650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今日投資組合整體獲利 294,404 元。合庫金今日上漲 2.00%，主因為個股特有因素貢獻 1.43%，大盤因素貢獻 0.10%，產業因素貢獻 0.47%。國票金今日下跌 0.29%，主因為個股特有因素貢獻 -1.09%，產業因素貢獻 0.72%，大盤因素貢獻 0.07%。遠東銀今日上漲 0.38%，主因為產業因素貢獻 0.72%，大盤因素貢獻 0.11%，個股特有因素貢獻 -0.45%。潤泰全今日下跌 0.52%，主因為個股特有因素貢獻 -0.74%，大盤因素貢獻 0.22%。景碩今日上漲 6.88%，主因為個股特有因素貢獻 3.79%，大盤因素貢獻 2.31%，產業因素貢獻 0.78%。艾笛森今日上漲 0.54%，主因為大盤因素貢獻 0.81%，個股特有因素貢獻 -0.50%，產業因素貢獻 0.23%。中砂今日上漲 2.21%，主因為大盤因素貢獻 1.80%，個股特有因素貢獻 0.23%，產業因素貢獻 0.19%。帆宣今日上漲 3.71%，主因為個股特有因素貢獻 2.01%，大盤因素貢獻 1.65%，產業因素貢獻 0.05%。聯茂今日上漲 9.88%，主因為個股特有因素貢獻 7.24%，大盤因素貢獻 1.88%，產業因素貢獻 0.76%。台橡今日下跌 0.70%，主因為產業因素貢獻 -1.91%，個股特有因素貢獻 0.67%，大盤因素貢獻 0.54%。致茂今日上漲 0.50%，主因為大盤因素貢獻 1.98%，個股特有因素貢獻 -1.66%，產業因素貢獻 0.18%。合晶今日上漲 5.71%，主因為個股特有因素貢獻 2.63%，大盤因素貢獻 2.30%，產業因素貢獻 0.78%。欣興今日上漲 4.27%，主因為大盤因素貢獻 2.19%，個股特有因素貢獻 1.31%，產業因素貢獻 0.76%。元大金今日上漲 1.13%，主因為產業因素貢獻 0.72%，大盤因素貢獻 0.70%，個股特有因素貢獻 -0.28%。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12</a:t>
            </a:r>
          </a:p>
        </p:txBody>
      </p:sp>
      <p:pic>
        <p:nvPicPr>
          <p:cNvPr id="5" name="Picture 4" descr="2026-10-21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目前投資組合累積損益為 -1,187,158 元，虧損幅度為 -11.87%，已實現損益為 -977,655 元。要回到初始資金，整體部位需上漲 13.47%。現有持股依模型加權的一個月預期報酬為 +5.47%，約可帶來 481,687 元的收益。針對虧損部位，致茂與中砂因觸發停損價，已依紀律全數出場，資金將轉往評分最高的候選標的。艾笛森則因換股至 6695 芯鼎的預期報酬扣除成本後高於續抱，故進行換股。對於獲利部位，合庫金、國票金、遠東銀、潤泰全皆已獲利，但一個月預期報酬不如 00915 凱基優選高股息30，因此決定獲利了結並換股至 00915，以追求更高的預期報酬。其餘持股如合晶、台橡、帆宣、欣興、景碩、聯茂，因模型預期仍為正且未觸及停損，將維持續抱。聯茂因模型排名仍在全市場前 2%、股價在月線之上且虧損未擴大，權重仍低於上限，可逢回加碼攤低成本。元大金則因買進未滿 10 個交易日，暫時續抱觀察。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-1,187,158 元（-11.87%），已實現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13.47%；只有正報酬才列入排名，補回虧損是第一優先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+5.47%（約 +481,687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進攻籃最佳替換候選：6695 芯鼎，一個月預期報酬 +15.70%，創新高機率 44.8%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穩健籃最佳替換候選：00915 凱基優選高股息30，一個月預期報酬 +6.09%，收正報酬機率 74.3%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遠東銀（+10,133 元）：已獲利 +10,133 元（+2.17%）先入袋；這檔一個月預期只剩 +1.24%，轉買 00915 凱基優選高股息30（預期 +6.09%）扣除換股成本後多 4.26%（門檻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國票金（+34,783 元）：已獲利 +34,783 元（+5.37%）先入袋；這檔一個月預期只剩 +1.60%，轉買 00915 凱基優選高股息30（預期 +6.09%）扣除換股成本後多 3.91%（門檻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致茂（-2,845 元）：收盤 2010.0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合庫金（+44,705 元）：已獲利 +44,705 元（+7.13%）先入袋；這檔一個月預期只剩 +2.47%，轉買 00915 凱基優選高股息30（預期 +6.09%）扣除換股成本後多 3.04%（門檻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合晶（-4,665 元）：買進第 6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潤泰全（+416 元）：已獲利 +416 元（+0.10%）先入袋；這檔一個月預期只剩 +2.56%，轉買 00915 凱基優選高股息30（預期 +6.09%）扣除換股成本後多 2.94%（門檻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元大金（+198 元）：買進第 1 個交易日，未滿 10 個交易日不換股、不因分數小幅轉弱賣出（模型排名每天都會小幅變動，來回換股要付約 0.58% 成本）；跌破停損 67.62 才出場。提醒：已獲利 +0.28%，00915 凱基優選高股息30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台橡（-3,727 元）：買進第 8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中砂（-153,640 元）：收盤 877.0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【續抱】6196 帆宣（-42,512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欣興（-46,560 元）：買進第 6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【續抱】3189 景碩（-121,718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聯茂（+95,965 元）：模型排名仍在全市場前 2%、股價在月線之上、虧損未擴大，權重 9.3%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艾笛森（-18,938 元）：6695 芯鼎 扣除換股成本後的預期報酬比續抱高 1.49%（門檻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1. 日本9月出口強勁：日本9月出口在半導體與汽車帶動下年增 16.7%。這對整體投資組合產生約 136,155 元（佔淨值 1.54%）的正面影響。我們將支持景碩、帆宣、聯茂、欣興等持股續抱，若一個月模型仍在前段班，可作為加碼依據。
2. 中國經濟成長優於預期：中國9月城鎮16至24歲失業率降至 18%，且受人工智慧帶動經濟成長優於預期。這對整體投資組合產生約 13,416 元（佔淨值 0.15%）的正面影響。我們將支持帆宣、致茂、欣興等持股續抱，若一個月模型仍在前段班，可作為加碼依據。
3. 聯準會升息風險升溫：市場預估聯準會10月按兵不動且升息風險升溫，推升美債殖利率壓力。這對整體投資組合產生約 -874 元（佔淨值 -0.01%）的輕微負面影響。我們將維持現有決策，影響有限。
4. 中東戰爭推升油價風險：中東戰爭導致全球原油海運運費飆漲，增加油價上漲風險。這對整體投資組合產生約 -21,229 元（佔淨值 -0.24%）的輕度負面影響。艾笛森、帆宣、聯茂、致茂、合晶、元大金等持股將列入觀察，暫不調整部位。台橡則因與油價正相關，反而有利。
5. 黃金價格下跌：伊朗和談前景不明與聯準會升息預期壓抑需求，黃金價格下跌。這對整體投資組合產生約 -29,923 元（佔淨值 -0.34%）的輕度負面影響。景碩、帆宣、台橡、致茂、合晶、欣興、元大金等持股將列入觀察，暫不調整部位。
6. 新台幣匯率波動：新台幣兌美元匯率觸及一年半新低後，盤中伴隨外資轉向出現大幅波動。這對整體投資組合產生約 -15,869 元（佔淨值 -0.18%）的輕度負面影響。景碩、欣興等持股將列入觀察，暫不調整部位。
7. 美科技股利多：美超微公布首季營收展望優於預期，且特斯拉與SpaceX研議合併激勵盤後股價表現。這對整體投資組合產生約 87,420 元（佔淨值 0.99%）的正面影響。我們將支持景碩、艾笛森、中砂、帆宣、聯茂、台橡、致茂、合晶、欣興、元大金等持股續抱，若一個月模型仍在前段班，可作為加碼依據。
8. 美國關稅風險：美國對加拿大及醫療科技加徵關稅引發進口商提告與國際疑慮，加劇貿易風險。這對整體投資組合產生約 -74,120 元（佔淨值 -0.84%）的負面影響。景碩、中砂、帆宣、聯茂、致茂、合晶、欣興等敏感度高的持股將嚴守停損，暫停加碼；若事件延續且跌破月線，先減碼一半。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日本9月出口在半導體與汽車帶動下年增16.7%，連續13個月呈現成長 → 日經225↑：預估 +136,155 元（+1.54%）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中國9月城鎮16至24歲失業率降至18%，且受人工智慧帶動經濟成長優於預期 → 中國大型股ETF↑：預估 +13,416 元（+0.15%）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市場預估聯準會10月按兵不動且升息風險升溫，推升美債殖利率壓力 → 美國10年債殖利率↑：預估 -874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受中東局勢影響，全球原油海運運費自每桶3美元飆升至逾20美元，增加油價上漲風險 → 西德州原油↑：預估 -21,229 元（-0.24%）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伊朗和談前景不明與聯準會升息預期壓抑需求，黃金價格下跌至約4,110美元附近 → 黃金↓：預估 -29,923 元（-0.34%）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新台幣兌美元匯率觸及32.672元的一年半新低後，盤中伴隨外資轉向出現大幅波動 → 美元兌台幣↑：預估 -15,869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美超微公布首季營收展望優於預期，且特斯拉與SpaceX研議合併激勵盤後股價表現 → 費城半導體↑：預估 +87,420 元（+0.99%）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美國對加拿大及醫療科技加徵關稅引發進口商提告與國際疑慮，加劇貿易風險 → VIX恐慌指數↑：預估 -74,120 元（-0.84%）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國際事件：日本9月出口在半導體與汽車帶動下年增16.7%，連續13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+1,051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1.4196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+44,364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1.0009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+18,084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+24,594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1.2171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+18,847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1.1016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1.3222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1.4473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+17,117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國際事件：中國9月城鎮16至24歲失業率降至18%，且受人工智慧帶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+1,075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0.5928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+4,640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國際事件：市場預估聯準會10月按兵不動且升息風險升溫，推升美債殖利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18</a:t>
            </a:r>
          </a:p>
        </p:txBody>
      </p:sp>
      <p:pic>
        <p:nvPicPr>
          <p:cNvPr id="5" name="Picture 4" descr="2026-10-21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706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19</a:t>
            </a:r>
          </a:p>
        </p:txBody>
      </p:sp>
      <p:pic>
        <p:nvPicPr>
          <p:cNvPr id="5" name="Picture 4" descr="2026-10-21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20</a:t>
            </a:r>
          </a:p>
        </p:txBody>
      </p:sp>
      <p:pic>
        <p:nvPicPr>
          <p:cNvPr id="5" name="Picture 4" descr="2026-10-21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28149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張+190股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209,000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張+716股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440,340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張+546股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551,460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683,030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413,165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569,652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956,807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穩健｜4541 晟田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417,900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張+712股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447,480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穩健｜2476 鉅祥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112.5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+ 190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風險警示：負面新聞：欣興發生工安意外。；股價偏弱，減碼三分之一；法人近 5 日賣超 10,492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380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帆宣｜0 張 + 716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599.23 只剩 2.6%，先掛好停損單；負面新聞：董事會決議發行國內第六次無擔保可轉換公司債。；股價偏弱，減碼三分之一；法人近 5 日賣超 751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1,434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景碩｜0 張 + 546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999.0 只剩 1.1%，先掛好停損單；負面新聞：法人預估EPS下修。；股價偏弱，減碼三分之一；負面新聞：景碩被列為注意股。；股價偏弱，減碼三分之一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1,093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+44,705 元（+7.13%）先入袋；這檔一個月預期只剩 +2.47%，轉買 00915 凱基優選高股息30（預期 +6.09%）扣除換股成本後多 3.04%（門檻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672,000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+34,783 元（+5.37%）先入袋；這檔一個月預期只剩 +1.60%，轉買 00915 凱基優選高股息30（預期 +6.09%）扣除換股成本後多 3.91%（門檻 1.0%），且收正報酬機率不低於原標的；同時風險警示：重大負面新聞：中國景氣拖累獲利且國旺租賃逾放飆破25%並啟動裁點精簡人力。；先減碼一半，保留部位觀察後續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683,030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+10,133 元（+2.17%）先入袋；這檔一個月預期只剩 +1.24%，轉買 00915 凱基優選高股息30（預期 +6.09%）扣除換股成本後多 4.26%（門檻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477,941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+416 元（+0.10%）先入袋；這檔一個月預期只剩 +2.56%，轉買 00915 凱基優選高股息30（預期 +6.09%）扣除換股成本後多 2.94%（門檻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413,165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換股：6695 芯鼎 扣除換股成本後的預期報酬比續抱高 1.49%（門檻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569,652 元，依分數重新配置到同一籃的買進候選（最佳替換標的 6695 芯鼎，實際買進股數受單一標的與產業上限約束，見買進明細）；部分換股會讓兩檔都表現平庸，因此一次換完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877.00 元 ≤ 停損價 936.69 元（成本 1017.82 元，損益 -13.84%）；同時風險警示：已跌破停損價 936.69（目前 877.0）：依紀律全數出場；法人近 5 日賣超 1,088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2010.00 元 ≤ 停損價 2069.91 元（成本 2365.62 元，損益 -15.03%）；同時風險警示：已跌破停損價 2069.91（目前 2010.0）：依紀律全數出場；負面新聞：董事會決議辦理現金增資發行普通股參與發行海外存託憑證。；股價偏弱，減碼三分之一；法人近 5 日賣超 2,495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買進【穩健籃】4541 晟田｜7 張｜限價 59.7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晟田穩健分數高，一個月收正報酬機率 55.8%，且月營收年增 30.2% 有基本面支撐，故買進 7 張。停損價設在 56.20 元，若訊號轉弱或獲利達標則考慮換股。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+0.82 達門檻（+0.20）；一個月收正報酬機率 55.8%、預期最大回檔 -7.0%，且未過熱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55.8%（全市場基準 51.8%），預期最大回檔 -7.0%（回檔幅度排名全市場最小的前 20%）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68.6%、預期報酬 +15.8%（模型估計，不是保證）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0.93（大盤漲跌 1% 時約變動 0.93%），日波動 1.88%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1.50（由穩健分數 +0.82 換算）= 105,754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3.41 與距 10 日低點 56.80 的距離 2.90 之較大者 = 3.41 元（進場 59.70 → 停損 56.20 元，5.7%）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105,754 ÷ 3.41 = 30,974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849 張 × 2%）」限制，下修至 16,973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9,878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7,000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60.22 與前一日收盤 59.79999923706055 的較低者 = 59.7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張（7,000 股），金額約 417,900 元，佔總資產 4.7%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95 股只有 5,672 元，低於 14,035 元會被最低手續費 20 元拉高費率（約 0.35%），所以不買零股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+0.82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55.8%，勝率普通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-7.0%，下檔風險偏大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56.20 元全數賣出 7 張（7,000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買進【穩健籃】2850 新產｜2 張 + 712 股｜限價 165.0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新產穩健分數高，一個月收正報酬機率 61.2%，且月營收年增 23.3% 有基本面支撐，故買進 2 張又 712 股。停損價設在 157.0 元，若訊號轉弱或獲利達標則考慮換股。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+0.79 達門檻（+0.20）；一個月收正報酬機率 61.2%、預期最大回檔 -7.3%，且未過熱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61.2%（全市場基準 51.8%），預期最大回檔 -7.3%（回檔幅度排名全市場最小的前 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65.4%、預期報酬 +15.2%（模型估計，不是保證）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0.14（大盤漲跌 1% 時約變動 0.14%），日波動 1.78%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1.49（由穩健分數 +0.79 換算）= 104,961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7.86 與距 10 日低點 159.00 的距離 6.00 之較大者 = 7.86 元（進場 165.00 → 停損 157.00 元，4.8%）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104,961 ÷ 7.86 = 13,359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324 張 × 2%）」限制，下修至 6,488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3,776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165.31 與前一日收盤 165.5 的較低者 = 165.0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712 股（共 2,712 股），金額約 447,480 元，佔總資產 5.1%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+0.79 高，信心係數 1.49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-7.3%，下檔風險偏大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157.00 元全數賣出 2 張又 712 股（共 2,712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買進【穩健籃】2476 鉅祥｜5 張｜限價 121.0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鉅祥穩健分數高，一個月收正報酬機率 67.5%，且月營收年增 53.8% 有基本面支撐，故買進 5 張。停損價設在 112.50 元，若訊號轉弱或獲利達標則考慮換股。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+0.70 達門檻（+0.20）；一個月收正報酬機率 67.5%、預期最大回檔 -5.6%，且未過熱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67.5%（全市場基準 51.8%），預期最大回檔 -5.6%（回檔幅度排名全市場最小的前 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60.3%、預期報酬 +8.3%（模型估計，不是保證）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0.99（大盤漲跌 1% 時約變動 0.99%），日波動 1.52%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1.38（由穩健分數 +0.70 換算）= 97,294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8.07 與距 10 日低點 120.00 的距離 1.00 之較大者 = 8.07 元（進場 121.00 → 停損 112.50 元，6.7%）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97,294 ÷ 8.07 = 12,054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7,015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5,000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121.42 與前一日收盤 121.0 的較低者 = 121.0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張（5,000 股），金額約 605,000 元，佔總資產 6.9%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39 股只有 4,719 元，低於 14,035 元會被最低手續費 20 元拉高費率（約 0.42%），所以不買零股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+0.70 高，信心係數 1.38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67.5%，可提高「正報酬晉級」機率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+53.8%，基本面支撐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-5.6%，下檔風險偏大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112.50 元全數賣出 5 張（5,000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元大金｜9 張｜限價 71.3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元大金穩健分數高，一個月收正報酬機率 65.0%，且月營收年增 22.7% 有基本面支撐，故買進 9 張。停損價設在 67.80 元，若訊號轉弱或獲利達標則考慮換股。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+0.46 達門檻（+0.20）；一個月收正報酬機率 65.0%、預期最大回檔 -5.7%，且未過熱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65.0%（全市場基準 51.8%），預期最大回檔 -5.7%（回檔幅度排名全市場最小的前 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54.3%、預期報酬 +5.0%（模型估計，不是保證）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0.65（大盤漲跌 1% 時約變動 0.65%），日波動 1.46%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1,982,889 元（已持有 71,300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8,812,842 元 × 每筆風險 0.8% × 信心係數 1.08（由穩健分數 +0.46 換算）= 76,143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3.49 與距 10 日低點 68.30 的距離 3.00 之較大者 = 3.49 元（進場 71.30 → 停損 67.80 元，4.9%）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76,143 ÷ 3.49 = 21,844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12,713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9,000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71.39 與前一日收盤 71.30000305175781 的較低者 = 71.3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張（9,000 股），金額約 641,700 元，佔總資產 7.3%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131 股只有 9,340 元，低於 14,035 元會被最低手續費 20 元拉高費率（約 0.21%），所以不買零股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+0.46 高，信心係數 1.08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65.0%，可提高「正報酬晉級」機率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67.80 元全數賣出 9 張（9,000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36</a:t>
            </a:r>
          </a:p>
        </p:txBody>
      </p:sp>
      <p:pic>
        <p:nvPicPr>
          <p:cNvPr id="5" name="Picture 4" descr="2026-10-21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32014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期貨戶轉入證券戶：537,175 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96.3%（每日收盤檢查，未達扣報酬率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未通過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64.2%（目標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17 檔；執行後持有 10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14 筆 = 102 筆；剩餘 27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2,643,853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-11.87%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86.4%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[中] 穩健籃推薦後 5 日：收正比例 32%、平均最大回檔 -3.1%（警戒 45%／-5%）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13.6%，超過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偵測結果：穩健籃推薦後 5 日：收正比例 32%、平均最大回檔 -3.1%（警戒 45%／-5%）；總資產自高點 10,198,741 回落 13.6%，超過 8%。修正：未修改參數。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2026-10-21　|　39</a:t>
            </a:r>
          </a:p>
        </p:txBody>
      </p:sp>
      <p:pic>
        <p:nvPicPr>
          <p:cNvPr id="5" name="Picture 4" descr="2026-10-21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