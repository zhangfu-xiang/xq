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1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69848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FFFFFF"/>
                </a:solidFill>
                <a:latin typeface="Microsoft JhengHei"/>
                <a:ea typeface="Microsoft JhengHei"/>
              </a:rPr>
              <a:t>開盤前更新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56616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C9D6E8"/>
                </a:solidFill>
                <a:latin typeface="Microsoft JhengHei"/>
                <a:ea typeface="Microsoft JhengHei"/>
              </a:rPr>
              <a:t>2026-10-29　|　2026 德明X富達投資擂台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今日重點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總資產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879 萬</a:t>
            </a:r>
          </a:p>
        </p:txBody>
      </p:sp>
      <p:sp>
        <p:nvSpPr>
          <p:cNvPr id="7" name="Rectangle 6"/>
          <p:cNvSpPr/>
          <p:nvPr/>
        </p:nvSpPr>
        <p:spPr>
          <a:xfrm>
            <a:off x="3333673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0833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累積報酬</a:t>
            </a:r>
          </a:p>
          <a:p>
            <a:r>
              <a:rPr sz="3000" b="1">
                <a:solidFill>
                  <a:srgbClr val="2E8B57"/>
                </a:solidFill>
                <a:latin typeface="Microsoft JhengHei"/>
                <a:ea typeface="Microsoft JhengHei"/>
              </a:rPr>
              <a:t>-12.12%</a:t>
            </a:r>
          </a:p>
        </p:txBody>
      </p:sp>
      <p:sp>
        <p:nvSpPr>
          <p:cNvPr id="9" name="Rectangle 8"/>
          <p:cNvSpPr/>
          <p:nvPr/>
        </p:nvSpPr>
        <p:spPr>
          <a:xfrm>
            <a:off x="6210147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47307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執行後持股率</a:t>
            </a:r>
          </a:p>
          <a:p>
            <a:r>
              <a:rPr sz="3000" b="1">
                <a:solidFill>
                  <a:srgbClr val="1F2328"/>
                </a:solidFill>
                <a:latin typeface="Microsoft JhengHei"/>
                <a:ea typeface="Microsoft JhengHei"/>
              </a:rPr>
              <a:t>91.2%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86621" y="1280160"/>
            <a:ext cx="2647873" cy="14630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23781" y="1371600"/>
            <a:ext cx="2373553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57606A"/>
                </a:solidFill>
                <a:latin typeface="Microsoft JhengHei"/>
                <a:ea typeface="Microsoft JhengHei"/>
              </a:rPr>
              <a:t>大盤預測開盤</a:t>
            </a:r>
          </a:p>
          <a:p>
            <a:r>
              <a:rPr sz="3000" b="1">
                <a:solidFill>
                  <a:srgbClr val="C8423B"/>
                </a:solidFill>
                <a:latin typeface="Microsoft JhengHei"/>
                <a:ea typeface="Microsoft JhengHei"/>
              </a:rPr>
              <a:t>+0.26%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美股前一交易日：費城半導體 +1.75%、那斯達克 +0.27%、標普500 +0.28%、台積電ADR +0.60%、美10年債殖利率 +1.04%。新聞面：美聯準會維持利率按兵不動帶動美股大漲，台股強勢反彈939點重返47000點，三大法人同買且年底作帳行情啟動。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模型預測加權指數開盤 +0.26%（開高），開盤後 +0.37%（續強）；樣本外方向命中率 83.5%，誤差區間約 ±0.52%。（08:20 更新：那斯達克期貨 29702.5，-0.37%）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庫存怎麼處理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3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2297"/>
                <a:gridCol w="1201148"/>
                <a:gridCol w="1091953"/>
                <a:gridCol w="1091953"/>
                <a:gridCol w="4367813"/>
                <a:gridCol w="109195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持股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建議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1,639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-4.54%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639 股（共 1,639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2,150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-6.74%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2 張又 150 股（共 2,150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586.0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1,091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-10.20%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張又 91 股（共 1,091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904.0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+7.01%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-6.91%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570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1085.0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36,071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36 張又 71 股（共 36,071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-9.22%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1 張（1,000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-5.39%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3 張（3,000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-13.98%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全部出清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賣出全部 8 股（零股）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2010.0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7,173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減碼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 2 張又 391 股（共 2,391 股），保留 4 張又 782 股（共 4,782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40,416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+6.61%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7 張（7,000 股），加碼後共 47 張又 416 股（共 47,416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+2.67%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加買 2 張又 447 股（共 2,447 股），加碼後共 3 張又 447 股（共 3,447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24,000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+8.85%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24 張（24,000 股）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20,528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-6.36%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續抱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維持 20 張又 528 股（共 20,528 股）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警示提醒（嚴重 3／警告 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【嚴重】1560 中砂：已跌破停損價 936.69（目前 914.0）：依紀律全數出場 → 建議賣出 1 張又 91 股（共 1,091 股）（持有 1,091 股的 100%），限價 904.0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【嚴重】6196 帆宣：已跌破停損價 599.23（目前 591.0）：依紀律全數出場 → 建議賣出 2 張又 150 股（共 2,150 股）（持有 2,150 股的 100%），限價 585.0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【嚴重】2360 致茂：已跌破停損價 2069.91（目前 2010.0）：依紀律全數出場 → 建議賣出 8 股（零股）（持有 8 股的 100%），限價 1985.0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【警告】2845 遠東銀：負面新聞：公司受金管會裁罰；股價偏弱，減碼三分之一 → 建議賣出 12 張又 23 股（共 12,023 股）（持有 36,071 股的 33%），限價 12.95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【警告】2915 潤泰全：負面新聞：債券虧損擴大；股價偏弱，減碼三分之一 → 建議賣出 2 張又 391 股（共 2,391 股）（持有 7,173 股的 33%），限價 56.5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【警告】6213 聯茂：負面新聞：公司有價證券達公布注意交易資訊標準；股價尚穩，先上調停損 → 停損上調至 723.5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【警告】6182 合晶：負面新聞：董事會決議辦理現金增資發行新股及發行國內無擔保轉換公司債；股價偏弱，減碼三分之一 → 建議賣出 333 股（零股）（持有 1,000 股的 33%），限價 103.5</a:t>
            </a:r>
          </a:p>
          <a:p>
            <a:pPr>
              <a:spcAft>
                <a:spcPts val="400"/>
              </a:spcAft>
            </a:pPr>
            <a:r>
              <a:rPr sz="1400" b="0">
                <a:solidFill>
                  <a:srgbClr val="1F2328"/>
                </a:solidFill>
                <a:latin typeface="Microsoft JhengHei"/>
                <a:ea typeface="Microsoft JhengHei"/>
              </a:rPr>
              <a:t>【警告】3037 欣興：負面新聞：國內無擔保轉換公司債轉換普通股；股價偏弱，減碼三分之一 → 建議賣出 190 股（零股）（持有 570 股的 33%），限價 1115.0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今日漲跌停與原因（漲停 66／跌停 2）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77465"/>
                <a:gridCol w="1640204"/>
                <a:gridCol w="7029450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可能原因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跌停｜6873 泓德能源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綠能環保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可能原因（新聞）：上市綠能大廠泓德能源董總捲光電弊案遭押！ 公司急開臨時董事會：核心業務進度如常 - Yahoo股市；泓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跌停｜1516 川飛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其他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可能原因（新聞）：《台北股市》注意股：28日42檔川飛、玉晶光、高力、尖點、中茂等- 上市櫃 - 旺得富理財網；《其他股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可能原因（新聞）：熱門股》明年獲利看俏 景碩站回均線上 - 自由時報；【12:11 即時新聞】景碩(3189)勁揚逾7%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漲停｜3443 創意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可能原因（新聞）：創意(3443) 個股概覽 | 個股 - 股市 - CMoney；焦點股》創意：3大CSP大單到手！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漲停｜1815 富喬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可能原因（新聞）：富喬：Low DK2出貨放量 下半年動能續強 - 自由時報；【11:34 即時新聞】富喬(1815)亮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漲停｜3105 穩懋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可能原因（新聞）：穩懋(3105) 個股概覽 | 個股 - 股市 - CMoney；【09:03 即時新聞】穩懋(310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漲停｜2368 金像電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電子零組件業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可能原因（新聞）：金像電 | 2368.TW 股價走勢與即時報價 - BigGo 財經；盤中速報 - 金像電(2368)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漲停｜3406 玉晶光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光電業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可能原因（新聞）：玉晶光(3406) 個股概覽 | 個股 - 股市 - CMoney；玉晶光被列注意股！公布第三季自結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漲停｜3006 晶豪科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半導體業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可能原因（新聞）：盤中速報 - 晶豪科(3006)股價拉至漲停，漲停價275.5元，成交16,146張 - Tradin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漲停｜2455 全新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通信網路業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可能原因（新聞）：熱門股》處置出關 全新漲停創天價 - 自由時報；【11:01 即時新聞】全新(2455)股價走強靠攏5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三籃配置：進攻 75%／穩健 25%／ETF 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548640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比例如何決定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-0.4%、20 日 -3.6%） → 進攻籃 80%（已持續 7 個交易日）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依據（報酬率第一）：十年回測每次前 20 名 20 日報酬，進攻籃在綠燈 6.0%／灰燈 6.2%／紅燈 3.7%，都高於穩健籃 4.4%／3.8%／2.1%，勝率相近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調整 Agent 偵測到 2 項失誤 → 進攻 −5%，待模型修正後再恢復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股票內部：進攻籃 75%、穩健籃 25%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今日配置（佔股票＋ETF 目標持股）：進攻籃 75%、穩健籃 25%、ETF 籃 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基準比例 0%（分散個股風險、證交稅 0.1%）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今日 ETF 籃比例 0%（佔股票＋ETF 目標持股；基準 0% 已依上述條件調整）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1188720"/>
            <a:ext cx="5212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各籃內容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【進攻籃】目標 593 萬，執行後佔總資產 67.4%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進攻籃買進：6456 GIS-KY、7730 暉盛-創、6221 晉泰、6108 競國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【穩健籃】目標 198 萬，執行後佔總資產 24.5%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穩健籃買進：2889 國票金、2885 元大金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【ETF 籃】目標 0 萬，執行後佔總資產 0.0%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ETF 籃買進：無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灰燈：大盤中性（距季線 -0.4%、20 日 -3.6%） → 進攻籃 80%（已持續 7 個交易日）；依據（報酬率第一）：十年回測每次前 20 名 20 日報酬，進攻籃在綠燈 6.0%／灰燈 6.2%／紅燈 3.7%，都高於穩健籃 4.4%／3.8%／2.1%，勝率相近；調整 Agent 偵測到 2 項失誤 → 進攻 −5%，待模型修正後再恢復；股票內部：進攻籃 75%、穩健籃 25%；今日配置（佔股票＋ETF 目標持股）：進攻籃 75%、穩健籃 25%、ETF 籃 0%。進攻籃買進：6456 GIS-KY、7730 暉盛-創、6221 晉泰、6108 競國。穩健籃買進：2889 國票金、2885 元大金。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穩健籃候選（收正報酬機率高、回檔小、不追高）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7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5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7396"/>
                <a:gridCol w="2044930"/>
                <a:gridCol w="1278081"/>
                <a:gridCol w="1278081"/>
                <a:gridCol w="1022465"/>
                <a:gridCol w="1278081"/>
                <a:gridCol w="1278081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收正機率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預期回檔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穩健分數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訊號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00915 凱基優選高股息30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0.44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00731 復華富時高息低波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1736 喬山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運動休閒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00900 富邦特選高股息30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67.1%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2357 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電腦及週邊設備業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61.0%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1.08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2850 新產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00940 元大台灣價值高息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70.8%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-6.2%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0055 元大MSCI金融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4105 東洋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生技醫療業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54.7%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金融保險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00918 大華優利高填息30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ETF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72.6%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5292 華懋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綠能環保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買進候選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期貨與選擇權判斷：期貨不操作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1F3A5F"/>
                </a:solidFill>
                <a:latin typeface="Microsoft JhengHei"/>
                <a:ea typeface="Microsoft JhengHei"/>
              </a:rPr>
              <a:t>依據（模型估計，不是保證）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目前累積報酬 -12.11%、距高點回撤 -13.83%、剩 22 個交易日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報酬為負或回撤 ≥ 4%：提高機率門檻、放寬每筆風險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方向模型：未來 5 個交易日上漲機率 60.9%（模型估計，不是保證）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做多：樣本外 67 次，命中率 64.2%（基準 62.7%），平均每次 +0.88%（已扣成本）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放空：樣本外交易僅 2 次，少於 20 次，證據不足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補回虧損模式可考慮加碼大盤曝險，但加權指數在季線下（-0.40%），風控規定不加碼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為何今日會漲／會跌（2026-10-27）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9</a:t>
            </a:r>
          </a:p>
        </p:txBody>
      </p:sp>
      <p:pic>
        <p:nvPicPr>
          <p:cNvPr id="5" name="Picture 4" descr="2026-10-29_開盤前更新_a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3807912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5880 合庫金：今日上漲 +2.13%（+14,400 元），主因為「個股特有因素」（+1.80%）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2889 國票金：今日上漲 +0.59%（+4,042 元），主因為「產業因素」（+0.32%）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2845 遠東銀：今日上漲 +0.75%（+3,607 元），主因為「個股特有因素」（+0.42%）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2915 潤泰全：今日平盤 +0.00%（+0 元），主因為「大盤因素」（+0.02%）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3189 景碩：今日下跌 -4.56%（-73,755 元），主因為「個股特有因素」（-4.66%）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1560 中砂：今日下跌 -1.65%（-15,274 元），主因為「個股特有因素」（-2.76%）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漲跌歸因明細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10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8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71605"/>
                <a:gridCol w="1196502"/>
                <a:gridCol w="1675102"/>
                <a:gridCol w="1196502"/>
                <a:gridCol w="1196502"/>
                <a:gridCol w="1196502"/>
                <a:gridCol w="1914403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漲跌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損益(元)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大盤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產業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個股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主因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+2.13%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+14,400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+1.80%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+4,042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+3,607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+0.42%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-4.56%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-73,755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-4.66%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-1.65%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-15,274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-2.76%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-2.18%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-27,950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-1.88%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-3.99%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-31,000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-1.78%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+0.53%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+450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-0.63%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-1.26%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-0.45%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-2,500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-2.30%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-14,250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+0.21%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-2.39%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產業因素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+1.10%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+0.32%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+0.72%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個股特有因素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65836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050" b="0">
                <a:solidFill>
                  <a:srgbClr val="1F2328"/>
                </a:solidFill>
                <a:latin typeface="Microsoft JhengHei"/>
                <a:ea typeface="Microsoft JhengHei"/>
              </a:rPr>
              <a:t>• 2026-10-27 加權指數 +0.12%。5880 合庫金 今日上漲 +2.13%（+14,400 元），主因為「個股特有因素」（+1.80%）；2889 國票金 今日上漲 +0.59%（+4,042 元），主因為「產業因素」（+0.32%）；2845 遠東銀 今日上漲 +0.75%（+3,607 元），主因為「個股特有因素」（+0.42%）；2915 潤泰全 今日平盤 +0.00%（+0 元），主因為「大盤因素」（+0.02%）；3189 景碩 今日下跌 -4.56%（-73,755 元），主因為「個股特有因素」（-4.66%）；1560 中砂 今日下跌 -1.65%（-15,274 元），主因為「個股特有因素」（-2.76%）；6196 帆宣 今日下跌 -2.18%（-27,950 元），主因為「個股特有因素」（-1.88%）；6213 聯茂 今日下跌 -3.99%（-31,000 元），主因為「產業因素」（-2.39%）；2103 台橡 今日上漲 +0.53%（+450 元），主因為「個股特有因素」（+1.12%）；2360 致茂 今日下跌 -1.26%（-200 元），主因為「個股特有因素」（-1.00%）；6182 合晶 今日下跌 -2.39%（-2,500 元），主因為「個股特有因素」（-2.49%）；3037 欣興 今日下跌 -2.30%（-14,250 元），主因為「產業因素」（-2.39%）；2885 元大金 今日上漲 +1.10%（+800 元），主因為「個股特有因素」（+0.72%）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產業強弱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11</a:t>
            </a:r>
          </a:p>
        </p:txBody>
      </p:sp>
      <p:pic>
        <p:nvPicPr>
          <p:cNvPr id="5" name="Picture 4" descr="2026-10-29_開盤前更新_se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619" y="1097280"/>
            <a:ext cx="7504457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虧損如何補回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12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7373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-1,211,484 元（-12.11%），已實現 -977,655 元；回到初始資金需上漲 13.78%；只有正報酬才列入排名，補回虧損是第一優先；現有持股依模型加權的一個月預期報酬 +3.78%（約 +331,827 元）；進攻籃最佳替換候選：7730 暉盛-創，一個月預期報酬 +16.32%，創新高機率 81.2%；穩健籃最佳替換候選：00934 中信成長高股息，一個月預期報酬 +2.78%，收正報酬機率 74.6%。3591 艾笛森：續抱（未觸及停損，但模型預期偏弱，密切觀察；若跌破停損即出場）；2845 遠東銀：獲利換股（已獲利 +6,526 元（+1.39%）先入袋；這檔一個月預期只剩 +1.17%，轉買 00934 中信成長高股息（預期 +2.78%）扣除換股成本後多 1.02%（門檻 1.0%），且收正報酬機率不低於原標的）；2915 潤泰全：續抱（模型預期仍為正，未觸及停損，換股的預期效益不足以支付換股成本）；2889 國票金：續抱（模型預期仍為正，未觸及停損，換股的預期效益不足以支付換股成本）；2360 致茂：停損換股（收盤 2035.0 已跌破停損價 2069.91，依紀律出場；資金轉往評分最高的候選標的）；3037 欣興：換股（7730 暉盛-創 扣除換股成本後的預期報酬比續抱高 12.69%（門檻 1.0%），且創新高機率不低於原標的 → 換股補回虧損較快；回收資金依綜合分數配置到買進候選，各檔仍受單一標的與產業上限約束）；5880 合庫金：續抱（模型預期仍為正，未觸及停損，換股的預期效益不足以支付換股成本）；1560 中砂：停損換股（收盤 914.0 已跌破停損價 936.69，依紀律出場；資金轉往評分最高的候選標的）；2885 元大金：續抱（買進第 6 個交易日，未滿 10 個交易日不換股、不因分數小幅轉弱賣出（模型排名每天都會小幅變動，來回換股要付約 0.58% 成本）；跌破停損 67.62 才出場）；6213 聯茂：獲利換股（已獲利 +50,965 元（+7.01%）先入袋；這檔一個月預期只剩 +3.48%，轉買 7730 暉盛-創（預期 +16.32%）扣除換股成本後多 12.26%（門檻 1.0%），且創新高機率不低於原標的）；6196 帆宣：停損換股（收盤 592.0 已跌破停損價 599.23，依紀律出場；資金轉往評分最高的候選標的）；2103 台橡：換股（7730 暉盛-創 扣除換股成本後的預期報酬比續抱高 10.44%（門檻 1.0%），且創新高機率不低於原標的 → 換股補回虧損較快；回收資金依綜合分數配置到買進候選，各檔仍受單一標的與產業上限約束）；6182 合晶：換股（7730 暉盛-創 扣除換股成本後的預期報酬比續抱高 10.39%（門檻 1.0%），且創新高機率不低於原標的 → 換股補回虧損較快；回收資金依綜合分數配置到買進候選，各檔仍受單一標的與產業上限約束）；3189 景碩：換股（7730 暉盛-創 扣除換股成本後的預期報酬比續抱高 8.11%（門檻 1.0%），且創新高機率不低於原標的 → 換股補回虧損較快；回收資金依綜合分數配置到買進候選，各檔仍受單一標的與產業上限約束）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3108960"/>
            <a:ext cx="109728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累積損益 -1,211,484 元（-12.11%），已實現 -977,655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回到初始資金需上漲 13.78%；只有正報酬才列入排名，補回虧損是第一優先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現有持股依模型加權的一個月預期報酬 +3.78%（約 +331,827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進攻籃最佳替換候選：7730 暉盛-創，一個月預期報酬 +16.32%，創新高機率 81.2%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穩健籃最佳替換候選：00934 中信成長高股息，一個月預期報酬 +2.78%，收正報酬機率 74.6%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【續抱】3591 艾笛森（-37,413 元）：未觸及停損，但模型預期偏弱，密切觀察；若跌破停損即出場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【獲利換股】2845 遠東銀（+6,526 元）：已獲利 +6,526 元（+1.39%）先入袋；這檔一個月預期只剩 +1.17%，轉買 00934 中信成長高股息（預期 +2.78%）扣除換股成本後多 1.02%（門檻 1.0%），且收正報酬機率不低於原標的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【續抱】2915 潤泰全（-2,453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【續抱】2889 國票金（+42,867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【停損換股】2360 致茂（-2,645 元）：收盤 2035.0 已跌破停損價 2069.91，依紀律出場；資金轉往評分最高的候選標的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【換股】3037 欣興（-46,560 元）：7730 暉盛-創 扣除換股成本後的預期報酬比續抱高 12.69%（門檻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【續抱】5880 合庫金（+55,505 元）：模型預期仍為正，未觸及停損，換股的預期效益不足以支付換股成本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【停損換股】1560 中砂（-113,273 元）：收盤 914.0 已跌破停損價 936.69，依紀律出場；資金轉往評分最高的候選標的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【續抱】2885 元大金（+1,898 元）：買進第 6 個交易日，未滿 10 個交易日不換股、不因分數小幅轉弱賣出（模型排名每天都會小幅變動，來回換股要付約 0.58% 成本）；跌破停損 67.62 才出場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【獲利換股】6213 聯茂（+50,965 元）：已獲利 +50,965 元（+7.01%）先入袋；這檔一個月預期只剩 +3.48%，轉買 7730 暉盛-創（預期 +16.32%）扣除換股成本後多 12.26%（門檻 1.0%），且創新高機率不低於原標的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【停損換股】6196 帆宣（-91,962 元）：收盤 592.0 已跌破停損價 599.23，依紀律出場；資金轉往評分最高的候選標的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【換股】2103 台橡（-4,777 元）：7730 暉盛-創 扣除換股成本後的預期報酬比續抱高 10.44%（門檻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【換股】6182 合晶（-10,665 元）：7730 暉盛-創 扣除換股成本後的預期報酬比續抱高 10.39%（門檻 1.0%），且創新高機率不低於原標的 → 換股補回虧損較快；回收資金依綜合分數配置到買進候選，各檔仍受單一標的與產業上限約束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【換股】3189 景碩（-80,743 元）：7730 暉盛-創 扣除換股成本後的預期報酬比續抱高 8.11%（門檻 1.0%），且創新高機率不低於原標的 → 換股補回虧損較快；回收資金依綜合分數配置到買進候選，各檔仍受單一標的與產業上限約束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國際大事對持股的影響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13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11247120" cy="155448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18872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美國聯準會維持基準利率不變，但有兩名官員主張升息一碼，市場押注十二月升息機率顯著上升。 → 美國10年債殖利率上升，持股合計預估影響 -956 元（總資產 -0.01%）；美國對進口機器人與機械認定具國安風險，但宣布暫不加徵關稅並展開為期一百八十天的談判。 → VIX恐慌指數下降，持股合計預估影響 +73,957 元（總資產 +0.84%）；受中東地緣政治局勢與供應擔憂影響，世銀預估大宗商品與能源價格走高，國際油價與天然氣價格拉升。 → 西德州原油上升，持股合計預估影響 -20,020 元（總資產 -0.23%）；美國司法部對輝達併購案展開反壟斷調查，加上Alphabet預告AI支出大幅增加，打擊科技股市場信心。 → 費城半導體下降，持股合計預估影響 -87,489 元（總資產 -1.00%）；中國出口重心轉向電動車與AI零組件，惟國內消費與投資成長停滯，整體經濟面臨挑戰。 → 中國大型股ETF下降，持股合計預估影響 -14,309 元（總資產 -0.16%）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926080"/>
            <a:ext cx="109728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美國聯準會維持基準利率不變，但有兩名官員主張升息一碼，市場押注十二月升息機率顯著上升。 → 美國10年債殖利率↑：預估 -956 元（-0.01%）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美國對進口機器人與機械認定具國安風險，但宣布暫不加徵關稅並展開為期一百八十天的談判。 → VIX恐慌指數↓：預估 +73,957 元（+0.84%）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受中東地緣政治局勢與供應擔憂影響，世銀預估大宗商品與能源價格走高，國際油價與天然氣價格拉升。 → 西德州原油↑：預估 -20,020 元（-0.23%）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美國司法部對輝達併購案展開反壟斷調查，加上Alphabet預告AI支出大幅增加，打擊科技股市場信心。 → 費城半導體↓：預估 -87,489 元（-1.00%）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中國出口重心轉向電動車與AI零組件，惟國內消費與投資成長停滯，整體經濟面臨挑戰。 → 中國大型股ETF↓：預估 -14,309 元（-0.16%）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國際事件：美國聯準會維持基準利率不變，但有兩名官員主張升息一碼，市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14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-0.14%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-956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-0.04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-0.0022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-0.0694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-0.0056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-0.0828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0.0642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+0.09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-0.0948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-0.09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-0.0334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-0.03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-0.0447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國際事件：美國對進口機器人與機械認定具國安風險，但宣布暫不加徵關稅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15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-0.0245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+0.19%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+1,297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+1,520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-0.0273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+996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-0.0359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+0.28%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+1,149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+1.06%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+17,981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-0.0518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+2,260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-0.1349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+1.04%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+10,371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+17,056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-0.1629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+1.26%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+9,803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-0.0194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-0.193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+243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+1.36%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+1,428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-0.1921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+1.49%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+9,342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+511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國際事件：受中東地緣政治局勢與供應擔憂影響，世銀預估大宗商品與能源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16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7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05317"/>
                <a:gridCol w="1102658"/>
                <a:gridCol w="1102658"/>
                <a:gridCol w="1323190"/>
                <a:gridCol w="551329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敏感度β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預估影響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金額(元)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後續決策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5880 合庫金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2889 國票金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-0.05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2845 遠東銀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-0.0224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-0.08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2915 潤泰全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-0.0099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-0.02 未達統計顯著（|r| &lt; 0.125），不列入影響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-0.1133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-0.07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3591 艾笛森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-2,756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1560 中砂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-0.1189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-0.11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6196 帆宣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-10,437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6213 聯茂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-0.2262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-0.78%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-6,068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2103 台橡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0.1262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+0.43%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+361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有利：支持續抱；若一個月模型仍在前段班，可作為加碼依據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2360 致茂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-0.162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-0.55%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-90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6182 合晶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-0.2346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-0.80%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-840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輕度不利：列入觀察，暫不調整部位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3037 欣興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-0.1417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C8423B"/>
                          </a:solidFill>
                          <a:latin typeface="Microsoft JhengHei"/>
                          <a:ea typeface="Microsoft JhengHei"/>
                        </a:rPr>
                        <a:t>+0.00%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歷史相關性 -0.10 未達統計顯著（|r| &lt; 0.125），不列入影響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-0.0752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2E8B57"/>
                          </a:solidFill>
                          <a:latin typeface="Microsoft JhengHei"/>
                          <a:ea typeface="Microsoft JhengHei"/>
                        </a:rPr>
                        <a:t>-0.26%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影響有限，維持原決策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全市場一個月創新高潛力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17</a:t>
            </a:r>
          </a:p>
        </p:txBody>
      </p:sp>
      <p:pic>
        <p:nvPicPr>
          <p:cNvPr id="5" name="Picture 4" descr="2026-10-29_開盤前更新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6317673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掃描 701 檔上市櫃股票與 ETF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全市場基準創新高率 18.0%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模型：梯度提升樹，滾動時間外驗證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美股隔夜表現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18</a:t>
            </a:r>
          </a:p>
        </p:txBody>
      </p:sp>
      <p:pic>
        <p:nvPicPr>
          <p:cNvPr id="5" name="Picture 4" descr="2026-10-29_開盤前更新_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8760" y="1097280"/>
            <a:ext cx="3834174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台股開盤預測（美股 → 台股）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19</a:t>
            </a:r>
          </a:p>
        </p:txBody>
      </p:sp>
      <p:pic>
        <p:nvPicPr>
          <p:cNvPr id="5" name="Picture 4" descr="2026-10-29_開盤前更新_p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131224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Ridge 迴歸：費半、那指期、台積電 ADR、VIX、匯率、產業對應美股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命中率＝樣本外方向命中率</a:t>
            </a:r>
          </a:p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低於 55% 或不如基準者降權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交易建議總表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20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6" cy="5486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2658"/>
                <a:gridCol w="2646381"/>
                <a:gridCol w="1764254"/>
                <a:gridCol w="1323190"/>
                <a:gridCol w="1323190"/>
                <a:gridCol w="1984785"/>
                <a:gridCol w="1102658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動作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標的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數量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限價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停損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金額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權重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穩健｜2915 潤泰全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張+391股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56.5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136,526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穩健｜2845 遠東銀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36 張+71股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474,334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進攻｜3189 景碩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張+639股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1020.0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1,696,365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進攻｜1560 中砂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張+91股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904.0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997,174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進攻｜6196 帆宣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張+150股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586.0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1,272,800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進攻｜6213 聯茂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778,000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進攻｜2103 台橡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27.65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83,850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穩健｜2360 致茂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張+8股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2010.0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16,280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進攻｜6182 合晶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103.5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105,000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賣出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進攻｜3037 欣興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0 張+570股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1085.0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627,000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穩健｜2889 國票金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 張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16.35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119,700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穩健｜2885 元大金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 張+447股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68.8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178,631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進攻｜6456 GIS-KY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13 張+230股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109.0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98.1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1,442,070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16.4%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買進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進攻｜7730 暉盛-創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 張+482股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239.0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215.0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1,071,198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12.2%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2915 潤泰全｜2 張 + 391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21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風險警示：負面新聞：債券虧損擴大；股價偏弱，減碼三分之一；法人近 5 日賣超 1,754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觸發條件中最嚴重者決定賣出比例：33%；限價取最近價 × 0.99（不低於跌停價）以提高成交機率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4,782 股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2845 遠東銀｜36 張 + 71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22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+6,526 元（+1.39%）先入袋；這檔一個月預期只剩 +1.17%，轉買 00934 中信成長高股息（預期 +2.78%）扣除換股成本後多 1.02%（門檻 1.0%），且收正報酬機率不低於原標的；同時風險警示：負面新聞：公司受金管會裁罰；股價偏弱，減碼三分之一；法人近 5 日賣超 3,347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36 張又 71 股（共 36,071 股），回收資金約 474,334 元，依分數重新配置到同一籃的買進候選（最佳替換標的 00934 中信成長高股息，實際買進股數受單一標的與產業上限約束，見買進明細）；部分換股會讓兩檔都表現平庸，因此一次換完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3189 景碩｜1 張 + 639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換股：7730 暉盛-創 扣除換股成本後的預期報酬比續抱高 8.11%（門檻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張又 639 股（共 1,639 股），回收資金約 1,696,365 元，依分數重新配置到同一籃的買進候選（最佳替換標的 7730 暉盛-創，實際買進股數受單一標的與產業上限約束，見買進明細）；部分換股會讓兩檔都表現平庸，因此一次換完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1560 中砂｜1 張 + 91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24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914.00 元 ≤ 停損價 936.69 元（成本 1017.82 元，損益 -10.20%）；同時風險警示：已跌破停損價 936.69（目前 914.0）：依紀律全數出場；法人近 5 日賣超 863 張，籌碼轉弱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6196 帆宣｜2 張 + 150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592.00 元 ≤ 停損價 599.23 元（成本 634.77 元，損益 -6.74%）；同時風險警示：已跌破停損價 599.23（目前 591.0）：依紀律全數出場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6213 聯茂｜1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換股計畫 → 獲利換股：已獲利 +50,965 元（+7.01%）先入袋；這檔一個月預期只剩 +3.48%，轉買 7730 暉盛-創（預期 +16.32%）扣除換股成本後多 12.26%（門檻 1.0%），且創新高機率不低於原標的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778,000 元，依分數重新配置到同一籃的買進候選（最佳替換標的 7730 暉盛-創，實際買進股數受單一標的與產業上限約束，見買進明細）；部分換股會讓兩檔都表現平庸，因此一次換完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2103 台橡｜3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換股：7730 暉盛-創 扣除換股成本後的預期報酬比續抱高 10.44%（門檻 1.0%），且創新高機率不低於原標的 → 換股補回虧損較快；回收資金依綜合分數配置到買進候選，各檔仍受單一標的與產業上限約束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3 張（3,000 股），回收資金約 83,850 元，依分數重新配置到同一籃的買進候選（最佳替換標的 7730 暉盛-創，實際買進股數受單一標的與產業上限約束，見買進明細）；部分換股會讓兩檔都表現平庸，因此一次換完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2360 致茂｜0 張 + 8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28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觸發停損：收盤 2035.00 元 ≤ 停損價 2069.91 元（成本 2365.62 元，損益 -13.98%）；同時風險警示：已跌破停損價 2069.91（目前 2010.0）：依紀律全數出場；負面新聞：董事會決議辦理現金增資發行普通股參與發行海外存託憑證；股價偏弱，減碼三分之一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停損一律全數出場，避免虧損擴大；紀律優先於預測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6182 合晶｜1 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29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換股：7730 暉盛-創 扣除換股成本後的預期報酬比續抱高 10.39%（門檻 1.0%），且創新高機率不低於原標的 → 換股補回虧損較快；回收資金依綜合分數配置到買進候選，各檔仍受單一標的與產業上限約束；同時風險警示：負面新聞：董事會決議辦理現金增資發行新股及發行國內無擔保轉換公司債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1 張（1,000 股），回收資金約 105,000 元，依分數重新配置到同一籃的買進候選（最佳替換標的 7730 暉盛-創，實際買進股數受單一標的與產業上限約束，見買進明細）；部分換股會讓兩檔都表現平庸，因此一次換完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賣出 3037 欣興｜0 張 + 570 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30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47120" cy="21945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3716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1F3A5F"/>
                </a:solidFill>
                <a:latin typeface="Microsoft JhengHei"/>
                <a:ea typeface="Microsoft JhengHei"/>
              </a:rPr>
              <a:t>賣出原因</a:t>
            </a:r>
          </a:p>
          <a:p>
            <a:pPr>
              <a:spcAft>
                <a:spcPts val="400"/>
              </a:spcAft>
            </a:pPr>
            <a:r>
              <a:rPr sz="1800" b="0">
                <a:solidFill>
                  <a:srgbClr val="1F2328"/>
                </a:solidFill>
                <a:latin typeface="Microsoft JhengHei"/>
                <a:ea typeface="Microsoft JhengHei"/>
              </a:rPr>
              <a:t>• 虧損補回計畫 → 換股：7730 暉盛-創 扣除換股成本後的預期報酬比續抱高 12.69%（門檻 1.0%），且創新高機率不低於原標的 → 換股補回虧損較快；回收資金依綜合分數配置到買進候選，各檔仍受單一標的與產業上限約束；同時風險警示：負面新聞：國內無擔保轉換公司債轉換普通股；股價偏弱，減碼三分之一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11247120" cy="237744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3840479"/>
            <a:ext cx="109728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A5F"/>
                </a:solidFill>
                <a:latin typeface="Microsoft JhengHei"/>
                <a:ea typeface="Microsoft JhengHei"/>
              </a:rPr>
              <a:t>為何賣這個股數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全數賣出 570 股（零股），回收資金約 627,000 元，依分數重新配置到同一籃的買進候選（最佳替換標的 7730 暉盛-創，實際買進股數受單一標的與產業上限約束，見買進明細）；部分換股會讓兩檔都表現平庸，因此一次換完</a:t>
            </a:r>
          </a:p>
          <a:p>
            <a:pPr>
              <a:spcAft>
                <a:spcPts val="400"/>
              </a:spcAft>
            </a:pPr>
            <a:r>
              <a:rPr sz="1600" b="0">
                <a:solidFill>
                  <a:srgbClr val="1F2328"/>
                </a:solidFill>
                <a:latin typeface="Microsoft JhengHei"/>
                <a:ea typeface="Microsoft JhengHei"/>
              </a:rPr>
              <a:t>• 賣出後剩餘 0 股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買進【穩健籃】2889 國票金｜7 張｜限價 17.1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31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國票金 7,000 股，限價 17.1，停損 16.35。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+0.62 達門檻（+0.20）；一個月收正報酬機率 57.2%、預期最大回檔 -8.6%，且未過熱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57.2%（全市場基準 51.8%），預期最大回檔 -8.6%（回檔幅度排名全市場最小的前 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59.6%、預期報酬 +5.1%（模型估計，不是保證）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-0.15（大盤漲跌 1% 時約變動 -0.15%），日波動 0.95%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1,977,416 元（已持有 1,857,209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8,788,516 元 × 每筆風險 0.8% × 信心係數 1.28（由穩健分數 +0.62 換算）= 90,082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0.54 與距 10 日低點 16.40 的距離 0.70 之較大者 = 0.70 元（進場 17.10 → 停損 16.35 元，4.1%）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90,082 ÷ 0.70 = 128,689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受「穩健籃單檔上限 20%」限制，下修至 62,374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55,180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7,000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17.12 與前一日收盤 17.100000381469727 的較低者 = 17.1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取整後：7 張（7,000 股），金額約 119,700 元，佔總資產 1.4%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193 股只有 3,300 元，低於 14,035 元會被最低手續費 20 元拉高費率（約 0.61%），所以不買零股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+0.62 高，信心係數 1.28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【多買】日均波動（ATR）1.6%，波動溫和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+23.9%，基本面支撐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【少買】已達穩健籃單檔上限，分散風險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【少買】一個月收正報酬機率 57.2%，勝率普通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-8.6%，下檔風險偏大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16.35 元全數賣出 7 張（7,000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買進【穩健籃】2885 元大金｜2 張 + 447 股｜限價 73.0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32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元大金 2,447 股，限價 73.0，停損 68.8。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【穩健籃】穩健分數 +0.61 達門檻（+0.20）；一個月收正報酬機率 63.3%、預期最大回檔 -8.6%，且未過熱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穩健模型：未來一個月收正報酬機率 63.3%（全市場基準 51.8%），預期最大回檔 -8.6%（回檔幅度排名全市場最小的前 18%）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持有到比賽結束（約 40 個交易日）：收正報酬機率 62.2%、預期報酬 +4.9%（模型估計，不是保證）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風險：60 日 β = 0.66（大盤漲跌 1% 時約變動 0.66%），日波動 1.46%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籃子配置：穩健籃佔目標持股 25% → 目標金額 1,977,416 元（已持有 1,857,209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8,788,516 元 × 每筆風險 0.8% × 信心係數 1.27（由穩健分數 +0.61 換算）= 89,116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3.67 與距 10 日低點 68.80 的距離 4.20 之較大者 = 4.20 元（進場 73.00 → 停損 68.80 元，5.8%）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89,116 ÷ 4.20 = 21,218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穩健籃合計超過籃子上限，等比例下修 18,771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進場價：穩健籃不追價：限價取預測開盤價 73.24 與前一日收盤 73.0 的較低者 = 73.0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取整後：2 張又 447 股（共 2,447 股），金額約 178,631 元，佔總資產 2.0%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【多買】穩健分數 +0.61 高，信心係數 1.27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【多買】日均波動（ATR）2.5%，波動溫和 → 可承擔較多股數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【多買】法人連續買超 4 日，籌碼穩定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【多買】一個月收正報酬機率 63.3%，可提高「正報酬晉級」機率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+22.7%，基本面支撐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【少買】預期最大回檔 -8.6%，下檔風險偏大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68.80 元全數賣出 2 張又 447 股（共 2,447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訊號轉弱（穩健分數 ≤ -0.30）先減碼一半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結單轉股：持有滿 10 個交易日後，綜合排名出現扣成本後預期多 1% 以上的股票就全部賣出換股；獲利已達 10% 時多 2% 就可以當天換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買進【進攻籃】6456 GIS-KY｜13 張 + 230 股｜限價 109.0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33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GIS-KY 13,230 股，限價 109.0，停損 98.1。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+0.79 達門檻（+0.30）；一個月模型預期超額報酬排名全市場前 4%、創新高機率 95.4%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95.4%（全市場基準 18.0%，排名前 1%），預期超額報酬 +7.57%（排名前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-0.5%（52 週高 108.0，現價 107.5），正處於創高區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+36.8%、近 60 日 +101.7%，相對大盤 20 日 +41.0%、60 日 +86.6%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5,932,248 元（已持有 551,177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8,788,516 元 × 每筆風險 0.8% × 信心係數 1.48（由綜合分數 +0.79 換算）= 104,320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16.36 與距 10 日低點 83.30 的距離 25.70 之較大者，但不超過進場價 10%（10.90） = 10.90 元（進場 109.00 → 停損 98.10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104,320 ÷ 10.90 = 9,571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3,660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108.2 × (1 + 0.5%) = 109.0，提高成交機率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取整後：13 張又 230 股（共 13,230 股），金額約 1,442,070 元，佔總資產 16.4%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+0.79 高，信心係數 1.48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95.4%，勝率高可多配置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+30.8%，基本面支撐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【少買】日均波動（ATR）7.6%，波動大 → 停損距離遠 → 股數少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108.0 元（距現價 0.5%）即確認創新高，續抱讓獲利奔跑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98.10 元全數賣出 13 張又 230 股（共 13,230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買進【進攻籃】7730 暉盛-創｜4 張 + 482 股｜限價 239.0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34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暉盛-創 4,482 股，限價 239.0，停損 215.0。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0%、創新高機率 81.2%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81.2%（全市場基準 18.0%，排名前 5%），預期超額報酬 +16.14%（排名前 0%）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-6.1%（52 週高 252.5，現價 237.0）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+39.0%、近 60 日 +71.6%，相對大盤 20 日 +43.3%、60 日 +56.5%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5,932,248 元（已持有 551,177 元）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8,788,516 元 × 每筆風險 0.8% × 信心係數 1.48（由綜合分數 +0.78 換算）= 103,968 元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29.14 與距 10 日低點 188.00 的距離 51.00 之較大者，但不超過進場價 10%（23.90） = 23.90 元（進場 239.00 → 停損 215.00 元，10.0%）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103,968 ÷ 23.90 = 4,350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133 股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237.69 × (1 + 0.5%) = 239.0，提高成交機率</a:t>
            </a:r>
          </a:p>
          <a:p>
            <a:pPr>
              <a:spcAft>
                <a:spcPts val="400"/>
              </a:spcAft>
            </a:pPr>
            <a:r>
              <a:rPr sz="10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 張又 482 股（共 4,482 股），金額約 1,071,198 元，佔總資產 12.2%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1.48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81.2%，勝率高可多配置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+64.4%，基本面支撐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【少買】日均波動（ATR）6.1%，波動大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【少買】此檔開盤預測模型回測命中率未達門檻，預測權重已降低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252.5 元（距現價 6.1%）即確認創新高，續抱讓獲利奔跑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215.00 元全數賣出 4 張又 482 股（共 4,482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買進【進攻籃】6221 晉泰｜35 張｜限價 40.9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35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晉泰 35,000 股，限價 40.9，停損 36.8。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+0.78 達門檻（+0.30）；一個月模型預期超額報酬排名全市場前 1%、創新高機率 83.1%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83.1%（全市場基準 18.0%，排名前 4%），預期超額報酬 +10.06%（排名前 1%）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-6.2%（52 週高 43.2，現價 40.5）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+28.2%、近 60 日 +96.6%，相對大盤 20 日 +32.4%、60 日 +81.5%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5,932,248 元（已持有 551,177 元）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8,788,516 元 × 每筆風險 0.8% × 信心係數 1.47（由綜合分數 +0.78 換算）= 103,617 元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5.40 與距 10 日低點 32.00 的距離 8.90 之較大者，但不超過進場價 10%（4.09） = 4.09 元（進場 40.90 → 停損 36.80 元，10.0%）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103,617 ÷ 4.09 = 25,334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9,813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受可用資金限制，實際買 35,000 股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進場價：限價 = 預測開盤價 40.67 × (1 + 0.5%) = 40.9，提高成交機率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取整後：35 張（35,000 股），金額約 1,431,500 元，佔總資產 16.3%</a:t>
            </a:r>
          </a:p>
          <a:p>
            <a:pPr>
              <a:spcAft>
                <a:spcPts val="400"/>
              </a:spcAft>
            </a:pPr>
            <a:r>
              <a:rPr sz="900" b="0">
                <a:solidFill>
                  <a:srgbClr val="1F2328"/>
                </a:solidFill>
                <a:latin typeface="Microsoft JhengHei"/>
                <a:ea typeface="Microsoft JhengHei"/>
              </a:rPr>
              <a:t>• 零股 147 股只有 6,012 元，低於 14,035 元會被最低手續費 20 元拉高費率（約 0.33%），所以不買零股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+0.78 高，信心係數 1.47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83.1%，勝率高可多配置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+47.3%，基本面支撐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【少買】日均波動（ATR）6.7%，波動大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【少買】此檔開盤預測模型回測命中率未達門檻，預測權重已降低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43.2 元（距現價 6.2%）即確認創新高，續抱讓獲利奔跑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36.80 元全數賣出 35 張（35,000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買進【進攻籃】6108 競國｜43 張 + 732 股｜限價 32.7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36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買進 競國 43,732 股，限價 32.7，停損 29.4。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3A5F"/>
                </a:solidFill>
                <a:latin typeface="Microsoft JhengHei"/>
                <a:ea typeface="Microsoft JhengHei"/>
              </a:rPr>
              <a:t>為何選擇這檔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【進攻籃】綜合分數 +0.77 達門檻（+0.30）；一個月模型預期超額報酬排名全市場前 4%、創新高機率 75.2%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一個月模型：創 52 週新高機率 75.2%（全市場基準 18.0%，排名前 8%），預期超額報酬 +7.44%（排名前 4%）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距 52 週高點 -5.4%（52 週高 35.95，現價 34.0）</a:t>
            </a:r>
          </a:p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動能：近 20 日 +41.7%、近 60 日 +107.9%，相對大盤 20 日 +46.0%、60 日 +92.8%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737360"/>
            <a:ext cx="5486400" cy="265176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828800"/>
            <a:ext cx="52120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50" b="1">
                <a:solidFill>
                  <a:srgbClr val="1F3A5F"/>
                </a:solidFill>
                <a:latin typeface="Microsoft JhengHei"/>
                <a:ea typeface="Microsoft JhengHei"/>
              </a:rPr>
              <a:t>為何是這個股數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籃子配置：進攻籃佔目標持股 75% → 目標金額 5,932,248 元（已持有 551,177 元）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風險預算：總資產 8,788,516 元 × 每筆風險 0.8% × 信心係數 1.46（由綜合分數 +0.77 換算）= 102,474 元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停損距離：取 2×ATR14 = 5.14 與距 10 日低點 25.70 的距離 7.00 之較大者，但不超過進場價 10%（3.27） = 3.27 元（進場 32.70 → 停損 29.40 元，10.0%）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風險法可買股數 = 102,474 ÷ 3.27 = 31,338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為補足進攻籃目標金額上調 12,395 股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進場價：RSI14 = 76.6 &gt; 75 偏熱，不追價：限價設在前一日收盤 34.0 − 0.5×ATR 2.57 = 32.7，等回檔才買（可能當日不成交）</a:t>
            </a:r>
          </a:p>
          <a:p>
            <a:pPr>
              <a:spcAft>
                <a:spcPts val="400"/>
              </a:spcAft>
            </a:pPr>
            <a:r>
              <a:rPr sz="950" b="0">
                <a:solidFill>
                  <a:srgbClr val="1F2328"/>
                </a:solidFill>
                <a:latin typeface="Microsoft JhengHei"/>
                <a:ea typeface="Microsoft JhengHei"/>
              </a:rPr>
              <a:t>• 取整後：43 張又 732 股（共 43,732 股），金額約 1,430,036 元，佔總資產 16.3%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多買／少買原因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【多買】綜合分數 +0.77 高，信心係數 1.46 ≥ 1 放大部位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【多買】一個月內創新高機率 75.2%，勝率高可多配置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【多買】月營收年增 +33.1%，基本面支撐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【少買】日均波動（ATR）7.6%，波動大 → 停損距離遠 → 股數少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【少買】RSI14 = 76.6 偏熱，限價等回檔，可能買不到或買得少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55080" y="4617720"/>
            <a:ext cx="52120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1F3A5F"/>
                </a:solidFill>
                <a:latin typeface="Microsoft JhengHei"/>
                <a:ea typeface="Microsoft JhengHei"/>
              </a:rPr>
              <a:t>出場計畫（賣出條件與張數）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一個月目標：突破 52 週高點 35.95 元（距現價 5.4%）即確認創新高，續抱讓獲利奔跑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停損：收盤跌破 29.40 元全數賣出 43 張又 732 股（共 43,732 股）</a:t>
            </a:r>
          </a:p>
          <a:p>
            <a:pPr>
              <a:spcAft>
                <a:spcPts val="400"/>
              </a:spcAft>
            </a:pPr>
            <a:r>
              <a:rPr sz="1100" b="0">
                <a:solidFill>
                  <a:srgbClr val="1F2328"/>
                </a:solidFill>
                <a:latin typeface="Microsoft JhengHei"/>
                <a:ea typeface="Microsoft JhengHei"/>
              </a:rPr>
              <a:t>• 訊號轉弱（綜合分數 ≤ -0.30）先減碼一半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執行後持股配置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37</a:t>
            </a:r>
          </a:p>
        </p:txBody>
      </p:sp>
      <p:pic>
        <p:nvPicPr>
          <p:cNvPr id="5" name="Picture 4" descr="2026-10-29_開盤前更新_all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097280"/>
            <a:ext cx="4848447" cy="52120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8138160" y="1188720"/>
            <a:ext cx="3657600" cy="5029200"/>
          </a:xfrm>
          <a:prstGeom prst="rect">
            <a:avLst/>
          </a:prstGeom>
          <a:solidFill>
            <a:srgbClr val="F3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75320" y="1280160"/>
            <a:ext cx="33832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0">
                <a:solidFill>
                  <a:srgbClr val="1F2328"/>
                </a:solidFill>
                <a:latin typeface="Microsoft JhengHei"/>
                <a:ea typeface="Microsoft JhengHei"/>
              </a:rPr>
              <a:t>• 期貨戶轉入證券戶：675,300 元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競賽規則檢查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38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19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8159"/>
                <a:gridCol w="1065516"/>
                <a:gridCol w="7103444"/>
              </a:tblGrid>
              <a:tr h="36576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項目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結果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說明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禁止交易權證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無權證標的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目前持股率 ≥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 96.3%（每日收盤檢查，未達扣報酬率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執行建議後持股率 ≥ 70%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預估 91.2%（目標 90%）；注意只算實際成交，掛單未成交不算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交易過的標的 ≥ 5（每日收盤追蹤）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已成交 14 檔＋本次建議 = 18 檔；執行後持有 9 檔（未達每次扣報酬率 0.2%）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總交易筆數 ≥ 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累計 88 筆＋本次建議 16 筆 = 104 筆；剩餘 22 個交易日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融資借款在自訂上限內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通過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融資借款 0 元 / 上限 2,636,555 元（總資產 30%）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累積報酬為正（才列入排名）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注意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目前累積報酬 -12.11%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模型健康度與調整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39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471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1874520"/>
                <a:gridCol w="3749040"/>
              </a:tblGrid>
              <a:tr h="3657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指標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樣本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</a:rPr>
                        <a:t>表現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大盤隔夜跳空命中率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30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86.7%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個股隔夜跳空命中率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1092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73.9%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一個月推薦實際超額報酬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1110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+0.89%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一個月推薦實際創新高比例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1110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44.8%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名創新高率 / 基準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87.8% / 30.4%</a:t>
                      </a:r>
                    </a:p>
                  </a:txBody>
                  <a:tcPr>
                    <a:solidFill>
                      <a:srgbClr val="F3F5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回測：前 20 名月超額報酬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328"/>
                          </a:solidFill>
                          <a:latin typeface="Microsoft JhengHei"/>
                          <a:ea typeface="Microsoft JhengHei"/>
                        </a:rPr>
                        <a:t>+6.51%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29768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 b="0">
                <a:solidFill>
                  <a:srgbClr val="1F2328"/>
                </a:solidFill>
                <a:latin typeface="Microsoft JhengHei"/>
                <a:ea typeface="Microsoft JhengHei"/>
              </a:rPr>
              <a:t>• 目前未偵測到重大失誤，參數維持不變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12471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1F3A5F"/>
                </a:solidFill>
                <a:latin typeface="Microsoft JhengHei"/>
                <a:ea typeface="Microsoft JhengHei"/>
              </a:rPr>
              <a:t>累積報酬走勢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57606A"/>
                </a:solidFill>
                <a:latin typeface="Microsoft JhengHei"/>
                <a:ea typeface="Microsoft JhengHei"/>
              </a:rPr>
              <a:t>台股投資競賽 開盤前更新 2026-10-29　|　40</a:t>
            </a:r>
          </a:p>
        </p:txBody>
      </p:sp>
      <p:pic>
        <p:nvPicPr>
          <p:cNvPr id="5" name="Picture 4" descr="2026-10-29_開盤前更新_na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287" y="1097280"/>
            <a:ext cx="11247120" cy="44988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