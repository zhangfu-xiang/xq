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a:t>
            </a:r>
          </a:p>
        </p:txBody>
      </p:sp>
      <p:sp>
        <p:nvSpPr>
          <p:cNvPr id="3" name="Rectangle 2"/>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698480" cy="1280160"/>
          </a:xfrm>
          <a:prstGeom prst="rect">
            <a:avLst/>
          </a:prstGeom>
          <a:noFill/>
        </p:spPr>
        <p:txBody>
          <a:bodyPr wrap="none">
            <a:spAutoFit/>
          </a:bodyPr>
          <a:lstStyle/>
          <a:p>
            <a:r>
              <a:rPr sz="3800" b="1">
                <a:solidFill>
                  <a:srgbClr val="FFFFFF"/>
                </a:solidFill>
                <a:latin typeface="Microsoft JhengHei"/>
                <a:ea typeface="Microsoft JhengHei"/>
              </a:rPr>
              <a:t>盤後檢討與隔日預掛單</a:t>
            </a:r>
          </a:p>
        </p:txBody>
      </p:sp>
      <p:sp>
        <p:nvSpPr>
          <p:cNvPr id="5" name="TextBox 4"/>
          <p:cNvSpPr txBox="1"/>
          <p:nvPr/>
        </p:nvSpPr>
        <p:spPr>
          <a:xfrm>
            <a:off x="731520" y="3566160"/>
            <a:ext cx="10698480" cy="914400"/>
          </a:xfrm>
          <a:prstGeom prst="rect">
            <a:avLst/>
          </a:prstGeom>
          <a:noFill/>
        </p:spPr>
        <p:txBody>
          <a:bodyPr wrap="none">
            <a:spAutoFit/>
          </a:bodyPr>
          <a:lstStyle/>
          <a:p>
            <a:r>
              <a:rPr sz="1800" b="0">
                <a:solidFill>
                  <a:srgbClr val="C9D6E8"/>
                </a:solidFill>
                <a:latin typeface="Microsoft JhengHei"/>
                <a:ea typeface="Microsoft JhengHei"/>
              </a:rPr>
              <a:t>2026-10-23　|　2026 德明X富達投資擂台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今日重點</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a:t>
            </a:r>
          </a:p>
        </p:txBody>
      </p:sp>
      <p:sp>
        <p:nvSpPr>
          <p:cNvPr id="5" name="Rectangle 4"/>
          <p:cNvSpPr/>
          <p:nvPr/>
        </p:nvSpPr>
        <p:spPr>
          <a:xfrm>
            <a:off x="457200" y="1280160"/>
            <a:ext cx="2647873" cy="14630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2373553" cy="1280160"/>
          </a:xfrm>
          <a:prstGeom prst="rect">
            <a:avLst/>
          </a:prstGeom>
          <a:noFill/>
        </p:spPr>
        <p:txBody>
          <a:bodyPr wrap="none">
            <a:spAutoFit/>
          </a:bodyPr>
          <a:lstStyle/>
          <a:p>
            <a:r>
              <a:rPr sz="1300" b="0">
                <a:solidFill>
                  <a:srgbClr val="57606A"/>
                </a:solidFill>
                <a:latin typeface="Microsoft JhengHei"/>
                <a:ea typeface="Microsoft JhengHei"/>
              </a:rPr>
              <a:t>總資產</a:t>
            </a:r>
          </a:p>
          <a:p>
            <a:r>
              <a:rPr sz="3000" b="1">
                <a:solidFill>
                  <a:srgbClr val="1F2328"/>
                </a:solidFill>
                <a:latin typeface="Microsoft JhengHei"/>
                <a:ea typeface="Microsoft JhengHei"/>
              </a:rPr>
              <a:t>863 萬</a:t>
            </a:r>
          </a:p>
        </p:txBody>
      </p:sp>
      <p:sp>
        <p:nvSpPr>
          <p:cNvPr id="7" name="Rectangle 6"/>
          <p:cNvSpPr/>
          <p:nvPr/>
        </p:nvSpPr>
        <p:spPr>
          <a:xfrm>
            <a:off x="3333673" y="1280160"/>
            <a:ext cx="2647873" cy="14630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0833" y="1371600"/>
            <a:ext cx="2373553" cy="1280160"/>
          </a:xfrm>
          <a:prstGeom prst="rect">
            <a:avLst/>
          </a:prstGeom>
          <a:noFill/>
        </p:spPr>
        <p:txBody>
          <a:bodyPr wrap="none">
            <a:spAutoFit/>
          </a:bodyPr>
          <a:lstStyle/>
          <a:p>
            <a:r>
              <a:rPr sz="1300" b="0">
                <a:solidFill>
                  <a:srgbClr val="57606A"/>
                </a:solidFill>
                <a:latin typeface="Microsoft JhengHei"/>
                <a:ea typeface="Microsoft JhengHei"/>
              </a:rPr>
              <a:t>累積報酬</a:t>
            </a:r>
          </a:p>
          <a:p>
            <a:r>
              <a:rPr sz="3000" b="1">
                <a:solidFill>
                  <a:srgbClr val="2E8B57"/>
                </a:solidFill>
                <a:latin typeface="Microsoft JhengHei"/>
                <a:ea typeface="Microsoft JhengHei"/>
              </a:rPr>
              <a:t>-13.68%</a:t>
            </a:r>
          </a:p>
        </p:txBody>
      </p:sp>
      <p:sp>
        <p:nvSpPr>
          <p:cNvPr id="9" name="Rectangle 8"/>
          <p:cNvSpPr/>
          <p:nvPr/>
        </p:nvSpPr>
        <p:spPr>
          <a:xfrm>
            <a:off x="6210147" y="1280160"/>
            <a:ext cx="2647873" cy="14630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7307" y="1371600"/>
            <a:ext cx="2373553" cy="1280160"/>
          </a:xfrm>
          <a:prstGeom prst="rect">
            <a:avLst/>
          </a:prstGeom>
          <a:noFill/>
        </p:spPr>
        <p:txBody>
          <a:bodyPr wrap="none">
            <a:spAutoFit/>
          </a:bodyPr>
          <a:lstStyle/>
          <a:p>
            <a:r>
              <a:rPr sz="1300" b="0">
                <a:solidFill>
                  <a:srgbClr val="57606A"/>
                </a:solidFill>
                <a:latin typeface="Microsoft JhengHei"/>
                <a:ea typeface="Microsoft JhengHei"/>
              </a:rPr>
              <a:t>執行後持股率</a:t>
            </a:r>
          </a:p>
          <a:p>
            <a:r>
              <a:rPr sz="3000" b="1">
                <a:solidFill>
                  <a:srgbClr val="1F2328"/>
                </a:solidFill>
                <a:latin typeface="Microsoft JhengHei"/>
                <a:ea typeface="Microsoft JhengHei"/>
              </a:rPr>
              <a:t>93.0%</a:t>
            </a:r>
          </a:p>
        </p:txBody>
      </p:sp>
      <p:sp>
        <p:nvSpPr>
          <p:cNvPr id="11" name="Rectangle 10"/>
          <p:cNvSpPr/>
          <p:nvPr/>
        </p:nvSpPr>
        <p:spPr>
          <a:xfrm>
            <a:off x="9086621" y="1280160"/>
            <a:ext cx="2647873" cy="14630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23781" y="1371600"/>
            <a:ext cx="2373553" cy="1280160"/>
          </a:xfrm>
          <a:prstGeom prst="rect">
            <a:avLst/>
          </a:prstGeom>
          <a:noFill/>
        </p:spPr>
        <p:txBody>
          <a:bodyPr wrap="none">
            <a:spAutoFit/>
          </a:bodyPr>
          <a:lstStyle/>
          <a:p>
            <a:r>
              <a:rPr sz="1300" b="0">
                <a:solidFill>
                  <a:srgbClr val="57606A"/>
                </a:solidFill>
                <a:latin typeface="Microsoft JhengHei"/>
                <a:ea typeface="Microsoft JhengHei"/>
              </a:rPr>
              <a:t>大盤預測開盤</a:t>
            </a:r>
          </a:p>
          <a:p>
            <a:r>
              <a:rPr sz="3000" b="1">
                <a:solidFill>
                  <a:srgbClr val="C8423B"/>
                </a:solidFill>
                <a:latin typeface="Microsoft JhengHei"/>
                <a:ea typeface="Microsoft JhengHei"/>
              </a:rPr>
              <a:t>+0.24%</a:t>
            </a:r>
          </a:p>
        </p:txBody>
      </p:sp>
      <p:sp>
        <p:nvSpPr>
          <p:cNvPr id="13" name="TextBox 12"/>
          <p:cNvSpPr txBox="1"/>
          <p:nvPr/>
        </p:nvSpPr>
        <p:spPr>
          <a:xfrm>
            <a:off x="594360" y="3108960"/>
            <a:ext cx="10972800" cy="3108960"/>
          </a:xfrm>
          <a:prstGeom prst="rect">
            <a:avLst/>
          </a:prstGeom>
          <a:noFill/>
        </p:spPr>
        <p:txBody>
          <a:bodyPr wrap="square">
            <a:spAutoFit/>
          </a:bodyPr>
          <a:lstStyle/>
          <a:p>
            <a:pPr>
              <a:spcAft>
                <a:spcPts val="400"/>
              </a:spcAft>
            </a:pPr>
            <a:r>
              <a:rPr sz="1600" b="0">
                <a:solidFill>
                  <a:srgbClr val="1F2328"/>
                </a:solidFill>
                <a:latin typeface="Microsoft JhengHei"/>
                <a:ea typeface="Microsoft JhengHei"/>
              </a:rPr>
              <a:t>• 隔夜美股因Meta自由現金流轉負引發市場對AI資本支出效益疑慮，科技股遭強烈拋售，費城半導體暴跌 -6.72%，那斯達克重挫 -2.60%，標普500下跌 -1.21%。半導體指標股全面重挫，台積電ADR下跌 -4.52%、輝達下跌 -4.40%、超微暴跌 -8.10%。地緣政治與供應緊張則推升西德州原油上漲 1.02% 至 100.48 美元，資金避險湧入美債使美10年債殖利率大跌 -3.75% 至 4.95%。台股前一交易日加權指數重挫 846.34 點，隨後因颱風薔琵休市一日暫避連鎖補跌壓力。</a:t>
            </a:r>
          </a:p>
          <a:p>
            <a:pPr>
              <a:spcAft>
                <a:spcPts val="400"/>
              </a:spcAft>
            </a:pPr>
            <a:r>
              <a:rPr sz="1600" b="0">
                <a:solidFill>
                  <a:srgbClr val="1F2328"/>
                </a:solidFill>
                <a:latin typeface="Microsoft JhengHei"/>
                <a:ea typeface="Microsoft JhengHei"/>
              </a:rPr>
              <a:t>• 預測今日台股加權指數開盤將呈現開高，預測開盤價為 46151.0 點（跳空 +0.24%），開盤模型歷史命中率為 80.0%。盤中走向判斷為回落（預估 -0.22%），盤中模型歷史命中率為 80.0%。在大盤反彈力道受限下，操作宜保持謹慎，不急於追高。（注意：盤後版使用的美股資料為前一晚收盤，明早 07:00 盤前報告會以最新美股重新計算）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庫存怎麼處理</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a:t>
            </a:r>
          </a:p>
        </p:txBody>
      </p:sp>
      <p:graphicFrame>
        <p:nvGraphicFramePr>
          <p:cNvPr id="5" name="Table 4"/>
          <p:cNvGraphicFramePr>
            <a:graphicFrameLocks noGrp="1"/>
          </p:cNvGraphicFramePr>
          <p:nvPr/>
        </p:nvGraphicFramePr>
        <p:xfrm>
          <a:off x="457200" y="1188720"/>
          <a:ext cx="11247117" cy="5486400"/>
        </p:xfrm>
        <a:graphic>
          <a:graphicData uri="http://schemas.openxmlformats.org/drawingml/2006/table">
            <a:tbl>
              <a:tblPr firstRow="1" bandRow="1">
                <a:tableStyleId>{5C22544A-7EE6-4342-B048-85BDC9FD1C3A}</a:tableStyleId>
              </a:tblPr>
              <a:tblGrid>
                <a:gridCol w="2402297"/>
                <a:gridCol w="1201148"/>
                <a:gridCol w="1091953"/>
                <a:gridCol w="1091953"/>
                <a:gridCol w="4367813"/>
                <a:gridCol w="1091953"/>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持股</a:t>
                      </a:r>
                    </a:p>
                  </a:txBody>
                  <a:tcPr>
                    <a:solidFill>
                      <a:srgbClr val="1F3A5F"/>
                    </a:solidFill>
                  </a:tcPr>
                </a:tc>
                <a:tc>
                  <a:txBody>
                    <a:bodyPr/>
                    <a:lstStyle/>
                    <a:p>
                      <a:r>
                        <a:rPr sz="1100" b="1">
                          <a:solidFill>
                            <a:srgbClr val="FFFFFF"/>
                          </a:solidFill>
                          <a:latin typeface="Microsoft JhengHei"/>
                          <a:ea typeface="Microsoft JhengHei"/>
                        </a:rPr>
                        <a:t>損益</a:t>
                      </a:r>
                    </a:p>
                  </a:txBody>
                  <a:tcPr>
                    <a:solidFill>
                      <a:srgbClr val="1F3A5F"/>
                    </a:solidFill>
                  </a:tcPr>
                </a:tc>
                <a:tc>
                  <a:txBody>
                    <a:bodyPr/>
                    <a:lstStyle/>
                    <a:p>
                      <a:r>
                        <a:rPr sz="1100" b="1">
                          <a:solidFill>
                            <a:srgbClr val="FFFFFF"/>
                          </a:solidFill>
                          <a:latin typeface="Microsoft JhengHei"/>
                          <a:ea typeface="Microsoft JhengHei"/>
                        </a:rPr>
                        <a:t>建議</a:t>
                      </a:r>
                    </a:p>
                  </a:txBody>
                  <a:tcPr>
                    <a:solidFill>
                      <a:srgbClr val="1F3A5F"/>
                    </a:solidFill>
                  </a:tcPr>
                </a:tc>
                <a:tc>
                  <a:txBody>
                    <a:bodyPr/>
                    <a:lstStyle/>
                    <a:p>
                      <a:r>
                        <a:rPr sz="1100" b="1">
                          <a:solidFill>
                            <a:srgbClr val="FFFFFF"/>
                          </a:solidFill>
                          <a:latin typeface="Microsoft JhengHei"/>
                          <a:ea typeface="Microsoft JhengHei"/>
                        </a:rPr>
                        <a:t>數量</a:t>
                      </a:r>
                    </a:p>
                  </a:txBody>
                  <a:tcPr>
                    <a:solidFill>
                      <a:srgbClr val="1F3A5F"/>
                    </a:solidFill>
                  </a:tcPr>
                </a:tc>
                <a:tc>
                  <a:txBody>
                    <a:bodyPr/>
                    <a:lstStyle/>
                    <a:p>
                      <a:r>
                        <a:rPr sz="1100" b="1">
                          <a:solidFill>
                            <a:srgbClr val="FFFFFF"/>
                          </a:solidFill>
                          <a:latin typeface="Microsoft JhengHei"/>
                          <a:ea typeface="Microsoft JhengHei"/>
                        </a:rPr>
                        <a:t>限價</a:t>
                      </a:r>
                    </a:p>
                  </a:txBody>
                  <a:tcPr>
                    <a:solidFill>
                      <a:srgbClr val="1F3A5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1F2328"/>
                          </a:solidFill>
                          <a:latin typeface="Microsoft JhengHei"/>
                          <a:ea typeface="Microsoft JhengHei"/>
                        </a:rPr>
                        <a:t>1,639</a:t>
                      </a:r>
                    </a:p>
                  </a:txBody>
                  <a:tcPr>
                    <a:solidFill>
                      <a:srgbClr val="F3F5F8"/>
                    </a:solidFill>
                  </a:tcPr>
                </a:tc>
                <a:tc>
                  <a:txBody>
                    <a:bodyPr/>
                    <a:lstStyle/>
                    <a:p>
                      <a:r>
                        <a:rPr sz="1100" b="0">
                          <a:solidFill>
                            <a:srgbClr val="2E8B57"/>
                          </a:solidFill>
                          <a:latin typeface="Microsoft JhengHei"/>
                          <a:ea typeface="Microsoft JhengHei"/>
                        </a:rPr>
                        <a:t>-9.06%</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1 張又 639 股（共 1,639 股）</a:t>
                      </a:r>
                    </a:p>
                  </a:txBody>
                  <a:tcPr>
                    <a:solidFill>
                      <a:srgbClr val="F3F5F8"/>
                    </a:solidFill>
                  </a:tcPr>
                </a:tc>
                <a:tc>
                  <a:txBody>
                    <a:bodyPr/>
                    <a:lstStyle/>
                    <a:p>
                      <a:r>
                        <a:rPr sz="1100" b="0">
                          <a:solidFill>
                            <a:srgbClr val="1F2328"/>
                          </a:solidFill>
                          <a:latin typeface="Microsoft JhengHei"/>
                          <a:ea typeface="Microsoft JhengHei"/>
                        </a:rPr>
                        <a:t>976.0</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1F2328"/>
                          </a:solidFill>
                          <a:latin typeface="Microsoft JhengHei"/>
                          <a:ea typeface="Microsoft JhengHei"/>
                        </a:rPr>
                        <a:t>2,150</a:t>
                      </a:r>
                    </a:p>
                  </a:txBody>
                  <a:tcPr>
                    <a:solidFill>
                      <a:srgbClr val="FFFFFF"/>
                    </a:solidFill>
                  </a:tcPr>
                </a:tc>
                <a:tc>
                  <a:txBody>
                    <a:bodyPr/>
                    <a:lstStyle/>
                    <a:p>
                      <a:r>
                        <a:rPr sz="1100" b="0">
                          <a:solidFill>
                            <a:srgbClr val="2E8B57"/>
                          </a:solidFill>
                          <a:latin typeface="Microsoft JhengHei"/>
                          <a:ea typeface="Microsoft JhengHei"/>
                        </a:rPr>
                        <a:t>-5.95%</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2 張又 150 股（共 2,150 股）</a:t>
                      </a:r>
                    </a:p>
                  </a:txBody>
                  <a:tcPr>
                    <a:solidFill>
                      <a:srgbClr val="FFFFFF"/>
                    </a:solidFill>
                  </a:tcPr>
                </a:tc>
                <a:tc>
                  <a:txBody>
                    <a:bodyPr/>
                    <a:lstStyle/>
                    <a:p>
                      <a:r>
                        <a:rPr sz="1100" b="0">
                          <a:solidFill>
                            <a:srgbClr val="1F2328"/>
                          </a:solidFill>
                          <a:latin typeface="Microsoft JhengHei"/>
                          <a:ea typeface="Microsoft JhengHei"/>
                        </a:rPr>
                        <a:t>591.0</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1F2328"/>
                          </a:solidFill>
                          <a:latin typeface="Microsoft JhengHei"/>
                          <a:ea typeface="Microsoft JhengHei"/>
                        </a:rPr>
                        <a:t>1,091</a:t>
                      </a:r>
                    </a:p>
                  </a:txBody>
                  <a:tcPr>
                    <a:solidFill>
                      <a:srgbClr val="F3F5F8"/>
                    </a:solidFill>
                  </a:tcPr>
                </a:tc>
                <a:tc>
                  <a:txBody>
                    <a:bodyPr/>
                    <a:lstStyle/>
                    <a:p>
                      <a:r>
                        <a:rPr sz="1100" b="0">
                          <a:solidFill>
                            <a:srgbClr val="2E8B57"/>
                          </a:solidFill>
                          <a:latin typeface="Microsoft JhengHei"/>
                          <a:ea typeface="Microsoft JhengHei"/>
                        </a:rPr>
                        <a:t>-16.88%</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1 張又 91 股（共 1,091 股）</a:t>
                      </a:r>
                    </a:p>
                  </a:txBody>
                  <a:tcPr>
                    <a:solidFill>
                      <a:srgbClr val="F3F5F8"/>
                    </a:solidFill>
                  </a:tcPr>
                </a:tc>
                <a:tc>
                  <a:txBody>
                    <a:bodyPr/>
                    <a:lstStyle/>
                    <a:p>
                      <a:r>
                        <a:rPr sz="1100" b="0">
                          <a:solidFill>
                            <a:srgbClr val="1F2328"/>
                          </a:solidFill>
                          <a:latin typeface="Microsoft JhengHei"/>
                          <a:ea typeface="Microsoft JhengHei"/>
                        </a:rPr>
                        <a:t>837.0</a:t>
                      </a:r>
                    </a:p>
                  </a:txBody>
                  <a:tcPr>
                    <a:solidFill>
                      <a:srgbClr val="F3F5F8"/>
                    </a:solidFill>
                  </a:tcPr>
                </a:tc>
              </a:tr>
              <a:tr h="365760">
                <a:tc>
                  <a:txBody>
                    <a:bodyPr/>
                    <a:lstStyle/>
                    <a:p>
                      <a:r>
                        <a:rPr sz="1100" b="0">
                          <a:solidFill>
                            <a:srgbClr val="1F2328"/>
                          </a:solidFill>
                          <a:latin typeface="Microsoft JhengHei"/>
                          <a:ea typeface="Microsoft JhengHei"/>
                        </a:rPr>
                        <a:t>6213 聯茂</a:t>
                      </a:r>
                    </a:p>
                  </a:txBody>
                  <a:tcPr>
                    <a:solidFill>
                      <a:srgbClr val="FFFFFF"/>
                    </a:solidFill>
                  </a:tcPr>
                </a:tc>
                <a:tc>
                  <a:txBody>
                    <a:bodyPr/>
                    <a:lstStyle/>
                    <a:p>
                      <a:r>
                        <a:rPr sz="1100" b="0">
                          <a:solidFill>
                            <a:srgbClr val="1F2328"/>
                          </a:solidFill>
                          <a:latin typeface="Microsoft JhengHei"/>
                          <a:ea typeface="Microsoft JhengHei"/>
                        </a:rPr>
                        <a:t>1,000</a:t>
                      </a:r>
                    </a:p>
                  </a:txBody>
                  <a:tcPr>
                    <a:solidFill>
                      <a:srgbClr val="FFFFFF"/>
                    </a:solidFill>
                  </a:tcPr>
                </a:tc>
                <a:tc>
                  <a:txBody>
                    <a:bodyPr/>
                    <a:lstStyle/>
                    <a:p>
                      <a:r>
                        <a:rPr sz="1100" b="0">
                          <a:solidFill>
                            <a:srgbClr val="C8423B"/>
                          </a:solidFill>
                          <a:latin typeface="Microsoft JhengHei"/>
                          <a:ea typeface="Microsoft JhengHei"/>
                        </a:rPr>
                        <a:t>+6.87%</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1 張（1,000 股）</a:t>
                      </a:r>
                    </a:p>
                  </a:txBody>
                  <a:tcPr>
                    <a:solidFill>
                      <a:srgbClr val="FFFFFF"/>
                    </a:solidFill>
                  </a:tcPr>
                </a:tc>
                <a:tc>
                  <a:txBody>
                    <a:bodyPr/>
                    <a:lstStyle/>
                    <a:p>
                      <a:r>
                        <a:rPr sz="1100" b="0">
                          <a:solidFill>
                            <a:srgbClr val="1F2328"/>
                          </a:solidFill>
                          <a:latin typeface="Microsoft JhengHei"/>
                          <a:ea typeface="Microsoft JhengHei"/>
                        </a:rPr>
                        <a:t>769.0</a:t>
                      </a:r>
                    </a:p>
                  </a:txBody>
                  <a:tcPr>
                    <a:solidFill>
                      <a:srgbClr val="FFFFFF"/>
                    </a:solidFill>
                  </a:tcPr>
                </a:tc>
              </a:tr>
              <a:tr h="365760">
                <a:tc>
                  <a:txBody>
                    <a:bodyPr/>
                    <a:lstStyle/>
                    <a:p>
                      <a:r>
                        <a:rPr sz="1100" b="0">
                          <a:solidFill>
                            <a:srgbClr val="1F2328"/>
                          </a:solidFill>
                          <a:latin typeface="Microsoft JhengHei"/>
                          <a:ea typeface="Microsoft JhengHei"/>
                        </a:rPr>
                        <a:t>2889 國票金</a:t>
                      </a:r>
                    </a:p>
                  </a:txBody>
                  <a:tcPr>
                    <a:solidFill>
                      <a:srgbClr val="F3F5F8"/>
                    </a:solidFill>
                  </a:tcPr>
                </a:tc>
                <a:tc>
                  <a:txBody>
                    <a:bodyPr/>
                    <a:lstStyle/>
                    <a:p>
                      <a:r>
                        <a:rPr sz="1100" b="0">
                          <a:solidFill>
                            <a:srgbClr val="1F2328"/>
                          </a:solidFill>
                          <a:latin typeface="Microsoft JhengHei"/>
                          <a:ea typeface="Microsoft JhengHei"/>
                        </a:rPr>
                        <a:t>40,416</a:t>
                      </a:r>
                    </a:p>
                  </a:txBody>
                  <a:tcPr>
                    <a:solidFill>
                      <a:srgbClr val="F3F5F8"/>
                    </a:solidFill>
                  </a:tcPr>
                </a:tc>
                <a:tc>
                  <a:txBody>
                    <a:bodyPr/>
                    <a:lstStyle/>
                    <a:p>
                      <a:r>
                        <a:rPr sz="1100" b="0">
                          <a:solidFill>
                            <a:srgbClr val="C8423B"/>
                          </a:solidFill>
                          <a:latin typeface="Microsoft JhengHei"/>
                          <a:ea typeface="Microsoft JhengHei"/>
                        </a:rPr>
                        <a:t>+5.68%</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40 張又 416 股（共 40,416 股）</a:t>
                      </a:r>
                    </a:p>
                  </a:txBody>
                  <a:tcPr>
                    <a:solidFill>
                      <a:srgbClr val="F3F5F8"/>
                    </a:solidFill>
                  </a:tcPr>
                </a:tc>
                <a:tc>
                  <a:txBody>
                    <a:bodyPr/>
                    <a:lstStyle/>
                    <a:p>
                      <a:r>
                        <a:rPr sz="1100" b="0">
                          <a:solidFill>
                            <a:srgbClr val="1F2328"/>
                          </a:solidFill>
                          <a:latin typeface="Microsoft JhengHei"/>
                          <a:ea typeface="Microsoft JhengHei"/>
                        </a:rPr>
                        <a:t>16.75</a:t>
                      </a:r>
                    </a:p>
                  </a:txBody>
                  <a:tcPr>
                    <a:solidFill>
                      <a:srgbClr val="F3F5F8"/>
                    </a:solidFill>
                  </a:tcPr>
                </a:tc>
              </a:tr>
              <a:tr h="365760">
                <a:tc>
                  <a:txBody>
                    <a:bodyPr/>
                    <a:lstStyle/>
                    <a:p>
                      <a:r>
                        <a:rPr sz="1100" b="0">
                          <a:solidFill>
                            <a:srgbClr val="1F2328"/>
                          </a:solidFill>
                          <a:latin typeface="Microsoft JhengHei"/>
                          <a:ea typeface="Microsoft JhengHei"/>
                        </a:rPr>
                        <a:t>5880 合庫金</a:t>
                      </a:r>
                    </a:p>
                  </a:txBody>
                  <a:tcPr>
                    <a:solidFill>
                      <a:srgbClr val="FFFFFF"/>
                    </a:solidFill>
                  </a:tcPr>
                </a:tc>
                <a:tc>
                  <a:txBody>
                    <a:bodyPr/>
                    <a:lstStyle/>
                    <a:p>
                      <a:r>
                        <a:rPr sz="1100" b="0">
                          <a:solidFill>
                            <a:srgbClr val="1F2328"/>
                          </a:solidFill>
                          <a:latin typeface="Microsoft JhengHei"/>
                          <a:ea typeface="Microsoft JhengHei"/>
                        </a:rPr>
                        <a:t>24,000</a:t>
                      </a:r>
                    </a:p>
                  </a:txBody>
                  <a:tcPr>
                    <a:solidFill>
                      <a:srgbClr val="FFFFFF"/>
                    </a:solidFill>
                  </a:tcPr>
                </a:tc>
                <a:tc>
                  <a:txBody>
                    <a:bodyPr/>
                    <a:lstStyle/>
                    <a:p>
                      <a:r>
                        <a:rPr sz="1100" b="0">
                          <a:solidFill>
                            <a:srgbClr val="C8423B"/>
                          </a:solidFill>
                          <a:latin typeface="Microsoft JhengHei"/>
                          <a:ea typeface="Microsoft JhengHei"/>
                        </a:rPr>
                        <a:t>+7.89%</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24 張（24,000 股）</a:t>
                      </a:r>
                    </a:p>
                  </a:txBody>
                  <a:tcPr>
                    <a:solidFill>
                      <a:srgbClr val="FFFFFF"/>
                    </a:solidFill>
                  </a:tcPr>
                </a:tc>
                <a:tc>
                  <a:txBody>
                    <a:bodyPr/>
                    <a:lstStyle/>
                    <a:p>
                      <a:r>
                        <a:rPr sz="1100" b="0">
                          <a:solidFill>
                            <a:srgbClr val="1F2328"/>
                          </a:solidFill>
                          <a:latin typeface="Microsoft JhengHei"/>
                          <a:ea typeface="Microsoft JhengHei"/>
                        </a:rPr>
                        <a:t>27.9</a:t>
                      </a:r>
                    </a:p>
                  </a:txBody>
                  <a:tcPr>
                    <a:solidFill>
                      <a:srgbClr val="FFFFFF"/>
                    </a:solidFill>
                  </a:tcPr>
                </a:tc>
              </a:tr>
              <a:tr h="365760">
                <a:tc>
                  <a:txBody>
                    <a:bodyPr/>
                    <a:lstStyle/>
                    <a:p>
                      <a:r>
                        <a:rPr sz="1100" b="0">
                          <a:solidFill>
                            <a:srgbClr val="1F2328"/>
                          </a:solidFill>
                          <a:latin typeface="Microsoft JhengHei"/>
                          <a:ea typeface="Microsoft JhengHei"/>
                        </a:rPr>
                        <a:t>3591 艾笛森</a:t>
                      </a:r>
                    </a:p>
                  </a:txBody>
                  <a:tcPr>
                    <a:solidFill>
                      <a:srgbClr val="F3F5F8"/>
                    </a:solidFill>
                  </a:tcPr>
                </a:tc>
                <a:tc>
                  <a:txBody>
                    <a:bodyPr/>
                    <a:lstStyle/>
                    <a:p>
                      <a:r>
                        <a:rPr sz="1100" b="0">
                          <a:solidFill>
                            <a:srgbClr val="1F2328"/>
                          </a:solidFill>
                          <a:latin typeface="Microsoft JhengHei"/>
                          <a:ea typeface="Microsoft JhengHei"/>
                        </a:rPr>
                        <a:t>20,528</a:t>
                      </a:r>
                    </a:p>
                  </a:txBody>
                  <a:tcPr>
                    <a:solidFill>
                      <a:srgbClr val="F3F5F8"/>
                    </a:solidFill>
                  </a:tcPr>
                </a:tc>
                <a:tc>
                  <a:txBody>
                    <a:bodyPr/>
                    <a:lstStyle/>
                    <a:p>
                      <a:r>
                        <a:rPr sz="1100" b="0">
                          <a:solidFill>
                            <a:srgbClr val="2E8B57"/>
                          </a:solidFill>
                          <a:latin typeface="Microsoft JhengHei"/>
                          <a:ea typeface="Microsoft JhengHei"/>
                        </a:rPr>
                        <a:t>-6.36%</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20 張又 528 股（共 20,528 股）</a:t>
                      </a:r>
                    </a:p>
                  </a:txBody>
                  <a:tcPr>
                    <a:solidFill>
                      <a:srgbClr val="F3F5F8"/>
                    </a:solidFill>
                  </a:tcPr>
                </a:tc>
                <a:tc>
                  <a:txBody>
                    <a:bodyPr/>
                    <a:lstStyle/>
                    <a:p>
                      <a:r>
                        <a:rPr sz="1100" b="0">
                          <a:solidFill>
                            <a:srgbClr val="1F2328"/>
                          </a:solidFill>
                          <a:latin typeface="Microsoft JhengHei"/>
                          <a:ea typeface="Microsoft JhengHei"/>
                        </a:rPr>
                        <a:t>26.55</a:t>
                      </a:r>
                    </a:p>
                  </a:txBody>
                  <a:tcPr>
                    <a:solidFill>
                      <a:srgbClr val="F3F5F8"/>
                    </a:solidFill>
                  </a:tcPr>
                </a:tc>
              </a:tr>
              <a:tr h="365760">
                <a:tc>
                  <a:txBody>
                    <a:bodyPr/>
                    <a:lstStyle/>
                    <a:p>
                      <a:r>
                        <a:rPr sz="1100" b="0">
                          <a:solidFill>
                            <a:srgbClr val="1F2328"/>
                          </a:solidFill>
                          <a:latin typeface="Microsoft JhengHei"/>
                          <a:ea typeface="Microsoft JhengHei"/>
                        </a:rPr>
                        <a:t>2845 遠東銀</a:t>
                      </a:r>
                    </a:p>
                  </a:txBody>
                  <a:tcPr>
                    <a:solidFill>
                      <a:srgbClr val="FFFFFF"/>
                    </a:solidFill>
                  </a:tcPr>
                </a:tc>
                <a:tc>
                  <a:txBody>
                    <a:bodyPr/>
                    <a:lstStyle/>
                    <a:p>
                      <a:r>
                        <a:rPr sz="1100" b="0">
                          <a:solidFill>
                            <a:srgbClr val="1F2328"/>
                          </a:solidFill>
                          <a:latin typeface="Microsoft JhengHei"/>
                          <a:ea typeface="Microsoft JhengHei"/>
                        </a:rPr>
                        <a:t>36,071</a:t>
                      </a:r>
                    </a:p>
                  </a:txBody>
                  <a:tcPr>
                    <a:solidFill>
                      <a:srgbClr val="FFFFFF"/>
                    </a:solidFill>
                  </a:tcPr>
                </a:tc>
                <a:tc>
                  <a:txBody>
                    <a:bodyPr/>
                    <a:lstStyle/>
                    <a:p>
                      <a:r>
                        <a:rPr sz="1100" b="0">
                          <a:solidFill>
                            <a:srgbClr val="C8423B"/>
                          </a:solidFill>
                          <a:latin typeface="Microsoft JhengHei"/>
                          <a:ea typeface="Microsoft JhengHei"/>
                        </a:rPr>
                        <a:t>+2.55%</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36 張又 71 股（共 36,071 股）</a:t>
                      </a:r>
                    </a:p>
                  </a:txBody>
                  <a:tcPr>
                    <a:solidFill>
                      <a:srgbClr val="FFFFFF"/>
                    </a:solidFill>
                  </a:tcPr>
                </a:tc>
                <a:tc>
                  <a:txBody>
                    <a:bodyPr/>
                    <a:lstStyle/>
                    <a:p>
                      <a:r>
                        <a:rPr sz="1100" b="0">
                          <a:solidFill>
                            <a:srgbClr val="1F2328"/>
                          </a:solidFill>
                          <a:latin typeface="Microsoft JhengHei"/>
                          <a:ea typeface="Microsoft JhengHei"/>
                        </a:rPr>
                        <a:t>13.15</a:t>
                      </a:r>
                    </a:p>
                  </a:txBody>
                  <a:tcPr>
                    <a:solidFill>
                      <a:srgbClr val="FFFFFF"/>
                    </a:solidFill>
                  </a:tcPr>
                </a:tc>
              </a:tr>
              <a:tr h="365760">
                <a:tc>
                  <a:txBody>
                    <a:bodyPr/>
                    <a:lstStyle/>
                    <a:p>
                      <a:r>
                        <a:rPr sz="1100" b="0">
                          <a:solidFill>
                            <a:srgbClr val="1F2328"/>
                          </a:solidFill>
                          <a:latin typeface="Microsoft JhengHei"/>
                          <a:ea typeface="Microsoft JhengHei"/>
                        </a:rPr>
                        <a:t>2915 潤泰全</a:t>
                      </a:r>
                    </a:p>
                  </a:txBody>
                  <a:tcPr>
                    <a:solidFill>
                      <a:srgbClr val="F3F5F8"/>
                    </a:solidFill>
                  </a:tcPr>
                </a:tc>
                <a:tc>
                  <a:txBody>
                    <a:bodyPr/>
                    <a:lstStyle/>
                    <a:p>
                      <a:r>
                        <a:rPr sz="1100" b="0">
                          <a:solidFill>
                            <a:srgbClr val="1F2328"/>
                          </a:solidFill>
                          <a:latin typeface="Microsoft JhengHei"/>
                          <a:ea typeface="Microsoft JhengHei"/>
                        </a:rPr>
                        <a:t>7,173</a:t>
                      </a:r>
                    </a:p>
                  </a:txBody>
                  <a:tcPr>
                    <a:solidFill>
                      <a:srgbClr val="F3F5F8"/>
                    </a:solidFill>
                  </a:tcPr>
                </a:tc>
                <a:tc>
                  <a:txBody>
                    <a:bodyPr/>
                    <a:lstStyle/>
                    <a:p>
                      <a:r>
                        <a:rPr sz="1100" b="0">
                          <a:solidFill>
                            <a:srgbClr val="C8423B"/>
                          </a:solidFill>
                          <a:latin typeface="Microsoft JhengHei"/>
                          <a:ea typeface="Microsoft JhengHei"/>
                        </a:rPr>
                        <a:t>+0.45%</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7 張又 173 股（共 7,173 股）</a:t>
                      </a:r>
                    </a:p>
                  </a:txBody>
                  <a:tcPr>
                    <a:solidFill>
                      <a:srgbClr val="F3F5F8"/>
                    </a:solidFill>
                  </a:tcPr>
                </a:tc>
                <a:tc>
                  <a:txBody>
                    <a:bodyPr/>
                    <a:lstStyle/>
                    <a:p>
                      <a:r>
                        <a:rPr sz="1100" b="0">
                          <a:solidFill>
                            <a:srgbClr val="1F2328"/>
                          </a:solidFill>
                          <a:latin typeface="Microsoft JhengHei"/>
                          <a:ea typeface="Microsoft JhengHei"/>
                        </a:rPr>
                        <a:t>57.2</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1F2328"/>
                          </a:solidFill>
                          <a:latin typeface="Microsoft JhengHei"/>
                          <a:ea typeface="Microsoft JhengHei"/>
                        </a:rPr>
                        <a:t>3,000</a:t>
                      </a:r>
                    </a:p>
                  </a:txBody>
                  <a:tcPr>
                    <a:solidFill>
                      <a:srgbClr val="FFFFFF"/>
                    </a:solidFill>
                  </a:tcPr>
                </a:tc>
                <a:tc>
                  <a:txBody>
                    <a:bodyPr/>
                    <a:lstStyle/>
                    <a:p>
                      <a:r>
                        <a:rPr sz="1100" b="0">
                          <a:solidFill>
                            <a:srgbClr val="2E8B57"/>
                          </a:solidFill>
                          <a:latin typeface="Microsoft JhengHei"/>
                          <a:ea typeface="Microsoft JhengHei"/>
                        </a:rPr>
                        <a:t>-4.88%</a:t>
                      </a:r>
                    </a:p>
                  </a:txBody>
                  <a:tcPr>
                    <a:solidFill>
                      <a:srgbClr val="FFFFFF"/>
                    </a:solidFill>
                  </a:tcPr>
                </a:tc>
                <a:tc>
                  <a:txBody>
                    <a:bodyPr/>
                    <a:lstStyle/>
                    <a:p>
                      <a:r>
                        <a:rPr sz="1100" b="0">
                          <a:solidFill>
                            <a:srgbClr val="1F2328"/>
                          </a:solidFill>
                          <a:latin typeface="Microsoft JhengHei"/>
                          <a:ea typeface="Microsoft JhengHei"/>
                        </a:rPr>
                        <a:t>全部出清</a:t>
                      </a:r>
                    </a:p>
                  </a:txBody>
                  <a:tcPr>
                    <a:solidFill>
                      <a:srgbClr val="FFFFFF"/>
                    </a:solidFill>
                  </a:tcPr>
                </a:tc>
                <a:tc>
                  <a:txBody>
                    <a:bodyPr/>
                    <a:lstStyle/>
                    <a:p>
                      <a:r>
                        <a:rPr sz="1100" b="0">
                          <a:solidFill>
                            <a:srgbClr val="1F2328"/>
                          </a:solidFill>
                          <a:latin typeface="Microsoft JhengHei"/>
                          <a:ea typeface="Microsoft JhengHei"/>
                        </a:rPr>
                        <a:t>賣出全部 3 張（3,000 股）</a:t>
                      </a:r>
                    </a:p>
                  </a:txBody>
                  <a:tcPr>
                    <a:solidFill>
                      <a:srgbClr val="FFFFFF"/>
                    </a:solidFill>
                  </a:tcPr>
                </a:tc>
                <a:tc>
                  <a:txBody>
                    <a:bodyPr/>
                    <a:lstStyle/>
                    <a:p>
                      <a:r>
                        <a:rPr sz="1100" b="0">
                          <a:solidFill>
                            <a:srgbClr val="1F2328"/>
                          </a:solidFill>
                          <a:latin typeface="Microsoft JhengHei"/>
                          <a:ea typeface="Microsoft JhengHei"/>
                        </a:rPr>
                        <a:t>27.8</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1F2328"/>
                          </a:solidFill>
                          <a:latin typeface="Microsoft JhengHei"/>
                          <a:ea typeface="Microsoft JhengHei"/>
                        </a:rPr>
                        <a:t>8</a:t>
                      </a:r>
                    </a:p>
                  </a:txBody>
                  <a:tcPr>
                    <a:solidFill>
                      <a:srgbClr val="F3F5F8"/>
                    </a:solidFill>
                  </a:tcPr>
                </a:tc>
                <a:tc>
                  <a:txBody>
                    <a:bodyPr/>
                    <a:lstStyle/>
                    <a:p>
                      <a:r>
                        <a:rPr sz="1100" b="0">
                          <a:solidFill>
                            <a:srgbClr val="2E8B57"/>
                          </a:solidFill>
                          <a:latin typeface="Microsoft JhengHei"/>
                          <a:ea typeface="Microsoft JhengHei"/>
                        </a:rPr>
                        <a:t>-16.30%</a:t>
                      </a:r>
                    </a:p>
                  </a:txBody>
                  <a:tcPr>
                    <a:solidFill>
                      <a:srgbClr val="F3F5F8"/>
                    </a:solidFill>
                  </a:tcPr>
                </a:tc>
                <a:tc>
                  <a:txBody>
                    <a:bodyPr/>
                    <a:lstStyle/>
                    <a:p>
                      <a:r>
                        <a:rPr sz="1100" b="0">
                          <a:solidFill>
                            <a:srgbClr val="1F2328"/>
                          </a:solidFill>
                          <a:latin typeface="Microsoft JhengHei"/>
                          <a:ea typeface="Microsoft JhengHei"/>
                        </a:rPr>
                        <a:t>全部出清</a:t>
                      </a:r>
                    </a:p>
                  </a:txBody>
                  <a:tcPr>
                    <a:solidFill>
                      <a:srgbClr val="F3F5F8"/>
                    </a:solidFill>
                  </a:tcPr>
                </a:tc>
                <a:tc>
                  <a:txBody>
                    <a:bodyPr/>
                    <a:lstStyle/>
                    <a:p>
                      <a:r>
                        <a:rPr sz="1100" b="0">
                          <a:solidFill>
                            <a:srgbClr val="1F2328"/>
                          </a:solidFill>
                          <a:latin typeface="Microsoft JhengHei"/>
                          <a:ea typeface="Microsoft JhengHei"/>
                        </a:rPr>
                        <a:t>賣出全部 8 股（零股）</a:t>
                      </a:r>
                    </a:p>
                  </a:txBody>
                  <a:tcPr>
                    <a:solidFill>
                      <a:srgbClr val="F3F5F8"/>
                    </a:solidFill>
                  </a:tcPr>
                </a:tc>
                <a:tc>
                  <a:txBody>
                    <a:bodyPr/>
                    <a:lstStyle/>
                    <a:p>
                      <a:r>
                        <a:rPr sz="1100" b="0">
                          <a:solidFill>
                            <a:srgbClr val="1F2328"/>
                          </a:solidFill>
                          <a:latin typeface="Microsoft JhengHei"/>
                          <a:ea typeface="Microsoft JhengHei"/>
                        </a:rPr>
                        <a:t>1960.0</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1F2328"/>
                          </a:solidFill>
                          <a:latin typeface="Microsoft JhengHei"/>
                          <a:ea typeface="Microsoft JhengHei"/>
                        </a:rPr>
                        <a:t>1,000</a:t>
                      </a:r>
                    </a:p>
                  </a:txBody>
                  <a:tcPr>
                    <a:solidFill>
                      <a:srgbClr val="FFFFFF"/>
                    </a:solidFill>
                  </a:tcPr>
                </a:tc>
                <a:tc>
                  <a:txBody>
                    <a:bodyPr/>
                    <a:lstStyle/>
                    <a:p>
                      <a:r>
                        <a:rPr sz="1100" b="0">
                          <a:solidFill>
                            <a:srgbClr val="2E8B57"/>
                          </a:solidFill>
                          <a:latin typeface="Microsoft JhengHei"/>
                          <a:ea typeface="Microsoft JhengHei"/>
                        </a:rPr>
                        <a:t>-9.65%</a:t>
                      </a:r>
                    </a:p>
                  </a:txBody>
                  <a:tcPr>
                    <a:solidFill>
                      <a:srgbClr val="FFFFFF"/>
                    </a:solidFill>
                  </a:tcPr>
                </a:tc>
                <a:tc>
                  <a:txBody>
                    <a:bodyPr/>
                    <a:lstStyle/>
                    <a:p>
                      <a:r>
                        <a:rPr sz="1100" b="0">
                          <a:solidFill>
                            <a:srgbClr val="1F2328"/>
                          </a:solidFill>
                          <a:latin typeface="Microsoft JhengHei"/>
                          <a:ea typeface="Microsoft JhengHei"/>
                        </a:rPr>
                        <a:t>減碼</a:t>
                      </a:r>
                    </a:p>
                  </a:txBody>
                  <a:tcPr>
                    <a:solidFill>
                      <a:srgbClr val="FFFFFF"/>
                    </a:solidFill>
                  </a:tcPr>
                </a:tc>
                <a:tc>
                  <a:txBody>
                    <a:bodyPr/>
                    <a:lstStyle/>
                    <a:p>
                      <a:r>
                        <a:rPr sz="1100" b="0">
                          <a:solidFill>
                            <a:srgbClr val="1F2328"/>
                          </a:solidFill>
                          <a:latin typeface="Microsoft JhengHei"/>
                          <a:ea typeface="Microsoft JhengHei"/>
                        </a:rPr>
                        <a:t>賣出 333 股（零股），保留 667 股（零股）</a:t>
                      </a:r>
                    </a:p>
                  </a:txBody>
                  <a:tcPr>
                    <a:solidFill>
                      <a:srgbClr val="FFFFFF"/>
                    </a:solidFill>
                  </a:tcPr>
                </a:tc>
                <a:tc>
                  <a:txBody>
                    <a:bodyPr/>
                    <a:lstStyle/>
                    <a:p>
                      <a:r>
                        <a:rPr sz="1100" b="0">
                          <a:solidFill>
                            <a:srgbClr val="1F2328"/>
                          </a:solidFill>
                          <a:latin typeface="Microsoft JhengHei"/>
                          <a:ea typeface="Microsoft JhengHei"/>
                        </a:rPr>
                        <a:t>103.0</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1F2328"/>
                          </a:solidFill>
                          <a:latin typeface="Microsoft JhengHei"/>
                          <a:ea typeface="Microsoft JhengHei"/>
                        </a:rPr>
                        <a:t>570</a:t>
                      </a:r>
                    </a:p>
                  </a:txBody>
                  <a:tcPr>
                    <a:solidFill>
                      <a:srgbClr val="F3F5F8"/>
                    </a:solidFill>
                  </a:tcPr>
                </a:tc>
                <a:tc>
                  <a:txBody>
                    <a:bodyPr/>
                    <a:lstStyle/>
                    <a:p>
                      <a:r>
                        <a:rPr sz="1100" b="0">
                          <a:solidFill>
                            <a:srgbClr val="2E8B57"/>
                          </a:solidFill>
                          <a:latin typeface="Microsoft JhengHei"/>
                          <a:ea typeface="Microsoft JhengHei"/>
                        </a:rPr>
                        <a:t>-8.18%</a:t>
                      </a:r>
                    </a:p>
                  </a:txBody>
                  <a:tcPr>
                    <a:solidFill>
                      <a:srgbClr val="F3F5F8"/>
                    </a:solidFill>
                  </a:tcPr>
                </a:tc>
                <a:tc>
                  <a:txBody>
                    <a:bodyPr/>
                    <a:lstStyle/>
                    <a:p>
                      <a:r>
                        <a:rPr sz="1100" b="0">
                          <a:solidFill>
                            <a:srgbClr val="1F2328"/>
                          </a:solidFill>
                          <a:latin typeface="Microsoft JhengHei"/>
                          <a:ea typeface="Microsoft JhengHei"/>
                        </a:rPr>
                        <a:t>加碼</a:t>
                      </a:r>
                    </a:p>
                  </a:txBody>
                  <a:tcPr>
                    <a:solidFill>
                      <a:srgbClr val="F3F5F8"/>
                    </a:solidFill>
                  </a:tcPr>
                </a:tc>
                <a:tc>
                  <a:txBody>
                    <a:bodyPr/>
                    <a:lstStyle/>
                    <a:p>
                      <a:r>
                        <a:rPr sz="1100" b="0">
                          <a:solidFill>
                            <a:srgbClr val="1F2328"/>
                          </a:solidFill>
                          <a:latin typeface="Microsoft JhengHei"/>
                          <a:ea typeface="Microsoft JhengHei"/>
                        </a:rPr>
                        <a:t>加買 888 股（零股），加碼後共 1 張又 458 股（共 1,458 股）</a:t>
                      </a:r>
                    </a:p>
                  </a:txBody>
                  <a:tcPr>
                    <a:solidFill>
                      <a:srgbClr val="F3F5F8"/>
                    </a:solidFill>
                  </a:tcPr>
                </a:tc>
                <a:tc>
                  <a:txBody>
                    <a:bodyPr/>
                    <a:lstStyle/>
                    <a:p>
                      <a:r>
                        <a:rPr sz="1100" b="0">
                          <a:solidFill>
                            <a:srgbClr val="1F2328"/>
                          </a:solidFill>
                          <a:latin typeface="Microsoft JhengHei"/>
                          <a:ea typeface="Microsoft JhengHei"/>
                        </a:rPr>
                        <a:t>1080.0</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1F2328"/>
                          </a:solidFill>
                          <a:latin typeface="Microsoft JhengHei"/>
                          <a:ea typeface="Microsoft JhengHei"/>
                        </a:rPr>
                        <a:t>1,000</a:t>
                      </a:r>
                    </a:p>
                  </a:txBody>
                  <a:tcPr>
                    <a:solidFill>
                      <a:srgbClr val="FFFFFF"/>
                    </a:solidFill>
                  </a:tcPr>
                </a:tc>
                <a:tc>
                  <a:txBody>
                    <a:bodyPr/>
                    <a:lstStyle/>
                    <a:p>
                      <a:r>
                        <a:rPr sz="1100" b="0">
                          <a:solidFill>
                            <a:srgbClr val="C8423B"/>
                          </a:solidFill>
                          <a:latin typeface="Microsoft JhengHei"/>
                          <a:ea typeface="Microsoft JhengHei"/>
                        </a:rPr>
                        <a:t>+1.83%</a:t>
                      </a:r>
                    </a:p>
                  </a:txBody>
                  <a:tcPr>
                    <a:solidFill>
                      <a:srgbClr val="FFFFFF"/>
                    </a:solidFill>
                  </a:tcPr>
                </a:tc>
                <a:tc>
                  <a:txBody>
                    <a:bodyPr/>
                    <a:lstStyle/>
                    <a:p>
                      <a:r>
                        <a:rPr sz="1100" b="0">
                          <a:solidFill>
                            <a:srgbClr val="1F2328"/>
                          </a:solidFill>
                          <a:latin typeface="Microsoft JhengHei"/>
                          <a:ea typeface="Microsoft JhengHei"/>
                        </a:rPr>
                        <a:t>加碼</a:t>
                      </a:r>
                    </a:p>
                  </a:txBody>
                  <a:tcPr>
                    <a:solidFill>
                      <a:srgbClr val="FFFFFF"/>
                    </a:solidFill>
                  </a:tcPr>
                </a:tc>
                <a:tc>
                  <a:txBody>
                    <a:bodyPr/>
                    <a:lstStyle/>
                    <a:p>
                      <a:r>
                        <a:rPr sz="1100" b="0">
                          <a:solidFill>
                            <a:srgbClr val="1F2328"/>
                          </a:solidFill>
                          <a:latin typeface="Microsoft JhengHei"/>
                          <a:ea typeface="Microsoft JhengHei"/>
                        </a:rPr>
                        <a:t>加買 8 張又 604 股（共 8,604 股），加碼後共 9 張又 604 股（共 9,604 股）</a:t>
                      </a:r>
                    </a:p>
                  </a:txBody>
                  <a:tcPr>
                    <a:solidFill>
                      <a:srgbClr val="FFFFFF"/>
                    </a:solidFill>
                  </a:tcPr>
                </a:tc>
                <a:tc>
                  <a:txBody>
                    <a:bodyPr/>
                    <a:lstStyle/>
                    <a:p>
                      <a:r>
                        <a:rPr sz="1100" b="0">
                          <a:solidFill>
                            <a:srgbClr val="1F2328"/>
                          </a:solidFill>
                          <a:latin typeface="Microsoft JhengHei"/>
                          <a:ea typeface="Microsoft JhengHei"/>
                        </a:rPr>
                        <a:t>72.3</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警示提醒（嚴重 4／警告 4）</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4</a:t>
            </a:r>
          </a:p>
        </p:txBody>
      </p:sp>
      <p:sp>
        <p:nvSpPr>
          <p:cNvPr id="5" name="TextBox 4"/>
          <p:cNvSpPr txBox="1"/>
          <p:nvPr/>
        </p:nvSpPr>
        <p:spPr>
          <a:xfrm>
            <a:off x="594360" y="1188720"/>
            <a:ext cx="10972800" cy="5029200"/>
          </a:xfrm>
          <a:prstGeom prst="rect">
            <a:avLst/>
          </a:prstGeom>
          <a:noFill/>
        </p:spPr>
        <p:txBody>
          <a:bodyPr wrap="square">
            <a:spAutoFit/>
          </a:bodyPr>
          <a:lstStyle/>
          <a:p>
            <a:pPr>
              <a:spcAft>
                <a:spcPts val="400"/>
              </a:spcAft>
            </a:pPr>
            <a:r>
              <a:rPr sz="1400" b="0">
                <a:solidFill>
                  <a:srgbClr val="1F2328"/>
                </a:solidFill>
                <a:latin typeface="Microsoft JhengHei"/>
                <a:ea typeface="Microsoft JhengHei"/>
              </a:rPr>
              <a:t>【嚴重】3189 景碩：已跌破停損價 999.0（目前 986.0）：依紀律全數出場 → 建議賣出 1 張又 639 股（共 1,639 股）（持有 1,639 股的 100%），限價 976.0</a:t>
            </a:r>
          </a:p>
          <a:p>
            <a:pPr>
              <a:spcAft>
                <a:spcPts val="400"/>
              </a:spcAft>
            </a:pPr>
            <a:r>
              <a:rPr sz="1400" b="0">
                <a:solidFill>
                  <a:srgbClr val="1F2328"/>
                </a:solidFill>
                <a:latin typeface="Microsoft JhengHei"/>
                <a:ea typeface="Microsoft JhengHei"/>
              </a:rPr>
              <a:t>【嚴重】1560 中砂：已跌破停損價 936.69（目前 846.0）：依紀律全數出場 → 建議賣出 1 張又 91 股（共 1,091 股）（持有 1,091 股的 100%），限價 837.0</a:t>
            </a:r>
          </a:p>
          <a:p>
            <a:pPr>
              <a:spcAft>
                <a:spcPts val="400"/>
              </a:spcAft>
            </a:pPr>
            <a:r>
              <a:rPr sz="1400" b="0">
                <a:solidFill>
                  <a:srgbClr val="1F2328"/>
                </a:solidFill>
                <a:latin typeface="Microsoft JhengHei"/>
                <a:ea typeface="Microsoft JhengHei"/>
              </a:rPr>
              <a:t>【嚴重】6196 帆宣：已跌破停損價 599.23（目前 597.0）：依紀律全數出場 → 建議賣出 2 張又 150 股（共 2,150 股）（持有 2,150 股的 100%），限價 591.0</a:t>
            </a:r>
          </a:p>
          <a:p>
            <a:pPr>
              <a:spcAft>
                <a:spcPts val="400"/>
              </a:spcAft>
            </a:pPr>
            <a:r>
              <a:rPr sz="1400" b="0">
                <a:solidFill>
                  <a:srgbClr val="1F2328"/>
                </a:solidFill>
                <a:latin typeface="Microsoft JhengHei"/>
                <a:ea typeface="Microsoft JhengHei"/>
              </a:rPr>
              <a:t>【嚴重】2360 致茂：已跌破停損價 2069.91（目前 1980.0）：依紀律全數出場 → 建議賣出 8 股（零股）（持有 8 股的 100%），限價 1960.0</a:t>
            </a:r>
          </a:p>
          <a:p>
            <a:pPr>
              <a:spcAft>
                <a:spcPts val="400"/>
              </a:spcAft>
            </a:pPr>
            <a:r>
              <a:rPr sz="1400" b="0">
                <a:solidFill>
                  <a:srgbClr val="1F2328"/>
                </a:solidFill>
                <a:latin typeface="Microsoft JhengHei"/>
                <a:ea typeface="Microsoft JhengHei"/>
              </a:rPr>
              <a:t>【警告】6213 聯茂：單日重挫 -5.59%：先減碼三分之一，確認原因後再決定 → 建議賣出 333 股（零股）（持有 1,000 股的 33%），限價 769.0</a:t>
            </a:r>
          </a:p>
          <a:p>
            <a:pPr>
              <a:spcAft>
                <a:spcPts val="400"/>
              </a:spcAft>
            </a:pPr>
            <a:r>
              <a:rPr sz="1400" b="0">
                <a:solidFill>
                  <a:srgbClr val="1F2328"/>
                </a:solidFill>
                <a:latin typeface="Microsoft JhengHei"/>
                <a:ea typeface="Microsoft JhengHei"/>
              </a:rPr>
              <a:t>【警告】6182 合晶：單日重挫 -5.86%：先減碼三分之一，確認原因後再決定 → 建議賣出 333 股（零股）（持有 1,000 股的 33%），限價 103.0</a:t>
            </a:r>
          </a:p>
          <a:p>
            <a:pPr>
              <a:spcAft>
                <a:spcPts val="400"/>
              </a:spcAft>
            </a:pPr>
            <a:r>
              <a:rPr sz="1400" b="0">
                <a:solidFill>
                  <a:srgbClr val="1F2328"/>
                </a:solidFill>
                <a:latin typeface="Microsoft JhengHei"/>
                <a:ea typeface="Microsoft JhengHei"/>
              </a:rPr>
              <a:t>【警告】費城半導體重挫 -6.72%：電子權值股開盤大概率承壓 → 半導體／電子持股開盤先觀察，不急著加碼</a:t>
            </a:r>
          </a:p>
          <a:p>
            <a:pPr>
              <a:spcAft>
                <a:spcPts val="400"/>
              </a:spcAft>
            </a:pPr>
            <a:r>
              <a:rPr sz="1400" b="0">
                <a:solidFill>
                  <a:srgbClr val="1F2328"/>
                </a:solidFill>
                <a:latin typeface="Microsoft JhengHei"/>
                <a:ea typeface="Microsoft JhengHei"/>
              </a:rPr>
              <a:t>【警告】19 檔跌停：集中在：電子零組件業 6 檔、通信網路業 3 檔、光電業 2 檔 → 同產業持股留意連動下跌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今日漲跌停與原因（漲停 21／跌停 19）</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5</a:t>
            </a:r>
          </a:p>
        </p:txBody>
      </p:sp>
      <p:graphicFrame>
        <p:nvGraphicFramePr>
          <p:cNvPr id="5" name="Table 4"/>
          <p:cNvGraphicFramePr>
            <a:graphicFrameLocks noGrp="1"/>
          </p:cNvGraphicFramePr>
          <p:nvPr/>
        </p:nvGraphicFramePr>
        <p:xfrm>
          <a:off x="457200" y="1188720"/>
          <a:ext cx="11247119" cy="4754880"/>
        </p:xfrm>
        <a:graphic>
          <a:graphicData uri="http://schemas.openxmlformats.org/drawingml/2006/table">
            <a:tbl>
              <a:tblPr firstRow="1" bandRow="1">
                <a:tableStyleId>{5C22544A-7EE6-4342-B048-85BDC9FD1C3A}</a:tableStyleId>
              </a:tblPr>
              <a:tblGrid>
                <a:gridCol w="2577465"/>
                <a:gridCol w="1640204"/>
                <a:gridCol w="7029450"/>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產業</a:t>
                      </a:r>
                    </a:p>
                  </a:txBody>
                  <a:tcPr>
                    <a:solidFill>
                      <a:srgbClr val="1F3A5F"/>
                    </a:solidFill>
                  </a:tcPr>
                </a:tc>
                <a:tc>
                  <a:txBody>
                    <a:bodyPr/>
                    <a:lstStyle/>
                    <a:p>
                      <a:r>
                        <a:rPr sz="1100" b="1">
                          <a:solidFill>
                            <a:srgbClr val="FFFFFF"/>
                          </a:solidFill>
                          <a:latin typeface="Microsoft JhengHei"/>
                          <a:ea typeface="Microsoft JhengHei"/>
                        </a:rPr>
                        <a:t>可能原因</a:t>
                      </a:r>
                    </a:p>
                  </a:txBody>
                  <a:tcPr>
                    <a:solidFill>
                      <a:srgbClr val="1F3A5F"/>
                    </a:solidFill>
                  </a:tcPr>
                </a:tc>
              </a:tr>
              <a:tr h="365760">
                <a:tc>
                  <a:txBody>
                    <a:bodyPr/>
                    <a:lstStyle/>
                    <a:p>
                      <a:r>
                        <a:rPr sz="1100" b="0">
                          <a:solidFill>
                            <a:srgbClr val="1F2328"/>
                          </a:solidFill>
                          <a:latin typeface="Microsoft JhengHei"/>
                          <a:ea typeface="Microsoft JhengHei"/>
                        </a:rPr>
                        <a:t>跌停｜3081 聯亞</a:t>
                      </a:r>
                    </a:p>
                  </a:txBody>
                  <a:tcPr>
                    <a:solidFill>
                      <a:srgbClr val="F3F5F8"/>
                    </a:solidFill>
                  </a:tcPr>
                </a:tc>
                <a:tc>
                  <a:txBody>
                    <a:bodyPr/>
                    <a:lstStyle/>
                    <a:p>
                      <a:r>
                        <a:rPr sz="1100" b="0">
                          <a:solidFill>
                            <a:srgbClr val="1F2328"/>
                          </a:solidFill>
                          <a:latin typeface="Microsoft JhengHei"/>
                          <a:ea typeface="Microsoft JhengHei"/>
                        </a:rPr>
                        <a:t>通信網路業</a:t>
                      </a:r>
                    </a:p>
                  </a:txBody>
                  <a:tcPr>
                    <a:solidFill>
                      <a:srgbClr val="F3F5F8"/>
                    </a:solidFill>
                  </a:tcPr>
                </a:tc>
                <a:tc>
                  <a:txBody>
                    <a:bodyPr/>
                    <a:lstStyle/>
                    <a:p>
                      <a:r>
                        <a:rPr sz="1100" b="0">
                          <a:solidFill>
                            <a:srgbClr val="1F2328"/>
                          </a:solidFill>
                          <a:latin typeface="Microsoft JhengHei"/>
                          <a:ea typeface="Microsoft JhengHei"/>
                        </a:rPr>
                        <a:t>可能原因（新聞）：【13:24 即時新聞】聯亞(3081)盤中走強，市場聚焦AI矽光與營收連創新高 - CMoney；〈</a:t>
                      </a:r>
                    </a:p>
                  </a:txBody>
                  <a:tcPr>
                    <a:solidFill>
                      <a:srgbClr val="F3F5F8"/>
                    </a:solidFill>
                  </a:tcPr>
                </a:tc>
              </a:tr>
              <a:tr h="365760">
                <a:tc>
                  <a:txBody>
                    <a:bodyPr/>
                    <a:lstStyle/>
                    <a:p>
                      <a:r>
                        <a:rPr sz="1100" b="0">
                          <a:solidFill>
                            <a:srgbClr val="1F2328"/>
                          </a:solidFill>
                          <a:latin typeface="Microsoft JhengHei"/>
                          <a:ea typeface="Microsoft JhengHei"/>
                        </a:rPr>
                        <a:t>跌停｜6209 今國光</a:t>
                      </a:r>
                    </a:p>
                  </a:txBody>
                  <a:tcPr>
                    <a:solidFill>
                      <a:srgbClr val="FFFFFF"/>
                    </a:solidFill>
                  </a:tcPr>
                </a:tc>
                <a:tc>
                  <a:txBody>
                    <a:bodyPr/>
                    <a:lstStyle/>
                    <a:p>
                      <a:r>
                        <a:rPr sz="1100" b="0">
                          <a:solidFill>
                            <a:srgbClr val="1F2328"/>
                          </a:solidFill>
                          <a:latin typeface="Microsoft JhengHei"/>
                          <a:ea typeface="Microsoft JhengHei"/>
                        </a:rPr>
                        <a:t>光電業</a:t>
                      </a:r>
                    </a:p>
                  </a:txBody>
                  <a:tcPr>
                    <a:solidFill>
                      <a:srgbClr val="FFFFFF"/>
                    </a:solidFill>
                  </a:tcPr>
                </a:tc>
                <a:tc>
                  <a:txBody>
                    <a:bodyPr/>
                    <a:lstStyle/>
                    <a:p>
                      <a:r>
                        <a:rPr sz="1100" b="0">
                          <a:solidFill>
                            <a:srgbClr val="1F2328"/>
                          </a:solidFill>
                          <a:latin typeface="Microsoft JhengHei"/>
                          <a:ea typeface="Microsoft JhengHei"/>
                        </a:rPr>
                        <a:t>可能原因（新聞）：光學元件全面沸騰！「這檔」 處置期滿秒鎖漲停今國光2.1萬張買單爭進場、佳凌、歐特明強漲逾6% - Y</a:t>
                      </a:r>
                    </a:p>
                  </a:txBody>
                  <a:tcPr>
                    <a:solidFill>
                      <a:srgbClr val="FFFFFF"/>
                    </a:solidFill>
                  </a:tcPr>
                </a:tc>
              </a:tr>
              <a:tr h="365760">
                <a:tc>
                  <a:txBody>
                    <a:bodyPr/>
                    <a:lstStyle/>
                    <a:p>
                      <a:r>
                        <a:rPr sz="1100" b="0">
                          <a:solidFill>
                            <a:srgbClr val="1F2328"/>
                          </a:solidFill>
                          <a:latin typeface="Microsoft JhengHei"/>
                          <a:ea typeface="Microsoft JhengHei"/>
                        </a:rPr>
                        <a:t>跌停｜3624 光頡</a:t>
                      </a:r>
                    </a:p>
                  </a:txBody>
                  <a:tcPr>
                    <a:solidFill>
                      <a:srgbClr val="F3F5F8"/>
                    </a:solidFill>
                  </a:tcPr>
                </a:tc>
                <a:tc>
                  <a:txBody>
                    <a:bodyPr/>
                    <a:lstStyle/>
                    <a:p>
                      <a:r>
                        <a:rPr sz="1100" b="0">
                          <a:solidFill>
                            <a:srgbClr val="1F2328"/>
                          </a:solidFill>
                          <a:latin typeface="Microsoft JhengHei"/>
                          <a:ea typeface="Microsoft JhengHei"/>
                        </a:rPr>
                        <a:t>電子零組件業</a:t>
                      </a:r>
                    </a:p>
                  </a:txBody>
                  <a:tcPr>
                    <a:solidFill>
                      <a:srgbClr val="F3F5F8"/>
                    </a:solidFill>
                  </a:tcPr>
                </a:tc>
                <a:tc>
                  <a:txBody>
                    <a:bodyPr/>
                    <a:lstStyle/>
                    <a:p>
                      <a:r>
                        <a:rPr sz="1100" b="0">
                          <a:solidFill>
                            <a:srgbClr val="1F2328"/>
                          </a:solidFill>
                          <a:latin typeface="Microsoft JhengHei"/>
                          <a:ea typeface="Microsoft JhengHei"/>
                        </a:rPr>
                        <a:t>可能原因（新聞）：光頡(3624)交期排到2027年下半年！預算達成率僅84%的一年，AI與漲價怎麼讓2026年翻盤？ </a:t>
                      </a:r>
                    </a:p>
                  </a:txBody>
                  <a:tcPr>
                    <a:solidFill>
                      <a:srgbClr val="F3F5F8"/>
                    </a:solidFill>
                  </a:tcPr>
                </a:tc>
              </a:tr>
              <a:tr h="365760">
                <a:tc>
                  <a:txBody>
                    <a:bodyPr/>
                    <a:lstStyle/>
                    <a:p>
                      <a:r>
                        <a:rPr sz="1100" b="0">
                          <a:solidFill>
                            <a:srgbClr val="1F2328"/>
                          </a:solidFill>
                          <a:latin typeface="Microsoft JhengHei"/>
                          <a:ea typeface="Microsoft JhengHei"/>
                        </a:rPr>
                        <a:t>跌停｜3441 聯一光</a:t>
                      </a:r>
                    </a:p>
                  </a:txBody>
                  <a:tcPr>
                    <a:solidFill>
                      <a:srgbClr val="FFFFFF"/>
                    </a:solidFill>
                  </a:tcPr>
                </a:tc>
                <a:tc>
                  <a:txBody>
                    <a:bodyPr/>
                    <a:lstStyle/>
                    <a:p>
                      <a:r>
                        <a:rPr sz="1100" b="0">
                          <a:solidFill>
                            <a:srgbClr val="1F2328"/>
                          </a:solidFill>
                          <a:latin typeface="Microsoft JhengHei"/>
                          <a:ea typeface="Microsoft JhengHei"/>
                        </a:rPr>
                        <a:t>光電業</a:t>
                      </a:r>
                    </a:p>
                  </a:txBody>
                  <a:tcPr>
                    <a:solidFill>
                      <a:srgbClr val="FFFFFF"/>
                    </a:solidFill>
                  </a:tcPr>
                </a:tc>
                <a:tc>
                  <a:txBody>
                    <a:bodyPr/>
                    <a:lstStyle/>
                    <a:p>
                      <a:r>
                        <a:rPr sz="1100" b="0">
                          <a:solidFill>
                            <a:srgbClr val="1F2328"/>
                          </a:solidFill>
                          <a:latin typeface="Microsoft JhengHei"/>
                          <a:ea typeface="Microsoft JhengHei"/>
                        </a:rPr>
                        <a:t>可能原因（新聞）：聯一光 準備妖 - CMoney；【13:30 即時新聞】聯一光(3441)盤中偏強，市場聚焦高檔籌碼</a:t>
                      </a:r>
                    </a:p>
                  </a:txBody>
                  <a:tcPr>
                    <a:solidFill>
                      <a:srgbClr val="FFFFFF"/>
                    </a:solidFill>
                  </a:tcPr>
                </a:tc>
              </a:tr>
              <a:tr h="365760">
                <a:tc>
                  <a:txBody>
                    <a:bodyPr/>
                    <a:lstStyle/>
                    <a:p>
                      <a:r>
                        <a:rPr sz="1100" b="0">
                          <a:solidFill>
                            <a:srgbClr val="1F2328"/>
                          </a:solidFill>
                          <a:latin typeface="Microsoft JhengHei"/>
                          <a:ea typeface="Microsoft JhengHei"/>
                        </a:rPr>
                        <a:t>漲停｜2468 華經</a:t>
                      </a:r>
                    </a:p>
                  </a:txBody>
                  <a:tcPr>
                    <a:solidFill>
                      <a:srgbClr val="F3F5F8"/>
                    </a:solidFill>
                  </a:tcPr>
                </a:tc>
                <a:tc>
                  <a:txBody>
                    <a:bodyPr/>
                    <a:lstStyle/>
                    <a:p>
                      <a:r>
                        <a:rPr sz="1100" b="0">
                          <a:solidFill>
                            <a:srgbClr val="1F2328"/>
                          </a:solidFill>
                          <a:latin typeface="Microsoft JhengHei"/>
                          <a:ea typeface="Microsoft JhengHei"/>
                        </a:rPr>
                        <a:t>資訊服務業</a:t>
                      </a:r>
                    </a:p>
                  </a:txBody>
                  <a:tcPr>
                    <a:solidFill>
                      <a:srgbClr val="F3F5F8"/>
                    </a:solidFill>
                  </a:tcPr>
                </a:tc>
                <a:tc>
                  <a:txBody>
                    <a:bodyPr/>
                    <a:lstStyle/>
                    <a:p>
                      <a:r>
                        <a:rPr sz="1100" b="0">
                          <a:solidFill>
                            <a:srgbClr val="1F2328"/>
                          </a:solidFill>
                          <a:latin typeface="Microsoft JhengHei"/>
                          <a:ea typeface="Microsoft JhengHei"/>
                        </a:rPr>
                        <a:t>可能原因（新聞）：【10:26 即時新聞】華經(2468) 股價走強貼近波段高位，資安題材續吸引買盤 - CMoney投</a:t>
                      </a:r>
                    </a:p>
                  </a:txBody>
                  <a:tcPr>
                    <a:solidFill>
                      <a:srgbClr val="F3F5F8"/>
                    </a:solidFill>
                  </a:tcPr>
                </a:tc>
              </a:tr>
              <a:tr h="365760">
                <a:tc>
                  <a:txBody>
                    <a:bodyPr/>
                    <a:lstStyle/>
                    <a:p>
                      <a:r>
                        <a:rPr sz="1100" b="0">
                          <a:solidFill>
                            <a:srgbClr val="1F2328"/>
                          </a:solidFill>
                          <a:latin typeface="Microsoft JhengHei"/>
                          <a:ea typeface="Microsoft JhengHei"/>
                        </a:rPr>
                        <a:t>漲停｜2465 麗臺</a:t>
                      </a:r>
                    </a:p>
                  </a:txBody>
                  <a:tcPr>
                    <a:solidFill>
                      <a:srgbClr val="FFFFFF"/>
                    </a:solidFill>
                  </a:tcPr>
                </a:tc>
                <a:tc>
                  <a:txBody>
                    <a:bodyPr/>
                    <a:lstStyle/>
                    <a:p>
                      <a:r>
                        <a:rPr sz="1100" b="0">
                          <a:solidFill>
                            <a:srgbClr val="1F2328"/>
                          </a:solidFill>
                          <a:latin typeface="Microsoft JhengHei"/>
                          <a:ea typeface="Microsoft JhengHei"/>
                        </a:rPr>
                        <a:t>電腦及週邊設備業</a:t>
                      </a:r>
                    </a:p>
                  </a:txBody>
                  <a:tcPr>
                    <a:solidFill>
                      <a:srgbClr val="FFFFFF"/>
                    </a:solidFill>
                  </a:tcPr>
                </a:tc>
                <a:tc>
                  <a:txBody>
                    <a:bodyPr/>
                    <a:lstStyle/>
                    <a:p>
                      <a:r>
                        <a:rPr sz="1100" b="0">
                          <a:solidFill>
                            <a:srgbClr val="1F2328"/>
                          </a:solidFill>
                          <a:latin typeface="Microsoft JhengHei"/>
                          <a:ea typeface="Microsoft JhengHei"/>
                        </a:rPr>
                        <a:t>可能原因（新聞）：今日漲停股｜資安事件頻傳引爆剛性需求，華經、驊宏資、麗臺強勢攻上漲停1022｜豐雲學堂2026 年 1</a:t>
                      </a:r>
                    </a:p>
                  </a:txBody>
                  <a:tcPr>
                    <a:solidFill>
                      <a:srgbClr val="FFFFFF"/>
                    </a:solidFill>
                  </a:tcPr>
                </a:tc>
              </a:tr>
              <a:tr h="365760">
                <a:tc>
                  <a:txBody>
                    <a:bodyPr/>
                    <a:lstStyle/>
                    <a:p>
                      <a:r>
                        <a:rPr sz="1100" b="0">
                          <a:solidFill>
                            <a:srgbClr val="1F2328"/>
                          </a:solidFill>
                          <a:latin typeface="Microsoft JhengHei"/>
                          <a:ea typeface="Microsoft JhengHei"/>
                        </a:rPr>
                        <a:t>漲停｜6148 驊宏資</a:t>
                      </a:r>
                    </a:p>
                  </a:txBody>
                  <a:tcPr>
                    <a:solidFill>
                      <a:srgbClr val="F3F5F8"/>
                    </a:solidFill>
                  </a:tcPr>
                </a:tc>
                <a:tc>
                  <a:txBody>
                    <a:bodyPr/>
                    <a:lstStyle/>
                    <a:p>
                      <a:r>
                        <a:rPr sz="1100" b="0">
                          <a:solidFill>
                            <a:srgbClr val="1F2328"/>
                          </a:solidFill>
                          <a:latin typeface="Microsoft JhengHei"/>
                          <a:ea typeface="Microsoft JhengHei"/>
                        </a:rPr>
                        <a:t>資訊服務業</a:t>
                      </a:r>
                    </a:p>
                  </a:txBody>
                  <a:tcPr>
                    <a:solidFill>
                      <a:srgbClr val="F3F5F8"/>
                    </a:solidFill>
                  </a:tcPr>
                </a:tc>
                <a:tc>
                  <a:txBody>
                    <a:bodyPr/>
                    <a:lstStyle/>
                    <a:p>
                      <a:r>
                        <a:rPr sz="1100" b="0">
                          <a:solidFill>
                            <a:srgbClr val="1F2328"/>
                          </a:solidFill>
                          <a:latin typeface="Microsoft JhengHei"/>
                          <a:ea typeface="Microsoft JhengHei"/>
                        </a:rPr>
                        <a:t>可能原因（新聞）：驊宏資(6148) 個股概覽 | 個股 - 股市 - CMoney；今日漲停股｜資安事件頻傳引爆剛性需</a:t>
                      </a:r>
                    </a:p>
                  </a:txBody>
                  <a:tcPr>
                    <a:solidFill>
                      <a:srgbClr val="F3F5F8"/>
                    </a:solidFill>
                  </a:tcPr>
                </a:tc>
              </a:tr>
              <a:tr h="365760">
                <a:tc>
                  <a:txBody>
                    <a:bodyPr/>
                    <a:lstStyle/>
                    <a:p>
                      <a:r>
                        <a:rPr sz="1100" b="0">
                          <a:solidFill>
                            <a:srgbClr val="1F2328"/>
                          </a:solidFill>
                          <a:latin typeface="Microsoft JhengHei"/>
                          <a:ea typeface="Microsoft JhengHei"/>
                        </a:rPr>
                        <a:t>漲停｜4577 達航科技</a:t>
                      </a:r>
                    </a:p>
                  </a:txBody>
                  <a:tcPr>
                    <a:solidFill>
                      <a:srgbClr val="FFFFFF"/>
                    </a:solidFill>
                  </a:tcPr>
                </a:tc>
                <a:tc>
                  <a:txBody>
                    <a:bodyPr/>
                    <a:lstStyle/>
                    <a:p>
                      <a:r>
                        <a:rPr sz="1100" b="0">
                          <a:solidFill>
                            <a:srgbClr val="1F2328"/>
                          </a:solidFill>
                          <a:latin typeface="Microsoft JhengHei"/>
                          <a:ea typeface="Microsoft JhengHei"/>
                        </a:rPr>
                        <a:t>其他電子類</a:t>
                      </a:r>
                    </a:p>
                  </a:txBody>
                  <a:tcPr>
                    <a:solidFill>
                      <a:srgbClr val="FFFFFF"/>
                    </a:solidFill>
                  </a:tcPr>
                </a:tc>
                <a:tc>
                  <a:txBody>
                    <a:bodyPr/>
                    <a:lstStyle/>
                    <a:p>
                      <a:r>
                        <a:rPr sz="1100" b="0">
                          <a:solidFill>
                            <a:srgbClr val="1F2328"/>
                          </a:solidFill>
                          <a:latin typeface="Microsoft JhengHei"/>
                          <a:ea typeface="Microsoft JhengHei"/>
                        </a:rPr>
                        <a:t>可能原因（新聞）：【12:47 即時新聞】達航科技(4577)盤中續揚，主力買盤與營收成長成焦點 - CMoney投資網</a:t>
                      </a:r>
                    </a:p>
                  </a:txBody>
                  <a:tcPr>
                    <a:solidFill>
                      <a:srgbClr val="FFFFFF"/>
                    </a:solidFill>
                  </a:tcPr>
                </a:tc>
              </a:tr>
              <a:tr h="365760">
                <a:tc>
                  <a:txBody>
                    <a:bodyPr/>
                    <a:lstStyle/>
                    <a:p>
                      <a:r>
                        <a:rPr sz="1100" b="0">
                          <a:solidFill>
                            <a:srgbClr val="1F2328"/>
                          </a:solidFill>
                          <a:latin typeface="Microsoft JhengHei"/>
                          <a:ea typeface="Microsoft JhengHei"/>
                        </a:rPr>
                        <a:t>漲停｜3691 碩禾</a:t>
                      </a:r>
                    </a:p>
                  </a:txBody>
                  <a:tcPr>
                    <a:solidFill>
                      <a:srgbClr val="F3F5F8"/>
                    </a:solidFill>
                  </a:tcPr>
                </a:tc>
                <a:tc>
                  <a:txBody>
                    <a:bodyPr/>
                    <a:lstStyle/>
                    <a:p>
                      <a:r>
                        <a:rPr sz="1100" b="0">
                          <a:solidFill>
                            <a:srgbClr val="1F2328"/>
                          </a:solidFill>
                          <a:latin typeface="Microsoft JhengHei"/>
                          <a:ea typeface="Microsoft JhengHei"/>
                        </a:rPr>
                        <a:t>光電業</a:t>
                      </a:r>
                    </a:p>
                  </a:txBody>
                  <a:tcPr>
                    <a:solidFill>
                      <a:srgbClr val="F3F5F8"/>
                    </a:solidFill>
                  </a:tcPr>
                </a:tc>
                <a:tc>
                  <a:txBody>
                    <a:bodyPr/>
                    <a:lstStyle/>
                    <a:p>
                      <a:r>
                        <a:rPr sz="1100" b="0">
                          <a:solidFill>
                            <a:srgbClr val="1F2328"/>
                          </a:solidFill>
                          <a:latin typeface="Microsoft JhengHei"/>
                          <a:ea typeface="Microsoft JhengHei"/>
                        </a:rPr>
                        <a:t>可能原因（新聞）：【10:19 即時新聞】碩禾(3691) 盤中大漲近九成一，買盤回流聚焦營收成長 - CMoney投資</a:t>
                      </a:r>
                    </a:p>
                  </a:txBody>
                  <a:tcPr>
                    <a:solidFill>
                      <a:srgbClr val="F3F5F8"/>
                    </a:solidFill>
                  </a:tcPr>
                </a:tc>
              </a:tr>
              <a:tr h="365760">
                <a:tc>
                  <a:txBody>
                    <a:bodyPr/>
                    <a:lstStyle/>
                    <a:p>
                      <a:r>
                        <a:rPr sz="1100" b="0">
                          <a:solidFill>
                            <a:srgbClr val="1F2328"/>
                          </a:solidFill>
                          <a:latin typeface="Microsoft JhengHei"/>
                          <a:ea typeface="Microsoft JhengHei"/>
                        </a:rPr>
                        <a:t>漲停｜7730 暉盛-創</a:t>
                      </a:r>
                    </a:p>
                  </a:txBody>
                  <a:tcPr>
                    <a:solidFill>
                      <a:srgbClr val="FFFFFF"/>
                    </a:solidFill>
                  </a:tcPr>
                </a:tc>
                <a:tc>
                  <a:txBody>
                    <a:bodyPr/>
                    <a:lstStyle/>
                    <a:p>
                      <a:r>
                        <a:rPr sz="1100" b="0">
                          <a:solidFill>
                            <a:srgbClr val="1F2328"/>
                          </a:solidFill>
                          <a:latin typeface="Microsoft JhengHei"/>
                          <a:ea typeface="Microsoft JhengHei"/>
                        </a:rPr>
                        <a:t>半導體業</a:t>
                      </a:r>
                    </a:p>
                  </a:txBody>
                  <a:tcPr>
                    <a:solidFill>
                      <a:srgbClr val="FFFFFF"/>
                    </a:solidFill>
                  </a:tcPr>
                </a:tc>
                <a:tc>
                  <a:txBody>
                    <a:bodyPr/>
                    <a:lstStyle/>
                    <a:p>
                      <a:r>
                        <a:rPr sz="1100" b="0">
                          <a:solidFill>
                            <a:srgbClr val="1F2328"/>
                          </a:solidFill>
                          <a:latin typeface="Microsoft JhengHei"/>
                          <a:ea typeface="Microsoft JhengHei"/>
                        </a:rPr>
                        <a:t>可能原因（新聞）：暉盛接單火熱 業績升溫 - 經濟日報；《半導體》暉盛亮燈攻頂登4個半月高價- 上市櫃 - 旺得富理財網</a:t>
                      </a:r>
                    </a:p>
                  </a:txBody>
                  <a:tcPr>
                    <a:solidFill>
                      <a:srgbClr val="FFFFFF"/>
                    </a:solidFill>
                  </a:tcPr>
                </a:tc>
              </a:tr>
              <a:tr h="365760">
                <a:tc>
                  <a:txBody>
                    <a:bodyPr/>
                    <a:lstStyle/>
                    <a:p>
                      <a:r>
                        <a:rPr sz="1100" b="0">
                          <a:solidFill>
                            <a:srgbClr val="1F2328"/>
                          </a:solidFill>
                          <a:latin typeface="Microsoft JhengHei"/>
                          <a:ea typeface="Microsoft JhengHei"/>
                        </a:rPr>
                        <a:t>漲停｜6221 晉泰</a:t>
                      </a:r>
                    </a:p>
                  </a:txBody>
                  <a:tcPr>
                    <a:solidFill>
                      <a:srgbClr val="F3F5F8"/>
                    </a:solidFill>
                  </a:tcPr>
                </a:tc>
                <a:tc>
                  <a:txBody>
                    <a:bodyPr/>
                    <a:lstStyle/>
                    <a:p>
                      <a:r>
                        <a:rPr sz="1100" b="0">
                          <a:solidFill>
                            <a:srgbClr val="1F2328"/>
                          </a:solidFill>
                          <a:latin typeface="Microsoft JhengHei"/>
                          <a:ea typeface="Microsoft JhengHei"/>
                        </a:rPr>
                        <a:t>資訊服務業</a:t>
                      </a:r>
                    </a:p>
                  </a:txBody>
                  <a:tcPr>
                    <a:solidFill>
                      <a:srgbClr val="F3F5F8"/>
                    </a:solidFill>
                  </a:tcPr>
                </a:tc>
                <a:tc>
                  <a:txBody>
                    <a:bodyPr/>
                    <a:lstStyle/>
                    <a:p>
                      <a:r>
                        <a:rPr sz="1100" b="0">
                          <a:solidFill>
                            <a:srgbClr val="1F2328"/>
                          </a:solidFill>
                          <a:latin typeface="Microsoft JhengHei"/>
                          <a:ea typeface="Microsoft JhengHei"/>
                        </a:rPr>
                        <a:t>可能原因（新聞）：晉泰(6221) 個股概覽 | 個股 - 股市 - CMoney；【09:12 即時新聞】晉泰(622</a:t>
                      </a:r>
                    </a:p>
                  </a:txBody>
                  <a:tcPr>
                    <a:solidFill>
                      <a:srgbClr val="F3F5F8"/>
                    </a:solidFill>
                  </a:tcPr>
                </a:tc>
              </a:tr>
              <a:tr h="365760">
                <a:tc>
                  <a:txBody>
                    <a:bodyPr/>
                    <a:lstStyle/>
                    <a:p>
                      <a:r>
                        <a:rPr sz="1100" b="0">
                          <a:solidFill>
                            <a:srgbClr val="1F2328"/>
                          </a:solidFill>
                          <a:latin typeface="Microsoft JhengHei"/>
                          <a:ea typeface="Microsoft JhengHei"/>
                        </a:rPr>
                        <a:t>漲停｜6945 圓祥生技</a:t>
                      </a:r>
                    </a:p>
                  </a:txBody>
                  <a:tcPr>
                    <a:solidFill>
                      <a:srgbClr val="FFFFFF"/>
                    </a:solidFill>
                  </a:tcPr>
                </a:tc>
                <a:tc>
                  <a:txBody>
                    <a:bodyPr/>
                    <a:lstStyle/>
                    <a:p>
                      <a:r>
                        <a:rPr sz="1100" b="0">
                          <a:solidFill>
                            <a:srgbClr val="1F2328"/>
                          </a:solidFill>
                          <a:latin typeface="Microsoft JhengHei"/>
                          <a:ea typeface="Microsoft JhengHei"/>
                        </a:rPr>
                        <a:t>生技醫療業</a:t>
                      </a:r>
                    </a:p>
                  </a:txBody>
                  <a:tcPr>
                    <a:solidFill>
                      <a:srgbClr val="FFFFFF"/>
                    </a:solidFill>
                  </a:tcPr>
                </a:tc>
                <a:tc>
                  <a:txBody>
                    <a:bodyPr/>
                    <a:lstStyle/>
                    <a:p>
                      <a:r>
                        <a:rPr sz="1100" b="0">
                          <a:solidFill>
                            <a:srgbClr val="1F2328"/>
                          </a:solidFill>
                          <a:latin typeface="Microsoft JhengHei"/>
                          <a:ea typeface="Microsoft JhengHei"/>
                        </a:rPr>
                        <a:t>可能原因（新聞）：6945 圓祥生技 - 2026年3月20日 到 2026年10月16(實際是統計到... - 股市爆</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三籃配置：進攻 75%／穩健 25%／ETF 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6</a:t>
            </a:r>
          </a:p>
        </p:txBody>
      </p:sp>
      <p:sp>
        <p:nvSpPr>
          <p:cNvPr id="5" name="Rectangle 4"/>
          <p:cNvSpPr/>
          <p:nvPr/>
        </p:nvSpPr>
        <p:spPr>
          <a:xfrm>
            <a:off x="457200" y="1097280"/>
            <a:ext cx="5486400" cy="51206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5212080" cy="4937760"/>
          </a:xfrm>
          <a:prstGeom prst="rect">
            <a:avLst/>
          </a:prstGeom>
          <a:noFill/>
        </p:spPr>
        <p:txBody>
          <a:bodyPr wrap="square">
            <a:spAutoFit/>
          </a:bodyPr>
          <a:lstStyle/>
          <a:p>
            <a:r>
              <a:rPr sz="1500" b="1">
                <a:solidFill>
                  <a:srgbClr val="1F3A5F"/>
                </a:solidFill>
                <a:latin typeface="Microsoft JhengHei"/>
                <a:ea typeface="Microsoft JhengHei"/>
              </a:rPr>
              <a:t>比例如何決定</a:t>
            </a:r>
          </a:p>
          <a:p>
            <a:pPr>
              <a:spcAft>
                <a:spcPts val="400"/>
              </a:spcAft>
            </a:pPr>
            <a:r>
              <a:rPr sz="1300" b="0">
                <a:solidFill>
                  <a:srgbClr val="1F2328"/>
                </a:solidFill>
                <a:latin typeface="Microsoft JhengHei"/>
                <a:ea typeface="Microsoft JhengHei"/>
              </a:rPr>
              <a:t>• 黃燈：灰燈（中性）但出現 1 項風險訊號，先暫停追高 → 進攻籃 80%（已持續 6 個交易日）</a:t>
            </a:r>
          </a:p>
          <a:p>
            <a:pPr>
              <a:spcAft>
                <a:spcPts val="400"/>
              </a:spcAft>
            </a:pPr>
            <a:r>
              <a:rPr sz="1300" b="0">
                <a:solidFill>
                  <a:srgbClr val="1F2328"/>
                </a:solidFill>
                <a:latin typeface="Microsoft JhengHei"/>
                <a:ea typeface="Microsoft JhengHei"/>
              </a:rPr>
              <a:t>• 依據（報酬率第一）：十年回測每次前 20 名 20 日報酬，進攻籃在綠燈 6.0%／灰燈 6.2%／紅燈 3.7%，都高於穩健籃 4.4%／3.8%／2.1%，勝率相近</a:t>
            </a:r>
          </a:p>
          <a:p>
            <a:pPr>
              <a:spcAft>
                <a:spcPts val="400"/>
              </a:spcAft>
            </a:pPr>
            <a:r>
              <a:rPr sz="1300" b="0">
                <a:solidFill>
                  <a:srgbClr val="1F2328"/>
                </a:solidFill>
                <a:latin typeface="Microsoft JhengHei"/>
                <a:ea typeface="Microsoft JhengHei"/>
              </a:rPr>
              <a:t>• 調整 Agent 偵測到 2 項失誤 → 進攻 −5%，待模型修正後再恢復</a:t>
            </a:r>
          </a:p>
          <a:p>
            <a:pPr>
              <a:spcAft>
                <a:spcPts val="400"/>
              </a:spcAft>
            </a:pPr>
            <a:r>
              <a:rPr sz="1300" b="0">
                <a:solidFill>
                  <a:srgbClr val="1F2328"/>
                </a:solidFill>
                <a:latin typeface="Microsoft JhengHei"/>
                <a:ea typeface="Microsoft JhengHei"/>
              </a:rPr>
              <a:t>• 股票內部：進攻籃 75%、穩健籃 25%</a:t>
            </a:r>
          </a:p>
          <a:p>
            <a:pPr>
              <a:spcAft>
                <a:spcPts val="400"/>
              </a:spcAft>
            </a:pPr>
            <a:r>
              <a:rPr sz="1300" b="0">
                <a:solidFill>
                  <a:srgbClr val="1F2328"/>
                </a:solidFill>
                <a:latin typeface="Microsoft JhengHei"/>
                <a:ea typeface="Microsoft JhengHei"/>
              </a:rPr>
              <a:t>• 今日配置（佔股票＋ETF 目標持股）：進攻籃 75%、穩健籃 25%、ETF 籃 0%</a:t>
            </a:r>
          </a:p>
          <a:p>
            <a:pPr>
              <a:spcAft>
                <a:spcPts val="400"/>
              </a:spcAft>
            </a:pPr>
            <a:r>
              <a:rPr sz="1300" b="0">
                <a:solidFill>
                  <a:srgbClr val="1F2328"/>
                </a:solidFill>
                <a:latin typeface="Microsoft JhengHei"/>
                <a:ea typeface="Microsoft JhengHei"/>
              </a:rPr>
              <a:t>• ETF 基準比例 0%（分散個股風險、證交稅 0.1%）</a:t>
            </a:r>
          </a:p>
          <a:p>
            <a:pPr>
              <a:spcAft>
                <a:spcPts val="400"/>
              </a:spcAft>
            </a:pPr>
            <a:r>
              <a:rPr sz="1300" b="0">
                <a:solidFill>
                  <a:srgbClr val="1F2328"/>
                </a:solidFill>
                <a:latin typeface="Microsoft JhengHei"/>
                <a:ea typeface="Microsoft JhengHei"/>
              </a:rPr>
              <a:t>• 今日 ETF 籃比例 0%（佔股票＋ETF 目標持股；基準 0% 已依上述條件調整）</a:t>
            </a:r>
          </a:p>
        </p:txBody>
      </p:sp>
      <p:sp>
        <p:nvSpPr>
          <p:cNvPr id="7" name="TextBox 6"/>
          <p:cNvSpPr txBox="1"/>
          <p:nvPr/>
        </p:nvSpPr>
        <p:spPr>
          <a:xfrm>
            <a:off x="6355080" y="1188720"/>
            <a:ext cx="5212080" cy="4937760"/>
          </a:xfrm>
          <a:prstGeom prst="rect">
            <a:avLst/>
          </a:prstGeom>
          <a:noFill/>
        </p:spPr>
        <p:txBody>
          <a:bodyPr wrap="square">
            <a:spAutoFit/>
          </a:bodyPr>
          <a:lstStyle/>
          <a:p>
            <a:r>
              <a:rPr sz="1500" b="1">
                <a:solidFill>
                  <a:srgbClr val="1F3A5F"/>
                </a:solidFill>
                <a:latin typeface="Microsoft JhengHei"/>
                <a:ea typeface="Microsoft JhengHei"/>
              </a:rPr>
              <a:t>各籃內容</a:t>
            </a:r>
          </a:p>
          <a:p>
            <a:pPr>
              <a:spcAft>
                <a:spcPts val="400"/>
              </a:spcAft>
            </a:pPr>
            <a:r>
              <a:rPr sz="1300" b="0">
                <a:solidFill>
                  <a:srgbClr val="1F2328"/>
                </a:solidFill>
                <a:latin typeface="Microsoft JhengHei"/>
                <a:ea typeface="Microsoft JhengHei"/>
              </a:rPr>
              <a:t>【進攻籃】目標 583 萬，執行後佔總資產 67.5%</a:t>
            </a:r>
          </a:p>
          <a:p>
            <a:pPr>
              <a:spcAft>
                <a:spcPts val="400"/>
              </a:spcAft>
            </a:pPr>
            <a:r>
              <a:rPr sz="1300" b="0">
                <a:solidFill>
                  <a:srgbClr val="1F2328"/>
                </a:solidFill>
                <a:latin typeface="Microsoft JhengHei"/>
                <a:ea typeface="Microsoft JhengHei"/>
              </a:rPr>
              <a:t>• 進攻籃買進：6456 GIS-KY、2468 華經、6756 威鋒電子、3037 欣興</a:t>
            </a:r>
          </a:p>
          <a:p>
            <a:pPr>
              <a:spcAft>
                <a:spcPts val="400"/>
              </a:spcAft>
            </a:pPr>
            <a:r>
              <a:rPr sz="1300" b="0">
                <a:solidFill>
                  <a:srgbClr val="1F2328"/>
                </a:solidFill>
                <a:latin typeface="Microsoft JhengHei"/>
                <a:ea typeface="Microsoft JhengHei"/>
              </a:rPr>
              <a:t>【穩健籃】目標 194 萬，執行後佔總資產 25.0%</a:t>
            </a:r>
          </a:p>
          <a:p>
            <a:pPr>
              <a:spcAft>
                <a:spcPts val="400"/>
              </a:spcAft>
            </a:pPr>
            <a:r>
              <a:rPr sz="1300" b="0">
                <a:solidFill>
                  <a:srgbClr val="1F2328"/>
                </a:solidFill>
                <a:latin typeface="Microsoft JhengHei"/>
                <a:ea typeface="Microsoft JhengHei"/>
              </a:rPr>
              <a:t>• 穩健籃買進：6245 立端、1736 喬山、1808 潤隆、2885 元大金</a:t>
            </a:r>
          </a:p>
          <a:p>
            <a:pPr>
              <a:spcAft>
                <a:spcPts val="400"/>
              </a:spcAft>
            </a:pPr>
            <a:r>
              <a:rPr sz="1300" b="0">
                <a:solidFill>
                  <a:srgbClr val="1F2328"/>
                </a:solidFill>
                <a:latin typeface="Microsoft JhengHei"/>
                <a:ea typeface="Microsoft JhengHei"/>
              </a:rPr>
              <a:t>【ETF 籃】目標 0 萬，執行後佔總資產 0.0%</a:t>
            </a:r>
          </a:p>
          <a:p>
            <a:pPr>
              <a:spcAft>
                <a:spcPts val="400"/>
              </a:spcAft>
            </a:pPr>
            <a:r>
              <a:rPr sz="1300" b="0">
                <a:solidFill>
                  <a:srgbClr val="1F2328"/>
                </a:solidFill>
                <a:latin typeface="Microsoft JhengHei"/>
                <a:ea typeface="Microsoft JhengHei"/>
              </a:rPr>
              <a:t>• ETF 籃買進：無</a:t>
            </a:r>
          </a:p>
          <a:p>
            <a:pPr>
              <a:spcAft>
                <a:spcPts val="400"/>
              </a:spcAft>
            </a:pPr>
            <a:r>
              <a:rPr sz="1300" b="0">
                <a:solidFill>
                  <a:srgbClr val="1F2328"/>
                </a:solidFill>
                <a:latin typeface="Microsoft JhengHei"/>
                <a:ea typeface="Microsoft JhengHei"/>
              </a:rPr>
              <a:t>• 今日股票資產配置調整為進攻籃 75.0%、穩健籃 25.0%、ETF籃 0.0%。調整主因為市場燈號處於灰燈且出現費城半導體單日暴跌 -6.72% 之風險警示，加上模型偵測到 2 項失誤，故將進攻籃調降 −5.0% 至 75.0%。進攻籃新買進 GIS-KY（13,968 股）、華經（25,507 股）、威鋒電子（10,360 股）與欣興（888 股），因其綜合分數達標且預期超額報酬顯著。穩健籃則佈局立端（6,516 股）、喬山（3,600 股）、潤隆（12,697 股）與元大金（8,604 股），利用波動溫和特性強化下檔防禦。</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穩健籃候選（收正報酬機率高、回檔小、不追高）</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7</a:t>
            </a:r>
          </a:p>
        </p:txBody>
      </p:sp>
      <p:graphicFrame>
        <p:nvGraphicFramePr>
          <p:cNvPr id="5" name="Table 4"/>
          <p:cNvGraphicFramePr>
            <a:graphicFrameLocks noGrp="1"/>
          </p:cNvGraphicFramePr>
          <p:nvPr/>
        </p:nvGraphicFramePr>
        <p:xfrm>
          <a:off x="457200" y="1188720"/>
          <a:ext cx="11247115" cy="4754880"/>
        </p:xfrm>
        <a:graphic>
          <a:graphicData uri="http://schemas.openxmlformats.org/drawingml/2006/table">
            <a:tbl>
              <a:tblPr firstRow="1" bandRow="1">
                <a:tableStyleId>{5C22544A-7EE6-4342-B048-85BDC9FD1C3A}</a:tableStyleId>
              </a:tblPr>
              <a:tblGrid>
                <a:gridCol w="3067396"/>
                <a:gridCol w="2044930"/>
                <a:gridCol w="1278081"/>
                <a:gridCol w="1278081"/>
                <a:gridCol w="1022465"/>
                <a:gridCol w="1278081"/>
                <a:gridCol w="1278081"/>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產業</a:t>
                      </a:r>
                    </a:p>
                  </a:txBody>
                  <a:tcPr>
                    <a:solidFill>
                      <a:srgbClr val="1F3A5F"/>
                    </a:solidFill>
                  </a:tcPr>
                </a:tc>
                <a:tc>
                  <a:txBody>
                    <a:bodyPr/>
                    <a:lstStyle/>
                    <a:p>
                      <a:r>
                        <a:rPr sz="1100" b="1">
                          <a:solidFill>
                            <a:srgbClr val="FFFFFF"/>
                          </a:solidFill>
                          <a:latin typeface="Microsoft JhengHei"/>
                          <a:ea typeface="Microsoft JhengHei"/>
                        </a:rPr>
                        <a:t>收正機率</a:t>
                      </a:r>
                    </a:p>
                  </a:txBody>
                  <a:tcPr>
                    <a:solidFill>
                      <a:srgbClr val="1F3A5F"/>
                    </a:solidFill>
                  </a:tcPr>
                </a:tc>
                <a:tc>
                  <a:txBody>
                    <a:bodyPr/>
                    <a:lstStyle/>
                    <a:p>
                      <a:r>
                        <a:rPr sz="1100" b="1">
                          <a:solidFill>
                            <a:srgbClr val="FFFFFF"/>
                          </a:solidFill>
                          <a:latin typeface="Microsoft JhengHei"/>
                          <a:ea typeface="Microsoft JhengHei"/>
                        </a:rPr>
                        <a:t>預期回檔</a:t>
                      </a:r>
                    </a:p>
                  </a:txBody>
                  <a:tcPr>
                    <a:solidFill>
                      <a:srgbClr val="1F3A5F"/>
                    </a:solidFill>
                  </a:tcPr>
                </a:tc>
                <a:tc>
                  <a:txBody>
                    <a:bodyPr/>
                    <a:lstStyle/>
                    <a:p>
                      <a:r>
                        <a:rPr sz="1100" b="1">
                          <a:solidFill>
                            <a:srgbClr val="FFFFFF"/>
                          </a:solidFill>
                          <a:latin typeface="Microsoft JhengHei"/>
                          <a:ea typeface="Microsoft JhengHei"/>
                        </a:rPr>
                        <a:t>β</a:t>
                      </a:r>
                    </a:p>
                  </a:txBody>
                  <a:tcPr>
                    <a:solidFill>
                      <a:srgbClr val="1F3A5F"/>
                    </a:solidFill>
                  </a:tcPr>
                </a:tc>
                <a:tc>
                  <a:txBody>
                    <a:bodyPr/>
                    <a:lstStyle/>
                    <a:p>
                      <a:r>
                        <a:rPr sz="1100" b="1">
                          <a:solidFill>
                            <a:srgbClr val="FFFFFF"/>
                          </a:solidFill>
                          <a:latin typeface="Microsoft JhengHei"/>
                          <a:ea typeface="Microsoft JhengHei"/>
                        </a:rPr>
                        <a:t>穩健分數</a:t>
                      </a:r>
                    </a:p>
                  </a:txBody>
                  <a:tcPr>
                    <a:solidFill>
                      <a:srgbClr val="1F3A5F"/>
                    </a:solidFill>
                  </a:tcPr>
                </a:tc>
                <a:tc>
                  <a:txBody>
                    <a:bodyPr/>
                    <a:lstStyle/>
                    <a:p>
                      <a:r>
                        <a:rPr sz="1100" b="1">
                          <a:solidFill>
                            <a:srgbClr val="FFFFFF"/>
                          </a:solidFill>
                          <a:latin typeface="Microsoft JhengHei"/>
                          <a:ea typeface="Microsoft JhengHei"/>
                        </a:rPr>
                        <a:t>訊號</a:t>
                      </a:r>
                    </a:p>
                  </a:txBody>
                  <a:tcPr>
                    <a:solidFill>
                      <a:srgbClr val="1F3A5F"/>
                    </a:solidFill>
                  </a:tcPr>
                </a:tc>
              </a:tr>
              <a:tr h="365760">
                <a:tc>
                  <a:txBody>
                    <a:bodyPr/>
                    <a:lstStyle/>
                    <a:p>
                      <a:r>
                        <a:rPr sz="1100" b="0">
                          <a:solidFill>
                            <a:srgbClr val="1F2328"/>
                          </a:solidFill>
                          <a:latin typeface="Microsoft JhengHei"/>
                          <a:ea typeface="Microsoft JhengHei"/>
                        </a:rPr>
                        <a:t>00731 復華富時高息低波</a:t>
                      </a:r>
                    </a:p>
                  </a:txBody>
                  <a:tcPr>
                    <a:solidFill>
                      <a:srgbClr val="F3F5F8"/>
                    </a:solidFill>
                  </a:tcPr>
                </a:tc>
                <a:tc>
                  <a:txBody>
                    <a:bodyPr/>
                    <a:lstStyle/>
                    <a:p>
                      <a:r>
                        <a:rPr sz="1100" b="0">
                          <a:solidFill>
                            <a:srgbClr val="1F2328"/>
                          </a:solidFill>
                          <a:latin typeface="Microsoft JhengHei"/>
                          <a:ea typeface="Microsoft JhengHei"/>
                        </a:rPr>
                        <a:t>ETF</a:t>
                      </a:r>
                    </a:p>
                  </a:txBody>
                  <a:tcPr>
                    <a:solidFill>
                      <a:srgbClr val="F3F5F8"/>
                    </a:solidFill>
                  </a:tcPr>
                </a:tc>
                <a:tc>
                  <a:txBody>
                    <a:bodyPr/>
                    <a:lstStyle/>
                    <a:p>
                      <a:r>
                        <a:rPr sz="1100" b="0">
                          <a:solidFill>
                            <a:srgbClr val="1F2328"/>
                          </a:solidFill>
                          <a:latin typeface="Microsoft JhengHei"/>
                          <a:ea typeface="Microsoft JhengHei"/>
                        </a:rPr>
                        <a:t>72.9%</a:t>
                      </a:r>
                    </a:p>
                  </a:txBody>
                  <a:tcPr>
                    <a:solidFill>
                      <a:srgbClr val="F3F5F8"/>
                    </a:solidFill>
                  </a:tcPr>
                </a:tc>
                <a:tc>
                  <a:txBody>
                    <a:bodyPr/>
                    <a:lstStyle/>
                    <a:p>
                      <a:r>
                        <a:rPr sz="1100" b="0">
                          <a:solidFill>
                            <a:srgbClr val="1F2328"/>
                          </a:solidFill>
                          <a:latin typeface="Microsoft JhengHei"/>
                          <a:ea typeface="Microsoft JhengHei"/>
                        </a:rPr>
                        <a:t>-5.1%</a:t>
                      </a:r>
                    </a:p>
                  </a:txBody>
                  <a:tcPr>
                    <a:solidFill>
                      <a:srgbClr val="F3F5F8"/>
                    </a:solidFill>
                  </a:tcPr>
                </a:tc>
                <a:tc>
                  <a:txBody>
                    <a:bodyPr/>
                    <a:lstStyle/>
                    <a:p>
                      <a:r>
                        <a:rPr sz="1100" b="0">
                          <a:solidFill>
                            <a:srgbClr val="1F2328"/>
                          </a:solidFill>
                          <a:latin typeface="Microsoft JhengHei"/>
                          <a:ea typeface="Microsoft JhengHei"/>
                        </a:rPr>
                        <a:t>0.36</a:t>
                      </a:r>
                    </a:p>
                  </a:txBody>
                  <a:tcPr>
                    <a:solidFill>
                      <a:srgbClr val="F3F5F8"/>
                    </a:solidFill>
                  </a:tcPr>
                </a:tc>
                <a:tc>
                  <a:txBody>
                    <a:bodyPr/>
                    <a:lstStyle/>
                    <a:p>
                      <a:r>
                        <a:rPr sz="1100" b="0">
                          <a:solidFill>
                            <a:srgbClr val="1F2328"/>
                          </a:solidFill>
                          <a:latin typeface="Microsoft JhengHei"/>
                          <a:ea typeface="Microsoft JhengHei"/>
                        </a:rPr>
                        <a:t>+0.84</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00915 凱基優選高股息30</a:t>
                      </a:r>
                    </a:p>
                  </a:txBody>
                  <a:tcPr>
                    <a:solidFill>
                      <a:srgbClr val="FFFFFF"/>
                    </a:solidFill>
                  </a:tcPr>
                </a:tc>
                <a:tc>
                  <a:txBody>
                    <a:bodyPr/>
                    <a:lstStyle/>
                    <a:p>
                      <a:r>
                        <a:rPr sz="1100" b="0">
                          <a:solidFill>
                            <a:srgbClr val="1F2328"/>
                          </a:solidFill>
                          <a:latin typeface="Microsoft JhengHei"/>
                          <a:ea typeface="Microsoft JhengHei"/>
                        </a:rPr>
                        <a:t>ETF</a:t>
                      </a:r>
                    </a:p>
                  </a:txBody>
                  <a:tcPr>
                    <a:solidFill>
                      <a:srgbClr val="FFFFFF"/>
                    </a:solidFill>
                  </a:tcPr>
                </a:tc>
                <a:tc>
                  <a:txBody>
                    <a:bodyPr/>
                    <a:lstStyle/>
                    <a:p>
                      <a:r>
                        <a:rPr sz="1100" b="0">
                          <a:solidFill>
                            <a:srgbClr val="1F2328"/>
                          </a:solidFill>
                          <a:latin typeface="Microsoft JhengHei"/>
                          <a:ea typeface="Microsoft JhengHei"/>
                        </a:rPr>
                        <a:t>74.3%</a:t>
                      </a:r>
                    </a:p>
                  </a:txBody>
                  <a:tcPr>
                    <a:solidFill>
                      <a:srgbClr val="FFFFFF"/>
                    </a:solidFill>
                  </a:tcPr>
                </a:tc>
                <a:tc>
                  <a:txBody>
                    <a:bodyPr/>
                    <a:lstStyle/>
                    <a:p>
                      <a:r>
                        <a:rPr sz="1100" b="0">
                          <a:solidFill>
                            <a:srgbClr val="1F2328"/>
                          </a:solidFill>
                          <a:latin typeface="Microsoft JhengHei"/>
                          <a:ea typeface="Microsoft JhengHei"/>
                        </a:rPr>
                        <a:t>-6.3%</a:t>
                      </a:r>
                    </a:p>
                  </a:txBody>
                  <a:tcPr>
                    <a:solidFill>
                      <a:srgbClr val="FFFFFF"/>
                    </a:solidFill>
                  </a:tcPr>
                </a:tc>
                <a:tc>
                  <a:txBody>
                    <a:bodyPr/>
                    <a:lstStyle/>
                    <a:p>
                      <a:r>
                        <a:rPr sz="1100" b="0">
                          <a:solidFill>
                            <a:srgbClr val="1F2328"/>
                          </a:solidFill>
                          <a:latin typeface="Microsoft JhengHei"/>
                          <a:ea typeface="Microsoft JhengHei"/>
                        </a:rPr>
                        <a:t>0.46</a:t>
                      </a:r>
                    </a:p>
                  </a:txBody>
                  <a:tcPr>
                    <a:solidFill>
                      <a:srgbClr val="FFFFFF"/>
                    </a:solidFill>
                  </a:tcPr>
                </a:tc>
                <a:tc>
                  <a:txBody>
                    <a:bodyPr/>
                    <a:lstStyle/>
                    <a:p>
                      <a:r>
                        <a:rPr sz="1100" b="0">
                          <a:solidFill>
                            <a:srgbClr val="1F2328"/>
                          </a:solidFill>
                          <a:latin typeface="Microsoft JhengHei"/>
                          <a:ea typeface="Microsoft JhengHei"/>
                        </a:rPr>
                        <a:t>+0.83</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00900 富邦特選高股息30</a:t>
                      </a:r>
                    </a:p>
                  </a:txBody>
                  <a:tcPr>
                    <a:solidFill>
                      <a:srgbClr val="F3F5F8"/>
                    </a:solidFill>
                  </a:tcPr>
                </a:tc>
                <a:tc>
                  <a:txBody>
                    <a:bodyPr/>
                    <a:lstStyle/>
                    <a:p>
                      <a:r>
                        <a:rPr sz="1100" b="0">
                          <a:solidFill>
                            <a:srgbClr val="1F2328"/>
                          </a:solidFill>
                          <a:latin typeface="Microsoft JhengHei"/>
                          <a:ea typeface="Microsoft JhengHei"/>
                        </a:rPr>
                        <a:t>ETF</a:t>
                      </a:r>
                    </a:p>
                  </a:txBody>
                  <a:tcPr>
                    <a:solidFill>
                      <a:srgbClr val="F3F5F8"/>
                    </a:solidFill>
                  </a:tcPr>
                </a:tc>
                <a:tc>
                  <a:txBody>
                    <a:bodyPr/>
                    <a:lstStyle/>
                    <a:p>
                      <a:r>
                        <a:rPr sz="1100" b="0">
                          <a:solidFill>
                            <a:srgbClr val="1F2328"/>
                          </a:solidFill>
                          <a:latin typeface="Microsoft JhengHei"/>
                          <a:ea typeface="Microsoft JhengHei"/>
                        </a:rPr>
                        <a:t>69.3%</a:t>
                      </a:r>
                    </a:p>
                  </a:txBody>
                  <a:tcPr>
                    <a:solidFill>
                      <a:srgbClr val="F3F5F8"/>
                    </a:solidFill>
                  </a:tcPr>
                </a:tc>
                <a:tc>
                  <a:txBody>
                    <a:bodyPr/>
                    <a:lstStyle/>
                    <a:p>
                      <a:r>
                        <a:rPr sz="1100" b="0">
                          <a:solidFill>
                            <a:srgbClr val="1F2328"/>
                          </a:solidFill>
                          <a:latin typeface="Microsoft JhengHei"/>
                          <a:ea typeface="Microsoft JhengHei"/>
                        </a:rPr>
                        <a:t>-5.6%</a:t>
                      </a:r>
                    </a:p>
                  </a:txBody>
                  <a:tcPr>
                    <a:solidFill>
                      <a:srgbClr val="F3F5F8"/>
                    </a:solidFill>
                  </a:tcPr>
                </a:tc>
                <a:tc>
                  <a:txBody>
                    <a:bodyPr/>
                    <a:lstStyle/>
                    <a:p>
                      <a:r>
                        <a:rPr sz="1100" b="0">
                          <a:solidFill>
                            <a:srgbClr val="1F2328"/>
                          </a:solidFill>
                          <a:latin typeface="Microsoft JhengHei"/>
                          <a:ea typeface="Microsoft JhengHei"/>
                        </a:rPr>
                        <a:t>0.40</a:t>
                      </a:r>
                    </a:p>
                  </a:txBody>
                  <a:tcPr>
                    <a:solidFill>
                      <a:srgbClr val="F3F5F8"/>
                    </a:solidFill>
                  </a:tcPr>
                </a:tc>
                <a:tc>
                  <a:txBody>
                    <a:bodyPr/>
                    <a:lstStyle/>
                    <a:p>
                      <a:r>
                        <a:rPr sz="1100" b="0">
                          <a:solidFill>
                            <a:srgbClr val="1F2328"/>
                          </a:solidFill>
                          <a:latin typeface="Microsoft JhengHei"/>
                          <a:ea typeface="Microsoft JhengHei"/>
                        </a:rPr>
                        <a:t>+0.77</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6245 立端</a:t>
                      </a:r>
                    </a:p>
                  </a:txBody>
                  <a:tcPr>
                    <a:solidFill>
                      <a:srgbClr val="FFFFFF"/>
                    </a:solidFill>
                  </a:tcPr>
                </a:tc>
                <a:tc>
                  <a:txBody>
                    <a:bodyPr/>
                    <a:lstStyle/>
                    <a:p>
                      <a:r>
                        <a:rPr sz="1100" b="0">
                          <a:solidFill>
                            <a:srgbClr val="1F2328"/>
                          </a:solidFill>
                          <a:latin typeface="Microsoft JhengHei"/>
                          <a:ea typeface="Microsoft JhengHei"/>
                        </a:rPr>
                        <a:t>通信網路業</a:t>
                      </a:r>
                    </a:p>
                  </a:txBody>
                  <a:tcPr>
                    <a:solidFill>
                      <a:srgbClr val="FFFFFF"/>
                    </a:solidFill>
                  </a:tcPr>
                </a:tc>
                <a:tc>
                  <a:txBody>
                    <a:bodyPr/>
                    <a:lstStyle/>
                    <a:p>
                      <a:r>
                        <a:rPr sz="1100" b="0">
                          <a:solidFill>
                            <a:srgbClr val="1F2328"/>
                          </a:solidFill>
                          <a:latin typeface="Microsoft JhengHei"/>
                          <a:ea typeface="Microsoft JhengHei"/>
                        </a:rPr>
                        <a:t>62.6%</a:t>
                      </a:r>
                    </a:p>
                  </a:txBody>
                  <a:tcPr>
                    <a:solidFill>
                      <a:srgbClr val="FFFFFF"/>
                    </a:solidFill>
                  </a:tcPr>
                </a:tc>
                <a:tc>
                  <a:txBody>
                    <a:bodyPr/>
                    <a:lstStyle/>
                    <a:p>
                      <a:r>
                        <a:rPr sz="1100" b="0">
                          <a:solidFill>
                            <a:srgbClr val="1F2328"/>
                          </a:solidFill>
                          <a:latin typeface="Microsoft JhengHei"/>
                          <a:ea typeface="Microsoft JhengHei"/>
                        </a:rPr>
                        <a:t>-8.6%</a:t>
                      </a:r>
                    </a:p>
                  </a:txBody>
                  <a:tcPr>
                    <a:solidFill>
                      <a:srgbClr val="FFFFFF"/>
                    </a:solidFill>
                  </a:tcPr>
                </a:tc>
                <a:tc>
                  <a:txBody>
                    <a:bodyPr/>
                    <a:lstStyle/>
                    <a:p>
                      <a:r>
                        <a:rPr sz="1100" b="0">
                          <a:solidFill>
                            <a:srgbClr val="1F2328"/>
                          </a:solidFill>
                          <a:latin typeface="Microsoft JhengHei"/>
                          <a:ea typeface="Microsoft JhengHei"/>
                        </a:rPr>
                        <a:t>0.50</a:t>
                      </a:r>
                    </a:p>
                  </a:txBody>
                  <a:tcPr>
                    <a:solidFill>
                      <a:srgbClr val="FFFFFF"/>
                    </a:solidFill>
                  </a:tcPr>
                </a:tc>
                <a:tc>
                  <a:txBody>
                    <a:bodyPr/>
                    <a:lstStyle/>
                    <a:p>
                      <a:r>
                        <a:rPr sz="1100" b="0">
                          <a:solidFill>
                            <a:srgbClr val="1F2328"/>
                          </a:solidFill>
                          <a:latin typeface="Microsoft JhengHei"/>
                          <a:ea typeface="Microsoft JhengHei"/>
                        </a:rPr>
                        <a:t>+0.75</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0055 元大MSCI金融</a:t>
                      </a:r>
                    </a:p>
                  </a:txBody>
                  <a:tcPr>
                    <a:solidFill>
                      <a:srgbClr val="F3F5F8"/>
                    </a:solidFill>
                  </a:tcPr>
                </a:tc>
                <a:tc>
                  <a:txBody>
                    <a:bodyPr/>
                    <a:lstStyle/>
                    <a:p>
                      <a:r>
                        <a:rPr sz="1100" b="0">
                          <a:solidFill>
                            <a:srgbClr val="1F2328"/>
                          </a:solidFill>
                          <a:latin typeface="Microsoft JhengHei"/>
                          <a:ea typeface="Microsoft JhengHei"/>
                        </a:rPr>
                        <a:t>ETF</a:t>
                      </a:r>
                    </a:p>
                  </a:txBody>
                  <a:tcPr>
                    <a:solidFill>
                      <a:srgbClr val="F3F5F8"/>
                    </a:solidFill>
                  </a:tcPr>
                </a:tc>
                <a:tc>
                  <a:txBody>
                    <a:bodyPr/>
                    <a:lstStyle/>
                    <a:p>
                      <a:r>
                        <a:rPr sz="1100" b="0">
                          <a:solidFill>
                            <a:srgbClr val="1F2328"/>
                          </a:solidFill>
                          <a:latin typeface="Microsoft JhengHei"/>
                          <a:ea typeface="Microsoft JhengHei"/>
                        </a:rPr>
                        <a:t>69.1%</a:t>
                      </a:r>
                    </a:p>
                  </a:txBody>
                  <a:tcPr>
                    <a:solidFill>
                      <a:srgbClr val="F3F5F8"/>
                    </a:solidFill>
                  </a:tcPr>
                </a:tc>
                <a:tc>
                  <a:txBody>
                    <a:bodyPr/>
                    <a:lstStyle/>
                    <a:p>
                      <a:r>
                        <a:rPr sz="1100" b="0">
                          <a:solidFill>
                            <a:srgbClr val="1F2328"/>
                          </a:solidFill>
                          <a:latin typeface="Microsoft JhengHei"/>
                          <a:ea typeface="Microsoft JhengHei"/>
                        </a:rPr>
                        <a:t>-4.2%</a:t>
                      </a:r>
                    </a:p>
                  </a:txBody>
                  <a:tcPr>
                    <a:solidFill>
                      <a:srgbClr val="F3F5F8"/>
                    </a:solidFill>
                  </a:tcPr>
                </a:tc>
                <a:tc>
                  <a:txBody>
                    <a:bodyPr/>
                    <a:lstStyle/>
                    <a:p>
                      <a:r>
                        <a:rPr sz="1100" b="0">
                          <a:solidFill>
                            <a:srgbClr val="1F2328"/>
                          </a:solidFill>
                          <a:latin typeface="Microsoft JhengHei"/>
                          <a:ea typeface="Microsoft JhengHei"/>
                        </a:rPr>
                        <a:t>0.31</a:t>
                      </a:r>
                    </a:p>
                  </a:txBody>
                  <a:tcPr>
                    <a:solidFill>
                      <a:srgbClr val="F3F5F8"/>
                    </a:solidFill>
                  </a:tcPr>
                </a:tc>
                <a:tc>
                  <a:txBody>
                    <a:bodyPr/>
                    <a:lstStyle/>
                    <a:p>
                      <a:r>
                        <a:rPr sz="1100" b="0">
                          <a:solidFill>
                            <a:srgbClr val="1F2328"/>
                          </a:solidFill>
                          <a:latin typeface="Microsoft JhengHei"/>
                          <a:ea typeface="Microsoft JhengHei"/>
                        </a:rPr>
                        <a:t>+0.70</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00940 元大台灣價值高息</a:t>
                      </a:r>
                    </a:p>
                  </a:txBody>
                  <a:tcPr>
                    <a:solidFill>
                      <a:srgbClr val="FFFFFF"/>
                    </a:solidFill>
                  </a:tcPr>
                </a:tc>
                <a:tc>
                  <a:txBody>
                    <a:bodyPr/>
                    <a:lstStyle/>
                    <a:p>
                      <a:r>
                        <a:rPr sz="1100" b="0">
                          <a:solidFill>
                            <a:srgbClr val="1F2328"/>
                          </a:solidFill>
                          <a:latin typeface="Microsoft JhengHei"/>
                          <a:ea typeface="Microsoft JhengHei"/>
                        </a:rPr>
                        <a:t>ETF</a:t>
                      </a:r>
                    </a:p>
                  </a:txBody>
                  <a:tcPr>
                    <a:solidFill>
                      <a:srgbClr val="FFFFFF"/>
                    </a:solidFill>
                  </a:tcPr>
                </a:tc>
                <a:tc>
                  <a:txBody>
                    <a:bodyPr/>
                    <a:lstStyle/>
                    <a:p>
                      <a:r>
                        <a:rPr sz="1100" b="0">
                          <a:solidFill>
                            <a:srgbClr val="1F2328"/>
                          </a:solidFill>
                          <a:latin typeface="Microsoft JhengHei"/>
                          <a:ea typeface="Microsoft JhengHei"/>
                        </a:rPr>
                        <a:t>74.0%</a:t>
                      </a:r>
                    </a:p>
                  </a:txBody>
                  <a:tcPr>
                    <a:solidFill>
                      <a:srgbClr val="FFFFFF"/>
                    </a:solidFill>
                  </a:tcPr>
                </a:tc>
                <a:tc>
                  <a:txBody>
                    <a:bodyPr/>
                    <a:lstStyle/>
                    <a:p>
                      <a:r>
                        <a:rPr sz="1100" b="0">
                          <a:solidFill>
                            <a:srgbClr val="1F2328"/>
                          </a:solidFill>
                          <a:latin typeface="Microsoft JhengHei"/>
                          <a:ea typeface="Microsoft JhengHei"/>
                        </a:rPr>
                        <a:t>-6.0%</a:t>
                      </a:r>
                    </a:p>
                  </a:txBody>
                  <a:tcPr>
                    <a:solidFill>
                      <a:srgbClr val="FFFFFF"/>
                    </a:solidFill>
                  </a:tcPr>
                </a:tc>
                <a:tc>
                  <a:txBody>
                    <a:bodyPr/>
                    <a:lstStyle/>
                    <a:p>
                      <a:r>
                        <a:rPr sz="1100" b="0">
                          <a:solidFill>
                            <a:srgbClr val="1F2328"/>
                          </a:solidFill>
                          <a:latin typeface="Microsoft JhengHei"/>
                          <a:ea typeface="Microsoft JhengHei"/>
                        </a:rPr>
                        <a:t>0.52</a:t>
                      </a:r>
                    </a:p>
                  </a:txBody>
                  <a:tcPr>
                    <a:solidFill>
                      <a:srgbClr val="FFFFFF"/>
                    </a:solidFill>
                  </a:tcPr>
                </a:tc>
                <a:tc>
                  <a:txBody>
                    <a:bodyPr/>
                    <a:lstStyle/>
                    <a:p>
                      <a:r>
                        <a:rPr sz="1100" b="0">
                          <a:solidFill>
                            <a:srgbClr val="1F2328"/>
                          </a:solidFill>
                          <a:latin typeface="Microsoft JhengHei"/>
                          <a:ea typeface="Microsoft JhengHei"/>
                        </a:rPr>
                        <a:t>+0.63</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1736 喬山</a:t>
                      </a:r>
                    </a:p>
                  </a:txBody>
                  <a:tcPr>
                    <a:solidFill>
                      <a:srgbClr val="F3F5F8"/>
                    </a:solidFill>
                  </a:tcPr>
                </a:tc>
                <a:tc>
                  <a:txBody>
                    <a:bodyPr/>
                    <a:lstStyle/>
                    <a:p>
                      <a:r>
                        <a:rPr sz="1100" b="0">
                          <a:solidFill>
                            <a:srgbClr val="1F2328"/>
                          </a:solidFill>
                          <a:latin typeface="Microsoft JhengHei"/>
                          <a:ea typeface="Microsoft JhengHei"/>
                        </a:rPr>
                        <a:t>運動休閒</a:t>
                      </a:r>
                    </a:p>
                  </a:txBody>
                  <a:tcPr>
                    <a:solidFill>
                      <a:srgbClr val="F3F5F8"/>
                    </a:solidFill>
                  </a:tcPr>
                </a:tc>
                <a:tc>
                  <a:txBody>
                    <a:bodyPr/>
                    <a:lstStyle/>
                    <a:p>
                      <a:r>
                        <a:rPr sz="1100" b="0">
                          <a:solidFill>
                            <a:srgbClr val="1F2328"/>
                          </a:solidFill>
                          <a:latin typeface="Microsoft JhengHei"/>
                          <a:ea typeface="Microsoft JhengHei"/>
                        </a:rPr>
                        <a:t>52.8%</a:t>
                      </a:r>
                    </a:p>
                  </a:txBody>
                  <a:tcPr>
                    <a:solidFill>
                      <a:srgbClr val="F3F5F8"/>
                    </a:solidFill>
                  </a:tcPr>
                </a:tc>
                <a:tc>
                  <a:txBody>
                    <a:bodyPr/>
                    <a:lstStyle/>
                    <a:p>
                      <a:r>
                        <a:rPr sz="1100" b="0">
                          <a:solidFill>
                            <a:srgbClr val="1F2328"/>
                          </a:solidFill>
                          <a:latin typeface="Microsoft JhengHei"/>
                          <a:ea typeface="Microsoft JhengHei"/>
                        </a:rPr>
                        <a:t>-8.3%</a:t>
                      </a:r>
                    </a:p>
                  </a:txBody>
                  <a:tcPr>
                    <a:solidFill>
                      <a:srgbClr val="F3F5F8"/>
                    </a:solidFill>
                  </a:tcPr>
                </a:tc>
                <a:tc>
                  <a:txBody>
                    <a:bodyPr/>
                    <a:lstStyle/>
                    <a:p>
                      <a:r>
                        <a:rPr sz="1100" b="0">
                          <a:solidFill>
                            <a:srgbClr val="1F2328"/>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+0.63</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1808 潤隆</a:t>
                      </a:r>
                    </a:p>
                  </a:txBody>
                  <a:tcPr>
                    <a:solidFill>
                      <a:srgbClr val="FFFFFF"/>
                    </a:solidFill>
                  </a:tcPr>
                </a:tc>
                <a:tc>
                  <a:txBody>
                    <a:bodyPr/>
                    <a:lstStyle/>
                    <a:p>
                      <a:r>
                        <a:rPr sz="1100" b="0">
                          <a:solidFill>
                            <a:srgbClr val="1F2328"/>
                          </a:solidFill>
                          <a:latin typeface="Microsoft JhengHei"/>
                          <a:ea typeface="Microsoft JhengHei"/>
                        </a:rPr>
                        <a:t>建材營造</a:t>
                      </a:r>
                    </a:p>
                  </a:txBody>
                  <a:tcPr>
                    <a:solidFill>
                      <a:srgbClr val="FFFFFF"/>
                    </a:solidFill>
                  </a:tcPr>
                </a:tc>
                <a:tc>
                  <a:txBody>
                    <a:bodyPr/>
                    <a:lstStyle/>
                    <a:p>
                      <a:r>
                        <a:rPr sz="1100" b="0">
                          <a:solidFill>
                            <a:srgbClr val="1F2328"/>
                          </a:solidFill>
                          <a:latin typeface="Microsoft JhengHei"/>
                          <a:ea typeface="Microsoft JhengHei"/>
                        </a:rPr>
                        <a:t>49.2%</a:t>
                      </a:r>
                    </a:p>
                  </a:txBody>
                  <a:tcPr>
                    <a:solidFill>
                      <a:srgbClr val="FFFFFF"/>
                    </a:solidFill>
                  </a:tcPr>
                </a:tc>
                <a:tc>
                  <a:txBody>
                    <a:bodyPr/>
                    <a:lstStyle/>
                    <a:p>
                      <a:r>
                        <a:rPr sz="1100" b="0">
                          <a:solidFill>
                            <a:srgbClr val="1F2328"/>
                          </a:solidFill>
                          <a:latin typeface="Microsoft JhengHei"/>
                          <a:ea typeface="Microsoft JhengHei"/>
                        </a:rPr>
                        <a:t>-8.2%</a:t>
                      </a:r>
                    </a:p>
                  </a:txBody>
                  <a:tcPr>
                    <a:solidFill>
                      <a:srgbClr val="FFFFFF"/>
                    </a:solidFill>
                  </a:tcPr>
                </a:tc>
                <a:tc>
                  <a:txBody>
                    <a:bodyPr/>
                    <a:lstStyle/>
                    <a:p>
                      <a:r>
                        <a:rPr sz="1100" b="0">
                          <a:solidFill>
                            <a:srgbClr val="1F2328"/>
                          </a:solidFill>
                          <a:latin typeface="Microsoft JhengHei"/>
                          <a:ea typeface="Microsoft JhengHei"/>
                        </a:rPr>
                        <a:t>0.18</a:t>
                      </a:r>
                    </a:p>
                  </a:txBody>
                  <a:tcPr>
                    <a:solidFill>
                      <a:srgbClr val="FFFFFF"/>
                    </a:solidFill>
                  </a:tcPr>
                </a:tc>
                <a:tc>
                  <a:txBody>
                    <a:bodyPr/>
                    <a:lstStyle/>
                    <a:p>
                      <a:r>
                        <a:rPr sz="1100" b="0">
                          <a:solidFill>
                            <a:srgbClr val="1F2328"/>
                          </a:solidFill>
                          <a:latin typeface="Microsoft JhengHei"/>
                          <a:ea typeface="Microsoft JhengHei"/>
                        </a:rPr>
                        <a:t>+0.61</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00939 統一台灣高息動能</a:t>
                      </a:r>
                    </a:p>
                  </a:txBody>
                  <a:tcPr>
                    <a:solidFill>
                      <a:srgbClr val="F3F5F8"/>
                    </a:solidFill>
                  </a:tcPr>
                </a:tc>
                <a:tc>
                  <a:txBody>
                    <a:bodyPr/>
                    <a:lstStyle/>
                    <a:p>
                      <a:r>
                        <a:rPr sz="1100" b="0">
                          <a:solidFill>
                            <a:srgbClr val="1F2328"/>
                          </a:solidFill>
                          <a:latin typeface="Microsoft JhengHei"/>
                          <a:ea typeface="Microsoft JhengHei"/>
                        </a:rPr>
                        <a:t>ETF</a:t>
                      </a:r>
                    </a:p>
                  </a:txBody>
                  <a:tcPr>
                    <a:solidFill>
                      <a:srgbClr val="F3F5F8"/>
                    </a:solidFill>
                  </a:tcPr>
                </a:tc>
                <a:tc>
                  <a:txBody>
                    <a:bodyPr/>
                    <a:lstStyle/>
                    <a:p>
                      <a:r>
                        <a:rPr sz="1100" b="0">
                          <a:solidFill>
                            <a:srgbClr val="1F2328"/>
                          </a:solidFill>
                          <a:latin typeface="Microsoft JhengHei"/>
                          <a:ea typeface="Microsoft JhengHei"/>
                        </a:rPr>
                        <a:t>73.2%</a:t>
                      </a:r>
                    </a:p>
                  </a:txBody>
                  <a:tcPr>
                    <a:solidFill>
                      <a:srgbClr val="F3F5F8"/>
                    </a:solidFill>
                  </a:tcPr>
                </a:tc>
                <a:tc>
                  <a:txBody>
                    <a:bodyPr/>
                    <a:lstStyle/>
                    <a:p>
                      <a:r>
                        <a:rPr sz="1100" b="0">
                          <a:solidFill>
                            <a:srgbClr val="1F2328"/>
                          </a:solidFill>
                          <a:latin typeface="Microsoft JhengHei"/>
                          <a:ea typeface="Microsoft JhengHei"/>
                        </a:rPr>
                        <a:t>-5.4%</a:t>
                      </a:r>
                    </a:p>
                  </a:txBody>
                  <a:tcPr>
                    <a:solidFill>
                      <a:srgbClr val="F3F5F8"/>
                    </a:solidFill>
                  </a:tcPr>
                </a:tc>
                <a:tc>
                  <a:txBody>
                    <a:bodyPr/>
                    <a:lstStyle/>
                    <a:p>
                      <a:r>
                        <a:rPr sz="1100" b="0">
                          <a:solidFill>
                            <a:srgbClr val="1F2328"/>
                          </a:solidFill>
                          <a:latin typeface="Microsoft JhengHei"/>
                          <a:ea typeface="Microsoft JhengHei"/>
                        </a:rPr>
                        <a:t>0.28</a:t>
                      </a:r>
                    </a:p>
                  </a:txBody>
                  <a:tcPr>
                    <a:solidFill>
                      <a:srgbClr val="F3F5F8"/>
                    </a:solidFill>
                  </a:tcPr>
                </a:tc>
                <a:tc>
                  <a:txBody>
                    <a:bodyPr/>
                    <a:lstStyle/>
                    <a:p>
                      <a:r>
                        <a:rPr sz="1100" b="0">
                          <a:solidFill>
                            <a:srgbClr val="1F2328"/>
                          </a:solidFill>
                          <a:latin typeface="Microsoft JhengHei"/>
                          <a:ea typeface="Microsoft JhengHei"/>
                        </a:rPr>
                        <a:t>+0.60</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8215 明基材</a:t>
                      </a:r>
                    </a:p>
                  </a:txBody>
                  <a:tcPr>
                    <a:solidFill>
                      <a:srgbClr val="FFFFFF"/>
                    </a:solidFill>
                  </a:tcPr>
                </a:tc>
                <a:tc>
                  <a:txBody>
                    <a:bodyPr/>
                    <a:lstStyle/>
                    <a:p>
                      <a:r>
                        <a:rPr sz="1100" b="0">
                          <a:solidFill>
                            <a:srgbClr val="1F2328"/>
                          </a:solidFill>
                          <a:latin typeface="Microsoft JhengHei"/>
                          <a:ea typeface="Microsoft JhengHei"/>
                        </a:rPr>
                        <a:t>光電業</a:t>
                      </a:r>
                    </a:p>
                  </a:txBody>
                  <a:tcPr>
                    <a:solidFill>
                      <a:srgbClr val="FFFFFF"/>
                    </a:solidFill>
                  </a:tcPr>
                </a:tc>
                <a:tc>
                  <a:txBody>
                    <a:bodyPr/>
                    <a:lstStyle/>
                    <a:p>
                      <a:r>
                        <a:rPr sz="1100" b="0">
                          <a:solidFill>
                            <a:srgbClr val="1F2328"/>
                          </a:solidFill>
                          <a:latin typeface="Microsoft JhengHei"/>
                          <a:ea typeface="Microsoft JhengHei"/>
                        </a:rPr>
                        <a:t>59.1%</a:t>
                      </a:r>
                    </a:p>
                  </a:txBody>
                  <a:tcPr>
                    <a:solidFill>
                      <a:srgbClr val="FFFFFF"/>
                    </a:solidFill>
                  </a:tcPr>
                </a:tc>
                <a:tc>
                  <a:txBody>
                    <a:bodyPr/>
                    <a:lstStyle/>
                    <a:p>
                      <a:r>
                        <a:rPr sz="1100" b="0">
                          <a:solidFill>
                            <a:srgbClr val="1F2328"/>
                          </a:solidFill>
                          <a:latin typeface="Microsoft JhengHei"/>
                          <a:ea typeface="Microsoft JhengHei"/>
                        </a:rPr>
                        <a:t>-8.6%</a:t>
                      </a:r>
                    </a:p>
                  </a:txBody>
                  <a:tcPr>
                    <a:solidFill>
                      <a:srgbClr val="FFFFFF"/>
                    </a:solidFill>
                  </a:tcPr>
                </a:tc>
                <a:tc>
                  <a:txBody>
                    <a:bodyPr/>
                    <a:lstStyle/>
                    <a:p>
                      <a:r>
                        <a:rPr sz="1100" b="0">
                          <a:solidFill>
                            <a:srgbClr val="1F2328"/>
                          </a:solidFill>
                          <a:latin typeface="Microsoft JhengHei"/>
                          <a:ea typeface="Microsoft JhengHei"/>
                        </a:rPr>
                        <a:t>0.67</a:t>
                      </a:r>
                    </a:p>
                  </a:txBody>
                  <a:tcPr>
                    <a:solidFill>
                      <a:srgbClr val="FFFFFF"/>
                    </a:solidFill>
                  </a:tcPr>
                </a:tc>
                <a:tc>
                  <a:txBody>
                    <a:bodyPr/>
                    <a:lstStyle/>
                    <a:p>
                      <a:r>
                        <a:rPr sz="1100" b="0">
                          <a:solidFill>
                            <a:srgbClr val="1F2328"/>
                          </a:solidFill>
                          <a:latin typeface="Microsoft JhengHei"/>
                          <a:ea typeface="Microsoft JhengHei"/>
                        </a:rPr>
                        <a:t>+0.60</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r h="365760">
                <a:tc>
                  <a:txBody>
                    <a:bodyPr/>
                    <a:lstStyle/>
                    <a:p>
                      <a:r>
                        <a:rPr sz="1100" b="0">
                          <a:solidFill>
                            <a:srgbClr val="1F2328"/>
                          </a:solidFill>
                          <a:latin typeface="Microsoft JhengHei"/>
                          <a:ea typeface="Microsoft JhengHei"/>
                        </a:rPr>
                        <a:t>2850 新產</a:t>
                      </a:r>
                    </a:p>
                  </a:txBody>
                  <a:tcPr>
                    <a:solidFill>
                      <a:srgbClr val="F3F5F8"/>
                    </a:solidFill>
                  </a:tcPr>
                </a:tc>
                <a:tc>
                  <a:txBody>
                    <a:bodyPr/>
                    <a:lstStyle/>
                    <a:p>
                      <a:r>
                        <a:rPr sz="1100" b="0">
                          <a:solidFill>
                            <a:srgbClr val="1F2328"/>
                          </a:solidFill>
                          <a:latin typeface="Microsoft JhengHei"/>
                          <a:ea typeface="Microsoft JhengHei"/>
                        </a:rPr>
                        <a:t>金融保險</a:t>
                      </a:r>
                    </a:p>
                  </a:txBody>
                  <a:tcPr>
                    <a:solidFill>
                      <a:srgbClr val="F3F5F8"/>
                    </a:solidFill>
                  </a:tcPr>
                </a:tc>
                <a:tc>
                  <a:txBody>
                    <a:bodyPr/>
                    <a:lstStyle/>
                    <a:p>
                      <a:r>
                        <a:rPr sz="1100" b="0">
                          <a:solidFill>
                            <a:srgbClr val="1F2328"/>
                          </a:solidFill>
                          <a:latin typeface="Microsoft JhengHei"/>
                          <a:ea typeface="Microsoft JhengHei"/>
                        </a:rPr>
                        <a:t>59.0%</a:t>
                      </a:r>
                    </a:p>
                  </a:txBody>
                  <a:tcPr>
                    <a:solidFill>
                      <a:srgbClr val="F3F5F8"/>
                    </a:solidFill>
                  </a:tcPr>
                </a:tc>
                <a:tc>
                  <a:txBody>
                    <a:bodyPr/>
                    <a:lstStyle/>
                    <a:p>
                      <a:r>
                        <a:rPr sz="1100" b="0">
                          <a:solidFill>
                            <a:srgbClr val="1F2328"/>
                          </a:solidFill>
                          <a:latin typeface="Microsoft JhengHei"/>
                          <a:ea typeface="Microsoft JhengHei"/>
                        </a:rPr>
                        <a:t>-6.8%</a:t>
                      </a:r>
                    </a:p>
                  </a:txBody>
                  <a:tcPr>
                    <a:solidFill>
                      <a:srgbClr val="F3F5F8"/>
                    </a:solidFill>
                  </a:tcPr>
                </a:tc>
                <a:tc>
                  <a:txBody>
                    <a:bodyPr/>
                    <a:lstStyle/>
                    <a:p>
                      <a:r>
                        <a:rPr sz="1100" b="0">
                          <a:solidFill>
                            <a:srgbClr val="1F2328"/>
                          </a:solidFill>
                          <a:latin typeface="Microsoft JhengHei"/>
                          <a:ea typeface="Microsoft JhengHei"/>
                        </a:rPr>
                        <a:t>0.15</a:t>
                      </a:r>
                    </a:p>
                  </a:txBody>
                  <a:tcPr>
                    <a:solidFill>
                      <a:srgbClr val="F3F5F8"/>
                    </a:solidFill>
                  </a:tcPr>
                </a:tc>
                <a:tc>
                  <a:txBody>
                    <a:bodyPr/>
                    <a:lstStyle/>
                    <a:p>
                      <a:r>
                        <a:rPr sz="1100" b="0">
                          <a:solidFill>
                            <a:srgbClr val="1F2328"/>
                          </a:solidFill>
                          <a:latin typeface="Microsoft JhengHei"/>
                          <a:ea typeface="Microsoft JhengHei"/>
                        </a:rPr>
                        <a:t>+0.59</a:t>
                      </a:r>
                    </a:p>
                  </a:txBody>
                  <a:tcPr>
                    <a:solidFill>
                      <a:srgbClr val="F3F5F8"/>
                    </a:solidFill>
                  </a:tcPr>
                </a:tc>
                <a:tc>
                  <a:txBody>
                    <a:bodyPr/>
                    <a:lstStyle/>
                    <a:p>
                      <a:r>
                        <a:rPr sz="1100" b="0">
                          <a:solidFill>
                            <a:srgbClr val="1F2328"/>
                          </a:solidFill>
                          <a:latin typeface="Microsoft JhengHei"/>
                          <a:ea typeface="Microsoft JhengHei"/>
                        </a:rPr>
                        <a:t>買進候選</a:t>
                      </a:r>
                    </a:p>
                  </a:txBody>
                  <a:tcPr>
                    <a:solidFill>
                      <a:srgbClr val="F3F5F8"/>
                    </a:solidFill>
                  </a:tcPr>
                </a:tc>
              </a:tr>
              <a:tr h="365760">
                <a:tc>
                  <a:txBody>
                    <a:bodyPr/>
                    <a:lstStyle/>
                    <a:p>
                      <a:r>
                        <a:rPr sz="1100" b="0">
                          <a:solidFill>
                            <a:srgbClr val="1F2328"/>
                          </a:solidFill>
                          <a:latin typeface="Microsoft JhengHei"/>
                          <a:ea typeface="Microsoft JhengHei"/>
                        </a:rPr>
                        <a:t>4105 東洋</a:t>
                      </a:r>
                    </a:p>
                  </a:txBody>
                  <a:tcPr>
                    <a:solidFill>
                      <a:srgbClr val="FFFFFF"/>
                    </a:solidFill>
                  </a:tcPr>
                </a:tc>
                <a:tc>
                  <a:txBody>
                    <a:bodyPr/>
                    <a:lstStyle/>
                    <a:p>
                      <a:r>
                        <a:rPr sz="1100" b="0">
                          <a:solidFill>
                            <a:srgbClr val="1F2328"/>
                          </a:solidFill>
                          <a:latin typeface="Microsoft JhengHei"/>
                          <a:ea typeface="Microsoft JhengHei"/>
                        </a:rPr>
                        <a:t>生技醫療業</a:t>
                      </a:r>
                    </a:p>
                  </a:txBody>
                  <a:tcPr>
                    <a:solidFill>
                      <a:srgbClr val="FFFFFF"/>
                    </a:solidFill>
                  </a:tcPr>
                </a:tc>
                <a:tc>
                  <a:txBody>
                    <a:bodyPr/>
                    <a:lstStyle/>
                    <a:p>
                      <a:r>
                        <a:rPr sz="1100" b="0">
                          <a:solidFill>
                            <a:srgbClr val="1F2328"/>
                          </a:solidFill>
                          <a:latin typeface="Microsoft JhengHei"/>
                          <a:ea typeface="Microsoft JhengHei"/>
                        </a:rPr>
                        <a:t>40.6%</a:t>
                      </a:r>
                    </a:p>
                  </a:txBody>
                  <a:tcPr>
                    <a:solidFill>
                      <a:srgbClr val="FFFFFF"/>
                    </a:solidFill>
                  </a:tcPr>
                </a:tc>
                <a:tc>
                  <a:txBody>
                    <a:bodyPr/>
                    <a:lstStyle/>
                    <a:p>
                      <a:r>
                        <a:rPr sz="1100" b="0">
                          <a:solidFill>
                            <a:srgbClr val="1F2328"/>
                          </a:solidFill>
                          <a:latin typeface="Microsoft JhengHei"/>
                          <a:ea typeface="Microsoft JhengHei"/>
                        </a:rPr>
                        <a:t>-6.6%</a:t>
                      </a:r>
                    </a:p>
                  </a:txBody>
                  <a:tcPr>
                    <a:solidFill>
                      <a:srgbClr val="FFFFFF"/>
                    </a:solidFill>
                  </a:tcPr>
                </a:tc>
                <a:tc>
                  <a:txBody>
                    <a:bodyPr/>
                    <a:lstStyle/>
                    <a:p>
                      <a:r>
                        <a:rPr sz="1100" b="0">
                          <a:solidFill>
                            <a:srgbClr val="1F2328"/>
                          </a:solidFill>
                          <a:latin typeface="Microsoft JhengHei"/>
                          <a:ea typeface="Microsoft JhengHei"/>
                        </a:rPr>
                        <a:t>-0.03</a:t>
                      </a:r>
                    </a:p>
                  </a:txBody>
                  <a:tcPr>
                    <a:solidFill>
                      <a:srgbClr val="FFFFFF"/>
                    </a:solidFill>
                  </a:tcPr>
                </a:tc>
                <a:tc>
                  <a:txBody>
                    <a:bodyPr/>
                    <a:lstStyle/>
                    <a:p>
                      <a:r>
                        <a:rPr sz="1100" b="0">
                          <a:solidFill>
                            <a:srgbClr val="1F2328"/>
                          </a:solidFill>
                          <a:latin typeface="Microsoft JhengHei"/>
                          <a:ea typeface="Microsoft JhengHei"/>
                        </a:rPr>
                        <a:t>+0.58</a:t>
                      </a:r>
                    </a:p>
                  </a:txBody>
                  <a:tcPr>
                    <a:solidFill>
                      <a:srgbClr val="FFFFFF"/>
                    </a:solidFill>
                  </a:tcPr>
                </a:tc>
                <a:tc>
                  <a:txBody>
                    <a:bodyPr/>
                    <a:lstStyle/>
                    <a:p>
                      <a:r>
                        <a:rPr sz="1100" b="0">
                          <a:solidFill>
                            <a:srgbClr val="1F2328"/>
                          </a:solidFill>
                          <a:latin typeface="Microsoft JhengHei"/>
                          <a:ea typeface="Microsoft JhengHei"/>
                        </a:rPr>
                        <a:t>買進候選</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期貨與選擇權判斷：期貨不操作</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8</a:t>
            </a:r>
          </a:p>
        </p:txBody>
      </p:sp>
      <p:sp>
        <p:nvSpPr>
          <p:cNvPr id="5" name="Rectangle 4"/>
          <p:cNvSpPr/>
          <p:nvPr/>
        </p:nvSpPr>
        <p:spPr>
          <a:xfrm>
            <a:off x="457200" y="1097280"/>
            <a:ext cx="11247120" cy="51206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10972800" cy="4937760"/>
          </a:xfrm>
          <a:prstGeom prst="rect">
            <a:avLst/>
          </a:prstGeom>
          <a:noFill/>
        </p:spPr>
        <p:txBody>
          <a:bodyPr wrap="square">
            <a:spAutoFit/>
          </a:bodyPr>
          <a:lstStyle/>
          <a:p>
            <a:r>
              <a:rPr sz="1500" b="1">
                <a:solidFill>
                  <a:srgbClr val="1F3A5F"/>
                </a:solidFill>
                <a:latin typeface="Microsoft JhengHei"/>
                <a:ea typeface="Microsoft JhengHei"/>
              </a:rPr>
              <a:t>依據（模型估計，不是保證）</a:t>
            </a:r>
          </a:p>
          <a:p>
            <a:pPr>
              <a:spcAft>
                <a:spcPts val="400"/>
              </a:spcAft>
            </a:pPr>
            <a:r>
              <a:rPr sz="1300" b="0">
                <a:solidFill>
                  <a:srgbClr val="1F2328"/>
                </a:solidFill>
                <a:latin typeface="Microsoft JhengHei"/>
                <a:ea typeface="Microsoft JhengHei"/>
              </a:rPr>
              <a:t>• 目前累積報酬 -13.68%、距高點回撤 -15.36%、剩 25 個交易日</a:t>
            </a:r>
          </a:p>
          <a:p>
            <a:pPr>
              <a:spcAft>
                <a:spcPts val="400"/>
              </a:spcAft>
            </a:pPr>
            <a:r>
              <a:rPr sz="1300" b="0">
                <a:solidFill>
                  <a:srgbClr val="1F2328"/>
                </a:solidFill>
                <a:latin typeface="Microsoft JhengHei"/>
                <a:ea typeface="Microsoft JhengHei"/>
              </a:rPr>
              <a:t>• 報酬為負或回撤 ≥ 4%：提高機率門檻、放寬每筆風險</a:t>
            </a:r>
          </a:p>
          <a:p>
            <a:pPr>
              <a:spcAft>
                <a:spcPts val="400"/>
              </a:spcAft>
            </a:pPr>
            <a:r>
              <a:rPr sz="1300" b="0">
                <a:solidFill>
                  <a:srgbClr val="1F2328"/>
                </a:solidFill>
                <a:latin typeface="Microsoft JhengHei"/>
                <a:ea typeface="Microsoft JhengHei"/>
              </a:rPr>
              <a:t>• 方向模型：未來 5 個交易日上漲機率 61.4%（模型估計，不是保證）</a:t>
            </a:r>
          </a:p>
          <a:p>
            <a:pPr>
              <a:spcAft>
                <a:spcPts val="400"/>
              </a:spcAft>
            </a:pPr>
            <a:r>
              <a:rPr sz="1300" b="0">
                <a:solidFill>
                  <a:srgbClr val="1F2328"/>
                </a:solidFill>
                <a:latin typeface="Microsoft JhengHei"/>
                <a:ea typeface="Microsoft JhengHei"/>
              </a:rPr>
              <a:t>• 做多：樣本外命中率 64.5%（基準 62.9%）、平均每次 +0.65%（一直做多 +0.73%），沒有擇時優勢</a:t>
            </a:r>
          </a:p>
          <a:p>
            <a:pPr>
              <a:spcAft>
                <a:spcPts val="400"/>
              </a:spcAft>
            </a:pPr>
            <a:r>
              <a:rPr sz="1300" b="0">
                <a:solidFill>
                  <a:srgbClr val="1F2328"/>
                </a:solidFill>
                <a:latin typeface="Microsoft JhengHei"/>
                <a:ea typeface="Microsoft JhengHei"/>
              </a:rPr>
              <a:t>• 放空：樣本外交易僅 0 次，少於 20 次，證據不足</a:t>
            </a:r>
          </a:p>
          <a:p>
            <a:pPr>
              <a:spcAft>
                <a:spcPts val="400"/>
              </a:spcAft>
            </a:pPr>
            <a:r>
              <a:rPr sz="1300" b="0">
                <a:solidFill>
                  <a:srgbClr val="1F2328"/>
                </a:solidFill>
                <a:latin typeface="Microsoft JhengHei"/>
                <a:ea typeface="Microsoft JhengHei"/>
              </a:rPr>
              <a:t>• 補回虧損模式可考慮加碼大盤曝險，但加權指數在季線下（-0.36%），風控規定不加碼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為何今日會漲／會跌（2026-10-22）</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9</a:t>
            </a:r>
          </a:p>
        </p:txBody>
      </p:sp>
      <p:pic>
        <p:nvPicPr>
          <p:cNvPr id="5" name="Picture 4" descr="2026-10-23_盤後檢討與隔日預掛單_att.png"/>
          <p:cNvPicPr>
            <a:picLocks noChangeAspect="1"/>
          </p:cNvPicPr>
          <p:nvPr/>
        </p:nvPicPr>
        <p:blipFill>
          <a:blip r:embed="rId2"/>
          <a:stretch>
            <a:fillRect/>
          </a:stretch>
        </p:blipFill>
        <p:spPr>
          <a:xfrm>
            <a:off x="365760" y="1097280"/>
            <a:ext cx="3563815" cy="5212080"/>
          </a:xfrm>
          <a:prstGeom prst="rect">
            <a:avLst/>
          </a:prstGeom>
        </p:spPr>
      </p:pic>
      <p:sp>
        <p:nvSpPr>
          <p:cNvPr id="6" name="Rectangle 5"/>
          <p:cNvSpPr/>
          <p:nvPr/>
        </p:nvSpPr>
        <p:spPr>
          <a:xfrm>
            <a:off x="8138160" y="1188720"/>
            <a:ext cx="3657600" cy="50292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280160"/>
            <a:ext cx="3383280" cy="484632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5880 合庫金：今日上漲 +0.71%（+4,800 元），主因為「產業因素」（+2.16%）</a:t>
            </a:r>
          </a:p>
          <a:p>
            <a:pPr>
              <a:spcAft>
                <a:spcPts val="400"/>
              </a:spcAft>
            </a:pPr>
            <a:r>
              <a:rPr sz="1300" b="0">
                <a:solidFill>
                  <a:srgbClr val="1F2328"/>
                </a:solidFill>
                <a:latin typeface="Microsoft JhengHei"/>
                <a:ea typeface="Microsoft JhengHei"/>
              </a:rPr>
              <a:t>• 2889 國票金：今日上漲 +0.30%（+2,021 元），主因為「產業因素」（+2.18%）</a:t>
            </a:r>
          </a:p>
          <a:p>
            <a:pPr>
              <a:spcAft>
                <a:spcPts val="400"/>
              </a:spcAft>
            </a:pPr>
            <a:r>
              <a:rPr sz="1300" b="0">
                <a:solidFill>
                  <a:srgbClr val="1F2328"/>
                </a:solidFill>
                <a:latin typeface="Microsoft JhengHei"/>
                <a:ea typeface="Microsoft JhengHei"/>
              </a:rPr>
              <a:t>• 2845 遠東銀：今日上漲 +0.38%（+1,804 元），主因為「產業因素」（+2.16%）</a:t>
            </a:r>
          </a:p>
          <a:p>
            <a:pPr>
              <a:spcAft>
                <a:spcPts val="400"/>
              </a:spcAft>
            </a:pPr>
            <a:r>
              <a:rPr sz="1300" b="0">
                <a:solidFill>
                  <a:srgbClr val="1F2328"/>
                </a:solidFill>
                <a:latin typeface="Microsoft JhengHei"/>
                <a:ea typeface="Microsoft JhengHei"/>
              </a:rPr>
              <a:t>• 2915 潤泰全：今日上漲 +0.35%（+1,435 元），主因為「個股特有因素」（+0.65%）</a:t>
            </a:r>
          </a:p>
          <a:p>
            <a:pPr>
              <a:spcAft>
                <a:spcPts val="400"/>
              </a:spcAft>
            </a:pPr>
            <a:r>
              <a:rPr sz="1300" b="0">
                <a:solidFill>
                  <a:srgbClr val="1F2328"/>
                </a:solidFill>
                <a:latin typeface="Microsoft JhengHei"/>
                <a:ea typeface="Microsoft JhengHei"/>
              </a:rPr>
              <a:t>• 3189 景碩：今日下跌 -2.38%（-39,336 元），主因為「大盤因素」（-3.24%）</a:t>
            </a:r>
          </a:p>
          <a:p>
            <a:pPr>
              <a:spcAft>
                <a:spcPts val="400"/>
              </a:spcAft>
            </a:pPr>
            <a:r>
              <a:rPr sz="1300" b="0">
                <a:solidFill>
                  <a:srgbClr val="1F2328"/>
                </a:solidFill>
                <a:latin typeface="Microsoft JhengHei"/>
                <a:ea typeface="Microsoft JhengHei"/>
              </a:rPr>
              <a:t>• 3591 艾笛森：今日下跌 -3.24%（-18,475 元），主因為「產業因素」（-1.94%）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漲跌歸因明細</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10</a:t>
            </a:r>
          </a:p>
        </p:txBody>
      </p:sp>
      <p:graphicFrame>
        <p:nvGraphicFramePr>
          <p:cNvPr id="5" name="Table 4"/>
          <p:cNvGraphicFramePr>
            <a:graphicFrameLocks noGrp="1"/>
          </p:cNvGraphicFramePr>
          <p:nvPr/>
        </p:nvGraphicFramePr>
        <p:xfrm>
          <a:off x="457200" y="1188720"/>
          <a:ext cx="11247118" cy="5486400"/>
        </p:xfrm>
        <a:graphic>
          <a:graphicData uri="http://schemas.openxmlformats.org/drawingml/2006/table">
            <a:tbl>
              <a:tblPr firstRow="1" bandRow="1">
                <a:tableStyleId>{5C22544A-7EE6-4342-B048-85BDC9FD1C3A}</a:tableStyleId>
              </a:tblPr>
              <a:tblGrid>
                <a:gridCol w="2871605"/>
                <a:gridCol w="1196502"/>
                <a:gridCol w="1675102"/>
                <a:gridCol w="1196502"/>
                <a:gridCol w="1196502"/>
                <a:gridCol w="1196502"/>
                <a:gridCol w="1914403"/>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漲跌</a:t>
                      </a:r>
                    </a:p>
                  </a:txBody>
                  <a:tcPr>
                    <a:solidFill>
                      <a:srgbClr val="1F3A5F"/>
                    </a:solidFill>
                  </a:tcPr>
                </a:tc>
                <a:tc>
                  <a:txBody>
                    <a:bodyPr/>
                    <a:lstStyle/>
                    <a:p>
                      <a:r>
                        <a:rPr sz="1100" b="1">
                          <a:solidFill>
                            <a:srgbClr val="FFFFFF"/>
                          </a:solidFill>
                          <a:latin typeface="Microsoft JhengHei"/>
                          <a:ea typeface="Microsoft JhengHei"/>
                        </a:rPr>
                        <a:t>損益(元)</a:t>
                      </a:r>
                    </a:p>
                  </a:txBody>
                  <a:tcPr>
                    <a:solidFill>
                      <a:srgbClr val="1F3A5F"/>
                    </a:solidFill>
                  </a:tcPr>
                </a:tc>
                <a:tc>
                  <a:txBody>
                    <a:bodyPr/>
                    <a:lstStyle/>
                    <a:p>
                      <a:r>
                        <a:rPr sz="1100" b="1">
                          <a:solidFill>
                            <a:srgbClr val="FFFFFF"/>
                          </a:solidFill>
                          <a:latin typeface="Microsoft JhengHei"/>
                          <a:ea typeface="Microsoft JhengHei"/>
                        </a:rPr>
                        <a:t>大盤</a:t>
                      </a:r>
                    </a:p>
                  </a:txBody>
                  <a:tcPr>
                    <a:solidFill>
                      <a:srgbClr val="1F3A5F"/>
                    </a:solidFill>
                  </a:tcPr>
                </a:tc>
                <a:tc>
                  <a:txBody>
                    <a:bodyPr/>
                    <a:lstStyle/>
                    <a:p>
                      <a:r>
                        <a:rPr sz="1100" b="1">
                          <a:solidFill>
                            <a:srgbClr val="FFFFFF"/>
                          </a:solidFill>
                          <a:latin typeface="Microsoft JhengHei"/>
                          <a:ea typeface="Microsoft JhengHei"/>
                        </a:rPr>
                        <a:t>產業</a:t>
                      </a:r>
                    </a:p>
                  </a:txBody>
                  <a:tcPr>
                    <a:solidFill>
                      <a:srgbClr val="1F3A5F"/>
                    </a:solidFill>
                  </a:tcPr>
                </a:tc>
                <a:tc>
                  <a:txBody>
                    <a:bodyPr/>
                    <a:lstStyle/>
                    <a:p>
                      <a:r>
                        <a:rPr sz="1100" b="1">
                          <a:solidFill>
                            <a:srgbClr val="FFFFFF"/>
                          </a:solidFill>
                          <a:latin typeface="Microsoft JhengHei"/>
                          <a:ea typeface="Microsoft JhengHei"/>
                        </a:rPr>
                        <a:t>個股</a:t>
                      </a:r>
                    </a:p>
                  </a:txBody>
                  <a:tcPr>
                    <a:solidFill>
                      <a:srgbClr val="1F3A5F"/>
                    </a:solidFill>
                  </a:tcPr>
                </a:tc>
                <a:tc>
                  <a:txBody>
                    <a:bodyPr/>
                    <a:lstStyle/>
                    <a:p>
                      <a:r>
                        <a:rPr sz="1100" b="1">
                          <a:solidFill>
                            <a:srgbClr val="FFFFFF"/>
                          </a:solidFill>
                          <a:latin typeface="Microsoft JhengHei"/>
                          <a:ea typeface="Microsoft JhengHei"/>
                        </a:rPr>
                        <a:t>主因</a:t>
                      </a:r>
                    </a:p>
                  </a:txBody>
                  <a:tcPr>
                    <a:solidFill>
                      <a:srgbClr val="1F3A5F"/>
                    </a:solidFill>
                  </a:tcPr>
                </a:tc>
              </a:tr>
              <a:tr h="365760">
                <a:tc>
                  <a:txBody>
                    <a:bodyPr/>
                    <a:lstStyle/>
                    <a:p>
                      <a:r>
                        <a:rPr sz="1100" b="0">
                          <a:solidFill>
                            <a:srgbClr val="1F2328"/>
                          </a:solidFill>
                          <a:latin typeface="Microsoft JhengHei"/>
                          <a:ea typeface="Microsoft JhengHei"/>
                        </a:rPr>
                        <a:t>5880 合庫金</a:t>
                      </a:r>
                    </a:p>
                  </a:txBody>
                  <a:tcPr>
                    <a:solidFill>
                      <a:srgbClr val="F3F5F8"/>
                    </a:solidFill>
                  </a:tcPr>
                </a:tc>
                <a:tc>
                  <a:txBody>
                    <a:bodyPr/>
                    <a:lstStyle/>
                    <a:p>
                      <a:r>
                        <a:rPr sz="1100" b="0">
                          <a:solidFill>
                            <a:srgbClr val="C8423B"/>
                          </a:solidFill>
                          <a:latin typeface="Microsoft JhengHei"/>
                          <a:ea typeface="Microsoft JhengHei"/>
                        </a:rPr>
                        <a:t>+0.71%</a:t>
                      </a:r>
                    </a:p>
                  </a:txBody>
                  <a:tcPr>
                    <a:solidFill>
                      <a:srgbClr val="F3F5F8"/>
                    </a:solidFill>
                  </a:tcPr>
                </a:tc>
                <a:tc>
                  <a:txBody>
                    <a:bodyPr/>
                    <a:lstStyle/>
                    <a:p>
                      <a:r>
                        <a:rPr sz="1100" b="0">
                          <a:solidFill>
                            <a:srgbClr val="1F2328"/>
                          </a:solidFill>
                          <a:latin typeface="Microsoft JhengHei"/>
                          <a:ea typeface="Microsoft JhengHei"/>
                        </a:rPr>
                        <a:t>+4,800</a:t>
                      </a:r>
                    </a:p>
                  </a:txBody>
                  <a:tcPr>
                    <a:solidFill>
                      <a:srgbClr val="F3F5F8"/>
                    </a:solidFill>
                  </a:tcPr>
                </a:tc>
                <a:tc>
                  <a:txBody>
                    <a:bodyPr/>
                    <a:lstStyle/>
                    <a:p>
                      <a:r>
                        <a:rPr sz="1100" b="0">
                          <a:solidFill>
                            <a:srgbClr val="1F2328"/>
                          </a:solidFill>
                          <a:latin typeface="Microsoft JhengHei"/>
                          <a:ea typeface="Microsoft JhengHei"/>
                        </a:rPr>
                        <a:t>-0.14%</a:t>
                      </a:r>
                    </a:p>
                  </a:txBody>
                  <a:tcPr>
                    <a:solidFill>
                      <a:srgbClr val="F3F5F8"/>
                    </a:solidFill>
                  </a:tcPr>
                </a:tc>
                <a:tc>
                  <a:txBody>
                    <a:bodyPr/>
                    <a:lstStyle/>
                    <a:p>
                      <a:r>
                        <a:rPr sz="1100" b="0">
                          <a:solidFill>
                            <a:srgbClr val="1F2328"/>
                          </a:solidFill>
                          <a:latin typeface="Microsoft JhengHei"/>
                          <a:ea typeface="Microsoft JhengHei"/>
                        </a:rPr>
                        <a:t>+2.16%</a:t>
                      </a:r>
                    </a:p>
                  </a:txBody>
                  <a:tcPr>
                    <a:solidFill>
                      <a:srgbClr val="F3F5F8"/>
                    </a:solidFill>
                  </a:tcPr>
                </a:tc>
                <a:tc>
                  <a:txBody>
                    <a:bodyPr/>
                    <a:lstStyle/>
                    <a:p>
                      <a:r>
                        <a:rPr sz="1100" b="0">
                          <a:solidFill>
                            <a:srgbClr val="1F2328"/>
                          </a:solidFill>
                          <a:latin typeface="Microsoft JhengHei"/>
                          <a:ea typeface="Microsoft JhengHei"/>
                        </a:rPr>
                        <a:t>-1.31%</a:t>
                      </a:r>
                    </a:p>
                  </a:txBody>
                  <a:tcPr>
                    <a:solidFill>
                      <a:srgbClr val="F3F5F8"/>
                    </a:solidFill>
                  </a:tcPr>
                </a:tc>
                <a:tc>
                  <a:txBody>
                    <a:bodyPr/>
                    <a:lstStyle/>
                    <a:p>
                      <a:r>
                        <a:rPr sz="1100" b="0">
                          <a:solidFill>
                            <a:srgbClr val="1F2328"/>
                          </a:solidFill>
                          <a:latin typeface="Microsoft JhengHei"/>
                          <a:ea typeface="Microsoft JhengHei"/>
                        </a:rPr>
                        <a:t>產業因素</a:t>
                      </a:r>
                    </a:p>
                  </a:txBody>
                  <a:tcPr>
                    <a:solidFill>
                      <a:srgbClr val="F3F5F8"/>
                    </a:solidFill>
                  </a:tcPr>
                </a:tc>
              </a:tr>
              <a:tr h="365760">
                <a:tc>
                  <a:txBody>
                    <a:bodyPr/>
                    <a:lstStyle/>
                    <a:p>
                      <a:r>
                        <a:rPr sz="1100" b="0">
                          <a:solidFill>
                            <a:srgbClr val="1F2328"/>
                          </a:solidFill>
                          <a:latin typeface="Microsoft JhengHei"/>
                          <a:ea typeface="Microsoft JhengHei"/>
                        </a:rPr>
                        <a:t>2889 國票金</a:t>
                      </a:r>
                    </a:p>
                  </a:txBody>
                  <a:tcPr>
                    <a:solidFill>
                      <a:srgbClr val="FFFFFF"/>
                    </a:solidFill>
                  </a:tcPr>
                </a:tc>
                <a:tc>
                  <a:txBody>
                    <a:bodyPr/>
                    <a:lstStyle/>
                    <a:p>
                      <a:r>
                        <a:rPr sz="1100" b="0">
                          <a:solidFill>
                            <a:srgbClr val="C8423B"/>
                          </a:solidFill>
                          <a:latin typeface="Microsoft JhengHei"/>
                          <a:ea typeface="Microsoft JhengHei"/>
                        </a:rPr>
                        <a:t>+0.30%</a:t>
                      </a:r>
                    </a:p>
                  </a:txBody>
                  <a:tcPr>
                    <a:solidFill>
                      <a:srgbClr val="FFFFFF"/>
                    </a:solidFill>
                  </a:tcPr>
                </a:tc>
                <a:tc>
                  <a:txBody>
                    <a:bodyPr/>
                    <a:lstStyle/>
                    <a:p>
                      <a:r>
                        <a:rPr sz="1100" b="0">
                          <a:solidFill>
                            <a:srgbClr val="1F2328"/>
                          </a:solidFill>
                          <a:latin typeface="Microsoft JhengHei"/>
                          <a:ea typeface="Microsoft JhengHei"/>
                        </a:rPr>
                        <a:t>+2,021</a:t>
                      </a:r>
                    </a:p>
                  </a:txBody>
                  <a:tcPr>
                    <a:solidFill>
                      <a:srgbClr val="FFFFFF"/>
                    </a:solidFill>
                  </a:tcPr>
                </a:tc>
                <a:tc>
                  <a:txBody>
                    <a:bodyPr/>
                    <a:lstStyle/>
                    <a:p>
                      <a:r>
                        <a:rPr sz="1100" b="0">
                          <a:solidFill>
                            <a:srgbClr val="1F2328"/>
                          </a:solidFill>
                          <a:latin typeface="Microsoft JhengHei"/>
                          <a:ea typeface="Microsoft JhengHei"/>
                        </a:rPr>
                        <a:t>-0.10%</a:t>
                      </a:r>
                    </a:p>
                  </a:txBody>
                  <a:tcPr>
                    <a:solidFill>
                      <a:srgbClr val="FFFFFF"/>
                    </a:solidFill>
                  </a:tcPr>
                </a:tc>
                <a:tc>
                  <a:txBody>
                    <a:bodyPr/>
                    <a:lstStyle/>
                    <a:p>
                      <a:r>
                        <a:rPr sz="1100" b="0">
                          <a:solidFill>
                            <a:srgbClr val="1F2328"/>
                          </a:solidFill>
                          <a:latin typeface="Microsoft JhengHei"/>
                          <a:ea typeface="Microsoft JhengHei"/>
                        </a:rPr>
                        <a:t>+2.18%</a:t>
                      </a:r>
                    </a:p>
                  </a:txBody>
                  <a:tcPr>
                    <a:solidFill>
                      <a:srgbClr val="FFFFFF"/>
                    </a:solidFill>
                  </a:tcPr>
                </a:tc>
                <a:tc>
                  <a:txBody>
                    <a:bodyPr/>
                    <a:lstStyle/>
                    <a:p>
                      <a:r>
                        <a:rPr sz="1100" b="0">
                          <a:solidFill>
                            <a:srgbClr val="1F2328"/>
                          </a:solidFill>
                          <a:latin typeface="Microsoft JhengHei"/>
                          <a:ea typeface="Microsoft JhengHei"/>
                        </a:rPr>
                        <a:t>-1.78%</a:t>
                      </a:r>
                    </a:p>
                  </a:txBody>
                  <a:tcPr>
                    <a:solidFill>
                      <a:srgbClr val="FFFFFF"/>
                    </a:solidFill>
                  </a:tcPr>
                </a:tc>
                <a:tc>
                  <a:txBody>
                    <a:bodyPr/>
                    <a:lstStyle/>
                    <a:p>
                      <a:r>
                        <a:rPr sz="1100" b="0">
                          <a:solidFill>
                            <a:srgbClr val="1F2328"/>
                          </a:solidFill>
                          <a:latin typeface="Microsoft JhengHei"/>
                          <a:ea typeface="Microsoft JhengHei"/>
                        </a:rPr>
                        <a:t>產業因素</a:t>
                      </a:r>
                    </a:p>
                  </a:txBody>
                  <a:tcPr>
                    <a:solidFill>
                      <a:srgbClr val="FFFFFF"/>
                    </a:solidFill>
                  </a:tcPr>
                </a:tc>
              </a:tr>
              <a:tr h="365760">
                <a:tc>
                  <a:txBody>
                    <a:bodyPr/>
                    <a:lstStyle/>
                    <a:p>
                      <a:r>
                        <a:rPr sz="1100" b="0">
                          <a:solidFill>
                            <a:srgbClr val="1F2328"/>
                          </a:solidFill>
                          <a:latin typeface="Microsoft JhengHei"/>
                          <a:ea typeface="Microsoft JhengHei"/>
                        </a:rPr>
                        <a:t>2845 遠東銀</a:t>
                      </a:r>
                    </a:p>
                  </a:txBody>
                  <a:tcPr>
                    <a:solidFill>
                      <a:srgbClr val="F3F5F8"/>
                    </a:solidFill>
                  </a:tcPr>
                </a:tc>
                <a:tc>
                  <a:txBody>
                    <a:bodyPr/>
                    <a:lstStyle/>
                    <a:p>
                      <a:r>
                        <a:rPr sz="1100" b="0">
                          <a:solidFill>
                            <a:srgbClr val="C8423B"/>
                          </a:solidFill>
                          <a:latin typeface="Microsoft JhengHei"/>
                          <a:ea typeface="Microsoft JhengHei"/>
                        </a:rPr>
                        <a:t>+0.38%</a:t>
                      </a:r>
                    </a:p>
                  </a:txBody>
                  <a:tcPr>
                    <a:solidFill>
                      <a:srgbClr val="F3F5F8"/>
                    </a:solidFill>
                  </a:tcPr>
                </a:tc>
                <a:tc>
                  <a:txBody>
                    <a:bodyPr/>
                    <a:lstStyle/>
                    <a:p>
                      <a:r>
                        <a:rPr sz="1100" b="0">
                          <a:solidFill>
                            <a:srgbClr val="1F2328"/>
                          </a:solidFill>
                          <a:latin typeface="Microsoft JhengHei"/>
                          <a:ea typeface="Microsoft JhengHei"/>
                        </a:rPr>
                        <a:t>+1,804</a:t>
                      </a:r>
                    </a:p>
                  </a:txBody>
                  <a:tcPr>
                    <a:solidFill>
                      <a:srgbClr val="F3F5F8"/>
                    </a:solidFill>
                  </a:tcPr>
                </a:tc>
                <a:tc>
                  <a:txBody>
                    <a:bodyPr/>
                    <a:lstStyle/>
                    <a:p>
                      <a:r>
                        <a:rPr sz="1100" b="0">
                          <a:solidFill>
                            <a:srgbClr val="1F2328"/>
                          </a:solidFill>
                          <a:latin typeface="Microsoft JhengHei"/>
                          <a:ea typeface="Microsoft JhengHei"/>
                        </a:rPr>
                        <a:t>-0.15%</a:t>
                      </a:r>
                    </a:p>
                  </a:txBody>
                  <a:tcPr>
                    <a:solidFill>
                      <a:srgbClr val="F3F5F8"/>
                    </a:solidFill>
                  </a:tcPr>
                </a:tc>
                <a:tc>
                  <a:txBody>
                    <a:bodyPr/>
                    <a:lstStyle/>
                    <a:p>
                      <a:r>
                        <a:rPr sz="1100" b="0">
                          <a:solidFill>
                            <a:srgbClr val="1F2328"/>
                          </a:solidFill>
                          <a:latin typeface="Microsoft JhengHei"/>
                          <a:ea typeface="Microsoft JhengHei"/>
                        </a:rPr>
                        <a:t>+2.16%</a:t>
                      </a:r>
                    </a:p>
                  </a:txBody>
                  <a:tcPr>
                    <a:solidFill>
                      <a:srgbClr val="F3F5F8"/>
                    </a:solidFill>
                  </a:tcPr>
                </a:tc>
                <a:tc>
                  <a:txBody>
                    <a:bodyPr/>
                    <a:lstStyle/>
                    <a:p>
                      <a:r>
                        <a:rPr sz="1100" b="0">
                          <a:solidFill>
                            <a:srgbClr val="1F2328"/>
                          </a:solidFill>
                          <a:latin typeface="Microsoft JhengHei"/>
                          <a:ea typeface="Microsoft JhengHei"/>
                        </a:rPr>
                        <a:t>-1.64%</a:t>
                      </a:r>
                    </a:p>
                  </a:txBody>
                  <a:tcPr>
                    <a:solidFill>
                      <a:srgbClr val="F3F5F8"/>
                    </a:solidFill>
                  </a:tcPr>
                </a:tc>
                <a:tc>
                  <a:txBody>
                    <a:bodyPr/>
                    <a:lstStyle/>
                    <a:p>
                      <a:r>
                        <a:rPr sz="1100" b="0">
                          <a:solidFill>
                            <a:srgbClr val="1F2328"/>
                          </a:solidFill>
                          <a:latin typeface="Microsoft JhengHei"/>
                          <a:ea typeface="Microsoft JhengHei"/>
                        </a:rPr>
                        <a:t>產業因素</a:t>
                      </a:r>
                    </a:p>
                  </a:txBody>
                  <a:tcPr>
                    <a:solidFill>
                      <a:srgbClr val="F3F5F8"/>
                    </a:solidFill>
                  </a:tcPr>
                </a:tc>
              </a:tr>
              <a:tr h="365760">
                <a:tc>
                  <a:txBody>
                    <a:bodyPr/>
                    <a:lstStyle/>
                    <a:p>
                      <a:r>
                        <a:rPr sz="1100" b="0">
                          <a:solidFill>
                            <a:srgbClr val="1F2328"/>
                          </a:solidFill>
                          <a:latin typeface="Microsoft JhengHei"/>
                          <a:ea typeface="Microsoft JhengHei"/>
                        </a:rPr>
                        <a:t>2915 潤泰全</a:t>
                      </a:r>
                    </a:p>
                  </a:txBody>
                  <a:tcPr>
                    <a:solidFill>
                      <a:srgbClr val="FFFFFF"/>
                    </a:solidFill>
                  </a:tcPr>
                </a:tc>
                <a:tc>
                  <a:txBody>
                    <a:bodyPr/>
                    <a:lstStyle/>
                    <a:p>
                      <a:r>
                        <a:rPr sz="1100" b="0">
                          <a:solidFill>
                            <a:srgbClr val="C8423B"/>
                          </a:solidFill>
                          <a:latin typeface="Microsoft JhengHei"/>
                          <a:ea typeface="Microsoft JhengHei"/>
                        </a:rPr>
                        <a:t>+0.35%</a:t>
                      </a:r>
                    </a:p>
                  </a:txBody>
                  <a:tcPr>
                    <a:solidFill>
                      <a:srgbClr val="FFFFFF"/>
                    </a:solidFill>
                  </a:tcPr>
                </a:tc>
                <a:tc>
                  <a:txBody>
                    <a:bodyPr/>
                    <a:lstStyle/>
                    <a:p>
                      <a:r>
                        <a:rPr sz="1100" b="0">
                          <a:solidFill>
                            <a:srgbClr val="1F2328"/>
                          </a:solidFill>
                          <a:latin typeface="Microsoft JhengHei"/>
                          <a:ea typeface="Microsoft JhengHei"/>
                        </a:rPr>
                        <a:t>+1,435</a:t>
                      </a:r>
                    </a:p>
                  </a:txBody>
                  <a:tcPr>
                    <a:solidFill>
                      <a:srgbClr val="FFFFFF"/>
                    </a:solidFill>
                  </a:tcPr>
                </a:tc>
                <a:tc>
                  <a:txBody>
                    <a:bodyPr/>
                    <a:lstStyle/>
                    <a:p>
                      <a:r>
                        <a:rPr sz="1100" b="0">
                          <a:solidFill>
                            <a:srgbClr val="1F2328"/>
                          </a:solidFill>
                          <a:latin typeface="Microsoft JhengHei"/>
                          <a:ea typeface="Microsoft JhengHei"/>
                        </a:rPr>
                        <a:t>-0.30%</a:t>
                      </a:r>
                    </a:p>
                  </a:txBody>
                  <a:tcPr>
                    <a:solidFill>
                      <a:srgbClr val="FFFFFF"/>
                    </a:solidFill>
                  </a:tcPr>
                </a:tc>
                <a:tc>
                  <a:txBody>
                    <a:bodyPr/>
                    <a:lstStyle/>
                    <a:p>
                      <a:r>
                        <a:rPr sz="1100" b="0">
                          <a:solidFill>
                            <a:srgbClr val="1F2328"/>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+0.65%</a:t>
                      </a:r>
                    </a:p>
                  </a:txBody>
                  <a:tcPr>
                    <a:solidFill>
                      <a:srgbClr val="FFFFFF"/>
                    </a:solidFill>
                  </a:tcPr>
                </a:tc>
                <a:tc>
                  <a:txBody>
                    <a:bodyPr/>
                    <a:lstStyle/>
                    <a:p>
                      <a:r>
                        <a:rPr sz="1100" b="0">
                          <a:solidFill>
                            <a:srgbClr val="1F2328"/>
                          </a:solidFill>
                          <a:latin typeface="Microsoft JhengHei"/>
                          <a:ea typeface="Microsoft JhengHei"/>
                        </a:rPr>
                        <a:t>個股特有因素</a:t>
                      </a:r>
                    </a:p>
                  </a:txBody>
                  <a:tcPr>
                    <a:solidFill>
                      <a:srgbClr val="FFFFF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2E8B57"/>
                          </a:solidFill>
                          <a:latin typeface="Microsoft JhengHei"/>
                          <a:ea typeface="Microsoft JhengHei"/>
                        </a:rPr>
                        <a:t>-2.38%</a:t>
                      </a:r>
                    </a:p>
                  </a:txBody>
                  <a:tcPr>
                    <a:solidFill>
                      <a:srgbClr val="F3F5F8"/>
                    </a:solidFill>
                  </a:tcPr>
                </a:tc>
                <a:tc>
                  <a:txBody>
                    <a:bodyPr/>
                    <a:lstStyle/>
                    <a:p>
                      <a:r>
                        <a:rPr sz="1100" b="0">
                          <a:solidFill>
                            <a:srgbClr val="1F2328"/>
                          </a:solidFill>
                          <a:latin typeface="Microsoft JhengHei"/>
                          <a:ea typeface="Microsoft JhengHei"/>
                        </a:rPr>
                        <a:t>-39,336</a:t>
                      </a:r>
                    </a:p>
                  </a:txBody>
                  <a:tcPr>
                    <a:solidFill>
                      <a:srgbClr val="F3F5F8"/>
                    </a:solidFill>
                  </a:tcPr>
                </a:tc>
                <a:tc>
                  <a:txBody>
                    <a:bodyPr/>
                    <a:lstStyle/>
                    <a:p>
                      <a:r>
                        <a:rPr sz="1100" b="0">
                          <a:solidFill>
                            <a:srgbClr val="1F2328"/>
                          </a:solidFill>
                          <a:latin typeface="Microsoft JhengHei"/>
                          <a:ea typeface="Microsoft JhengHei"/>
                        </a:rPr>
                        <a:t>-3.24%</a:t>
                      </a:r>
                    </a:p>
                  </a:txBody>
                  <a:tcPr>
                    <a:solidFill>
                      <a:srgbClr val="F3F5F8"/>
                    </a:solidFill>
                  </a:tcPr>
                </a:tc>
                <a:tc>
                  <a:txBody>
                    <a:bodyPr/>
                    <a:lstStyle/>
                    <a:p>
                      <a:r>
                        <a:rPr sz="1100" b="0">
                          <a:solidFill>
                            <a:srgbClr val="1F2328"/>
                          </a:solidFill>
                          <a:latin typeface="Microsoft JhengHei"/>
                          <a:ea typeface="Microsoft JhengHei"/>
                        </a:rPr>
                        <a:t>-2.04%</a:t>
                      </a:r>
                    </a:p>
                  </a:txBody>
                  <a:tcPr>
                    <a:solidFill>
                      <a:srgbClr val="F3F5F8"/>
                    </a:solidFill>
                  </a:tcPr>
                </a:tc>
                <a:tc>
                  <a:txBody>
                    <a:bodyPr/>
                    <a:lstStyle/>
                    <a:p>
                      <a:r>
                        <a:rPr sz="1100" b="0">
                          <a:solidFill>
                            <a:srgbClr val="1F2328"/>
                          </a:solidFill>
                          <a:latin typeface="Microsoft JhengHei"/>
                          <a:ea typeface="Microsoft JhengHei"/>
                        </a:rPr>
                        <a:t>+2.91%</a:t>
                      </a:r>
                    </a:p>
                  </a:txBody>
                  <a:tcPr>
                    <a:solidFill>
                      <a:srgbClr val="F3F5F8"/>
                    </a:solidFill>
                  </a:tcPr>
                </a:tc>
                <a:tc>
                  <a:txBody>
                    <a:bodyPr/>
                    <a:lstStyle/>
                    <a:p>
                      <a:r>
                        <a:rPr sz="1100" b="0">
                          <a:solidFill>
                            <a:srgbClr val="1F2328"/>
                          </a:solidFill>
                          <a:latin typeface="Microsoft JhengHei"/>
                          <a:ea typeface="Microsoft JhengHei"/>
                        </a:rPr>
                        <a:t>大盤因素</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2E8B57"/>
                          </a:solidFill>
                          <a:latin typeface="Microsoft JhengHei"/>
                          <a:ea typeface="Microsoft JhengHei"/>
                        </a:rPr>
                        <a:t>-3.24%</a:t>
                      </a:r>
                    </a:p>
                  </a:txBody>
                  <a:tcPr>
                    <a:solidFill>
                      <a:srgbClr val="FFFFFF"/>
                    </a:solidFill>
                  </a:tcPr>
                </a:tc>
                <a:tc>
                  <a:txBody>
                    <a:bodyPr/>
                    <a:lstStyle/>
                    <a:p>
                      <a:r>
                        <a:rPr sz="1100" b="0">
                          <a:solidFill>
                            <a:srgbClr val="1F2328"/>
                          </a:solidFill>
                          <a:latin typeface="Microsoft JhengHei"/>
                          <a:ea typeface="Microsoft JhengHei"/>
                        </a:rPr>
                        <a:t>-18,475</a:t>
                      </a:r>
                    </a:p>
                  </a:txBody>
                  <a:tcPr>
                    <a:solidFill>
                      <a:srgbClr val="FFFFFF"/>
                    </a:solidFill>
                  </a:tcPr>
                </a:tc>
                <a:tc>
                  <a:txBody>
                    <a:bodyPr/>
                    <a:lstStyle/>
                    <a:p>
                      <a:r>
                        <a:rPr sz="1100" b="0">
                          <a:solidFill>
                            <a:srgbClr val="1F2328"/>
                          </a:solidFill>
                          <a:latin typeface="Microsoft JhengHei"/>
                          <a:ea typeface="Microsoft JhengHei"/>
                        </a:rPr>
                        <a:t>-1.15%</a:t>
                      </a:r>
                    </a:p>
                  </a:txBody>
                  <a:tcPr>
                    <a:solidFill>
                      <a:srgbClr val="FFFFFF"/>
                    </a:solidFill>
                  </a:tcPr>
                </a:tc>
                <a:tc>
                  <a:txBody>
                    <a:bodyPr/>
                    <a:lstStyle/>
                    <a:p>
                      <a:r>
                        <a:rPr sz="1100" b="0">
                          <a:solidFill>
                            <a:srgbClr val="1F2328"/>
                          </a:solidFill>
                          <a:latin typeface="Microsoft JhengHei"/>
                          <a:ea typeface="Microsoft JhengHei"/>
                        </a:rPr>
                        <a:t>-1.94%</a:t>
                      </a:r>
                    </a:p>
                  </a:txBody>
                  <a:tcPr>
                    <a:solidFill>
                      <a:srgbClr val="FFFFFF"/>
                    </a:solidFill>
                  </a:tcPr>
                </a:tc>
                <a:tc>
                  <a:txBody>
                    <a:bodyPr/>
                    <a:lstStyle/>
                    <a:p>
                      <a:r>
                        <a:rPr sz="1100" b="0">
                          <a:solidFill>
                            <a:srgbClr val="1F2328"/>
                          </a:solidFill>
                          <a:latin typeface="Microsoft JhengHei"/>
                          <a:ea typeface="Microsoft JhengHei"/>
                        </a:rPr>
                        <a:t>-0.15%</a:t>
                      </a:r>
                    </a:p>
                  </a:txBody>
                  <a:tcPr>
                    <a:solidFill>
                      <a:srgbClr val="FFFFFF"/>
                    </a:solidFill>
                  </a:tcPr>
                </a:tc>
                <a:tc>
                  <a:txBody>
                    <a:bodyPr/>
                    <a:lstStyle/>
                    <a:p>
                      <a:r>
                        <a:rPr sz="1100" b="0">
                          <a:solidFill>
                            <a:srgbClr val="1F2328"/>
                          </a:solidFill>
                          <a:latin typeface="Microsoft JhengHei"/>
                          <a:ea typeface="Microsoft JhengHei"/>
                        </a:rPr>
                        <a:t>產業因素</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2E8B57"/>
                          </a:solidFill>
                          <a:latin typeface="Microsoft JhengHei"/>
                          <a:ea typeface="Microsoft JhengHei"/>
                        </a:rPr>
                        <a:t>-3.53%</a:t>
                      </a:r>
                    </a:p>
                  </a:txBody>
                  <a:tcPr>
                    <a:solidFill>
                      <a:srgbClr val="F3F5F8"/>
                    </a:solidFill>
                  </a:tcPr>
                </a:tc>
                <a:tc>
                  <a:txBody>
                    <a:bodyPr/>
                    <a:lstStyle/>
                    <a:p>
                      <a:r>
                        <a:rPr sz="1100" b="0">
                          <a:solidFill>
                            <a:srgbClr val="1F2328"/>
                          </a:solidFill>
                          <a:latin typeface="Microsoft JhengHei"/>
                          <a:ea typeface="Microsoft JhengHei"/>
                        </a:rPr>
                        <a:t>-33,821</a:t>
                      </a:r>
                    </a:p>
                  </a:txBody>
                  <a:tcPr>
                    <a:solidFill>
                      <a:srgbClr val="F3F5F8"/>
                    </a:solidFill>
                  </a:tcPr>
                </a:tc>
                <a:tc>
                  <a:txBody>
                    <a:bodyPr/>
                    <a:lstStyle/>
                    <a:p>
                      <a:r>
                        <a:rPr sz="1100" b="0">
                          <a:solidFill>
                            <a:srgbClr val="1F2328"/>
                          </a:solidFill>
                          <a:latin typeface="Microsoft JhengHei"/>
                          <a:ea typeface="Microsoft JhengHei"/>
                        </a:rPr>
                        <a:t>-2.54%</a:t>
                      </a:r>
                    </a:p>
                  </a:txBody>
                  <a:tcPr>
                    <a:solidFill>
                      <a:srgbClr val="F3F5F8"/>
                    </a:solidFill>
                  </a:tcPr>
                </a:tc>
                <a:tc>
                  <a:txBody>
                    <a:bodyPr/>
                    <a:lstStyle/>
                    <a:p>
                      <a:r>
                        <a:rPr sz="1100" b="0">
                          <a:solidFill>
                            <a:srgbClr val="1F2328"/>
                          </a:solidFill>
                          <a:latin typeface="Microsoft JhengHei"/>
                          <a:ea typeface="Microsoft JhengHei"/>
                        </a:rPr>
                        <a:t>-1.12%</a:t>
                      </a:r>
                    </a:p>
                  </a:txBody>
                  <a:tcPr>
                    <a:solidFill>
                      <a:srgbClr val="F3F5F8"/>
                    </a:solidFill>
                  </a:tcPr>
                </a:tc>
                <a:tc>
                  <a:txBody>
                    <a:bodyPr/>
                    <a:lstStyle/>
                    <a:p>
                      <a:r>
                        <a:rPr sz="1100" b="0">
                          <a:solidFill>
                            <a:srgbClr val="1F2328"/>
                          </a:solidFill>
                          <a:latin typeface="Microsoft JhengHei"/>
                          <a:ea typeface="Microsoft JhengHei"/>
                        </a:rPr>
                        <a:t>+0.12%</a:t>
                      </a:r>
                    </a:p>
                  </a:txBody>
                  <a:tcPr>
                    <a:solidFill>
                      <a:srgbClr val="F3F5F8"/>
                    </a:solidFill>
                  </a:tcPr>
                </a:tc>
                <a:tc>
                  <a:txBody>
                    <a:bodyPr/>
                    <a:lstStyle/>
                    <a:p>
                      <a:r>
                        <a:rPr sz="1100" b="0">
                          <a:solidFill>
                            <a:srgbClr val="1F2328"/>
                          </a:solidFill>
                          <a:latin typeface="Microsoft JhengHei"/>
                          <a:ea typeface="Microsoft JhengHei"/>
                        </a:rPr>
                        <a:t>大盤因素</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2E8B57"/>
                          </a:solidFill>
                          <a:latin typeface="Microsoft JhengHei"/>
                          <a:ea typeface="Microsoft JhengHei"/>
                        </a:rPr>
                        <a:t>-2.93%</a:t>
                      </a:r>
                    </a:p>
                  </a:txBody>
                  <a:tcPr>
                    <a:solidFill>
                      <a:srgbClr val="FFFFFF"/>
                    </a:solidFill>
                  </a:tcPr>
                </a:tc>
                <a:tc>
                  <a:txBody>
                    <a:bodyPr/>
                    <a:lstStyle/>
                    <a:p>
                      <a:r>
                        <a:rPr sz="1100" b="0">
                          <a:solidFill>
                            <a:srgbClr val="1F2328"/>
                          </a:solidFill>
                          <a:latin typeface="Microsoft JhengHei"/>
                          <a:ea typeface="Microsoft JhengHei"/>
                        </a:rPr>
                        <a:t>-38,700</a:t>
                      </a:r>
                    </a:p>
                  </a:txBody>
                  <a:tcPr>
                    <a:solidFill>
                      <a:srgbClr val="FFFFFF"/>
                    </a:solidFill>
                  </a:tcPr>
                </a:tc>
                <a:tc>
                  <a:txBody>
                    <a:bodyPr/>
                    <a:lstStyle/>
                    <a:p>
                      <a:r>
                        <a:rPr sz="1100" b="0">
                          <a:solidFill>
                            <a:srgbClr val="1F2328"/>
                          </a:solidFill>
                          <a:latin typeface="Microsoft JhengHei"/>
                          <a:ea typeface="Microsoft JhengHei"/>
                        </a:rPr>
                        <a:t>-2.32%</a:t>
                      </a:r>
                    </a:p>
                  </a:txBody>
                  <a:tcPr>
                    <a:solidFill>
                      <a:srgbClr val="FFFFFF"/>
                    </a:solidFill>
                  </a:tcPr>
                </a:tc>
                <a:tc>
                  <a:txBody>
                    <a:bodyPr/>
                    <a:lstStyle/>
                    <a:p>
                      <a:r>
                        <a:rPr sz="1100" b="0">
                          <a:solidFill>
                            <a:srgbClr val="1F2328"/>
                          </a:solidFill>
                          <a:latin typeface="Microsoft JhengHei"/>
                          <a:ea typeface="Microsoft JhengHei"/>
                        </a:rPr>
                        <a:t>-1.35%</a:t>
                      </a:r>
                    </a:p>
                  </a:txBody>
                  <a:tcPr>
                    <a:solidFill>
                      <a:srgbClr val="FFFFFF"/>
                    </a:solidFill>
                  </a:tcPr>
                </a:tc>
                <a:tc>
                  <a:txBody>
                    <a:bodyPr/>
                    <a:lstStyle/>
                    <a:p>
                      <a:r>
                        <a:rPr sz="1100" b="0">
                          <a:solidFill>
                            <a:srgbClr val="1F2328"/>
                          </a:solidFill>
                          <a:latin typeface="Microsoft JhengHei"/>
                          <a:ea typeface="Microsoft JhengHei"/>
                        </a:rPr>
                        <a:t>+0.75%</a:t>
                      </a:r>
                    </a:p>
                  </a:txBody>
                  <a:tcPr>
                    <a:solidFill>
                      <a:srgbClr val="FFFFFF"/>
                    </a:solidFill>
                  </a:tcPr>
                </a:tc>
                <a:tc>
                  <a:txBody>
                    <a:bodyPr/>
                    <a:lstStyle/>
                    <a:p>
                      <a:r>
                        <a:rPr sz="1100" b="0">
                          <a:solidFill>
                            <a:srgbClr val="1F2328"/>
                          </a:solidFill>
                          <a:latin typeface="Microsoft JhengHei"/>
                          <a:ea typeface="Microsoft JhengHei"/>
                        </a:rPr>
                        <a:t>大盤因素</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2E8B57"/>
                          </a:solidFill>
                          <a:latin typeface="Microsoft JhengHei"/>
                          <a:ea typeface="Microsoft JhengHei"/>
                        </a:rPr>
                        <a:t>-5.59%</a:t>
                      </a:r>
                    </a:p>
                  </a:txBody>
                  <a:tcPr>
                    <a:solidFill>
                      <a:srgbClr val="F3F5F8"/>
                    </a:solidFill>
                  </a:tcPr>
                </a:tc>
                <a:tc>
                  <a:txBody>
                    <a:bodyPr/>
                    <a:lstStyle/>
                    <a:p>
                      <a:r>
                        <a:rPr sz="1100" b="0">
                          <a:solidFill>
                            <a:srgbClr val="1F2328"/>
                          </a:solidFill>
                          <a:latin typeface="Microsoft JhengHei"/>
                          <a:ea typeface="Microsoft JhengHei"/>
                        </a:rPr>
                        <a:t>-46,000</a:t>
                      </a:r>
                    </a:p>
                  </a:txBody>
                  <a:tcPr>
                    <a:solidFill>
                      <a:srgbClr val="F3F5F8"/>
                    </a:solidFill>
                  </a:tcPr>
                </a:tc>
                <a:tc>
                  <a:txBody>
                    <a:bodyPr/>
                    <a:lstStyle/>
                    <a:p>
                      <a:r>
                        <a:rPr sz="1100" b="0">
                          <a:solidFill>
                            <a:srgbClr val="1F2328"/>
                          </a:solidFill>
                          <a:latin typeface="Microsoft JhengHei"/>
                          <a:ea typeface="Microsoft JhengHei"/>
                        </a:rPr>
                        <a:t>-2.67%</a:t>
                      </a:r>
                    </a:p>
                  </a:txBody>
                  <a:tcPr>
                    <a:solidFill>
                      <a:srgbClr val="F3F5F8"/>
                    </a:solidFill>
                  </a:tcPr>
                </a:tc>
                <a:tc>
                  <a:txBody>
                    <a:bodyPr/>
                    <a:lstStyle/>
                    <a:p>
                      <a:r>
                        <a:rPr sz="1100" b="0">
                          <a:solidFill>
                            <a:srgbClr val="1F2328"/>
                          </a:solidFill>
                          <a:latin typeface="Microsoft JhengHei"/>
                          <a:ea typeface="Microsoft JhengHei"/>
                        </a:rPr>
                        <a:t>-3.21%</a:t>
                      </a:r>
                    </a:p>
                  </a:txBody>
                  <a:tcPr>
                    <a:solidFill>
                      <a:srgbClr val="F3F5F8"/>
                    </a:solidFill>
                  </a:tcPr>
                </a:tc>
                <a:tc>
                  <a:txBody>
                    <a:bodyPr/>
                    <a:lstStyle/>
                    <a:p>
                      <a:r>
                        <a:rPr sz="1100" b="0">
                          <a:solidFill>
                            <a:srgbClr val="1F2328"/>
                          </a:solidFill>
                          <a:latin typeface="Microsoft JhengHei"/>
                          <a:ea typeface="Microsoft JhengHei"/>
                        </a:rPr>
                        <a:t>+0.29%</a:t>
                      </a:r>
                    </a:p>
                  </a:txBody>
                  <a:tcPr>
                    <a:solidFill>
                      <a:srgbClr val="F3F5F8"/>
                    </a:solidFill>
                  </a:tcPr>
                </a:tc>
                <a:tc>
                  <a:txBody>
                    <a:bodyPr/>
                    <a:lstStyle/>
                    <a:p>
                      <a:r>
                        <a:rPr sz="1100" b="0">
                          <a:solidFill>
                            <a:srgbClr val="1F2328"/>
                          </a:solidFill>
                          <a:latin typeface="Microsoft JhengHei"/>
                          <a:ea typeface="Microsoft JhengHei"/>
                        </a:rPr>
                        <a:t>產業因素</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2E8B57"/>
                          </a:solidFill>
                          <a:latin typeface="Microsoft JhengHei"/>
                          <a:ea typeface="Microsoft JhengHei"/>
                        </a:rPr>
                        <a:t>-0.71%</a:t>
                      </a:r>
                    </a:p>
                  </a:txBody>
                  <a:tcPr>
                    <a:solidFill>
                      <a:srgbClr val="FFFFFF"/>
                    </a:solidFill>
                  </a:tcPr>
                </a:tc>
                <a:tc>
                  <a:txBody>
                    <a:bodyPr/>
                    <a:lstStyle/>
                    <a:p>
                      <a:r>
                        <a:rPr sz="1100" b="0">
                          <a:solidFill>
                            <a:srgbClr val="1F2328"/>
                          </a:solidFill>
                          <a:latin typeface="Microsoft JhengHei"/>
                          <a:ea typeface="Microsoft JhengHei"/>
                        </a:rPr>
                        <a:t>-600</a:t>
                      </a:r>
                    </a:p>
                  </a:txBody>
                  <a:tcPr>
                    <a:solidFill>
                      <a:srgbClr val="FFFFFF"/>
                    </a:solidFill>
                  </a:tcPr>
                </a:tc>
                <a:tc>
                  <a:txBody>
                    <a:bodyPr/>
                    <a:lstStyle/>
                    <a:p>
                      <a:r>
                        <a:rPr sz="1100" b="0">
                          <a:solidFill>
                            <a:srgbClr val="1F2328"/>
                          </a:solidFill>
                          <a:latin typeface="Microsoft JhengHei"/>
                          <a:ea typeface="Microsoft JhengHei"/>
                        </a:rPr>
                        <a:t>-0.75%</a:t>
                      </a:r>
                    </a:p>
                  </a:txBody>
                  <a:tcPr>
                    <a:solidFill>
                      <a:srgbClr val="FFFFFF"/>
                    </a:solidFill>
                  </a:tcPr>
                </a:tc>
                <a:tc>
                  <a:txBody>
                    <a:bodyPr/>
                    <a:lstStyle/>
                    <a:p>
                      <a:r>
                        <a:rPr sz="1100" b="0">
                          <a:solidFill>
                            <a:srgbClr val="1F2328"/>
                          </a:solidFill>
                          <a:latin typeface="Microsoft JhengHei"/>
                          <a:ea typeface="Microsoft JhengHei"/>
                        </a:rPr>
                        <a:t>+2.12%</a:t>
                      </a:r>
                    </a:p>
                  </a:txBody>
                  <a:tcPr>
                    <a:solidFill>
                      <a:srgbClr val="FFFFFF"/>
                    </a:solidFill>
                  </a:tcPr>
                </a:tc>
                <a:tc>
                  <a:txBody>
                    <a:bodyPr/>
                    <a:lstStyle/>
                    <a:p>
                      <a:r>
                        <a:rPr sz="1100" b="0">
                          <a:solidFill>
                            <a:srgbClr val="1F2328"/>
                          </a:solidFill>
                          <a:latin typeface="Microsoft JhengHei"/>
                          <a:ea typeface="Microsoft JhengHei"/>
                        </a:rPr>
                        <a:t>-2.07%</a:t>
                      </a:r>
                    </a:p>
                  </a:txBody>
                  <a:tcPr>
                    <a:solidFill>
                      <a:srgbClr val="FFFFFF"/>
                    </a:solidFill>
                  </a:tcPr>
                </a:tc>
                <a:tc>
                  <a:txBody>
                    <a:bodyPr/>
                    <a:lstStyle/>
                    <a:p>
                      <a:r>
                        <a:rPr sz="1100" b="0">
                          <a:solidFill>
                            <a:srgbClr val="1F2328"/>
                          </a:solidFill>
                          <a:latin typeface="Microsoft JhengHei"/>
                          <a:ea typeface="Microsoft JhengHei"/>
                        </a:rPr>
                        <a:t>產業因素</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2E8B57"/>
                          </a:solidFill>
                          <a:latin typeface="Microsoft JhengHei"/>
                          <a:ea typeface="Microsoft JhengHei"/>
                        </a:rPr>
                        <a:t>-1.49%</a:t>
                      </a:r>
                    </a:p>
                  </a:txBody>
                  <a:tcPr>
                    <a:solidFill>
                      <a:srgbClr val="F3F5F8"/>
                    </a:solidFill>
                  </a:tcPr>
                </a:tc>
                <a:tc>
                  <a:txBody>
                    <a:bodyPr/>
                    <a:lstStyle/>
                    <a:p>
                      <a:r>
                        <a:rPr sz="1100" b="0">
                          <a:solidFill>
                            <a:srgbClr val="1F2328"/>
                          </a:solidFill>
                          <a:latin typeface="Microsoft JhengHei"/>
                          <a:ea typeface="Microsoft JhengHei"/>
                        </a:rPr>
                        <a:t>-240</a:t>
                      </a:r>
                    </a:p>
                  </a:txBody>
                  <a:tcPr>
                    <a:solidFill>
                      <a:srgbClr val="F3F5F8"/>
                    </a:solidFill>
                  </a:tcPr>
                </a:tc>
                <a:tc>
                  <a:txBody>
                    <a:bodyPr/>
                    <a:lstStyle/>
                    <a:p>
                      <a:r>
                        <a:rPr sz="1100" b="0">
                          <a:solidFill>
                            <a:srgbClr val="1F2328"/>
                          </a:solidFill>
                          <a:latin typeface="Microsoft JhengHei"/>
                          <a:ea typeface="Microsoft JhengHei"/>
                        </a:rPr>
                        <a:t>-2.77%</a:t>
                      </a:r>
                    </a:p>
                  </a:txBody>
                  <a:tcPr>
                    <a:solidFill>
                      <a:srgbClr val="F3F5F8"/>
                    </a:solidFill>
                  </a:tcPr>
                </a:tc>
                <a:tc>
                  <a:txBody>
                    <a:bodyPr/>
                    <a:lstStyle/>
                    <a:p>
                      <a:r>
                        <a:rPr sz="1100" b="0">
                          <a:solidFill>
                            <a:srgbClr val="1F2328"/>
                          </a:solidFill>
                          <a:latin typeface="Microsoft JhengHei"/>
                          <a:ea typeface="Microsoft JhengHei"/>
                        </a:rPr>
                        <a:t>-1.35%</a:t>
                      </a:r>
                    </a:p>
                  </a:txBody>
                  <a:tcPr>
                    <a:solidFill>
                      <a:srgbClr val="F3F5F8"/>
                    </a:solidFill>
                  </a:tcPr>
                </a:tc>
                <a:tc>
                  <a:txBody>
                    <a:bodyPr/>
                    <a:lstStyle/>
                    <a:p>
                      <a:r>
                        <a:rPr sz="1100" b="0">
                          <a:solidFill>
                            <a:srgbClr val="1F2328"/>
                          </a:solidFill>
                          <a:latin typeface="Microsoft JhengHei"/>
                          <a:ea typeface="Microsoft JhengHei"/>
                        </a:rPr>
                        <a:t>+2.62%</a:t>
                      </a:r>
                    </a:p>
                  </a:txBody>
                  <a:tcPr>
                    <a:solidFill>
                      <a:srgbClr val="F3F5F8"/>
                    </a:solidFill>
                  </a:tcPr>
                </a:tc>
                <a:tc>
                  <a:txBody>
                    <a:bodyPr/>
                    <a:lstStyle/>
                    <a:p>
                      <a:r>
                        <a:rPr sz="1100" b="0">
                          <a:solidFill>
                            <a:srgbClr val="1F2328"/>
                          </a:solidFill>
                          <a:latin typeface="Microsoft JhengHei"/>
                          <a:ea typeface="Microsoft JhengHei"/>
                        </a:rPr>
                        <a:t>大盤因素</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2E8B57"/>
                          </a:solidFill>
                          <a:latin typeface="Microsoft JhengHei"/>
                          <a:ea typeface="Microsoft JhengHei"/>
                        </a:rPr>
                        <a:t>-5.86%</a:t>
                      </a:r>
                    </a:p>
                  </a:txBody>
                  <a:tcPr>
                    <a:solidFill>
                      <a:srgbClr val="FFFFFF"/>
                    </a:solidFill>
                  </a:tcPr>
                </a:tc>
                <a:tc>
                  <a:txBody>
                    <a:bodyPr/>
                    <a:lstStyle/>
                    <a:p>
                      <a:r>
                        <a:rPr sz="1100" b="0">
                          <a:solidFill>
                            <a:srgbClr val="1F2328"/>
                          </a:solidFill>
                          <a:latin typeface="Microsoft JhengHei"/>
                          <a:ea typeface="Microsoft JhengHei"/>
                        </a:rPr>
                        <a:t>-6,500</a:t>
                      </a:r>
                    </a:p>
                  </a:txBody>
                  <a:tcPr>
                    <a:solidFill>
                      <a:srgbClr val="FFFFFF"/>
                    </a:solidFill>
                  </a:tcPr>
                </a:tc>
                <a:tc>
                  <a:txBody>
                    <a:bodyPr/>
                    <a:lstStyle/>
                    <a:p>
                      <a:r>
                        <a:rPr sz="1100" b="0">
                          <a:solidFill>
                            <a:srgbClr val="1F2328"/>
                          </a:solidFill>
                          <a:latin typeface="Microsoft JhengHei"/>
                          <a:ea typeface="Microsoft JhengHei"/>
                        </a:rPr>
                        <a:t>-3.26%</a:t>
                      </a:r>
                    </a:p>
                  </a:txBody>
                  <a:tcPr>
                    <a:solidFill>
                      <a:srgbClr val="FFFFFF"/>
                    </a:solidFill>
                  </a:tcPr>
                </a:tc>
                <a:tc>
                  <a:txBody>
                    <a:bodyPr/>
                    <a:lstStyle/>
                    <a:p>
                      <a:r>
                        <a:rPr sz="1100" b="0">
                          <a:solidFill>
                            <a:srgbClr val="1F2328"/>
                          </a:solidFill>
                          <a:latin typeface="Microsoft JhengHei"/>
                          <a:ea typeface="Microsoft JhengHei"/>
                        </a:rPr>
                        <a:t>-1.92%</a:t>
                      </a:r>
                    </a:p>
                  </a:txBody>
                  <a:tcPr>
                    <a:solidFill>
                      <a:srgbClr val="FFFFFF"/>
                    </a:solidFill>
                  </a:tcPr>
                </a:tc>
                <a:tc>
                  <a:txBody>
                    <a:bodyPr/>
                    <a:lstStyle/>
                    <a:p>
                      <a:r>
                        <a:rPr sz="1100" b="0">
                          <a:solidFill>
                            <a:srgbClr val="1F2328"/>
                          </a:solidFill>
                          <a:latin typeface="Microsoft JhengHei"/>
                          <a:ea typeface="Microsoft JhengHei"/>
                        </a:rPr>
                        <a:t>-0.68%</a:t>
                      </a:r>
                    </a:p>
                  </a:txBody>
                  <a:tcPr>
                    <a:solidFill>
                      <a:srgbClr val="FFFFFF"/>
                    </a:solidFill>
                  </a:tcPr>
                </a:tc>
                <a:tc>
                  <a:txBody>
                    <a:bodyPr/>
                    <a:lstStyle/>
                    <a:p>
                      <a:r>
                        <a:rPr sz="1100" b="0">
                          <a:solidFill>
                            <a:srgbClr val="1F2328"/>
                          </a:solidFill>
                          <a:latin typeface="Microsoft JhengHei"/>
                          <a:ea typeface="Microsoft JhengHei"/>
                        </a:rPr>
                        <a:t>大盤因素</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2E8B57"/>
                          </a:solidFill>
                          <a:latin typeface="Microsoft JhengHei"/>
                          <a:ea typeface="Microsoft JhengHei"/>
                        </a:rPr>
                        <a:t>-1.36%</a:t>
                      </a:r>
                    </a:p>
                  </a:txBody>
                  <a:tcPr>
                    <a:solidFill>
                      <a:srgbClr val="F3F5F8"/>
                    </a:solidFill>
                  </a:tcPr>
                </a:tc>
                <a:tc>
                  <a:txBody>
                    <a:bodyPr/>
                    <a:lstStyle/>
                    <a:p>
                      <a:r>
                        <a:rPr sz="1100" b="0">
                          <a:solidFill>
                            <a:srgbClr val="1F2328"/>
                          </a:solidFill>
                          <a:latin typeface="Microsoft JhengHei"/>
                          <a:ea typeface="Microsoft JhengHei"/>
                        </a:rPr>
                        <a:t>-8,550</a:t>
                      </a:r>
                    </a:p>
                  </a:txBody>
                  <a:tcPr>
                    <a:solidFill>
                      <a:srgbClr val="F3F5F8"/>
                    </a:solidFill>
                  </a:tcPr>
                </a:tc>
                <a:tc>
                  <a:txBody>
                    <a:bodyPr/>
                    <a:lstStyle/>
                    <a:p>
                      <a:r>
                        <a:rPr sz="1100" b="0">
                          <a:solidFill>
                            <a:srgbClr val="1F2328"/>
                          </a:solidFill>
                          <a:latin typeface="Microsoft JhengHei"/>
                          <a:ea typeface="Microsoft JhengHei"/>
                        </a:rPr>
                        <a:t>-3.06%</a:t>
                      </a:r>
                    </a:p>
                  </a:txBody>
                  <a:tcPr>
                    <a:solidFill>
                      <a:srgbClr val="F3F5F8"/>
                    </a:solidFill>
                  </a:tcPr>
                </a:tc>
                <a:tc>
                  <a:txBody>
                    <a:bodyPr/>
                    <a:lstStyle/>
                    <a:p>
                      <a:r>
                        <a:rPr sz="1100" b="0">
                          <a:solidFill>
                            <a:srgbClr val="1F2328"/>
                          </a:solidFill>
                          <a:latin typeface="Microsoft JhengHei"/>
                          <a:ea typeface="Microsoft JhengHei"/>
                        </a:rPr>
                        <a:t>-3.26%</a:t>
                      </a:r>
                    </a:p>
                  </a:txBody>
                  <a:tcPr>
                    <a:solidFill>
                      <a:srgbClr val="F3F5F8"/>
                    </a:solidFill>
                  </a:tcPr>
                </a:tc>
                <a:tc>
                  <a:txBody>
                    <a:bodyPr/>
                    <a:lstStyle/>
                    <a:p>
                      <a:r>
                        <a:rPr sz="1100" b="0">
                          <a:solidFill>
                            <a:srgbClr val="1F2328"/>
                          </a:solidFill>
                          <a:latin typeface="Microsoft JhengHei"/>
                          <a:ea typeface="Microsoft JhengHei"/>
                        </a:rPr>
                        <a:t>+4.95%</a:t>
                      </a:r>
                    </a:p>
                  </a:txBody>
                  <a:tcPr>
                    <a:solidFill>
                      <a:srgbClr val="F3F5F8"/>
                    </a:solidFill>
                  </a:tcPr>
                </a:tc>
                <a:tc>
                  <a:txBody>
                    <a:bodyPr/>
                    <a:lstStyle/>
                    <a:p>
                      <a:r>
                        <a:rPr sz="1100" b="0">
                          <a:solidFill>
                            <a:srgbClr val="1F2328"/>
                          </a:solidFill>
                          <a:latin typeface="Microsoft JhengHei"/>
                          <a:ea typeface="Microsoft JhengHei"/>
                        </a:rPr>
                        <a:t>個股特有因素</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C8423B"/>
                          </a:solidFill>
                          <a:latin typeface="Microsoft JhengHei"/>
                          <a:ea typeface="Microsoft JhengHei"/>
                        </a:rPr>
                        <a:t>+1.54%</a:t>
                      </a:r>
                    </a:p>
                  </a:txBody>
                  <a:tcPr>
                    <a:solidFill>
                      <a:srgbClr val="FFFFFF"/>
                    </a:solidFill>
                  </a:tcPr>
                </a:tc>
                <a:tc>
                  <a:txBody>
                    <a:bodyPr/>
                    <a:lstStyle/>
                    <a:p>
                      <a:r>
                        <a:rPr sz="1100" b="0">
                          <a:solidFill>
                            <a:srgbClr val="1F2328"/>
                          </a:solidFill>
                          <a:latin typeface="Microsoft JhengHei"/>
                          <a:ea typeface="Microsoft JhengHei"/>
                        </a:rPr>
                        <a:t>+1,100</a:t>
                      </a:r>
                    </a:p>
                  </a:txBody>
                  <a:tcPr>
                    <a:solidFill>
                      <a:srgbClr val="FFFFFF"/>
                    </a:solidFill>
                  </a:tcPr>
                </a:tc>
                <a:tc>
                  <a:txBody>
                    <a:bodyPr/>
                    <a:lstStyle/>
                    <a:p>
                      <a:r>
                        <a:rPr sz="1100" b="0">
                          <a:solidFill>
                            <a:srgbClr val="1F2328"/>
                          </a:solidFill>
                          <a:latin typeface="Microsoft JhengHei"/>
                          <a:ea typeface="Microsoft JhengHei"/>
                        </a:rPr>
                        <a:t>-0.96%</a:t>
                      </a:r>
                    </a:p>
                  </a:txBody>
                  <a:tcPr>
                    <a:solidFill>
                      <a:srgbClr val="FFFFFF"/>
                    </a:solidFill>
                  </a:tcPr>
                </a:tc>
                <a:tc>
                  <a:txBody>
                    <a:bodyPr/>
                    <a:lstStyle/>
                    <a:p>
                      <a:r>
                        <a:rPr sz="1100" b="0">
                          <a:solidFill>
                            <a:srgbClr val="1F2328"/>
                          </a:solidFill>
                          <a:latin typeface="Microsoft JhengHei"/>
                          <a:ea typeface="Microsoft JhengHei"/>
                        </a:rPr>
                        <a:t>+2.16%</a:t>
                      </a:r>
                    </a:p>
                  </a:txBody>
                  <a:tcPr>
                    <a:solidFill>
                      <a:srgbClr val="FFFFFF"/>
                    </a:solidFill>
                  </a:tcPr>
                </a:tc>
                <a:tc>
                  <a:txBody>
                    <a:bodyPr/>
                    <a:lstStyle/>
                    <a:p>
                      <a:r>
                        <a:rPr sz="1100" b="0">
                          <a:solidFill>
                            <a:srgbClr val="1F2328"/>
                          </a:solidFill>
                          <a:latin typeface="Microsoft JhengHei"/>
                          <a:ea typeface="Microsoft JhengHei"/>
                        </a:rPr>
                        <a:t>+0.34%</a:t>
                      </a:r>
                    </a:p>
                  </a:txBody>
                  <a:tcPr>
                    <a:solidFill>
                      <a:srgbClr val="FFFFFF"/>
                    </a:solidFill>
                  </a:tcPr>
                </a:tc>
                <a:tc>
                  <a:txBody>
                    <a:bodyPr/>
                    <a:lstStyle/>
                    <a:p>
                      <a:r>
                        <a:rPr sz="1100" b="0">
                          <a:solidFill>
                            <a:srgbClr val="1F2328"/>
                          </a:solidFill>
                          <a:latin typeface="Microsoft JhengHei"/>
                          <a:ea typeface="Microsoft JhengHei"/>
                        </a:rPr>
                        <a:t>產業因素</a:t>
                      </a:r>
                    </a:p>
                  </a:txBody>
                  <a:tcPr>
                    <a:solidFill>
                      <a:srgbClr val="FFFFFF"/>
                    </a:solidFill>
                  </a:tcPr>
                </a:tc>
              </a:tr>
            </a:tbl>
          </a:graphicData>
        </a:graphic>
      </p:graphicFrame>
      <p:sp>
        <p:nvSpPr>
          <p:cNvPr id="6" name="TextBox 5"/>
          <p:cNvSpPr txBox="1"/>
          <p:nvPr/>
        </p:nvSpPr>
        <p:spPr>
          <a:xfrm>
            <a:off x="594360" y="6949440"/>
            <a:ext cx="10972800" cy="1828800"/>
          </a:xfrm>
          <a:prstGeom prst="rect">
            <a:avLst/>
          </a:prstGeom>
          <a:noFill/>
        </p:spPr>
        <p:txBody>
          <a:bodyPr wrap="square">
            <a:spAutoFit/>
          </a:bodyPr>
          <a:lstStyle/>
          <a:p>
            <a:pPr>
              <a:spcAft>
                <a:spcPts val="400"/>
              </a:spcAft>
            </a:pPr>
            <a:r>
              <a:rPr sz="1200" b="0">
                <a:solidFill>
                  <a:srgbClr val="1F2328"/>
                </a:solidFill>
                <a:latin typeface="Microsoft JhengHei"/>
                <a:ea typeface="Microsoft JhengHei"/>
              </a:rPr>
              <a:t>• 檢視持股最近交易日之走勢拆解：合庫金上漲 +0.71%（+4,800 元），主因為產業因素貢獻 +2.16%，大盤因素拉低 -0.14%，個股因素影響 -1.31%。景碩下跌 -2.38%（-39,336 元），主因是大盤因素拖累 -3.24% 與產業因素下滑 -2.04%，個股因素則逆勢貢獻 +2.91%。聯茂大跌 -5.59%（-46,000 元），主要受產業因素衰退 -3.21% 及大盤因素 -2.67% 雙重打擊，個股因素影響 +0.29%。欣興下跌 -1.36%（-8,550 元），雖然個股特有因素顯著貢獻 +4.95%，但仍難敵產業因素 -3.26% 與大盤因素 -3.06% 之壓制。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產業強弱</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11</a:t>
            </a:r>
          </a:p>
        </p:txBody>
      </p:sp>
      <p:pic>
        <p:nvPicPr>
          <p:cNvPr id="5" name="Picture 4" descr="2026-10-23_盤後檢討與隔日預掛單_sector.png"/>
          <p:cNvPicPr>
            <a:picLocks noChangeAspect="1"/>
          </p:cNvPicPr>
          <p:nvPr/>
        </p:nvPicPr>
        <p:blipFill>
          <a:blip r:embed="rId2"/>
          <a:stretch>
            <a:fillRect/>
          </a:stretch>
        </p:blipFill>
        <p:spPr>
          <a:xfrm>
            <a:off x="2343619" y="1097280"/>
            <a:ext cx="7504457" cy="52120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虧損如何補回</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12</a:t>
            </a:r>
          </a:p>
        </p:txBody>
      </p:sp>
      <p:sp>
        <p:nvSpPr>
          <p:cNvPr id="5" name="Rectangle 4"/>
          <p:cNvSpPr/>
          <p:nvPr/>
        </p:nvSpPr>
        <p:spPr>
          <a:xfrm>
            <a:off x="457200" y="1097280"/>
            <a:ext cx="11247120" cy="17373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10972800" cy="155448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目前投資組合累積虧損為 -1,368,221 元（-13.68%），首要目標為迅速補回虧損。執行嚴格紀律停損：致茂收盤 1980.0 元跌破停損價 2069.91 元、景碩收盤 986.0 元跌破停損價 999.0 元、中砂收盤 846.0 元跌破停損價 936.69 元、帆宣收盤 597.0 元跌破停損價 599.23 元，均全數賣出停損。獲利與換股調整方面，賣出遠東銀、合庫金、潤泰全、國票金等穩健持股先將獲利入袋；台橡（虧損 -4.88%）、艾笛森（虧損 -6.36%）及聯茂則全數換股至一個月預期報酬 +15.55%、創新高機率 86.0% 的進攻標的 6870 騰雲。元大金、合晶與欣興因未滿 10 個交易日且未跌破停損價，決策維持續抱。</a:t>
            </a:r>
          </a:p>
        </p:txBody>
      </p:sp>
      <p:sp>
        <p:nvSpPr>
          <p:cNvPr id="7" name="TextBox 6"/>
          <p:cNvSpPr txBox="1"/>
          <p:nvPr/>
        </p:nvSpPr>
        <p:spPr>
          <a:xfrm>
            <a:off x="594360" y="3108960"/>
            <a:ext cx="10972800" cy="3108960"/>
          </a:xfrm>
          <a:prstGeom prst="rect">
            <a:avLst/>
          </a:prstGeom>
          <a:noFill/>
        </p:spPr>
        <p:txBody>
          <a:bodyPr wrap="square">
            <a:spAutoFit/>
          </a:bodyPr>
          <a:lstStyle/>
          <a:p>
            <a:pPr>
              <a:spcAft>
                <a:spcPts val="400"/>
              </a:spcAft>
            </a:pPr>
            <a:r>
              <a:rPr sz="900" b="0">
                <a:solidFill>
                  <a:srgbClr val="1F2328"/>
                </a:solidFill>
                <a:latin typeface="Microsoft JhengHei"/>
                <a:ea typeface="Microsoft JhengHei"/>
              </a:rPr>
              <a:t>• 累積損益 -1,368,221 元（-13.68%），已實現 -977,655 元</a:t>
            </a:r>
          </a:p>
          <a:p>
            <a:pPr>
              <a:spcAft>
                <a:spcPts val="400"/>
              </a:spcAft>
            </a:pPr>
            <a:r>
              <a:rPr sz="900" b="0">
                <a:solidFill>
                  <a:srgbClr val="1F2328"/>
                </a:solidFill>
                <a:latin typeface="Microsoft JhengHei"/>
                <a:ea typeface="Microsoft JhengHei"/>
              </a:rPr>
              <a:t>• 回到初始資金需上漲 15.85%；只有正報酬才列入排名，補回虧損是第一優先</a:t>
            </a:r>
          </a:p>
          <a:p>
            <a:pPr>
              <a:spcAft>
                <a:spcPts val="400"/>
              </a:spcAft>
            </a:pPr>
            <a:r>
              <a:rPr sz="900" b="0">
                <a:solidFill>
                  <a:srgbClr val="1F2328"/>
                </a:solidFill>
                <a:latin typeface="Microsoft JhengHei"/>
                <a:ea typeface="Microsoft JhengHei"/>
              </a:rPr>
              <a:t>• 現有持股依模型加權的一個月預期報酬 +5.20%（約 +448,706 元）</a:t>
            </a:r>
          </a:p>
          <a:p>
            <a:pPr>
              <a:spcAft>
                <a:spcPts val="400"/>
              </a:spcAft>
            </a:pPr>
            <a:r>
              <a:rPr sz="900" b="0">
                <a:solidFill>
                  <a:srgbClr val="1F2328"/>
                </a:solidFill>
                <a:latin typeface="Microsoft JhengHei"/>
                <a:ea typeface="Microsoft JhengHei"/>
              </a:rPr>
              <a:t>• 進攻籃最佳替換候選：6870 騰雲，一個月預期報酬 +15.55%，創新高機率 86.0%</a:t>
            </a:r>
          </a:p>
          <a:p>
            <a:pPr>
              <a:spcAft>
                <a:spcPts val="400"/>
              </a:spcAft>
            </a:pPr>
            <a:r>
              <a:rPr sz="900" b="0">
                <a:solidFill>
                  <a:srgbClr val="1F2328"/>
                </a:solidFill>
                <a:latin typeface="Microsoft JhengHei"/>
                <a:ea typeface="Microsoft JhengHei"/>
              </a:rPr>
              <a:t>• 穩健籃最佳替換候選：00915 凱基優選高股息30，一個月預期報酬 +5.41%，收正報酬機率 74.3%</a:t>
            </a:r>
          </a:p>
          <a:p>
            <a:pPr>
              <a:spcAft>
                <a:spcPts val="400"/>
              </a:spcAft>
            </a:pPr>
            <a:r>
              <a:rPr sz="900" b="0">
                <a:solidFill>
                  <a:srgbClr val="1F2328"/>
                </a:solidFill>
                <a:latin typeface="Microsoft JhengHei"/>
                <a:ea typeface="Microsoft JhengHei"/>
              </a:rPr>
              <a:t>【獲利換股】2845 遠東銀（+11,936 元）：已獲利 +11,936 元（+2.55%）先入袋；這檔一個月預期只剩 +0.25%，轉買 00915 凱基優選高股息30（預期 +5.41%）扣除換股成本後多 4.58%（門檻 1.0%），且收正報酬機率不低於原標的</a:t>
            </a:r>
          </a:p>
          <a:p>
            <a:pPr>
              <a:spcAft>
                <a:spcPts val="400"/>
              </a:spcAft>
            </a:pPr>
            <a:r>
              <a:rPr sz="900" b="0">
                <a:solidFill>
                  <a:srgbClr val="1F2328"/>
                </a:solidFill>
                <a:latin typeface="Microsoft JhengHei"/>
                <a:ea typeface="Microsoft JhengHei"/>
              </a:rPr>
              <a:t>【獲利換股】5880 合庫金（+49,505 元）：已獲利 +49,505 元（+7.89%）先入袋；這檔一個月預期只剩 +2.21%，轉買 00915 凱基優選高股息30（預期 +5.41%）扣除換股成本後多 2.61%（門檻 1.0%），且收正報酬機率不低於原標的</a:t>
            </a:r>
          </a:p>
          <a:p>
            <a:pPr>
              <a:spcAft>
                <a:spcPts val="400"/>
              </a:spcAft>
            </a:pPr>
            <a:r>
              <a:rPr sz="900" b="0">
                <a:solidFill>
                  <a:srgbClr val="1F2328"/>
                </a:solidFill>
                <a:latin typeface="Microsoft JhengHei"/>
                <a:ea typeface="Microsoft JhengHei"/>
              </a:rPr>
              <a:t>【獲利換股】2915 潤泰全（+1,850 元）：已獲利 +1,850 元（+0.45%）先入袋；這檔一個月預期只剩 +2.47%，轉買 00915 凱基優選高股息30（預期 +5.41%）扣除換股成本後多 2.35%（門檻 1.0%），且收正報酬機率不低於原標的</a:t>
            </a:r>
          </a:p>
          <a:p>
            <a:pPr>
              <a:spcAft>
                <a:spcPts val="400"/>
              </a:spcAft>
            </a:pPr>
            <a:r>
              <a:rPr sz="900" b="0">
                <a:solidFill>
                  <a:srgbClr val="1F2328"/>
                </a:solidFill>
                <a:latin typeface="Microsoft JhengHei"/>
                <a:ea typeface="Microsoft JhengHei"/>
              </a:rPr>
              <a:t>【獲利換股】2889 國票金（+36,804 元）：已獲利 +36,804 元（+5.68%）先入袋；這檔一個月預期只剩 +2.57%，轉買 00915 凱基優選高股息30（預期 +5.41%）扣除換股成本後多 2.25%（門檻 1.0%），且收正報酬機率不低於原標的</a:t>
            </a:r>
          </a:p>
          <a:p>
            <a:pPr>
              <a:spcAft>
                <a:spcPts val="400"/>
              </a:spcAft>
            </a:pPr>
            <a:r>
              <a:rPr sz="900" b="0">
                <a:solidFill>
                  <a:srgbClr val="1F2328"/>
                </a:solidFill>
                <a:latin typeface="Microsoft JhengHei"/>
                <a:ea typeface="Microsoft JhengHei"/>
              </a:rPr>
              <a:t>【換股】2103 台橡（-4,327 元）：6870 騰雲 扣除換股成本後的預期報酬比續抱高 12.31%（門檻 1.0%），且創新高機率不低於原標的 → 換股補回虧損較快；回收資金依綜合分數配置到買進候選，各檔仍受單一標的與產業上限約束</a:t>
            </a:r>
          </a:p>
          <a:p>
            <a:pPr>
              <a:spcAft>
                <a:spcPts val="400"/>
              </a:spcAft>
            </a:pPr>
            <a:r>
              <a:rPr sz="900" b="0">
                <a:solidFill>
                  <a:srgbClr val="1F2328"/>
                </a:solidFill>
                <a:latin typeface="Microsoft JhengHei"/>
                <a:ea typeface="Microsoft JhengHei"/>
              </a:rPr>
              <a:t>【續抱】2885 元大金（+1,298 元）：買進第 3 個交易日，未滿 10 個交易日不換股、不因分數小幅轉弱賣出（模型排名每天都會小幅變動，來回換股要付約 0.58% 成本）；跌破停損 67.62 才出場。提醒：已獲利 +1.83%，00915 凱基優選高股息30 預期報酬較高，滿 10 個交易日後若仍如此會建議獲利換股</a:t>
            </a:r>
          </a:p>
          <a:p>
            <a:pPr>
              <a:spcAft>
                <a:spcPts val="400"/>
              </a:spcAft>
            </a:pPr>
            <a:r>
              <a:rPr sz="900" b="0">
                <a:solidFill>
                  <a:srgbClr val="1F2328"/>
                </a:solidFill>
                <a:latin typeface="Microsoft JhengHei"/>
                <a:ea typeface="Microsoft JhengHei"/>
              </a:rPr>
              <a:t>【停損換股】2360 致茂（-3,085 元）：收盤 1980.0 已跌破停損價 2069.91，依紀律出場；資金轉往評分最高的候選標的</a:t>
            </a:r>
          </a:p>
          <a:p>
            <a:pPr>
              <a:spcAft>
                <a:spcPts val="400"/>
              </a:spcAft>
            </a:pPr>
            <a:r>
              <a:rPr sz="900" b="0">
                <a:solidFill>
                  <a:srgbClr val="1F2328"/>
                </a:solidFill>
                <a:latin typeface="Microsoft JhengHei"/>
                <a:ea typeface="Microsoft JhengHei"/>
              </a:rPr>
              <a:t>【停損換股】6196 帆宣（-81,212 元）：收盤 597.0 已跌破停損價 599.23，依紀律出場；資金轉往評分最高的候選標的</a:t>
            </a:r>
          </a:p>
          <a:p>
            <a:pPr>
              <a:spcAft>
                <a:spcPts val="400"/>
              </a:spcAft>
            </a:pPr>
            <a:r>
              <a:rPr sz="900" b="0">
                <a:solidFill>
                  <a:srgbClr val="1F2328"/>
                </a:solidFill>
                <a:latin typeface="Microsoft JhengHei"/>
                <a:ea typeface="Microsoft JhengHei"/>
              </a:rPr>
              <a:t>【續抱】3037 欣興（-55,110 元）：買進第 8 個交易日，未滿 10 個交易日不換股、不因分數小幅轉弱賣出（模型排名每天都會小幅變動，來回換股要付約 0.58% 成本）；跌破停損 1046.11 才出場</a:t>
            </a:r>
          </a:p>
          <a:p>
            <a:pPr>
              <a:spcAft>
                <a:spcPts val="400"/>
              </a:spcAft>
            </a:pPr>
            <a:r>
              <a:rPr sz="900" b="0">
                <a:solidFill>
                  <a:srgbClr val="1F2328"/>
                </a:solidFill>
                <a:latin typeface="Microsoft JhengHei"/>
                <a:ea typeface="Microsoft JhengHei"/>
              </a:rPr>
              <a:t>【停損換股】1560 中砂（-187,461 元）：收盤 846.0 已跌破停損價 936.69，依紀律出場；資金轉往評分最高的候選標的</a:t>
            </a:r>
          </a:p>
          <a:p>
            <a:pPr>
              <a:spcAft>
                <a:spcPts val="400"/>
              </a:spcAft>
            </a:pPr>
            <a:r>
              <a:rPr sz="900" b="0">
                <a:solidFill>
                  <a:srgbClr val="1F2328"/>
                </a:solidFill>
                <a:latin typeface="Microsoft JhengHei"/>
                <a:ea typeface="Microsoft JhengHei"/>
              </a:rPr>
              <a:t>【續抱】6182 合晶（-11,165 元）：買進第 8 個交易日，未滿 10 個交易日不換股、不因分數小幅轉弱賣出（模型排名每天都會小幅變動，來回換股要付約 0.58% 成本）；跌破停損 97.31 才出場</a:t>
            </a:r>
          </a:p>
          <a:p>
            <a:pPr>
              <a:spcAft>
                <a:spcPts val="400"/>
              </a:spcAft>
            </a:pPr>
            <a:r>
              <a:rPr sz="900" b="0">
                <a:solidFill>
                  <a:srgbClr val="1F2328"/>
                </a:solidFill>
                <a:latin typeface="Microsoft JhengHei"/>
                <a:ea typeface="Microsoft JhengHei"/>
              </a:rPr>
              <a:t>【停損換股】3189 景碩（-161,054 元）：收盤 986.0 已跌破停損價 999.0，依紀律出場；資金轉往評分最高的候選標的</a:t>
            </a:r>
          </a:p>
          <a:p>
            <a:pPr>
              <a:spcAft>
                <a:spcPts val="400"/>
              </a:spcAft>
            </a:pPr>
            <a:r>
              <a:rPr sz="900" b="0">
                <a:solidFill>
                  <a:srgbClr val="1F2328"/>
                </a:solidFill>
                <a:latin typeface="Microsoft JhengHei"/>
                <a:ea typeface="Microsoft JhengHei"/>
              </a:rPr>
              <a:t>【獲利換股】6213 聯茂（+49,965 元）：已獲利 +49,965 元（+6.87%）先入袋；這檔一個月預期只剩 +9.12%，轉買 6870 騰雲（預期 +15.55%）扣除換股成本後多 5.85%（門檻 1.0%），且創新高機率不低於原標的</a:t>
            </a:r>
          </a:p>
          <a:p>
            <a:pPr>
              <a:spcAft>
                <a:spcPts val="400"/>
              </a:spcAft>
            </a:pPr>
            <a:r>
              <a:rPr sz="900" b="0">
                <a:solidFill>
                  <a:srgbClr val="1F2328"/>
                </a:solidFill>
                <a:latin typeface="Microsoft JhengHei"/>
                <a:ea typeface="Microsoft JhengHei"/>
              </a:rPr>
              <a:t>【換股】3591 艾笛森（-37,413 元）：6870 騰雲 扣除換股成本後的預期報酬比續抱高 2.79%（門檻 1.0%），且創新高機率不低於原標的 → 換股補回虧損較快；回收資金依綜合分數配置到買進候選，各檔仍受單一標的與產業上限約束</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國際大事對持股的影響</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13</a:t>
            </a:r>
          </a:p>
        </p:txBody>
      </p:sp>
      <p:sp>
        <p:nvSpPr>
          <p:cNvPr id="5" name="Rectangle 4"/>
          <p:cNvSpPr/>
          <p:nvPr/>
        </p:nvSpPr>
        <p:spPr>
          <a:xfrm>
            <a:off x="457200" y="1097280"/>
            <a:ext cx="11247120" cy="155448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10972800" cy="1371600"/>
          </a:xfrm>
          <a:prstGeom prst="rect">
            <a:avLst/>
          </a:prstGeom>
          <a:noFill/>
        </p:spPr>
        <p:txBody>
          <a:bodyPr wrap="square">
            <a:spAutoFit/>
          </a:bodyPr>
          <a:lstStyle/>
          <a:p>
            <a:pPr>
              <a:spcAft>
                <a:spcPts val="400"/>
              </a:spcAft>
            </a:pPr>
            <a:r>
              <a:rPr sz="1150" b="0">
                <a:solidFill>
                  <a:srgbClr val="1F2328"/>
                </a:solidFill>
                <a:latin typeface="Microsoft JhengHei"/>
                <a:ea typeface="Microsoft JhengHei"/>
              </a:rPr>
              <a:t>• 國際大事對手中股票影響顯著：第一，費城半導體暴跌 -6.72% 衝擊科技股，對整體資產金額影響 -83,629 元（佔淨值 -0.97%），其中欣興受創 -13,606 元（-2.20%）、景碩受創 -24,241 元（-1.50%）、帆宣受創 -17,713 元（-1.38%），決策為嚴守停損並暫停加碼。第二，VIX恐慌指數上漲 1.00% 顯現避險情緒，金額影響 -71,156 元（佔淨值 -0.82%），對帆宣影響 -17,200 元（-1.34%）、景碩影響 -16,484 元（-1.02%）。第三，黃金價格跌破 4000 美元（-0.66%），金額影響 -28,641 元（佔淨值 -0.33%）。第四，西德州原油上漲 1.02% 至 100.48 美元，金額影響 -19,674 元（佔淨值 -0.23%），但台橡逆勢獲利 +371 元（+0.44%）。</a:t>
            </a:r>
          </a:p>
        </p:txBody>
      </p:sp>
      <p:sp>
        <p:nvSpPr>
          <p:cNvPr id="7" name="TextBox 6"/>
          <p:cNvSpPr txBox="1"/>
          <p:nvPr/>
        </p:nvSpPr>
        <p:spPr>
          <a:xfrm>
            <a:off x="594360" y="2926080"/>
            <a:ext cx="10972800" cy="3291840"/>
          </a:xfrm>
          <a:prstGeom prst="rect">
            <a:avLst/>
          </a:prstGeom>
          <a:noFill/>
        </p:spPr>
        <p:txBody>
          <a:bodyPr wrap="square">
            <a:spAutoFit/>
          </a:bodyPr>
          <a:lstStyle/>
          <a:p>
            <a:pPr>
              <a:spcAft>
                <a:spcPts val="400"/>
              </a:spcAft>
            </a:pPr>
            <a:r>
              <a:rPr sz="1200" b="0">
                <a:solidFill>
                  <a:srgbClr val="1F2328"/>
                </a:solidFill>
                <a:latin typeface="Microsoft JhengHei"/>
                <a:ea typeface="Microsoft JhengHei"/>
              </a:rPr>
              <a:t>• 中東局勢緊張與供應中斷疑慮推升國際油價走高 → 西德州原油↑：預估 -19,674 元（-0.23%）</a:t>
            </a:r>
          </a:p>
          <a:p>
            <a:pPr>
              <a:spcAft>
                <a:spcPts val="400"/>
              </a:spcAft>
            </a:pPr>
            <a:r>
              <a:rPr sz="1200" b="0">
                <a:solidFill>
                  <a:srgbClr val="1F2328"/>
                </a:solidFill>
                <a:latin typeface="Microsoft JhengHei"/>
                <a:ea typeface="Microsoft JhengHei"/>
              </a:rPr>
              <a:t>• 市場對科技巨頭人工智慧資本支出與回報的疑慮加劇導致科技股重挫 → 費城半導體↓：預估 -83,629 元（-0.97%）</a:t>
            </a:r>
          </a:p>
          <a:p>
            <a:pPr>
              <a:spcAft>
                <a:spcPts val="400"/>
              </a:spcAft>
            </a:pPr>
            <a:r>
              <a:rPr sz="1200" b="0">
                <a:solidFill>
                  <a:srgbClr val="1F2328"/>
                </a:solidFill>
                <a:latin typeface="Microsoft JhengHei"/>
                <a:ea typeface="Microsoft JhengHei"/>
              </a:rPr>
              <a:t>• 股市重挫引發資金湧入美債避險帶動美國10年期公債殖利率跌破5% → 美國10年債殖利率↓：預估 +880 元（+0.01%）</a:t>
            </a:r>
          </a:p>
          <a:p>
            <a:pPr>
              <a:spcAft>
                <a:spcPts val="400"/>
              </a:spcAft>
            </a:pPr>
            <a:r>
              <a:rPr sz="1200" b="0">
                <a:solidFill>
                  <a:srgbClr val="1F2328"/>
                </a:solidFill>
                <a:latin typeface="Microsoft JhengHei"/>
                <a:ea typeface="Microsoft JhengHei"/>
              </a:rPr>
              <a:t>• 日本核心通膨率升至2.1%超過央行目標強化升息預期 → 日經225↑：預估 +132,243 元（+1.53%）</a:t>
            </a:r>
          </a:p>
          <a:p>
            <a:pPr>
              <a:spcAft>
                <a:spcPts val="400"/>
              </a:spcAft>
            </a:pPr>
            <a:r>
              <a:rPr sz="1200" b="0">
                <a:solidFill>
                  <a:srgbClr val="1F2328"/>
                </a:solidFill>
                <a:latin typeface="Microsoft JhengHei"/>
                <a:ea typeface="Microsoft JhengHei"/>
              </a:rPr>
              <a:t>• 通膨焦慮與槓桿資金平倉導致黃金價格跌破4000美元 → 黃金↓：預估 -28,641 元（-0.33%）</a:t>
            </a:r>
          </a:p>
          <a:p>
            <a:pPr>
              <a:spcAft>
                <a:spcPts val="400"/>
              </a:spcAft>
            </a:pPr>
            <a:r>
              <a:rPr sz="1200" b="0">
                <a:solidFill>
                  <a:srgbClr val="1F2328"/>
                </a:solidFill>
                <a:latin typeface="Microsoft JhengHei"/>
                <a:ea typeface="Microsoft JhengHei"/>
              </a:rPr>
              <a:t>• 美國擬限制美資流向中國半導體與人工智慧等敏感科技領域 → 中國大型股ETF↓：預估 -13,438 元（-0.16%）</a:t>
            </a:r>
          </a:p>
          <a:p>
            <a:pPr>
              <a:spcAft>
                <a:spcPts val="400"/>
              </a:spcAft>
            </a:pPr>
            <a:r>
              <a:rPr sz="1200" b="0">
                <a:solidFill>
                  <a:srgbClr val="1F2328"/>
                </a:solidFill>
                <a:latin typeface="Microsoft JhengHei"/>
                <a:ea typeface="Microsoft JhengHei"/>
              </a:rPr>
              <a:t>• 地緣政治局勢升溫與科技股拋售潮升溫帶動市場避險情緒 → VIX恐慌指數↑：預估 -71,156 元（-0.82%）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國際事件：中東局勢緊張與供應中斷疑慮推升國際油價走高</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14</a:t>
            </a:r>
          </a:p>
        </p:txBody>
      </p:sp>
      <p:graphicFrame>
        <p:nvGraphicFramePr>
          <p:cNvPr id="5" name="Table 4"/>
          <p:cNvGraphicFramePr>
            <a:graphicFrameLocks noGrp="1"/>
          </p:cNvGraphicFramePr>
          <p:nvPr/>
        </p:nvGraphicFramePr>
        <p:xfrm>
          <a:off x="457200" y="1188720"/>
          <a:ext cx="11247117" cy="5486400"/>
        </p:xfrm>
        <a:graphic>
          <a:graphicData uri="http://schemas.openxmlformats.org/drawingml/2006/table">
            <a:tbl>
              <a:tblPr firstRow="1" bandRow="1">
                <a:tableStyleId>{5C22544A-7EE6-4342-B048-85BDC9FD1C3A}</a:tableStyleId>
              </a:tblPr>
              <a:tblGrid>
                <a:gridCol w="2205317"/>
                <a:gridCol w="1102658"/>
                <a:gridCol w="1102658"/>
                <a:gridCol w="1323190"/>
                <a:gridCol w="5513294"/>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敏感度β</a:t>
                      </a:r>
                    </a:p>
                  </a:txBody>
                  <a:tcPr>
                    <a:solidFill>
                      <a:srgbClr val="1F3A5F"/>
                    </a:solidFill>
                  </a:tcPr>
                </a:tc>
                <a:tc>
                  <a:txBody>
                    <a:bodyPr/>
                    <a:lstStyle/>
                    <a:p>
                      <a:r>
                        <a:rPr sz="1100" b="1">
                          <a:solidFill>
                            <a:srgbClr val="FFFFFF"/>
                          </a:solidFill>
                          <a:latin typeface="Microsoft JhengHei"/>
                          <a:ea typeface="Microsoft JhengHei"/>
                        </a:rPr>
                        <a:t>預估影響</a:t>
                      </a:r>
                    </a:p>
                  </a:txBody>
                  <a:tcPr>
                    <a:solidFill>
                      <a:srgbClr val="1F3A5F"/>
                    </a:solidFill>
                  </a:tcPr>
                </a:tc>
                <a:tc>
                  <a:txBody>
                    <a:bodyPr/>
                    <a:lstStyle/>
                    <a:p>
                      <a:r>
                        <a:rPr sz="1100" b="1">
                          <a:solidFill>
                            <a:srgbClr val="FFFFFF"/>
                          </a:solidFill>
                          <a:latin typeface="Microsoft JhengHei"/>
                          <a:ea typeface="Microsoft JhengHei"/>
                        </a:rPr>
                        <a:t>金額(元)</a:t>
                      </a:r>
                    </a:p>
                  </a:txBody>
                  <a:tcPr>
                    <a:solidFill>
                      <a:srgbClr val="1F3A5F"/>
                    </a:solidFill>
                  </a:tcPr>
                </a:tc>
                <a:tc>
                  <a:txBody>
                    <a:bodyPr/>
                    <a:lstStyle/>
                    <a:p>
                      <a:r>
                        <a:rPr sz="1100" b="1">
                          <a:solidFill>
                            <a:srgbClr val="FFFFFF"/>
                          </a:solidFill>
                          <a:latin typeface="Microsoft JhengHei"/>
                          <a:ea typeface="Microsoft JhengHei"/>
                        </a:rPr>
                        <a:t>後續決策</a:t>
                      </a:r>
                    </a:p>
                  </a:txBody>
                  <a:tcPr>
                    <a:solidFill>
                      <a:srgbClr val="1F3A5F"/>
                    </a:solidFill>
                  </a:tcPr>
                </a:tc>
              </a:tr>
              <a:tr h="365760">
                <a:tc>
                  <a:txBody>
                    <a:bodyPr/>
                    <a:lstStyle/>
                    <a:p>
                      <a:r>
                        <a:rPr sz="1100" b="0">
                          <a:solidFill>
                            <a:srgbClr val="1F2328"/>
                          </a:solidFill>
                          <a:latin typeface="Microsoft JhengHei"/>
                          <a:ea typeface="Microsoft JhengHei"/>
                        </a:rPr>
                        <a:t>5880 合庫金</a:t>
                      </a:r>
                    </a:p>
                  </a:txBody>
                  <a:tcPr>
                    <a:solidFill>
                      <a:srgbClr val="F3F5F8"/>
                    </a:solidFill>
                  </a:tcPr>
                </a:tc>
                <a:tc>
                  <a:txBody>
                    <a:bodyPr/>
                    <a:lstStyle/>
                    <a:p>
                      <a:r>
                        <a:rPr sz="1100" b="0">
                          <a:solidFill>
                            <a:srgbClr val="1F2328"/>
                          </a:solidFill>
                          <a:latin typeface="Microsoft JhengHei"/>
                          <a:ea typeface="Microsoft JhengHei"/>
                        </a:rPr>
                        <a:t>-0.0206</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-0.07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2889 國票金</a:t>
                      </a:r>
                    </a:p>
                  </a:txBody>
                  <a:tcPr>
                    <a:solidFill>
                      <a:srgbClr val="FFFFFF"/>
                    </a:solidFill>
                  </a:tcPr>
                </a:tc>
                <a:tc>
                  <a:txBody>
                    <a:bodyPr/>
                    <a:lstStyle/>
                    <a:p>
                      <a:r>
                        <a:rPr sz="1100" b="0">
                          <a:solidFill>
                            <a:srgbClr val="1F2328"/>
                          </a:solidFill>
                          <a:latin typeface="Microsoft JhengHei"/>
                          <a:ea typeface="Microsoft JhengHei"/>
                        </a:rPr>
                        <a:t>-0.0196</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-0.05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2845 遠東銀</a:t>
                      </a:r>
                    </a:p>
                  </a:txBody>
                  <a:tcPr>
                    <a:solidFill>
                      <a:srgbClr val="F3F5F8"/>
                    </a:solidFill>
                  </a:tcPr>
                </a:tc>
                <a:tc>
                  <a:txBody>
                    <a:bodyPr/>
                    <a:lstStyle/>
                    <a:p>
                      <a:r>
                        <a:rPr sz="1100" b="0">
                          <a:solidFill>
                            <a:srgbClr val="1F2328"/>
                          </a:solidFill>
                          <a:latin typeface="Microsoft JhengHei"/>
                          <a:ea typeface="Microsoft JhengHei"/>
                        </a:rPr>
                        <a:t>-0.0224</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-0.08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2915 潤泰全</a:t>
                      </a:r>
                    </a:p>
                  </a:txBody>
                  <a:tcPr>
                    <a:solidFill>
                      <a:srgbClr val="FFFFFF"/>
                    </a:solidFill>
                  </a:tcPr>
                </a:tc>
                <a:tc>
                  <a:txBody>
                    <a:bodyPr/>
                    <a:lstStyle/>
                    <a:p>
                      <a:r>
                        <a:rPr sz="1100" b="0">
                          <a:solidFill>
                            <a:srgbClr val="1F2328"/>
                          </a:solidFill>
                          <a:latin typeface="Microsoft JhengHei"/>
                          <a:ea typeface="Microsoft JhengHei"/>
                        </a:rPr>
                        <a:t>-0.0097</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-0.02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1F2328"/>
                          </a:solidFill>
                          <a:latin typeface="Microsoft JhengHei"/>
                          <a:ea typeface="Microsoft JhengHei"/>
                        </a:rPr>
                        <a:t>-0.1064</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-0.07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1F2328"/>
                          </a:solidFill>
                          <a:latin typeface="Microsoft JhengHei"/>
                          <a:ea typeface="Microsoft JhengHei"/>
                        </a:rPr>
                        <a:t>-0.1461</a:t>
                      </a:r>
                    </a:p>
                  </a:txBody>
                  <a:tcPr>
                    <a:solidFill>
                      <a:srgbClr val="FFFFFF"/>
                    </a:solidFill>
                  </a:tcPr>
                </a:tc>
                <a:tc>
                  <a:txBody>
                    <a:bodyPr/>
                    <a:lstStyle/>
                    <a:p>
                      <a:r>
                        <a:rPr sz="1100" b="0">
                          <a:solidFill>
                            <a:srgbClr val="2E8B57"/>
                          </a:solidFill>
                          <a:latin typeface="Microsoft JhengHei"/>
                          <a:ea typeface="Microsoft JhengHei"/>
                        </a:rPr>
                        <a:t>-0.50%</a:t>
                      </a:r>
                    </a:p>
                  </a:txBody>
                  <a:tcPr>
                    <a:solidFill>
                      <a:srgbClr val="FFFFFF"/>
                    </a:solidFill>
                  </a:tcPr>
                </a:tc>
                <a:tc>
                  <a:txBody>
                    <a:bodyPr/>
                    <a:lstStyle/>
                    <a:p>
                      <a:r>
                        <a:rPr sz="1100" b="0">
                          <a:solidFill>
                            <a:srgbClr val="1F2328"/>
                          </a:solidFill>
                          <a:latin typeface="Microsoft JhengHei"/>
                          <a:ea typeface="Microsoft JhengHei"/>
                        </a:rPr>
                        <a:t>-2,756</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1F2328"/>
                          </a:solidFill>
                          <a:latin typeface="Microsoft JhengHei"/>
                          <a:ea typeface="Microsoft JhengHei"/>
                        </a:rPr>
                        <a:t>-0.1102</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-0.11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1F2328"/>
                          </a:solidFill>
                          <a:latin typeface="Microsoft JhengHei"/>
                          <a:ea typeface="Microsoft JhengHei"/>
                        </a:rPr>
                        <a:t>-0.2344</a:t>
                      </a:r>
                    </a:p>
                  </a:txBody>
                  <a:tcPr>
                    <a:solidFill>
                      <a:srgbClr val="FFFFFF"/>
                    </a:solidFill>
                  </a:tcPr>
                </a:tc>
                <a:tc>
                  <a:txBody>
                    <a:bodyPr/>
                    <a:lstStyle/>
                    <a:p>
                      <a:r>
                        <a:rPr sz="1100" b="0">
                          <a:solidFill>
                            <a:srgbClr val="2E8B57"/>
                          </a:solidFill>
                          <a:latin typeface="Microsoft JhengHei"/>
                          <a:ea typeface="Microsoft JhengHei"/>
                        </a:rPr>
                        <a:t>-0.80%</a:t>
                      </a:r>
                    </a:p>
                  </a:txBody>
                  <a:tcPr>
                    <a:solidFill>
                      <a:srgbClr val="FFFFFF"/>
                    </a:solidFill>
                  </a:tcPr>
                </a:tc>
                <a:tc>
                  <a:txBody>
                    <a:bodyPr/>
                    <a:lstStyle/>
                    <a:p>
                      <a:r>
                        <a:rPr sz="1100" b="0">
                          <a:solidFill>
                            <a:srgbClr val="1F2328"/>
                          </a:solidFill>
                          <a:latin typeface="Microsoft JhengHei"/>
                          <a:ea typeface="Microsoft JhengHei"/>
                        </a:rPr>
                        <a:t>-10,268</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1F2328"/>
                          </a:solidFill>
                          <a:latin typeface="Microsoft JhengHei"/>
                          <a:ea typeface="Microsoft JhengHei"/>
                        </a:rPr>
                        <a:t>-0.2222</a:t>
                      </a:r>
                    </a:p>
                  </a:txBody>
                  <a:tcPr>
                    <a:solidFill>
                      <a:srgbClr val="F3F5F8"/>
                    </a:solidFill>
                  </a:tcPr>
                </a:tc>
                <a:tc>
                  <a:txBody>
                    <a:bodyPr/>
                    <a:lstStyle/>
                    <a:p>
                      <a:r>
                        <a:rPr sz="1100" b="0">
                          <a:solidFill>
                            <a:srgbClr val="2E8B57"/>
                          </a:solidFill>
                          <a:latin typeface="Microsoft JhengHei"/>
                          <a:ea typeface="Microsoft JhengHei"/>
                        </a:rPr>
                        <a:t>-0.76%</a:t>
                      </a:r>
                    </a:p>
                  </a:txBody>
                  <a:tcPr>
                    <a:solidFill>
                      <a:srgbClr val="F3F5F8"/>
                    </a:solidFill>
                  </a:tcPr>
                </a:tc>
                <a:tc>
                  <a:txBody>
                    <a:bodyPr/>
                    <a:lstStyle/>
                    <a:p>
                      <a:r>
                        <a:rPr sz="1100" b="0">
                          <a:solidFill>
                            <a:srgbClr val="1F2328"/>
                          </a:solidFill>
                          <a:latin typeface="Microsoft JhengHei"/>
                          <a:ea typeface="Microsoft JhengHei"/>
                        </a:rPr>
                        <a:t>-5,905</a:t>
                      </a:r>
                    </a:p>
                  </a:txBody>
                  <a:tcPr>
                    <a:solidFill>
                      <a:srgbClr val="F3F5F8"/>
                    </a:solidFill>
                  </a:tcPr>
                </a:tc>
                <a:tc>
                  <a:txBody>
                    <a:bodyPr/>
                    <a:lstStyle/>
                    <a:p>
                      <a:r>
                        <a:rPr sz="1100" b="0">
                          <a:solidFill>
                            <a:srgbClr val="1F2328"/>
                          </a:solidFill>
                          <a:latin typeface="Microsoft JhengHei"/>
                          <a:ea typeface="Microsoft JhengHei"/>
                        </a:rPr>
                        <a:t>輕度不利：列入觀察，暫不調整部位</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1F2328"/>
                          </a:solidFill>
                          <a:latin typeface="Microsoft JhengHei"/>
                          <a:ea typeface="Microsoft JhengHei"/>
                        </a:rPr>
                        <a:t>0.1284</a:t>
                      </a:r>
                    </a:p>
                  </a:txBody>
                  <a:tcPr>
                    <a:solidFill>
                      <a:srgbClr val="FFFFFF"/>
                    </a:solidFill>
                  </a:tcPr>
                </a:tc>
                <a:tc>
                  <a:txBody>
                    <a:bodyPr/>
                    <a:lstStyle/>
                    <a:p>
                      <a:r>
                        <a:rPr sz="1100" b="0">
                          <a:solidFill>
                            <a:srgbClr val="C8423B"/>
                          </a:solidFill>
                          <a:latin typeface="Microsoft JhengHei"/>
                          <a:ea typeface="Microsoft JhengHei"/>
                        </a:rPr>
                        <a:t>+0.44%</a:t>
                      </a:r>
                    </a:p>
                  </a:txBody>
                  <a:tcPr>
                    <a:solidFill>
                      <a:srgbClr val="FFFFFF"/>
                    </a:solidFill>
                  </a:tcPr>
                </a:tc>
                <a:tc>
                  <a:txBody>
                    <a:bodyPr/>
                    <a:lstStyle/>
                    <a:p>
                      <a:r>
                        <a:rPr sz="1100" b="0">
                          <a:solidFill>
                            <a:srgbClr val="1F2328"/>
                          </a:solidFill>
                          <a:latin typeface="Microsoft JhengHei"/>
                          <a:ea typeface="Microsoft JhengHei"/>
                        </a:rPr>
                        <a:t>+371</a:t>
                      </a:r>
                    </a:p>
                  </a:txBody>
                  <a:tcPr>
                    <a:solidFill>
                      <a:srgbClr val="FFFFFF"/>
                    </a:solidFill>
                  </a:tcPr>
                </a:tc>
                <a:tc>
                  <a:txBody>
                    <a:bodyPr/>
                    <a:lstStyle/>
                    <a:p>
                      <a:r>
                        <a:rPr sz="1100" b="0">
                          <a:solidFill>
                            <a:srgbClr val="1F2328"/>
                          </a:solidFill>
                          <a:latin typeface="Microsoft JhengHei"/>
                          <a:ea typeface="Microsoft JhengHei"/>
                        </a:rPr>
                        <a:t>有利：支持續抱；若一個月模型仍在前段班，可作為加碼依據</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1F2328"/>
                          </a:solidFill>
                          <a:latin typeface="Microsoft JhengHei"/>
                          <a:ea typeface="Microsoft JhengHei"/>
                        </a:rPr>
                        <a:t>-0.1637</a:t>
                      </a:r>
                    </a:p>
                  </a:txBody>
                  <a:tcPr>
                    <a:solidFill>
                      <a:srgbClr val="F3F5F8"/>
                    </a:solidFill>
                  </a:tcPr>
                </a:tc>
                <a:tc>
                  <a:txBody>
                    <a:bodyPr/>
                    <a:lstStyle/>
                    <a:p>
                      <a:r>
                        <a:rPr sz="1100" b="0">
                          <a:solidFill>
                            <a:srgbClr val="2E8B57"/>
                          </a:solidFill>
                          <a:latin typeface="Microsoft JhengHei"/>
                          <a:ea typeface="Microsoft JhengHei"/>
                        </a:rPr>
                        <a:t>-0.56%</a:t>
                      </a:r>
                    </a:p>
                  </a:txBody>
                  <a:tcPr>
                    <a:solidFill>
                      <a:srgbClr val="F3F5F8"/>
                    </a:solidFill>
                  </a:tcPr>
                </a:tc>
                <a:tc>
                  <a:txBody>
                    <a:bodyPr/>
                    <a:lstStyle/>
                    <a:p>
                      <a:r>
                        <a:rPr sz="1100" b="0">
                          <a:solidFill>
                            <a:srgbClr val="1F2328"/>
                          </a:solidFill>
                          <a:latin typeface="Microsoft JhengHei"/>
                          <a:ea typeface="Microsoft JhengHei"/>
                        </a:rPr>
                        <a:t>-89</a:t>
                      </a:r>
                    </a:p>
                  </a:txBody>
                  <a:tcPr>
                    <a:solidFill>
                      <a:srgbClr val="F3F5F8"/>
                    </a:solidFill>
                  </a:tcPr>
                </a:tc>
                <a:tc>
                  <a:txBody>
                    <a:bodyPr/>
                    <a:lstStyle/>
                    <a:p>
                      <a:r>
                        <a:rPr sz="1100" b="0">
                          <a:solidFill>
                            <a:srgbClr val="1F2328"/>
                          </a:solidFill>
                          <a:latin typeface="Microsoft JhengHei"/>
                          <a:ea typeface="Microsoft JhengHei"/>
                        </a:rPr>
                        <a:t>輕度不利：列入觀察，暫不調整部位</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1F2328"/>
                          </a:solidFill>
                          <a:latin typeface="Microsoft JhengHei"/>
                          <a:ea typeface="Microsoft JhengHei"/>
                        </a:rPr>
                        <a:t>-0.237</a:t>
                      </a:r>
                    </a:p>
                  </a:txBody>
                  <a:tcPr>
                    <a:solidFill>
                      <a:srgbClr val="FFFFFF"/>
                    </a:solidFill>
                  </a:tcPr>
                </a:tc>
                <a:tc>
                  <a:txBody>
                    <a:bodyPr/>
                    <a:lstStyle/>
                    <a:p>
                      <a:r>
                        <a:rPr sz="1100" b="0">
                          <a:solidFill>
                            <a:srgbClr val="2E8B57"/>
                          </a:solidFill>
                          <a:latin typeface="Microsoft JhengHei"/>
                          <a:ea typeface="Microsoft JhengHei"/>
                        </a:rPr>
                        <a:t>-0.81%</a:t>
                      </a:r>
                    </a:p>
                  </a:txBody>
                  <a:tcPr>
                    <a:solidFill>
                      <a:srgbClr val="FFFFFF"/>
                    </a:solidFill>
                  </a:tcPr>
                </a:tc>
                <a:tc>
                  <a:txBody>
                    <a:bodyPr/>
                    <a:lstStyle/>
                    <a:p>
                      <a:r>
                        <a:rPr sz="1100" b="0">
                          <a:solidFill>
                            <a:srgbClr val="1F2328"/>
                          </a:solidFill>
                          <a:latin typeface="Microsoft JhengHei"/>
                          <a:ea typeface="Microsoft JhengHei"/>
                        </a:rPr>
                        <a:t>-846</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1F2328"/>
                          </a:solidFill>
                          <a:latin typeface="Microsoft JhengHei"/>
                          <a:ea typeface="Microsoft JhengHei"/>
                        </a:rPr>
                        <a:t>-0.134</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-0.09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1F2328"/>
                          </a:solidFill>
                          <a:latin typeface="Microsoft JhengHei"/>
                          <a:ea typeface="Microsoft JhengHei"/>
                        </a:rPr>
                        <a:t>-0.0741</a:t>
                      </a:r>
                    </a:p>
                  </a:txBody>
                  <a:tcPr>
                    <a:solidFill>
                      <a:srgbClr val="FFFFFF"/>
                    </a:solidFill>
                  </a:tcPr>
                </a:tc>
                <a:tc>
                  <a:txBody>
                    <a:bodyPr/>
                    <a:lstStyle/>
                    <a:p>
                      <a:r>
                        <a:rPr sz="1100" b="0">
                          <a:solidFill>
                            <a:srgbClr val="2E8B57"/>
                          </a:solidFill>
                          <a:latin typeface="Microsoft JhengHei"/>
                          <a:ea typeface="Microsoft JhengHei"/>
                        </a:rPr>
                        <a:t>-0.25%</a:t>
                      </a:r>
                    </a:p>
                  </a:txBody>
                  <a:tcPr>
                    <a:solidFill>
                      <a:srgbClr val="FFFFFF"/>
                    </a:solidFill>
                  </a:tcPr>
                </a:tc>
                <a:tc>
                  <a:txBody>
                    <a:bodyPr/>
                    <a:lstStyle/>
                    <a:p>
                      <a:r>
                        <a:rPr sz="1100" b="0">
                          <a:solidFill>
                            <a:srgbClr val="1F2328"/>
                          </a:solidFill>
                          <a:latin typeface="Microsoft JhengHei"/>
                          <a:ea typeface="Microsoft JhengHei"/>
                        </a:rPr>
                        <a:t>-181</a:t>
                      </a:r>
                    </a:p>
                  </a:txBody>
                  <a:tcPr>
                    <a:solidFill>
                      <a:srgbClr val="FFFFFF"/>
                    </a:solidFill>
                  </a:tcPr>
                </a:tc>
                <a:tc>
                  <a:txBody>
                    <a:bodyPr/>
                    <a:lstStyle/>
                    <a:p>
                      <a:r>
                        <a:rPr sz="1100" b="0">
                          <a:solidFill>
                            <a:srgbClr val="1F2328"/>
                          </a:solidFill>
                          <a:latin typeface="Microsoft JhengHei"/>
                          <a:ea typeface="Microsoft JhengHei"/>
                        </a:rPr>
                        <a:t>影響有限，維持原決策</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國際事件：市場對科技巨頭人工智慧資本支出與回報的疑慮加劇導致科技股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15</a:t>
            </a:r>
          </a:p>
        </p:txBody>
      </p:sp>
      <p:graphicFrame>
        <p:nvGraphicFramePr>
          <p:cNvPr id="5" name="Table 4"/>
          <p:cNvGraphicFramePr>
            <a:graphicFrameLocks noGrp="1"/>
          </p:cNvGraphicFramePr>
          <p:nvPr/>
        </p:nvGraphicFramePr>
        <p:xfrm>
          <a:off x="457200" y="1188720"/>
          <a:ext cx="11247117" cy="5486400"/>
        </p:xfrm>
        <a:graphic>
          <a:graphicData uri="http://schemas.openxmlformats.org/drawingml/2006/table">
            <a:tbl>
              <a:tblPr firstRow="1" bandRow="1">
                <a:tableStyleId>{5C22544A-7EE6-4342-B048-85BDC9FD1C3A}</a:tableStyleId>
              </a:tblPr>
              <a:tblGrid>
                <a:gridCol w="2205317"/>
                <a:gridCol w="1102658"/>
                <a:gridCol w="1102658"/>
                <a:gridCol w="1323190"/>
                <a:gridCol w="5513294"/>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敏感度β</a:t>
                      </a:r>
                    </a:p>
                  </a:txBody>
                  <a:tcPr>
                    <a:solidFill>
                      <a:srgbClr val="1F3A5F"/>
                    </a:solidFill>
                  </a:tcPr>
                </a:tc>
                <a:tc>
                  <a:txBody>
                    <a:bodyPr/>
                    <a:lstStyle/>
                    <a:p>
                      <a:r>
                        <a:rPr sz="1100" b="1">
                          <a:solidFill>
                            <a:srgbClr val="FFFFFF"/>
                          </a:solidFill>
                          <a:latin typeface="Microsoft JhengHei"/>
                          <a:ea typeface="Microsoft JhengHei"/>
                        </a:rPr>
                        <a:t>預估影響</a:t>
                      </a:r>
                    </a:p>
                  </a:txBody>
                  <a:tcPr>
                    <a:solidFill>
                      <a:srgbClr val="1F3A5F"/>
                    </a:solidFill>
                  </a:tcPr>
                </a:tc>
                <a:tc>
                  <a:txBody>
                    <a:bodyPr/>
                    <a:lstStyle/>
                    <a:p>
                      <a:r>
                        <a:rPr sz="1100" b="1">
                          <a:solidFill>
                            <a:srgbClr val="FFFFFF"/>
                          </a:solidFill>
                          <a:latin typeface="Microsoft JhengHei"/>
                          <a:ea typeface="Microsoft JhengHei"/>
                        </a:rPr>
                        <a:t>金額(元)</a:t>
                      </a:r>
                    </a:p>
                  </a:txBody>
                  <a:tcPr>
                    <a:solidFill>
                      <a:srgbClr val="1F3A5F"/>
                    </a:solidFill>
                  </a:tcPr>
                </a:tc>
                <a:tc>
                  <a:txBody>
                    <a:bodyPr/>
                    <a:lstStyle/>
                    <a:p>
                      <a:r>
                        <a:rPr sz="1100" b="1">
                          <a:solidFill>
                            <a:srgbClr val="FFFFFF"/>
                          </a:solidFill>
                          <a:latin typeface="Microsoft JhengHei"/>
                          <a:ea typeface="Microsoft JhengHei"/>
                        </a:rPr>
                        <a:t>後續決策</a:t>
                      </a:r>
                    </a:p>
                  </a:txBody>
                  <a:tcPr>
                    <a:solidFill>
                      <a:srgbClr val="1F3A5F"/>
                    </a:solidFill>
                  </a:tcPr>
                </a:tc>
              </a:tr>
              <a:tr h="365760">
                <a:tc>
                  <a:txBody>
                    <a:bodyPr/>
                    <a:lstStyle/>
                    <a:p>
                      <a:r>
                        <a:rPr sz="1100" b="0">
                          <a:solidFill>
                            <a:srgbClr val="1F2328"/>
                          </a:solidFill>
                          <a:latin typeface="Microsoft JhengHei"/>
                          <a:ea typeface="Microsoft JhengHei"/>
                        </a:rPr>
                        <a:t>5880 合庫金</a:t>
                      </a:r>
                    </a:p>
                  </a:txBody>
                  <a:tcPr>
                    <a:solidFill>
                      <a:srgbClr val="F3F5F8"/>
                    </a:solidFill>
                  </a:tcPr>
                </a:tc>
                <a:tc>
                  <a:txBody>
                    <a:bodyPr/>
                    <a:lstStyle/>
                    <a:p>
                      <a:r>
                        <a:rPr sz="1100" b="0">
                          <a:solidFill>
                            <a:srgbClr val="1F2328"/>
                          </a:solidFill>
                          <a:latin typeface="Microsoft JhengHei"/>
                          <a:ea typeface="Microsoft JhengHei"/>
                        </a:rPr>
                        <a:t>0.039</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+0.12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2889 國票金</a:t>
                      </a:r>
                    </a:p>
                  </a:txBody>
                  <a:tcPr>
                    <a:solidFill>
                      <a:srgbClr val="FFFFFF"/>
                    </a:solidFill>
                  </a:tcPr>
                </a:tc>
                <a:tc>
                  <a:txBody>
                    <a:bodyPr/>
                    <a:lstStyle/>
                    <a:p>
                      <a:r>
                        <a:rPr sz="1100" b="0">
                          <a:solidFill>
                            <a:srgbClr val="1F2328"/>
                          </a:solidFill>
                          <a:latin typeface="Microsoft JhengHei"/>
                          <a:ea typeface="Microsoft JhengHei"/>
                        </a:rPr>
                        <a:t>0.0608</a:t>
                      </a:r>
                    </a:p>
                  </a:txBody>
                  <a:tcPr>
                    <a:solidFill>
                      <a:srgbClr val="FFFFFF"/>
                    </a:solidFill>
                  </a:tcPr>
                </a:tc>
                <a:tc>
                  <a:txBody>
                    <a:bodyPr/>
                    <a:lstStyle/>
                    <a:p>
                      <a:r>
                        <a:rPr sz="1100" b="0">
                          <a:solidFill>
                            <a:srgbClr val="2E8B57"/>
                          </a:solidFill>
                          <a:latin typeface="Microsoft JhengHei"/>
                          <a:ea typeface="Microsoft JhengHei"/>
                        </a:rPr>
                        <a:t>-0.18%</a:t>
                      </a:r>
                    </a:p>
                  </a:txBody>
                  <a:tcPr>
                    <a:solidFill>
                      <a:srgbClr val="FFFFFF"/>
                    </a:solidFill>
                  </a:tcPr>
                </a:tc>
                <a:tc>
                  <a:txBody>
                    <a:bodyPr/>
                    <a:lstStyle/>
                    <a:p>
                      <a:r>
                        <a:rPr sz="1100" b="0">
                          <a:solidFill>
                            <a:srgbClr val="1F2328"/>
                          </a:solidFill>
                          <a:latin typeface="Microsoft JhengHei"/>
                          <a:ea typeface="Microsoft JhengHei"/>
                        </a:rPr>
                        <a:t>-1,233</a:t>
                      </a:r>
                    </a:p>
                  </a:txBody>
                  <a:tcPr>
                    <a:solidFill>
                      <a:srgbClr val="FFFFFF"/>
                    </a:solidFill>
                  </a:tcPr>
                </a:tc>
                <a:tc>
                  <a:txBody>
                    <a:bodyPr/>
                    <a:lstStyle/>
                    <a:p>
                      <a:r>
                        <a:rPr sz="1100" b="0">
                          <a:solidFill>
                            <a:srgbClr val="1F2328"/>
                          </a:solidFill>
                          <a:latin typeface="Microsoft JhengHei"/>
                          <a:ea typeface="Microsoft JhengHei"/>
                        </a:rPr>
                        <a:t>影響有限，維持原決策</a:t>
                      </a:r>
                    </a:p>
                  </a:txBody>
                  <a:tcPr>
                    <a:solidFill>
                      <a:srgbClr val="FFFFFF"/>
                    </a:solidFill>
                  </a:tcPr>
                </a:tc>
              </a:tr>
              <a:tr h="365760">
                <a:tc>
                  <a:txBody>
                    <a:bodyPr/>
                    <a:lstStyle/>
                    <a:p>
                      <a:r>
                        <a:rPr sz="1100" b="0">
                          <a:solidFill>
                            <a:srgbClr val="1F2328"/>
                          </a:solidFill>
                          <a:latin typeface="Microsoft JhengHei"/>
                          <a:ea typeface="Microsoft JhengHei"/>
                        </a:rPr>
                        <a:t>2845 遠東銀</a:t>
                      </a:r>
                    </a:p>
                  </a:txBody>
                  <a:tcPr>
                    <a:solidFill>
                      <a:srgbClr val="F3F5F8"/>
                    </a:solidFill>
                  </a:tcPr>
                </a:tc>
                <a:tc>
                  <a:txBody>
                    <a:bodyPr/>
                    <a:lstStyle/>
                    <a:p>
                      <a:r>
                        <a:rPr sz="1100" b="0">
                          <a:solidFill>
                            <a:srgbClr val="1F2328"/>
                          </a:solidFill>
                          <a:latin typeface="Microsoft JhengHei"/>
                          <a:ea typeface="Microsoft JhengHei"/>
                        </a:rPr>
                        <a:t>0.037</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+0.11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2915 潤泰全</a:t>
                      </a:r>
                    </a:p>
                  </a:txBody>
                  <a:tcPr>
                    <a:solidFill>
                      <a:srgbClr val="FFFFFF"/>
                    </a:solidFill>
                  </a:tcPr>
                </a:tc>
                <a:tc>
                  <a:txBody>
                    <a:bodyPr/>
                    <a:lstStyle/>
                    <a:p>
                      <a:r>
                        <a:rPr sz="1100" b="0">
                          <a:solidFill>
                            <a:srgbClr val="1F2328"/>
                          </a:solidFill>
                          <a:latin typeface="Microsoft JhengHei"/>
                          <a:ea typeface="Microsoft JhengHei"/>
                        </a:rPr>
                        <a:t>0.0681</a:t>
                      </a:r>
                    </a:p>
                  </a:txBody>
                  <a:tcPr>
                    <a:solidFill>
                      <a:srgbClr val="FFFFFF"/>
                    </a:solidFill>
                  </a:tcPr>
                </a:tc>
                <a:tc>
                  <a:txBody>
                    <a:bodyPr/>
                    <a:lstStyle/>
                    <a:p>
                      <a:r>
                        <a:rPr sz="1100" b="0">
                          <a:solidFill>
                            <a:srgbClr val="2E8B57"/>
                          </a:solidFill>
                          <a:latin typeface="Microsoft JhengHei"/>
                          <a:ea typeface="Microsoft JhengHei"/>
                        </a:rPr>
                        <a:t>-0.20%</a:t>
                      </a:r>
                    </a:p>
                  </a:txBody>
                  <a:tcPr>
                    <a:solidFill>
                      <a:srgbClr val="FFFFFF"/>
                    </a:solidFill>
                  </a:tcPr>
                </a:tc>
                <a:tc>
                  <a:txBody>
                    <a:bodyPr/>
                    <a:lstStyle/>
                    <a:p>
                      <a:r>
                        <a:rPr sz="1100" b="0">
                          <a:solidFill>
                            <a:srgbClr val="1F2328"/>
                          </a:solidFill>
                          <a:latin typeface="Microsoft JhengHei"/>
                          <a:ea typeface="Microsoft JhengHei"/>
                        </a:rPr>
                        <a:t>-829</a:t>
                      </a:r>
                    </a:p>
                  </a:txBody>
                  <a:tcPr>
                    <a:solidFill>
                      <a:srgbClr val="FFFFFF"/>
                    </a:solidFill>
                  </a:tcPr>
                </a:tc>
                <a:tc>
                  <a:txBody>
                    <a:bodyPr/>
                    <a:lstStyle/>
                    <a:p>
                      <a:r>
                        <a:rPr sz="1100" b="0">
                          <a:solidFill>
                            <a:srgbClr val="1F2328"/>
                          </a:solidFill>
                          <a:latin typeface="Microsoft JhengHei"/>
                          <a:ea typeface="Microsoft JhengHei"/>
                        </a:rPr>
                        <a:t>影響有限，維持原決策</a:t>
                      </a:r>
                    </a:p>
                  </a:txBody>
                  <a:tcPr>
                    <a:solidFill>
                      <a:srgbClr val="FFFFF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1F2328"/>
                          </a:solidFill>
                          <a:latin typeface="Microsoft JhengHei"/>
                          <a:ea typeface="Microsoft JhengHei"/>
                        </a:rPr>
                        <a:t>0.5197</a:t>
                      </a:r>
                    </a:p>
                  </a:txBody>
                  <a:tcPr>
                    <a:solidFill>
                      <a:srgbClr val="F3F5F8"/>
                    </a:solidFill>
                  </a:tcPr>
                </a:tc>
                <a:tc>
                  <a:txBody>
                    <a:bodyPr/>
                    <a:lstStyle/>
                    <a:p>
                      <a:r>
                        <a:rPr sz="1100" b="0">
                          <a:solidFill>
                            <a:srgbClr val="2E8B57"/>
                          </a:solidFill>
                          <a:latin typeface="Microsoft JhengHei"/>
                          <a:ea typeface="Microsoft JhengHei"/>
                        </a:rPr>
                        <a:t>-1.50%</a:t>
                      </a:r>
                    </a:p>
                  </a:txBody>
                  <a:tcPr>
                    <a:solidFill>
                      <a:srgbClr val="F3F5F8"/>
                    </a:solidFill>
                  </a:tcPr>
                </a:tc>
                <a:tc>
                  <a:txBody>
                    <a:bodyPr/>
                    <a:lstStyle/>
                    <a:p>
                      <a:r>
                        <a:rPr sz="1100" b="0">
                          <a:solidFill>
                            <a:srgbClr val="1F2328"/>
                          </a:solidFill>
                          <a:latin typeface="Microsoft JhengHei"/>
                          <a:ea typeface="Microsoft JhengHei"/>
                        </a:rPr>
                        <a:t>-24,241</a:t>
                      </a:r>
                    </a:p>
                  </a:txBody>
                  <a:tcPr>
                    <a:solidFill>
                      <a:srgbClr val="F3F5F8"/>
                    </a:solidFill>
                  </a:tcPr>
                </a:tc>
                <a:tc>
                  <a:txBody>
                    <a:bodyPr/>
                    <a:lstStyle/>
                    <a:p>
                      <a:r>
                        <a:rPr sz="1100" b="0">
                          <a:solidFill>
                            <a:srgbClr val="1F2328"/>
                          </a:solidFill>
                          <a:latin typeface="Microsoft JhengHei"/>
                          <a:ea typeface="Microsoft JhengHei"/>
                        </a:rPr>
                        <a:t>不利且敏感度高：嚴守停損 999.0 元、暫停加碼；若事件延續且跌破月線，先減碼一半</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1F2328"/>
                          </a:solidFill>
                          <a:latin typeface="Microsoft JhengHei"/>
                          <a:ea typeface="Microsoft JhengHei"/>
                        </a:rPr>
                        <a:t>0.1714</a:t>
                      </a:r>
                    </a:p>
                  </a:txBody>
                  <a:tcPr>
                    <a:solidFill>
                      <a:srgbClr val="FFFFFF"/>
                    </a:solidFill>
                  </a:tcPr>
                </a:tc>
                <a:tc>
                  <a:txBody>
                    <a:bodyPr/>
                    <a:lstStyle/>
                    <a:p>
                      <a:r>
                        <a:rPr sz="1100" b="0">
                          <a:solidFill>
                            <a:srgbClr val="2E8B57"/>
                          </a:solidFill>
                          <a:latin typeface="Microsoft JhengHei"/>
                          <a:ea typeface="Microsoft JhengHei"/>
                        </a:rPr>
                        <a:t>-0.49%</a:t>
                      </a:r>
                    </a:p>
                  </a:txBody>
                  <a:tcPr>
                    <a:solidFill>
                      <a:srgbClr val="FFFFFF"/>
                    </a:solidFill>
                  </a:tcPr>
                </a:tc>
                <a:tc>
                  <a:txBody>
                    <a:bodyPr/>
                    <a:lstStyle/>
                    <a:p>
                      <a:r>
                        <a:rPr sz="1100" b="0">
                          <a:solidFill>
                            <a:srgbClr val="1F2328"/>
                          </a:solidFill>
                          <a:latin typeface="Microsoft JhengHei"/>
                          <a:ea typeface="Microsoft JhengHei"/>
                        </a:rPr>
                        <a:t>-2,701</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1F2328"/>
                          </a:solidFill>
                          <a:latin typeface="Microsoft JhengHei"/>
                          <a:ea typeface="Microsoft JhengHei"/>
                        </a:rPr>
                        <a:t>0.42</a:t>
                      </a:r>
                    </a:p>
                  </a:txBody>
                  <a:tcPr>
                    <a:solidFill>
                      <a:srgbClr val="F3F5F8"/>
                    </a:solidFill>
                  </a:tcPr>
                </a:tc>
                <a:tc>
                  <a:txBody>
                    <a:bodyPr/>
                    <a:lstStyle/>
                    <a:p>
                      <a:r>
                        <a:rPr sz="1100" b="0">
                          <a:solidFill>
                            <a:srgbClr val="2E8B57"/>
                          </a:solidFill>
                          <a:latin typeface="Microsoft JhengHei"/>
                          <a:ea typeface="Microsoft JhengHei"/>
                        </a:rPr>
                        <a:t>-1.21%</a:t>
                      </a:r>
                    </a:p>
                  </a:txBody>
                  <a:tcPr>
                    <a:solidFill>
                      <a:srgbClr val="F3F5F8"/>
                    </a:solidFill>
                  </a:tcPr>
                </a:tc>
                <a:tc>
                  <a:txBody>
                    <a:bodyPr/>
                    <a:lstStyle/>
                    <a:p>
                      <a:r>
                        <a:rPr sz="1100" b="0">
                          <a:solidFill>
                            <a:srgbClr val="1F2328"/>
                          </a:solidFill>
                          <a:latin typeface="Microsoft JhengHei"/>
                          <a:ea typeface="Microsoft JhengHei"/>
                        </a:rPr>
                        <a:t>-11,168</a:t>
                      </a:r>
                    </a:p>
                  </a:txBody>
                  <a:tcPr>
                    <a:solidFill>
                      <a:srgbClr val="F3F5F8"/>
                    </a:solidFill>
                  </a:tcPr>
                </a:tc>
                <a:tc>
                  <a:txBody>
                    <a:bodyPr/>
                    <a:lstStyle/>
                    <a:p>
                      <a:r>
                        <a:rPr sz="1100" b="0">
                          <a:solidFill>
                            <a:srgbClr val="1F2328"/>
                          </a:solidFill>
                          <a:latin typeface="Microsoft JhengHei"/>
                          <a:ea typeface="Microsoft JhengHei"/>
                        </a:rPr>
                        <a:t>不利且敏感度高：嚴守停損 936.69 元、暫停加碼；若事件延續且跌破月線，先減碼一半</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1F2328"/>
                          </a:solidFill>
                          <a:latin typeface="Microsoft JhengHei"/>
                          <a:ea typeface="Microsoft JhengHei"/>
                        </a:rPr>
                        <a:t>0.4794</a:t>
                      </a:r>
                    </a:p>
                  </a:txBody>
                  <a:tcPr>
                    <a:solidFill>
                      <a:srgbClr val="FFFFFF"/>
                    </a:solidFill>
                  </a:tcPr>
                </a:tc>
                <a:tc>
                  <a:txBody>
                    <a:bodyPr/>
                    <a:lstStyle/>
                    <a:p>
                      <a:r>
                        <a:rPr sz="1100" b="0">
                          <a:solidFill>
                            <a:srgbClr val="2E8B57"/>
                          </a:solidFill>
                          <a:latin typeface="Microsoft JhengHei"/>
                          <a:ea typeface="Microsoft JhengHei"/>
                        </a:rPr>
                        <a:t>-1.38%</a:t>
                      </a:r>
                    </a:p>
                  </a:txBody>
                  <a:tcPr>
                    <a:solidFill>
                      <a:srgbClr val="FFFFFF"/>
                    </a:solidFill>
                  </a:tcPr>
                </a:tc>
                <a:tc>
                  <a:txBody>
                    <a:bodyPr/>
                    <a:lstStyle/>
                    <a:p>
                      <a:r>
                        <a:rPr sz="1100" b="0">
                          <a:solidFill>
                            <a:srgbClr val="1F2328"/>
                          </a:solidFill>
                          <a:latin typeface="Microsoft JhengHei"/>
                          <a:ea typeface="Microsoft JhengHei"/>
                        </a:rPr>
                        <a:t>-17,713</a:t>
                      </a:r>
                    </a:p>
                  </a:txBody>
                  <a:tcPr>
                    <a:solidFill>
                      <a:srgbClr val="FFFFFF"/>
                    </a:solidFill>
                  </a:tcPr>
                </a:tc>
                <a:tc>
                  <a:txBody>
                    <a:bodyPr/>
                    <a:lstStyle/>
                    <a:p>
                      <a:r>
                        <a:rPr sz="1100" b="0">
                          <a:solidFill>
                            <a:srgbClr val="1F2328"/>
                          </a:solidFill>
                          <a:latin typeface="Microsoft JhengHei"/>
                          <a:ea typeface="Microsoft JhengHei"/>
                        </a:rPr>
                        <a:t>不利且敏感度高：嚴守停損 599.23 元、暫停加碼；若事件延續且跌破月線，先減碼一半</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1F2328"/>
                          </a:solidFill>
                          <a:latin typeface="Microsoft JhengHei"/>
                          <a:ea typeface="Microsoft JhengHei"/>
                        </a:rPr>
                        <a:t>0.4204</a:t>
                      </a:r>
                    </a:p>
                  </a:txBody>
                  <a:tcPr>
                    <a:solidFill>
                      <a:srgbClr val="F3F5F8"/>
                    </a:solidFill>
                  </a:tcPr>
                </a:tc>
                <a:tc>
                  <a:txBody>
                    <a:bodyPr/>
                    <a:lstStyle/>
                    <a:p>
                      <a:r>
                        <a:rPr sz="1100" b="0">
                          <a:solidFill>
                            <a:srgbClr val="2E8B57"/>
                          </a:solidFill>
                          <a:latin typeface="Microsoft JhengHei"/>
                          <a:ea typeface="Microsoft JhengHei"/>
                        </a:rPr>
                        <a:t>-1.21%</a:t>
                      </a:r>
                    </a:p>
                  </a:txBody>
                  <a:tcPr>
                    <a:solidFill>
                      <a:srgbClr val="F3F5F8"/>
                    </a:solidFill>
                  </a:tcPr>
                </a:tc>
                <a:tc>
                  <a:txBody>
                    <a:bodyPr/>
                    <a:lstStyle/>
                    <a:p>
                      <a:r>
                        <a:rPr sz="1100" b="0">
                          <a:solidFill>
                            <a:srgbClr val="1F2328"/>
                          </a:solidFill>
                          <a:latin typeface="Microsoft JhengHei"/>
                          <a:ea typeface="Microsoft JhengHei"/>
                        </a:rPr>
                        <a:t>-9,402</a:t>
                      </a:r>
                    </a:p>
                  </a:txBody>
                  <a:tcPr>
                    <a:solidFill>
                      <a:srgbClr val="F3F5F8"/>
                    </a:solidFill>
                  </a:tcPr>
                </a:tc>
                <a:tc>
                  <a:txBody>
                    <a:bodyPr/>
                    <a:lstStyle/>
                    <a:p>
                      <a:r>
                        <a:rPr sz="1100" b="0">
                          <a:solidFill>
                            <a:srgbClr val="1F2328"/>
                          </a:solidFill>
                          <a:latin typeface="Microsoft JhengHei"/>
                          <a:ea typeface="Microsoft JhengHei"/>
                        </a:rPr>
                        <a:t>不利且敏感度高：嚴守停損 639.23 元、暫停加碼；若事件延續且跌破月線，先減碼一半</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1F2328"/>
                          </a:solidFill>
                          <a:latin typeface="Microsoft JhengHei"/>
                          <a:ea typeface="Microsoft JhengHei"/>
                        </a:rPr>
                        <a:t>0.1351</a:t>
                      </a:r>
                    </a:p>
                  </a:txBody>
                  <a:tcPr>
                    <a:solidFill>
                      <a:srgbClr val="FFFFFF"/>
                    </a:solidFill>
                  </a:tcPr>
                </a:tc>
                <a:tc>
                  <a:txBody>
                    <a:bodyPr/>
                    <a:lstStyle/>
                    <a:p>
                      <a:r>
                        <a:rPr sz="1100" b="0">
                          <a:solidFill>
                            <a:srgbClr val="2E8B57"/>
                          </a:solidFill>
                          <a:latin typeface="Microsoft JhengHei"/>
                          <a:ea typeface="Microsoft JhengHei"/>
                        </a:rPr>
                        <a:t>-0.39%</a:t>
                      </a:r>
                    </a:p>
                  </a:txBody>
                  <a:tcPr>
                    <a:solidFill>
                      <a:srgbClr val="FFFFFF"/>
                    </a:solidFill>
                  </a:tcPr>
                </a:tc>
                <a:tc>
                  <a:txBody>
                    <a:bodyPr/>
                    <a:lstStyle/>
                    <a:p>
                      <a:r>
                        <a:rPr sz="1100" b="0">
                          <a:solidFill>
                            <a:srgbClr val="1F2328"/>
                          </a:solidFill>
                          <a:latin typeface="Microsoft JhengHei"/>
                          <a:ea typeface="Microsoft JhengHei"/>
                        </a:rPr>
                        <a:t>-329</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1F2328"/>
                          </a:solidFill>
                          <a:latin typeface="Microsoft JhengHei"/>
                          <a:ea typeface="Microsoft JhengHei"/>
                        </a:rPr>
                        <a:t>0.6287</a:t>
                      </a:r>
                    </a:p>
                  </a:txBody>
                  <a:tcPr>
                    <a:solidFill>
                      <a:srgbClr val="F3F5F8"/>
                    </a:solidFill>
                  </a:tcPr>
                </a:tc>
                <a:tc>
                  <a:txBody>
                    <a:bodyPr/>
                    <a:lstStyle/>
                    <a:p>
                      <a:r>
                        <a:rPr sz="1100" b="0">
                          <a:solidFill>
                            <a:srgbClr val="2E8B57"/>
                          </a:solidFill>
                          <a:latin typeface="Microsoft JhengHei"/>
                          <a:ea typeface="Microsoft JhengHei"/>
                        </a:rPr>
                        <a:t>-1.82%</a:t>
                      </a:r>
                    </a:p>
                  </a:txBody>
                  <a:tcPr>
                    <a:solidFill>
                      <a:srgbClr val="F3F5F8"/>
                    </a:solidFill>
                  </a:tcPr>
                </a:tc>
                <a:tc>
                  <a:txBody>
                    <a:bodyPr/>
                    <a:lstStyle/>
                    <a:p>
                      <a:r>
                        <a:rPr sz="1100" b="0">
                          <a:solidFill>
                            <a:srgbClr val="1F2328"/>
                          </a:solidFill>
                          <a:latin typeface="Microsoft JhengHei"/>
                          <a:ea typeface="Microsoft JhengHei"/>
                        </a:rPr>
                        <a:t>-288</a:t>
                      </a:r>
                    </a:p>
                  </a:txBody>
                  <a:tcPr>
                    <a:solidFill>
                      <a:srgbClr val="F3F5F8"/>
                    </a:solidFill>
                  </a:tcPr>
                </a:tc>
                <a:tc>
                  <a:txBody>
                    <a:bodyPr/>
                    <a:lstStyle/>
                    <a:p>
                      <a:r>
                        <a:rPr sz="1100" b="0">
                          <a:solidFill>
                            <a:srgbClr val="1F2328"/>
                          </a:solidFill>
                          <a:latin typeface="Microsoft JhengHei"/>
                          <a:ea typeface="Microsoft JhengHei"/>
                        </a:rPr>
                        <a:t>不利且敏感度高：嚴守停損 2069.91 元、暫停加碼；若事件延續且跌破月線，先減碼一半</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1F2328"/>
                          </a:solidFill>
                          <a:latin typeface="Microsoft JhengHei"/>
                          <a:ea typeface="Microsoft JhengHei"/>
                        </a:rPr>
                        <a:t>0.5436</a:t>
                      </a:r>
                    </a:p>
                  </a:txBody>
                  <a:tcPr>
                    <a:solidFill>
                      <a:srgbClr val="FFFFFF"/>
                    </a:solidFill>
                  </a:tcPr>
                </a:tc>
                <a:tc>
                  <a:txBody>
                    <a:bodyPr/>
                    <a:lstStyle/>
                    <a:p>
                      <a:r>
                        <a:rPr sz="1100" b="0">
                          <a:solidFill>
                            <a:srgbClr val="2E8B57"/>
                          </a:solidFill>
                          <a:latin typeface="Microsoft JhengHei"/>
                          <a:ea typeface="Microsoft JhengHei"/>
                        </a:rPr>
                        <a:t>-1.57%</a:t>
                      </a:r>
                    </a:p>
                  </a:txBody>
                  <a:tcPr>
                    <a:solidFill>
                      <a:srgbClr val="FFFFFF"/>
                    </a:solidFill>
                  </a:tcPr>
                </a:tc>
                <a:tc>
                  <a:txBody>
                    <a:bodyPr/>
                    <a:lstStyle/>
                    <a:p>
                      <a:r>
                        <a:rPr sz="1100" b="0">
                          <a:solidFill>
                            <a:srgbClr val="1F2328"/>
                          </a:solidFill>
                          <a:latin typeface="Microsoft JhengHei"/>
                          <a:ea typeface="Microsoft JhengHei"/>
                        </a:rPr>
                        <a:t>-1,641</a:t>
                      </a:r>
                    </a:p>
                  </a:txBody>
                  <a:tcPr>
                    <a:solidFill>
                      <a:srgbClr val="FFFFFF"/>
                    </a:solidFill>
                  </a:tcPr>
                </a:tc>
                <a:tc>
                  <a:txBody>
                    <a:bodyPr/>
                    <a:lstStyle/>
                    <a:p>
                      <a:r>
                        <a:rPr sz="1100" b="0">
                          <a:solidFill>
                            <a:srgbClr val="1F2328"/>
                          </a:solidFill>
                          <a:latin typeface="Microsoft JhengHei"/>
                          <a:ea typeface="Microsoft JhengHei"/>
                        </a:rPr>
                        <a:t>不利且敏感度高：嚴守停損 97.31 元、暫停加碼；若事件延續且跌破月線，先減碼一半</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1F2328"/>
                          </a:solidFill>
                          <a:latin typeface="Microsoft JhengHei"/>
                          <a:ea typeface="Microsoft JhengHei"/>
                        </a:rPr>
                        <a:t>0.7608</a:t>
                      </a:r>
                    </a:p>
                  </a:txBody>
                  <a:tcPr>
                    <a:solidFill>
                      <a:srgbClr val="F3F5F8"/>
                    </a:solidFill>
                  </a:tcPr>
                </a:tc>
                <a:tc>
                  <a:txBody>
                    <a:bodyPr/>
                    <a:lstStyle/>
                    <a:p>
                      <a:r>
                        <a:rPr sz="1100" b="0">
                          <a:solidFill>
                            <a:srgbClr val="2E8B57"/>
                          </a:solidFill>
                          <a:latin typeface="Microsoft JhengHei"/>
                          <a:ea typeface="Microsoft JhengHei"/>
                        </a:rPr>
                        <a:t>-2.20%</a:t>
                      </a:r>
                    </a:p>
                  </a:txBody>
                  <a:tcPr>
                    <a:solidFill>
                      <a:srgbClr val="F3F5F8"/>
                    </a:solidFill>
                  </a:tcPr>
                </a:tc>
                <a:tc>
                  <a:txBody>
                    <a:bodyPr/>
                    <a:lstStyle/>
                    <a:p>
                      <a:r>
                        <a:rPr sz="1100" b="0">
                          <a:solidFill>
                            <a:srgbClr val="1F2328"/>
                          </a:solidFill>
                          <a:latin typeface="Microsoft JhengHei"/>
                          <a:ea typeface="Microsoft JhengHei"/>
                        </a:rPr>
                        <a:t>-13,606</a:t>
                      </a:r>
                    </a:p>
                  </a:txBody>
                  <a:tcPr>
                    <a:solidFill>
                      <a:srgbClr val="F3F5F8"/>
                    </a:solidFill>
                  </a:tcPr>
                </a:tc>
                <a:tc>
                  <a:txBody>
                    <a:bodyPr/>
                    <a:lstStyle/>
                    <a:p>
                      <a:r>
                        <a:rPr sz="1100" b="0">
                          <a:solidFill>
                            <a:srgbClr val="1F2328"/>
                          </a:solidFill>
                          <a:latin typeface="Microsoft JhengHei"/>
                          <a:ea typeface="Microsoft JhengHei"/>
                        </a:rPr>
                        <a:t>不利且敏感度高：嚴守停損 1046.11 元、暫停加碼；若事件延續且跌破月線，先減碼一半</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1F2328"/>
                          </a:solidFill>
                          <a:latin typeface="Microsoft JhengHei"/>
                          <a:ea typeface="Microsoft JhengHei"/>
                        </a:rPr>
                        <a:t>0.227</a:t>
                      </a:r>
                    </a:p>
                  </a:txBody>
                  <a:tcPr>
                    <a:solidFill>
                      <a:srgbClr val="FFFFFF"/>
                    </a:solidFill>
                  </a:tcPr>
                </a:tc>
                <a:tc>
                  <a:txBody>
                    <a:bodyPr/>
                    <a:lstStyle/>
                    <a:p>
                      <a:r>
                        <a:rPr sz="1100" b="0">
                          <a:solidFill>
                            <a:srgbClr val="2E8B57"/>
                          </a:solidFill>
                          <a:latin typeface="Microsoft JhengHei"/>
                          <a:ea typeface="Microsoft JhengHei"/>
                        </a:rPr>
                        <a:t>-0.66%</a:t>
                      </a:r>
                    </a:p>
                  </a:txBody>
                  <a:tcPr>
                    <a:solidFill>
                      <a:srgbClr val="FFFFFF"/>
                    </a:solidFill>
                  </a:tcPr>
                </a:tc>
                <a:tc>
                  <a:txBody>
                    <a:bodyPr/>
                    <a:lstStyle/>
                    <a:p>
                      <a:r>
                        <a:rPr sz="1100" b="0">
                          <a:solidFill>
                            <a:srgbClr val="1F2328"/>
                          </a:solidFill>
                          <a:latin typeface="Microsoft JhengHei"/>
                          <a:ea typeface="Microsoft JhengHei"/>
                        </a:rPr>
                        <a:t>-478</a:t>
                      </a:r>
                    </a:p>
                  </a:txBody>
                  <a:tcPr>
                    <a:solidFill>
                      <a:srgbClr val="FFFFFF"/>
                    </a:solidFill>
                  </a:tcPr>
                </a:tc>
                <a:tc>
                  <a:txBody>
                    <a:bodyPr/>
                    <a:lstStyle/>
                    <a:p>
                      <a:r>
                        <a:rPr sz="1100" b="0">
                          <a:solidFill>
                            <a:srgbClr val="1F2328"/>
                          </a:solidFill>
                          <a:latin typeface="Microsoft JhengHei"/>
                          <a:ea typeface="Microsoft JhengHei"/>
                        </a:rPr>
                        <a:t>輕度不利：列入觀察，暫不調整部位</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國際事件：股市重挫引發資金湧入美債避險帶動美國10年期公債殖利率跌</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16</a:t>
            </a:r>
          </a:p>
        </p:txBody>
      </p:sp>
      <p:graphicFrame>
        <p:nvGraphicFramePr>
          <p:cNvPr id="5" name="Table 4"/>
          <p:cNvGraphicFramePr>
            <a:graphicFrameLocks noGrp="1"/>
          </p:cNvGraphicFramePr>
          <p:nvPr/>
        </p:nvGraphicFramePr>
        <p:xfrm>
          <a:off x="457200" y="1188720"/>
          <a:ext cx="11247117" cy="5486400"/>
        </p:xfrm>
        <a:graphic>
          <a:graphicData uri="http://schemas.openxmlformats.org/drawingml/2006/table">
            <a:tbl>
              <a:tblPr firstRow="1" bandRow="1">
                <a:tableStyleId>{5C22544A-7EE6-4342-B048-85BDC9FD1C3A}</a:tableStyleId>
              </a:tblPr>
              <a:tblGrid>
                <a:gridCol w="2205317"/>
                <a:gridCol w="1102658"/>
                <a:gridCol w="1102658"/>
                <a:gridCol w="1323190"/>
                <a:gridCol w="5513294"/>
              </a:tblGrid>
              <a:tr h="365760">
                <a:tc>
                  <a:txBody>
                    <a:bodyPr/>
                    <a:lstStyle/>
                    <a:p>
                      <a:r>
                        <a:rPr sz="1100" b="1">
                          <a:solidFill>
                            <a:srgbClr val="FFFFFF"/>
                          </a:solidFill>
                          <a:latin typeface="Microsoft JhengHei"/>
                          <a:ea typeface="Microsoft JhengHei"/>
                        </a:rPr>
                        <a:t>標的</a:t>
                      </a:r>
                    </a:p>
                  </a:txBody>
                  <a:tcPr>
                    <a:solidFill>
                      <a:srgbClr val="1F3A5F"/>
                    </a:solidFill>
                  </a:tcPr>
                </a:tc>
                <a:tc>
                  <a:txBody>
                    <a:bodyPr/>
                    <a:lstStyle/>
                    <a:p>
                      <a:r>
                        <a:rPr sz="1100" b="1">
                          <a:solidFill>
                            <a:srgbClr val="FFFFFF"/>
                          </a:solidFill>
                          <a:latin typeface="Microsoft JhengHei"/>
                          <a:ea typeface="Microsoft JhengHei"/>
                        </a:rPr>
                        <a:t>敏感度β</a:t>
                      </a:r>
                    </a:p>
                  </a:txBody>
                  <a:tcPr>
                    <a:solidFill>
                      <a:srgbClr val="1F3A5F"/>
                    </a:solidFill>
                  </a:tcPr>
                </a:tc>
                <a:tc>
                  <a:txBody>
                    <a:bodyPr/>
                    <a:lstStyle/>
                    <a:p>
                      <a:r>
                        <a:rPr sz="1100" b="1">
                          <a:solidFill>
                            <a:srgbClr val="FFFFFF"/>
                          </a:solidFill>
                          <a:latin typeface="Microsoft JhengHei"/>
                          <a:ea typeface="Microsoft JhengHei"/>
                        </a:rPr>
                        <a:t>預估影響</a:t>
                      </a:r>
                    </a:p>
                  </a:txBody>
                  <a:tcPr>
                    <a:solidFill>
                      <a:srgbClr val="1F3A5F"/>
                    </a:solidFill>
                  </a:tcPr>
                </a:tc>
                <a:tc>
                  <a:txBody>
                    <a:bodyPr/>
                    <a:lstStyle/>
                    <a:p>
                      <a:r>
                        <a:rPr sz="1100" b="1">
                          <a:solidFill>
                            <a:srgbClr val="FFFFFF"/>
                          </a:solidFill>
                          <a:latin typeface="Microsoft JhengHei"/>
                          <a:ea typeface="Microsoft JhengHei"/>
                        </a:rPr>
                        <a:t>金額(元)</a:t>
                      </a:r>
                    </a:p>
                  </a:txBody>
                  <a:tcPr>
                    <a:solidFill>
                      <a:srgbClr val="1F3A5F"/>
                    </a:solidFill>
                  </a:tcPr>
                </a:tc>
                <a:tc>
                  <a:txBody>
                    <a:bodyPr/>
                    <a:lstStyle/>
                    <a:p>
                      <a:r>
                        <a:rPr sz="1100" b="1">
                          <a:solidFill>
                            <a:srgbClr val="FFFFFF"/>
                          </a:solidFill>
                          <a:latin typeface="Microsoft JhengHei"/>
                          <a:ea typeface="Microsoft JhengHei"/>
                        </a:rPr>
                        <a:t>後續決策</a:t>
                      </a:r>
                    </a:p>
                  </a:txBody>
                  <a:tcPr>
                    <a:solidFill>
                      <a:srgbClr val="1F3A5F"/>
                    </a:solidFill>
                  </a:tcPr>
                </a:tc>
              </a:tr>
              <a:tr h="365760">
                <a:tc>
                  <a:txBody>
                    <a:bodyPr/>
                    <a:lstStyle/>
                    <a:p>
                      <a:r>
                        <a:rPr sz="1100" b="0">
                          <a:solidFill>
                            <a:srgbClr val="1F2328"/>
                          </a:solidFill>
                          <a:latin typeface="Microsoft JhengHei"/>
                          <a:ea typeface="Microsoft JhengHei"/>
                        </a:rPr>
                        <a:t>5880 合庫金</a:t>
                      </a:r>
                    </a:p>
                  </a:txBody>
                  <a:tcPr>
                    <a:solidFill>
                      <a:srgbClr val="F3F5F8"/>
                    </a:solidFill>
                  </a:tcPr>
                </a:tc>
                <a:tc>
                  <a:txBody>
                    <a:bodyPr/>
                    <a:lstStyle/>
                    <a:p>
                      <a:r>
                        <a:rPr sz="1100" b="0">
                          <a:solidFill>
                            <a:srgbClr val="1F2328"/>
                          </a:solidFill>
                          <a:latin typeface="Microsoft JhengHei"/>
                          <a:ea typeface="Microsoft JhengHei"/>
                        </a:rPr>
                        <a:t>-0.0315</a:t>
                      </a:r>
                    </a:p>
                  </a:txBody>
                  <a:tcPr>
                    <a:solidFill>
                      <a:srgbClr val="F3F5F8"/>
                    </a:solidFill>
                  </a:tcPr>
                </a:tc>
                <a:tc>
                  <a:txBody>
                    <a:bodyPr/>
                    <a:lstStyle/>
                    <a:p>
                      <a:r>
                        <a:rPr sz="1100" b="0">
                          <a:solidFill>
                            <a:srgbClr val="C8423B"/>
                          </a:solidFill>
                          <a:latin typeface="Microsoft JhengHei"/>
                          <a:ea typeface="Microsoft JhengHei"/>
                        </a:rPr>
                        <a:t>+0.13%</a:t>
                      </a:r>
                    </a:p>
                  </a:txBody>
                  <a:tcPr>
                    <a:solidFill>
                      <a:srgbClr val="F3F5F8"/>
                    </a:solidFill>
                  </a:tcPr>
                </a:tc>
                <a:tc>
                  <a:txBody>
                    <a:bodyPr/>
                    <a:lstStyle/>
                    <a:p>
                      <a:r>
                        <a:rPr sz="1100" b="0">
                          <a:solidFill>
                            <a:srgbClr val="1F2328"/>
                          </a:solidFill>
                          <a:latin typeface="Microsoft JhengHei"/>
                          <a:ea typeface="Microsoft JhengHei"/>
                        </a:rPr>
                        <a:t>+880</a:t>
                      </a:r>
                    </a:p>
                  </a:txBody>
                  <a:tcPr>
                    <a:solidFill>
                      <a:srgbClr val="F3F5F8"/>
                    </a:solidFill>
                  </a:tcPr>
                </a:tc>
                <a:tc>
                  <a:txBody>
                    <a:bodyPr/>
                    <a:lstStyle/>
                    <a:p>
                      <a:r>
                        <a:rPr sz="1100" b="0">
                          <a:solidFill>
                            <a:srgbClr val="1F2328"/>
                          </a:solidFill>
                          <a:latin typeface="Microsoft JhengHei"/>
                          <a:ea typeface="Microsoft JhengHei"/>
                        </a:rPr>
                        <a:t>影響有限，維持原決策</a:t>
                      </a:r>
                    </a:p>
                  </a:txBody>
                  <a:tcPr>
                    <a:solidFill>
                      <a:srgbClr val="F3F5F8"/>
                    </a:solidFill>
                  </a:tcPr>
                </a:tc>
              </a:tr>
              <a:tr h="365760">
                <a:tc>
                  <a:txBody>
                    <a:bodyPr/>
                    <a:lstStyle/>
                    <a:p>
                      <a:r>
                        <a:rPr sz="1100" b="0">
                          <a:solidFill>
                            <a:srgbClr val="1F2328"/>
                          </a:solidFill>
                          <a:latin typeface="Microsoft JhengHei"/>
                          <a:ea typeface="Microsoft JhengHei"/>
                        </a:rPr>
                        <a:t>2889 國票金</a:t>
                      </a:r>
                    </a:p>
                  </a:txBody>
                  <a:tcPr>
                    <a:solidFill>
                      <a:srgbClr val="FFFFFF"/>
                    </a:solidFill>
                  </a:tcPr>
                </a:tc>
                <a:tc>
                  <a:txBody>
                    <a:bodyPr/>
                    <a:lstStyle/>
                    <a:p>
                      <a:r>
                        <a:rPr sz="1100" b="0">
                          <a:solidFill>
                            <a:srgbClr val="1F2328"/>
                          </a:solidFill>
                          <a:latin typeface="Microsoft JhengHei"/>
                          <a:ea typeface="Microsoft JhengHei"/>
                        </a:rPr>
                        <a:t>-0.013</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-0.04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2845 遠東銀</a:t>
                      </a:r>
                    </a:p>
                  </a:txBody>
                  <a:tcPr>
                    <a:solidFill>
                      <a:srgbClr val="F3F5F8"/>
                    </a:solidFill>
                  </a:tcPr>
                </a:tc>
                <a:tc>
                  <a:txBody>
                    <a:bodyPr/>
                    <a:lstStyle/>
                    <a:p>
                      <a:r>
                        <a:rPr sz="1100" b="0">
                          <a:solidFill>
                            <a:srgbClr val="1F2328"/>
                          </a:solidFill>
                          <a:latin typeface="Microsoft JhengHei"/>
                          <a:ea typeface="Microsoft JhengHei"/>
                        </a:rPr>
                        <a:t>-0.0009</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-0.00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2915 潤泰全</a:t>
                      </a:r>
                    </a:p>
                  </a:txBody>
                  <a:tcPr>
                    <a:solidFill>
                      <a:srgbClr val="FFFFFF"/>
                    </a:solidFill>
                  </a:tcPr>
                </a:tc>
                <a:tc>
                  <a:txBody>
                    <a:bodyPr/>
                    <a:lstStyle/>
                    <a:p>
                      <a:r>
                        <a:rPr sz="1100" b="0">
                          <a:solidFill>
                            <a:srgbClr val="1F2328"/>
                          </a:solidFill>
                          <a:latin typeface="Microsoft JhengHei"/>
                          <a:ea typeface="Microsoft JhengHei"/>
                        </a:rPr>
                        <a:t>-0.0402</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-0.11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3189 景碩</a:t>
                      </a:r>
                    </a:p>
                  </a:txBody>
                  <a:tcPr>
                    <a:solidFill>
                      <a:srgbClr val="F3F5F8"/>
                    </a:solidFill>
                  </a:tcPr>
                </a:tc>
                <a:tc>
                  <a:txBody>
                    <a:bodyPr/>
                    <a:lstStyle/>
                    <a:p>
                      <a:r>
                        <a:rPr sz="1100" b="0">
                          <a:solidFill>
                            <a:srgbClr val="1F2328"/>
                          </a:solidFill>
                          <a:latin typeface="Microsoft JhengHei"/>
                          <a:ea typeface="Microsoft JhengHei"/>
                        </a:rPr>
                        <a:t>-0.0584</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-0.05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3591 艾笛森</a:t>
                      </a:r>
                    </a:p>
                  </a:txBody>
                  <a:tcPr>
                    <a:solidFill>
                      <a:srgbClr val="FFFFFF"/>
                    </a:solidFill>
                  </a:tcPr>
                </a:tc>
                <a:tc>
                  <a:txBody>
                    <a:bodyPr/>
                    <a:lstStyle/>
                    <a:p>
                      <a:r>
                        <a:rPr sz="1100" b="0">
                          <a:solidFill>
                            <a:srgbClr val="1F2328"/>
                          </a:solidFill>
                          <a:latin typeface="Microsoft JhengHei"/>
                          <a:ea typeface="Microsoft JhengHei"/>
                        </a:rPr>
                        <a:t>-0.0146</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-0.02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1560 中砂</a:t>
                      </a:r>
                    </a:p>
                  </a:txBody>
                  <a:tcPr>
                    <a:solidFill>
                      <a:srgbClr val="F3F5F8"/>
                    </a:solidFill>
                  </a:tcPr>
                </a:tc>
                <a:tc>
                  <a:txBody>
                    <a:bodyPr/>
                    <a:lstStyle/>
                    <a:p>
                      <a:r>
                        <a:rPr sz="1100" b="0">
                          <a:solidFill>
                            <a:srgbClr val="1F2328"/>
                          </a:solidFill>
                          <a:latin typeface="Microsoft JhengHei"/>
                          <a:ea typeface="Microsoft JhengHei"/>
                        </a:rPr>
                        <a:t>0.0</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+0.00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6196 帆宣</a:t>
                      </a:r>
                    </a:p>
                  </a:txBody>
                  <a:tcPr>
                    <a:solidFill>
                      <a:srgbClr val="FFFFFF"/>
                    </a:solidFill>
                  </a:tcPr>
                </a:tc>
                <a:tc>
                  <a:txBody>
                    <a:bodyPr/>
                    <a:lstStyle/>
                    <a:p>
                      <a:r>
                        <a:rPr sz="1100" b="0">
                          <a:solidFill>
                            <a:srgbClr val="1F2328"/>
                          </a:solidFill>
                          <a:latin typeface="Microsoft JhengHei"/>
                          <a:ea typeface="Microsoft JhengHei"/>
                        </a:rPr>
                        <a:t>-0.081</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-0.10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6213 聯茂</a:t>
                      </a:r>
                    </a:p>
                  </a:txBody>
                  <a:tcPr>
                    <a:solidFill>
                      <a:srgbClr val="F3F5F8"/>
                    </a:solidFill>
                  </a:tcPr>
                </a:tc>
                <a:tc>
                  <a:txBody>
                    <a:bodyPr/>
                    <a:lstStyle/>
                    <a:p>
                      <a:r>
                        <a:rPr sz="1100" b="0">
                          <a:solidFill>
                            <a:srgbClr val="1F2328"/>
                          </a:solidFill>
                          <a:latin typeface="Microsoft JhengHei"/>
                          <a:ea typeface="Microsoft JhengHei"/>
                        </a:rPr>
                        <a:t>-0.0729</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-0.06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2103 台橡</a:t>
                      </a:r>
                    </a:p>
                  </a:txBody>
                  <a:tcPr>
                    <a:solidFill>
                      <a:srgbClr val="FFFFFF"/>
                    </a:solidFill>
                  </a:tcPr>
                </a:tc>
                <a:tc>
                  <a:txBody>
                    <a:bodyPr/>
                    <a:lstStyle/>
                    <a:p>
                      <a:r>
                        <a:rPr sz="1100" b="0">
                          <a:solidFill>
                            <a:srgbClr val="1F2328"/>
                          </a:solidFill>
                          <a:latin typeface="Microsoft JhengHei"/>
                          <a:ea typeface="Microsoft JhengHei"/>
                        </a:rPr>
                        <a:t>0.0691</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+0.09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2360 致茂</a:t>
                      </a:r>
                    </a:p>
                  </a:txBody>
                  <a:tcPr>
                    <a:solidFill>
                      <a:srgbClr val="F3F5F8"/>
                    </a:solidFill>
                  </a:tcPr>
                </a:tc>
                <a:tc>
                  <a:txBody>
                    <a:bodyPr/>
                    <a:lstStyle/>
                    <a:p>
                      <a:r>
                        <a:rPr sz="1100" b="0">
                          <a:solidFill>
                            <a:srgbClr val="1F2328"/>
                          </a:solidFill>
                          <a:latin typeface="Microsoft JhengHei"/>
                          <a:ea typeface="Microsoft JhengHei"/>
                        </a:rPr>
                        <a:t>-0.1006</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-0.09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6182 合晶</a:t>
                      </a:r>
                    </a:p>
                  </a:txBody>
                  <a:tcPr>
                    <a:solidFill>
                      <a:srgbClr val="FFFFFF"/>
                    </a:solidFill>
                  </a:tcPr>
                </a:tc>
                <a:tc>
                  <a:txBody>
                    <a:bodyPr/>
                    <a:lstStyle/>
                    <a:p>
                      <a:r>
                        <a:rPr sz="1100" b="0">
                          <a:solidFill>
                            <a:srgbClr val="1F2328"/>
                          </a:solidFill>
                          <a:latin typeface="Microsoft JhengHei"/>
                          <a:ea typeface="Microsoft JhengHei"/>
                        </a:rPr>
                        <a:t>-0.1369</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-0.11 未達統計顯著（|r| &lt; 0.125），不列入影響</a:t>
                      </a:r>
                    </a:p>
                  </a:txBody>
                  <a:tcPr>
                    <a:solidFill>
                      <a:srgbClr val="FFFFFF"/>
                    </a:solidFill>
                  </a:tcPr>
                </a:tc>
              </a:tr>
              <a:tr h="365760">
                <a:tc>
                  <a:txBody>
                    <a:bodyPr/>
                    <a:lstStyle/>
                    <a:p>
                      <a:r>
                        <a:rPr sz="1100" b="0">
                          <a:solidFill>
                            <a:srgbClr val="1F2328"/>
                          </a:solidFill>
                          <a:latin typeface="Microsoft JhengHei"/>
                          <a:ea typeface="Microsoft JhengHei"/>
                        </a:rPr>
                        <a:t>3037 欣興</a:t>
                      </a:r>
                    </a:p>
                  </a:txBody>
                  <a:tcPr>
                    <a:solidFill>
                      <a:srgbClr val="F3F5F8"/>
                    </a:solidFill>
                  </a:tcPr>
                </a:tc>
                <a:tc>
                  <a:txBody>
                    <a:bodyPr/>
                    <a:lstStyle/>
                    <a:p>
                      <a:r>
                        <a:rPr sz="1100" b="0">
                          <a:solidFill>
                            <a:srgbClr val="1F2328"/>
                          </a:solidFill>
                          <a:latin typeface="Microsoft JhengHei"/>
                          <a:ea typeface="Microsoft JhengHei"/>
                        </a:rPr>
                        <a:t>-0.019</a:t>
                      </a:r>
                    </a:p>
                  </a:txBody>
                  <a:tcPr>
                    <a:solidFill>
                      <a:srgbClr val="F3F5F8"/>
                    </a:solidFill>
                  </a:tcPr>
                </a:tc>
                <a:tc>
                  <a:txBody>
                    <a:bodyPr/>
                    <a:lstStyle/>
                    <a:p>
                      <a:r>
                        <a:rPr sz="1100" b="0">
                          <a:solidFill>
                            <a:srgbClr val="C8423B"/>
                          </a:solidFill>
                          <a:latin typeface="Microsoft JhengHei"/>
                          <a:ea typeface="Microsoft JhengHei"/>
                        </a:rPr>
                        <a:t>+0.00%</a:t>
                      </a:r>
                    </a:p>
                  </a:txBody>
                  <a:tcPr>
                    <a:solidFill>
                      <a:srgbClr val="F3F5F8"/>
                    </a:solidFill>
                  </a:tcPr>
                </a:tc>
                <a:tc>
                  <a:txBody>
                    <a:bodyPr/>
                    <a:lstStyle/>
                    <a:p>
                      <a:r>
                        <a:rPr sz="1100" b="0">
                          <a:solidFill>
                            <a:srgbClr val="1F2328"/>
                          </a:solidFill>
                          <a:latin typeface="Microsoft JhengHei"/>
                          <a:ea typeface="Microsoft JhengHei"/>
                        </a:rPr>
                        <a:t>+0</a:t>
                      </a:r>
                    </a:p>
                  </a:txBody>
                  <a:tcPr>
                    <a:solidFill>
                      <a:srgbClr val="F3F5F8"/>
                    </a:solidFill>
                  </a:tcPr>
                </a:tc>
                <a:tc>
                  <a:txBody>
                    <a:bodyPr/>
                    <a:lstStyle/>
                    <a:p>
                      <a:r>
                        <a:rPr sz="1100" b="0">
                          <a:solidFill>
                            <a:srgbClr val="1F2328"/>
                          </a:solidFill>
                          <a:latin typeface="Microsoft JhengHei"/>
                          <a:ea typeface="Microsoft JhengHei"/>
                        </a:rPr>
                        <a:t>歷史相關性 -0.02 未達統計顯著（|r| &lt; 0.125），不列入影響</a:t>
                      </a:r>
                    </a:p>
                  </a:txBody>
                  <a:tcPr>
                    <a:solidFill>
                      <a:srgbClr val="F3F5F8"/>
                    </a:solidFill>
                  </a:tcPr>
                </a:tc>
              </a:tr>
              <a:tr h="365760">
                <a:tc>
                  <a:txBody>
                    <a:bodyPr/>
                    <a:lstStyle/>
                    <a:p>
                      <a:r>
                        <a:rPr sz="1100" b="0">
                          <a:solidFill>
                            <a:srgbClr val="1F2328"/>
                          </a:solidFill>
                          <a:latin typeface="Microsoft JhengHei"/>
                          <a:ea typeface="Microsoft JhengHei"/>
                        </a:rPr>
                        <a:t>2885 元大金</a:t>
                      </a:r>
                    </a:p>
                  </a:txBody>
                  <a:tcPr>
                    <a:solidFill>
                      <a:srgbClr val="FFFFFF"/>
                    </a:solidFill>
                  </a:tcPr>
                </a:tc>
                <a:tc>
                  <a:txBody>
                    <a:bodyPr/>
                    <a:lstStyle/>
                    <a:p>
                      <a:r>
                        <a:rPr sz="1100" b="0">
                          <a:solidFill>
                            <a:srgbClr val="1F2328"/>
                          </a:solidFill>
                          <a:latin typeface="Microsoft JhengHei"/>
                          <a:ea typeface="Microsoft JhengHei"/>
                        </a:rPr>
                        <a:t>-0.0422</a:t>
                      </a:r>
                    </a:p>
                  </a:txBody>
                  <a:tcPr>
                    <a:solidFill>
                      <a:srgbClr val="FFFFFF"/>
                    </a:solidFill>
                  </a:tcPr>
                </a:tc>
                <a:tc>
                  <a:txBody>
                    <a:bodyPr/>
                    <a:lstStyle/>
                    <a:p>
                      <a:r>
                        <a:rPr sz="1100" b="0">
                          <a:solidFill>
                            <a:srgbClr val="C8423B"/>
                          </a:solidFill>
                          <a:latin typeface="Microsoft JhengHei"/>
                          <a:ea typeface="Microsoft JhengHei"/>
                        </a:rPr>
                        <a:t>+0.00%</a:t>
                      </a:r>
                    </a:p>
                  </a:txBody>
                  <a:tcPr>
                    <a:solidFill>
                      <a:srgbClr val="FFFFFF"/>
                    </a:solidFill>
                  </a:tcPr>
                </a:tc>
                <a:tc>
                  <a:txBody>
                    <a:bodyPr/>
                    <a:lstStyle/>
                    <a:p>
                      <a:r>
                        <a:rPr sz="1100" b="0">
                          <a:solidFill>
                            <a:srgbClr val="1F2328"/>
                          </a:solidFill>
                          <a:latin typeface="Microsoft JhengHei"/>
                          <a:ea typeface="Microsoft JhengHei"/>
                        </a:rPr>
                        <a:t>+0</a:t>
                      </a:r>
                    </a:p>
                  </a:txBody>
                  <a:tcPr>
                    <a:solidFill>
                      <a:srgbClr val="FFFFFF"/>
                    </a:solidFill>
                  </a:tcPr>
                </a:tc>
                <a:tc>
                  <a:txBody>
                    <a:bodyPr/>
                    <a:lstStyle/>
                    <a:p>
                      <a:r>
                        <a:rPr sz="1100" b="0">
                          <a:solidFill>
                            <a:srgbClr val="1F2328"/>
                          </a:solidFill>
                          <a:latin typeface="Microsoft JhengHei"/>
                          <a:ea typeface="Microsoft JhengHei"/>
                        </a:rPr>
                        <a:t>歷史相關性 -0.10 未達統計顯著（|r| &lt; 0.125），不列入影響</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全市場一個月創新高潛力</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17</a:t>
            </a:r>
          </a:p>
        </p:txBody>
      </p:sp>
      <p:pic>
        <p:nvPicPr>
          <p:cNvPr id="5" name="Picture 4" descr="2026-10-23_盤後檢討與隔日預掛單_top.png"/>
          <p:cNvPicPr>
            <a:picLocks noChangeAspect="1"/>
          </p:cNvPicPr>
          <p:nvPr/>
        </p:nvPicPr>
        <p:blipFill>
          <a:blip r:embed="rId2"/>
          <a:stretch>
            <a:fillRect/>
          </a:stretch>
        </p:blipFill>
        <p:spPr>
          <a:xfrm>
            <a:off x="365760" y="1097280"/>
            <a:ext cx="6317673" cy="5212080"/>
          </a:xfrm>
          <a:prstGeom prst="rect">
            <a:avLst/>
          </a:prstGeom>
        </p:spPr>
      </p:pic>
      <p:sp>
        <p:nvSpPr>
          <p:cNvPr id="6" name="Rectangle 5"/>
          <p:cNvSpPr/>
          <p:nvPr/>
        </p:nvSpPr>
        <p:spPr>
          <a:xfrm>
            <a:off x="8138160" y="1188720"/>
            <a:ext cx="3657600" cy="50292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280160"/>
            <a:ext cx="3383280" cy="484632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掃描 703 檔上市櫃股票與 ETF</a:t>
            </a:r>
          </a:p>
          <a:p>
            <a:pPr>
              <a:spcAft>
                <a:spcPts val="400"/>
              </a:spcAft>
            </a:pPr>
            <a:r>
              <a:rPr sz="1300" b="0">
                <a:solidFill>
                  <a:srgbClr val="1F2328"/>
                </a:solidFill>
                <a:latin typeface="Microsoft JhengHei"/>
                <a:ea typeface="Microsoft JhengHei"/>
              </a:rPr>
              <a:t>• 全市場基準創新高率 17.9%</a:t>
            </a:r>
          </a:p>
          <a:p>
            <a:pPr>
              <a:spcAft>
                <a:spcPts val="400"/>
              </a:spcAft>
            </a:pPr>
            <a:r>
              <a:rPr sz="1300" b="0">
                <a:solidFill>
                  <a:srgbClr val="1F2328"/>
                </a:solidFill>
                <a:latin typeface="Microsoft JhengHei"/>
                <a:ea typeface="Microsoft JhengHei"/>
              </a:rPr>
              <a:t>• 模型：梯度提升樹，滾動時間外驗證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美股隔夜表現</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18</a:t>
            </a:r>
          </a:p>
        </p:txBody>
      </p:sp>
      <p:pic>
        <p:nvPicPr>
          <p:cNvPr id="5" name="Picture 4" descr="2026-10-23_盤後檢討與隔日預掛單_us.png"/>
          <p:cNvPicPr>
            <a:picLocks noChangeAspect="1"/>
          </p:cNvPicPr>
          <p:nvPr/>
        </p:nvPicPr>
        <p:blipFill>
          <a:blip r:embed="rId2"/>
          <a:stretch>
            <a:fillRect/>
          </a:stretch>
        </p:blipFill>
        <p:spPr>
          <a:xfrm>
            <a:off x="4178760" y="1097280"/>
            <a:ext cx="3834174" cy="52120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台股開盤預測（美股 → 台股）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19</a:t>
            </a:r>
          </a:p>
        </p:txBody>
      </p:sp>
      <p:pic>
        <p:nvPicPr>
          <p:cNvPr id="5" name="Picture 4" descr="2026-10-23_盤後檢討與隔日預掛單_pred.png"/>
          <p:cNvPicPr>
            <a:picLocks noChangeAspect="1"/>
          </p:cNvPicPr>
          <p:nvPr/>
        </p:nvPicPr>
        <p:blipFill>
          <a:blip r:embed="rId2"/>
          <a:stretch>
            <a:fillRect/>
          </a:stretch>
        </p:blipFill>
        <p:spPr>
          <a:xfrm>
            <a:off x="365760" y="1097280"/>
            <a:ext cx="1413445" cy="5212080"/>
          </a:xfrm>
          <a:prstGeom prst="rect">
            <a:avLst/>
          </a:prstGeom>
        </p:spPr>
      </p:pic>
      <p:sp>
        <p:nvSpPr>
          <p:cNvPr id="6" name="Rectangle 5"/>
          <p:cNvSpPr/>
          <p:nvPr/>
        </p:nvSpPr>
        <p:spPr>
          <a:xfrm>
            <a:off x="8138160" y="1188720"/>
            <a:ext cx="3657600" cy="50292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280160"/>
            <a:ext cx="3383280" cy="484632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Ridge 迴歸：費半、那指期、台積電 ADR、VIX、匯率、產業對應美股</a:t>
            </a:r>
          </a:p>
          <a:p>
            <a:pPr>
              <a:spcAft>
                <a:spcPts val="400"/>
              </a:spcAft>
            </a:pPr>
            <a:r>
              <a:rPr sz="1300" b="0">
                <a:solidFill>
                  <a:srgbClr val="1F2328"/>
                </a:solidFill>
                <a:latin typeface="Microsoft JhengHei"/>
                <a:ea typeface="Microsoft JhengHei"/>
              </a:rPr>
              <a:t>• 命中率＝樣本外方向命中率</a:t>
            </a:r>
          </a:p>
          <a:p>
            <a:pPr>
              <a:spcAft>
                <a:spcPts val="400"/>
              </a:spcAft>
            </a:pPr>
            <a:r>
              <a:rPr sz="1300" b="0">
                <a:solidFill>
                  <a:srgbClr val="1F2328"/>
                </a:solidFill>
                <a:latin typeface="Microsoft JhengHei"/>
                <a:ea typeface="Microsoft JhengHei"/>
              </a:rPr>
              <a:t>• 低於 55% 或不如基準者降權</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交易建議總表</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20</a:t>
            </a:r>
          </a:p>
        </p:txBody>
      </p:sp>
      <p:graphicFrame>
        <p:nvGraphicFramePr>
          <p:cNvPr id="5" name="Table 4"/>
          <p:cNvGraphicFramePr>
            <a:graphicFrameLocks noGrp="1"/>
          </p:cNvGraphicFramePr>
          <p:nvPr/>
        </p:nvGraphicFramePr>
        <p:xfrm>
          <a:off x="457200" y="1188720"/>
          <a:ext cx="11247116" cy="5486400"/>
        </p:xfrm>
        <a:graphic>
          <a:graphicData uri="http://schemas.openxmlformats.org/drawingml/2006/table">
            <a:tbl>
              <a:tblPr firstRow="1" bandRow="1">
                <a:tableStyleId>{5C22544A-7EE6-4342-B048-85BDC9FD1C3A}</a:tableStyleId>
              </a:tblPr>
              <a:tblGrid>
                <a:gridCol w="1102658"/>
                <a:gridCol w="2646381"/>
                <a:gridCol w="1764254"/>
                <a:gridCol w="1323190"/>
                <a:gridCol w="1323190"/>
                <a:gridCol w="1984785"/>
                <a:gridCol w="1102658"/>
              </a:tblGrid>
              <a:tr h="365760">
                <a:tc>
                  <a:txBody>
                    <a:bodyPr/>
                    <a:lstStyle/>
                    <a:p>
                      <a:r>
                        <a:rPr sz="1200" b="1">
                          <a:solidFill>
                            <a:srgbClr val="FFFFFF"/>
                          </a:solidFill>
                          <a:latin typeface="Microsoft JhengHei"/>
                          <a:ea typeface="Microsoft JhengHei"/>
                        </a:rPr>
                        <a:t>動作</a:t>
                      </a:r>
                    </a:p>
                  </a:txBody>
                  <a:tcPr>
                    <a:solidFill>
                      <a:srgbClr val="1F3A5F"/>
                    </a:solidFill>
                  </a:tcPr>
                </a:tc>
                <a:tc>
                  <a:txBody>
                    <a:bodyPr/>
                    <a:lstStyle/>
                    <a:p>
                      <a:r>
                        <a:rPr sz="1200" b="1">
                          <a:solidFill>
                            <a:srgbClr val="FFFFFF"/>
                          </a:solidFill>
                          <a:latin typeface="Microsoft JhengHei"/>
                          <a:ea typeface="Microsoft JhengHei"/>
                        </a:rPr>
                        <a:t>標的</a:t>
                      </a:r>
                    </a:p>
                  </a:txBody>
                  <a:tcPr>
                    <a:solidFill>
                      <a:srgbClr val="1F3A5F"/>
                    </a:solidFill>
                  </a:tcPr>
                </a:tc>
                <a:tc>
                  <a:txBody>
                    <a:bodyPr/>
                    <a:lstStyle/>
                    <a:p>
                      <a:r>
                        <a:rPr sz="1200" b="1">
                          <a:solidFill>
                            <a:srgbClr val="FFFFFF"/>
                          </a:solidFill>
                          <a:latin typeface="Microsoft JhengHei"/>
                          <a:ea typeface="Microsoft JhengHei"/>
                        </a:rPr>
                        <a:t>數量</a:t>
                      </a:r>
                    </a:p>
                  </a:txBody>
                  <a:tcPr>
                    <a:solidFill>
                      <a:srgbClr val="1F3A5F"/>
                    </a:solidFill>
                  </a:tcPr>
                </a:tc>
                <a:tc>
                  <a:txBody>
                    <a:bodyPr/>
                    <a:lstStyle/>
                    <a:p>
                      <a:r>
                        <a:rPr sz="1200" b="1">
                          <a:solidFill>
                            <a:srgbClr val="FFFFFF"/>
                          </a:solidFill>
                          <a:latin typeface="Microsoft JhengHei"/>
                          <a:ea typeface="Microsoft JhengHei"/>
                        </a:rPr>
                        <a:t>限價</a:t>
                      </a:r>
                    </a:p>
                  </a:txBody>
                  <a:tcPr>
                    <a:solidFill>
                      <a:srgbClr val="1F3A5F"/>
                    </a:solidFill>
                  </a:tcPr>
                </a:tc>
                <a:tc>
                  <a:txBody>
                    <a:bodyPr/>
                    <a:lstStyle/>
                    <a:p>
                      <a:r>
                        <a:rPr sz="1200" b="1">
                          <a:solidFill>
                            <a:srgbClr val="FFFFFF"/>
                          </a:solidFill>
                          <a:latin typeface="Microsoft JhengHei"/>
                          <a:ea typeface="Microsoft JhengHei"/>
                        </a:rPr>
                        <a:t>停損</a:t>
                      </a:r>
                    </a:p>
                  </a:txBody>
                  <a:tcPr>
                    <a:solidFill>
                      <a:srgbClr val="1F3A5F"/>
                    </a:solidFill>
                  </a:tcPr>
                </a:tc>
                <a:tc>
                  <a:txBody>
                    <a:bodyPr/>
                    <a:lstStyle/>
                    <a:p>
                      <a:r>
                        <a:rPr sz="1200" b="1">
                          <a:solidFill>
                            <a:srgbClr val="FFFFFF"/>
                          </a:solidFill>
                          <a:latin typeface="Microsoft JhengHei"/>
                          <a:ea typeface="Microsoft JhengHei"/>
                        </a:rPr>
                        <a:t>金額</a:t>
                      </a:r>
                    </a:p>
                  </a:txBody>
                  <a:tcPr>
                    <a:solidFill>
                      <a:srgbClr val="1F3A5F"/>
                    </a:solidFill>
                  </a:tcPr>
                </a:tc>
                <a:tc>
                  <a:txBody>
                    <a:bodyPr/>
                    <a:lstStyle/>
                    <a:p>
                      <a:r>
                        <a:rPr sz="1200" b="1">
                          <a:solidFill>
                            <a:srgbClr val="FFFFFF"/>
                          </a:solidFill>
                          <a:latin typeface="Microsoft JhengHei"/>
                          <a:ea typeface="Microsoft JhengHei"/>
                        </a:rPr>
                        <a:t>權重</a:t>
                      </a:r>
                    </a:p>
                  </a:txBody>
                  <a:tcPr>
                    <a:solidFill>
                      <a:srgbClr val="1F3A5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進攻｜6182 合晶</a:t>
                      </a:r>
                    </a:p>
                  </a:txBody>
                  <a:tcPr>
                    <a:solidFill>
                      <a:srgbClr val="F3F5F8"/>
                    </a:solidFill>
                  </a:tcPr>
                </a:tc>
                <a:tc>
                  <a:txBody>
                    <a:bodyPr/>
                    <a:lstStyle/>
                    <a:p>
                      <a:r>
                        <a:rPr sz="1200" b="0">
                          <a:solidFill>
                            <a:srgbClr val="1F2328"/>
                          </a:solidFill>
                          <a:latin typeface="Microsoft JhengHei"/>
                          <a:ea typeface="Microsoft JhengHei"/>
                        </a:rPr>
                        <a:t>0 張+333股</a:t>
                      </a:r>
                    </a:p>
                  </a:txBody>
                  <a:tcPr>
                    <a:solidFill>
                      <a:srgbClr val="F3F5F8"/>
                    </a:solidFill>
                  </a:tcPr>
                </a:tc>
                <a:tc>
                  <a:txBody>
                    <a:bodyPr/>
                    <a:lstStyle/>
                    <a:p>
                      <a:r>
                        <a:rPr sz="1200" b="0">
                          <a:solidFill>
                            <a:srgbClr val="1F2328"/>
                          </a:solidFill>
                          <a:latin typeface="Microsoft JhengHei"/>
                          <a:ea typeface="Microsoft JhengHei"/>
                        </a:rPr>
                        <a:t>103.0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34,798</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穩健｜5880 合庫金</a:t>
                      </a:r>
                    </a:p>
                  </a:txBody>
                  <a:tcPr>
                    <a:solidFill>
                      <a:srgbClr val="FFFFFF"/>
                    </a:solidFill>
                  </a:tcPr>
                </a:tc>
                <a:tc>
                  <a:txBody>
                    <a:bodyPr/>
                    <a:lstStyle/>
                    <a:p>
                      <a:r>
                        <a:rPr sz="1200" b="0">
                          <a:solidFill>
                            <a:srgbClr val="1F2328"/>
                          </a:solidFill>
                          <a:latin typeface="Microsoft JhengHei"/>
                          <a:ea typeface="Microsoft JhengHei"/>
                        </a:rPr>
                        <a:t>24 張</a:t>
                      </a:r>
                    </a:p>
                  </a:txBody>
                  <a:tcPr>
                    <a:solidFill>
                      <a:srgbClr val="FFFFFF"/>
                    </a:solidFill>
                  </a:tcPr>
                </a:tc>
                <a:tc>
                  <a:txBody>
                    <a:bodyPr/>
                    <a:lstStyle/>
                    <a:p>
                      <a:r>
                        <a:rPr sz="1200" b="0">
                          <a:solidFill>
                            <a:srgbClr val="1F2328"/>
                          </a:solidFill>
                          <a:latin typeface="Microsoft JhengHei"/>
                          <a:ea typeface="Microsoft JhengHei"/>
                        </a:rPr>
                        <a:t>27.9</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676,800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穩健｜2889 國票金</a:t>
                      </a:r>
                    </a:p>
                  </a:txBody>
                  <a:tcPr>
                    <a:solidFill>
                      <a:srgbClr val="F3F5F8"/>
                    </a:solidFill>
                  </a:tcPr>
                </a:tc>
                <a:tc>
                  <a:txBody>
                    <a:bodyPr/>
                    <a:lstStyle/>
                    <a:p>
                      <a:r>
                        <a:rPr sz="1200" b="0">
                          <a:solidFill>
                            <a:srgbClr val="1F2328"/>
                          </a:solidFill>
                          <a:latin typeface="Microsoft JhengHei"/>
                          <a:ea typeface="Microsoft JhengHei"/>
                        </a:rPr>
                        <a:t>40 張+416股</a:t>
                      </a:r>
                    </a:p>
                  </a:txBody>
                  <a:tcPr>
                    <a:solidFill>
                      <a:srgbClr val="F3F5F8"/>
                    </a:solidFill>
                  </a:tcPr>
                </a:tc>
                <a:tc>
                  <a:txBody>
                    <a:bodyPr/>
                    <a:lstStyle/>
                    <a:p>
                      <a:r>
                        <a:rPr sz="1200" b="0">
                          <a:solidFill>
                            <a:srgbClr val="1F2328"/>
                          </a:solidFill>
                          <a:latin typeface="Microsoft JhengHei"/>
                          <a:ea typeface="Microsoft JhengHei"/>
                        </a:rPr>
                        <a:t>16.75</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685,051</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穩健｜2845 遠東銀</a:t>
                      </a:r>
                    </a:p>
                  </a:txBody>
                  <a:tcPr>
                    <a:solidFill>
                      <a:srgbClr val="FFFFFF"/>
                    </a:solidFill>
                  </a:tcPr>
                </a:tc>
                <a:tc>
                  <a:txBody>
                    <a:bodyPr/>
                    <a:lstStyle/>
                    <a:p>
                      <a:r>
                        <a:rPr sz="1200" b="0">
                          <a:solidFill>
                            <a:srgbClr val="1F2328"/>
                          </a:solidFill>
                          <a:latin typeface="Microsoft JhengHei"/>
                          <a:ea typeface="Microsoft JhengHei"/>
                        </a:rPr>
                        <a:t>36 張+71股</a:t>
                      </a:r>
                    </a:p>
                  </a:txBody>
                  <a:tcPr>
                    <a:solidFill>
                      <a:srgbClr val="FFFFFF"/>
                    </a:solidFill>
                  </a:tcPr>
                </a:tc>
                <a:tc>
                  <a:txBody>
                    <a:bodyPr/>
                    <a:lstStyle/>
                    <a:p>
                      <a:r>
                        <a:rPr sz="1200" b="0">
                          <a:solidFill>
                            <a:srgbClr val="1F2328"/>
                          </a:solidFill>
                          <a:latin typeface="Microsoft JhengHei"/>
                          <a:ea typeface="Microsoft JhengHei"/>
                        </a:rPr>
                        <a:t>13.15</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479,744</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穩健｜2915 潤泰全</a:t>
                      </a:r>
                    </a:p>
                  </a:txBody>
                  <a:tcPr>
                    <a:solidFill>
                      <a:srgbClr val="F3F5F8"/>
                    </a:solidFill>
                  </a:tcPr>
                </a:tc>
                <a:tc>
                  <a:txBody>
                    <a:bodyPr/>
                    <a:lstStyle/>
                    <a:p>
                      <a:r>
                        <a:rPr sz="1200" b="0">
                          <a:solidFill>
                            <a:srgbClr val="1F2328"/>
                          </a:solidFill>
                          <a:latin typeface="Microsoft JhengHei"/>
                          <a:ea typeface="Microsoft JhengHei"/>
                        </a:rPr>
                        <a:t>7 張+173股</a:t>
                      </a:r>
                    </a:p>
                  </a:txBody>
                  <a:tcPr>
                    <a:solidFill>
                      <a:srgbClr val="F3F5F8"/>
                    </a:solidFill>
                  </a:tcPr>
                </a:tc>
                <a:tc>
                  <a:txBody>
                    <a:bodyPr/>
                    <a:lstStyle/>
                    <a:p>
                      <a:r>
                        <a:rPr sz="1200" b="0">
                          <a:solidFill>
                            <a:srgbClr val="1F2328"/>
                          </a:solidFill>
                          <a:latin typeface="Microsoft JhengHei"/>
                          <a:ea typeface="Microsoft JhengHei"/>
                        </a:rPr>
                        <a:t>57.2</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414,599</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進攻｜3189 景碩</a:t>
                      </a:r>
                    </a:p>
                  </a:txBody>
                  <a:tcPr>
                    <a:solidFill>
                      <a:srgbClr val="FFFFFF"/>
                    </a:solidFill>
                  </a:tcPr>
                </a:tc>
                <a:tc>
                  <a:txBody>
                    <a:bodyPr/>
                    <a:lstStyle/>
                    <a:p>
                      <a:r>
                        <a:rPr sz="1200" b="0">
                          <a:solidFill>
                            <a:srgbClr val="1F2328"/>
                          </a:solidFill>
                          <a:latin typeface="Microsoft JhengHei"/>
                          <a:ea typeface="Microsoft JhengHei"/>
                        </a:rPr>
                        <a:t>1 張+639股</a:t>
                      </a:r>
                    </a:p>
                  </a:txBody>
                  <a:tcPr>
                    <a:solidFill>
                      <a:srgbClr val="FFFFFF"/>
                    </a:solidFill>
                  </a:tcPr>
                </a:tc>
                <a:tc>
                  <a:txBody>
                    <a:bodyPr/>
                    <a:lstStyle/>
                    <a:p>
                      <a:r>
                        <a:rPr sz="1200" b="0">
                          <a:solidFill>
                            <a:srgbClr val="1F2328"/>
                          </a:solidFill>
                          <a:latin typeface="Microsoft JhengHei"/>
                          <a:ea typeface="Microsoft JhengHei"/>
                        </a:rPr>
                        <a:t>976.0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1,616,054</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進攻｜3591 艾笛森</a:t>
                      </a:r>
                    </a:p>
                  </a:txBody>
                  <a:tcPr>
                    <a:solidFill>
                      <a:srgbClr val="F3F5F8"/>
                    </a:solidFill>
                  </a:tcPr>
                </a:tc>
                <a:tc>
                  <a:txBody>
                    <a:bodyPr/>
                    <a:lstStyle/>
                    <a:p>
                      <a:r>
                        <a:rPr sz="1200" b="0">
                          <a:solidFill>
                            <a:srgbClr val="1F2328"/>
                          </a:solidFill>
                          <a:latin typeface="Microsoft JhengHei"/>
                          <a:ea typeface="Microsoft JhengHei"/>
                        </a:rPr>
                        <a:t>20 張+528股</a:t>
                      </a:r>
                    </a:p>
                  </a:txBody>
                  <a:tcPr>
                    <a:solidFill>
                      <a:srgbClr val="F3F5F8"/>
                    </a:solidFill>
                  </a:tcPr>
                </a:tc>
                <a:tc>
                  <a:txBody>
                    <a:bodyPr/>
                    <a:lstStyle/>
                    <a:p>
                      <a:r>
                        <a:rPr sz="1200" b="0">
                          <a:solidFill>
                            <a:srgbClr val="1F2328"/>
                          </a:solidFill>
                          <a:latin typeface="Microsoft JhengHei"/>
                          <a:ea typeface="Microsoft JhengHei"/>
                        </a:rPr>
                        <a:t>26.55</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551,177</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進攻｜1560 中砂</a:t>
                      </a:r>
                    </a:p>
                  </a:txBody>
                  <a:tcPr>
                    <a:solidFill>
                      <a:srgbClr val="FFFFFF"/>
                    </a:solidFill>
                  </a:tcPr>
                </a:tc>
                <a:tc>
                  <a:txBody>
                    <a:bodyPr/>
                    <a:lstStyle/>
                    <a:p>
                      <a:r>
                        <a:rPr sz="1200" b="0">
                          <a:solidFill>
                            <a:srgbClr val="1F2328"/>
                          </a:solidFill>
                          <a:latin typeface="Microsoft JhengHei"/>
                          <a:ea typeface="Microsoft JhengHei"/>
                        </a:rPr>
                        <a:t>1 張+91股</a:t>
                      </a:r>
                    </a:p>
                  </a:txBody>
                  <a:tcPr>
                    <a:solidFill>
                      <a:srgbClr val="FFFFFF"/>
                    </a:solidFill>
                  </a:tcPr>
                </a:tc>
                <a:tc>
                  <a:txBody>
                    <a:bodyPr/>
                    <a:lstStyle/>
                    <a:p>
                      <a:r>
                        <a:rPr sz="1200" b="0">
                          <a:solidFill>
                            <a:srgbClr val="1F2328"/>
                          </a:solidFill>
                          <a:latin typeface="Microsoft JhengHei"/>
                          <a:ea typeface="Microsoft JhengHei"/>
                        </a:rPr>
                        <a:t>837.0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922,986</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進攻｜6196 帆宣</a:t>
                      </a:r>
                    </a:p>
                  </a:txBody>
                  <a:tcPr>
                    <a:solidFill>
                      <a:srgbClr val="F3F5F8"/>
                    </a:solidFill>
                  </a:tcPr>
                </a:tc>
                <a:tc>
                  <a:txBody>
                    <a:bodyPr/>
                    <a:lstStyle/>
                    <a:p>
                      <a:r>
                        <a:rPr sz="1200" b="0">
                          <a:solidFill>
                            <a:srgbClr val="1F2328"/>
                          </a:solidFill>
                          <a:latin typeface="Microsoft JhengHei"/>
                          <a:ea typeface="Microsoft JhengHei"/>
                        </a:rPr>
                        <a:t>2 張+150股</a:t>
                      </a:r>
                    </a:p>
                  </a:txBody>
                  <a:tcPr>
                    <a:solidFill>
                      <a:srgbClr val="F3F5F8"/>
                    </a:solidFill>
                  </a:tcPr>
                </a:tc>
                <a:tc>
                  <a:txBody>
                    <a:bodyPr/>
                    <a:lstStyle/>
                    <a:p>
                      <a:r>
                        <a:rPr sz="1200" b="0">
                          <a:solidFill>
                            <a:srgbClr val="1F2328"/>
                          </a:solidFill>
                          <a:latin typeface="Microsoft JhengHei"/>
                          <a:ea typeface="Microsoft JhengHei"/>
                        </a:rPr>
                        <a:t>591.0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1,283,550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進攻｜6213 聯茂</a:t>
                      </a:r>
                    </a:p>
                  </a:txBody>
                  <a:tcPr>
                    <a:solidFill>
                      <a:srgbClr val="FFFFFF"/>
                    </a:solidFill>
                  </a:tcPr>
                </a:tc>
                <a:tc>
                  <a:txBody>
                    <a:bodyPr/>
                    <a:lstStyle/>
                    <a:p>
                      <a:r>
                        <a:rPr sz="1200" b="0">
                          <a:solidFill>
                            <a:srgbClr val="1F2328"/>
                          </a:solidFill>
                          <a:latin typeface="Microsoft JhengHei"/>
                          <a:ea typeface="Microsoft JhengHei"/>
                        </a:rPr>
                        <a:t>1 張</a:t>
                      </a:r>
                    </a:p>
                  </a:txBody>
                  <a:tcPr>
                    <a:solidFill>
                      <a:srgbClr val="FFFFFF"/>
                    </a:solidFill>
                  </a:tcPr>
                </a:tc>
                <a:tc>
                  <a:txBody>
                    <a:bodyPr/>
                    <a:lstStyle/>
                    <a:p>
                      <a:r>
                        <a:rPr sz="1200" b="0">
                          <a:solidFill>
                            <a:srgbClr val="1F2328"/>
                          </a:solidFill>
                          <a:latin typeface="Microsoft JhengHei"/>
                          <a:ea typeface="Microsoft JhengHei"/>
                        </a:rPr>
                        <a:t>769.0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777,000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賣出</a:t>
                      </a:r>
                    </a:p>
                  </a:txBody>
                  <a:tcPr>
                    <a:solidFill>
                      <a:srgbClr val="F3F5F8"/>
                    </a:solidFill>
                  </a:tcPr>
                </a:tc>
                <a:tc>
                  <a:txBody>
                    <a:bodyPr/>
                    <a:lstStyle/>
                    <a:p>
                      <a:r>
                        <a:rPr sz="1200" b="0">
                          <a:solidFill>
                            <a:srgbClr val="1F2328"/>
                          </a:solidFill>
                          <a:latin typeface="Microsoft JhengHei"/>
                          <a:ea typeface="Microsoft JhengHei"/>
                        </a:rPr>
                        <a:t>進攻｜2103 台橡</a:t>
                      </a:r>
                    </a:p>
                  </a:txBody>
                  <a:tcPr>
                    <a:solidFill>
                      <a:srgbClr val="F3F5F8"/>
                    </a:solidFill>
                  </a:tcPr>
                </a:tc>
                <a:tc>
                  <a:txBody>
                    <a:bodyPr/>
                    <a:lstStyle/>
                    <a:p>
                      <a:r>
                        <a:rPr sz="1200" b="0">
                          <a:solidFill>
                            <a:srgbClr val="1F2328"/>
                          </a:solidFill>
                          <a:latin typeface="Microsoft JhengHei"/>
                          <a:ea typeface="Microsoft JhengHei"/>
                        </a:rPr>
                        <a:t>3 張</a:t>
                      </a:r>
                    </a:p>
                  </a:txBody>
                  <a:tcPr>
                    <a:solidFill>
                      <a:srgbClr val="F3F5F8"/>
                    </a:solidFill>
                  </a:tcPr>
                </a:tc>
                <a:tc>
                  <a:txBody>
                    <a:bodyPr/>
                    <a:lstStyle/>
                    <a:p>
                      <a:r>
                        <a:rPr sz="1200" b="0">
                          <a:solidFill>
                            <a:srgbClr val="1F2328"/>
                          </a:solidFill>
                          <a:latin typeface="Microsoft JhengHei"/>
                          <a:ea typeface="Microsoft JhengHei"/>
                        </a:rPr>
                        <a:t>27.8</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c>
                  <a:txBody>
                    <a:bodyPr/>
                    <a:lstStyle/>
                    <a:p>
                      <a:r>
                        <a:rPr sz="1200" b="0">
                          <a:solidFill>
                            <a:srgbClr val="1F2328"/>
                          </a:solidFill>
                          <a:latin typeface="Microsoft JhengHei"/>
                          <a:ea typeface="Microsoft JhengHei"/>
                        </a:rPr>
                        <a:t>84,300</a:t>
                      </a:r>
                    </a:p>
                  </a:txBody>
                  <a:tcPr>
                    <a:solidFill>
                      <a:srgbClr val="F3F5F8"/>
                    </a:solidFill>
                  </a:tcPr>
                </a:tc>
                <a:tc>
                  <a:txBody>
                    <a:bodyPr/>
                    <a:lstStyle/>
                    <a:p>
                      <a:r>
                        <a:rPr sz="1200" b="0">
                          <a:solidFill>
                            <a:srgbClr val="1F2328"/>
                          </a:solidFill>
                          <a:latin typeface="Microsoft JhengHei"/>
                          <a:ea typeface="Microsoft JhengHei"/>
                        </a:rPr>
                        <a:t>-</a:t>
                      </a:r>
                    </a:p>
                  </a:txBody>
                  <a:tcPr>
                    <a:solidFill>
                      <a:srgbClr val="F3F5F8"/>
                    </a:solidFill>
                  </a:tcPr>
                </a:tc>
              </a:tr>
              <a:tr h="365760">
                <a:tc>
                  <a:txBody>
                    <a:bodyPr/>
                    <a:lstStyle/>
                    <a:p>
                      <a:r>
                        <a:rPr sz="1200" b="0">
                          <a:solidFill>
                            <a:srgbClr val="1F2328"/>
                          </a:solidFill>
                          <a:latin typeface="Microsoft JhengHei"/>
                          <a:ea typeface="Microsoft JhengHei"/>
                        </a:rPr>
                        <a:t>賣出</a:t>
                      </a:r>
                    </a:p>
                  </a:txBody>
                  <a:tcPr>
                    <a:solidFill>
                      <a:srgbClr val="FFFFFF"/>
                    </a:solidFill>
                  </a:tcPr>
                </a:tc>
                <a:tc>
                  <a:txBody>
                    <a:bodyPr/>
                    <a:lstStyle/>
                    <a:p>
                      <a:r>
                        <a:rPr sz="1200" b="0">
                          <a:solidFill>
                            <a:srgbClr val="1F2328"/>
                          </a:solidFill>
                          <a:latin typeface="Microsoft JhengHei"/>
                          <a:ea typeface="Microsoft JhengHei"/>
                        </a:rPr>
                        <a:t>穩健｜2360 致茂</a:t>
                      </a:r>
                    </a:p>
                  </a:txBody>
                  <a:tcPr>
                    <a:solidFill>
                      <a:srgbClr val="FFFFFF"/>
                    </a:solidFill>
                  </a:tcPr>
                </a:tc>
                <a:tc>
                  <a:txBody>
                    <a:bodyPr/>
                    <a:lstStyle/>
                    <a:p>
                      <a:r>
                        <a:rPr sz="1200" b="0">
                          <a:solidFill>
                            <a:srgbClr val="1F2328"/>
                          </a:solidFill>
                          <a:latin typeface="Microsoft JhengHei"/>
                          <a:ea typeface="Microsoft JhengHei"/>
                        </a:rPr>
                        <a:t>0 張+8股</a:t>
                      </a:r>
                    </a:p>
                  </a:txBody>
                  <a:tcPr>
                    <a:solidFill>
                      <a:srgbClr val="FFFFFF"/>
                    </a:solidFill>
                  </a:tcPr>
                </a:tc>
                <a:tc>
                  <a:txBody>
                    <a:bodyPr/>
                    <a:lstStyle/>
                    <a:p>
                      <a:r>
                        <a:rPr sz="1200" b="0">
                          <a:solidFill>
                            <a:srgbClr val="1F2328"/>
                          </a:solidFill>
                          <a:latin typeface="Microsoft JhengHei"/>
                          <a:ea typeface="Microsoft JhengHei"/>
                        </a:rPr>
                        <a:t>1960.0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c>
                  <a:txBody>
                    <a:bodyPr/>
                    <a:lstStyle/>
                    <a:p>
                      <a:r>
                        <a:rPr sz="1200" b="0">
                          <a:solidFill>
                            <a:srgbClr val="1F2328"/>
                          </a:solidFill>
                          <a:latin typeface="Microsoft JhengHei"/>
                          <a:ea typeface="Microsoft JhengHei"/>
                        </a:rPr>
                        <a:t>15,840</a:t>
                      </a:r>
                    </a:p>
                  </a:txBody>
                  <a:tcPr>
                    <a:solidFill>
                      <a:srgbClr val="FFFFFF"/>
                    </a:solidFill>
                  </a:tcPr>
                </a:tc>
                <a:tc>
                  <a:txBody>
                    <a:bodyPr/>
                    <a:lstStyle/>
                    <a:p>
                      <a:r>
                        <a:rPr sz="1200" b="0">
                          <a:solidFill>
                            <a:srgbClr val="1F2328"/>
                          </a:solidFill>
                          <a:latin typeface="Microsoft JhengHei"/>
                          <a:ea typeface="Microsoft JhengHei"/>
                        </a:rPr>
                        <a:t>-</a:t>
                      </a:r>
                    </a:p>
                  </a:txBody>
                  <a:tcPr>
                    <a:solidFill>
                      <a:srgbClr val="FFFFFF"/>
                    </a:solidFill>
                  </a:tcPr>
                </a:tc>
              </a:tr>
              <a:tr h="365760">
                <a:tc>
                  <a:txBody>
                    <a:bodyPr/>
                    <a:lstStyle/>
                    <a:p>
                      <a:r>
                        <a:rPr sz="1200" b="0">
                          <a:solidFill>
                            <a:srgbClr val="1F2328"/>
                          </a:solidFill>
                          <a:latin typeface="Microsoft JhengHei"/>
                          <a:ea typeface="Microsoft JhengHei"/>
                        </a:rPr>
                        <a:t>買進</a:t>
                      </a:r>
                    </a:p>
                  </a:txBody>
                  <a:tcPr>
                    <a:solidFill>
                      <a:srgbClr val="F3F5F8"/>
                    </a:solidFill>
                  </a:tcPr>
                </a:tc>
                <a:tc>
                  <a:txBody>
                    <a:bodyPr/>
                    <a:lstStyle/>
                    <a:p>
                      <a:r>
                        <a:rPr sz="1200" b="0">
                          <a:solidFill>
                            <a:srgbClr val="1F2328"/>
                          </a:solidFill>
                          <a:latin typeface="Microsoft JhengHei"/>
                          <a:ea typeface="Microsoft JhengHei"/>
                        </a:rPr>
                        <a:t>穩健｜6245 立端</a:t>
                      </a:r>
                    </a:p>
                  </a:txBody>
                  <a:tcPr>
                    <a:solidFill>
                      <a:srgbClr val="F3F5F8"/>
                    </a:solidFill>
                  </a:tcPr>
                </a:tc>
                <a:tc>
                  <a:txBody>
                    <a:bodyPr/>
                    <a:lstStyle/>
                    <a:p>
                      <a:r>
                        <a:rPr sz="1200" b="0">
                          <a:solidFill>
                            <a:srgbClr val="1F2328"/>
                          </a:solidFill>
                          <a:latin typeface="Microsoft JhengHei"/>
                          <a:ea typeface="Microsoft JhengHei"/>
                        </a:rPr>
                        <a:t>6 張+516股</a:t>
                      </a:r>
                    </a:p>
                  </a:txBody>
                  <a:tcPr>
                    <a:solidFill>
                      <a:srgbClr val="F3F5F8"/>
                    </a:solidFill>
                  </a:tcPr>
                </a:tc>
                <a:tc>
                  <a:txBody>
                    <a:bodyPr/>
                    <a:lstStyle/>
                    <a:p>
                      <a:r>
                        <a:rPr sz="1200" b="0">
                          <a:solidFill>
                            <a:srgbClr val="1F2328"/>
                          </a:solidFill>
                          <a:latin typeface="Microsoft JhengHei"/>
                          <a:ea typeface="Microsoft JhengHei"/>
                        </a:rPr>
                        <a:t>90.0</a:t>
                      </a:r>
                    </a:p>
                  </a:txBody>
                  <a:tcPr>
                    <a:solidFill>
                      <a:srgbClr val="F3F5F8"/>
                    </a:solidFill>
                  </a:tcPr>
                </a:tc>
                <a:tc>
                  <a:txBody>
                    <a:bodyPr/>
                    <a:lstStyle/>
                    <a:p>
                      <a:r>
                        <a:rPr sz="1200" b="0">
                          <a:solidFill>
                            <a:srgbClr val="1F2328"/>
                          </a:solidFill>
                          <a:latin typeface="Microsoft JhengHei"/>
                          <a:ea typeface="Microsoft JhengHei"/>
                        </a:rPr>
                        <a:t>85.3</a:t>
                      </a:r>
                    </a:p>
                  </a:txBody>
                  <a:tcPr>
                    <a:solidFill>
                      <a:srgbClr val="F3F5F8"/>
                    </a:solidFill>
                  </a:tcPr>
                </a:tc>
                <a:tc>
                  <a:txBody>
                    <a:bodyPr/>
                    <a:lstStyle/>
                    <a:p>
                      <a:r>
                        <a:rPr sz="1200" b="0">
                          <a:solidFill>
                            <a:srgbClr val="1F2328"/>
                          </a:solidFill>
                          <a:latin typeface="Microsoft JhengHei"/>
                          <a:ea typeface="Microsoft JhengHei"/>
                        </a:rPr>
                        <a:t>586,440</a:t>
                      </a:r>
                    </a:p>
                  </a:txBody>
                  <a:tcPr>
                    <a:solidFill>
                      <a:srgbClr val="F3F5F8"/>
                    </a:solidFill>
                  </a:tcPr>
                </a:tc>
                <a:tc>
                  <a:txBody>
                    <a:bodyPr/>
                    <a:lstStyle/>
                    <a:p>
                      <a:r>
                        <a:rPr sz="1200" b="0">
                          <a:solidFill>
                            <a:srgbClr val="1F2328"/>
                          </a:solidFill>
                          <a:latin typeface="Microsoft JhengHei"/>
                          <a:ea typeface="Microsoft JhengHei"/>
                        </a:rPr>
                        <a:t>6.8%</a:t>
                      </a:r>
                    </a:p>
                  </a:txBody>
                  <a:tcPr>
                    <a:solidFill>
                      <a:srgbClr val="F3F5F8"/>
                    </a:solidFill>
                  </a:tcPr>
                </a:tc>
              </a:tr>
              <a:tr h="365760">
                <a:tc>
                  <a:txBody>
                    <a:bodyPr/>
                    <a:lstStyle/>
                    <a:p>
                      <a:r>
                        <a:rPr sz="1200" b="0">
                          <a:solidFill>
                            <a:srgbClr val="1F2328"/>
                          </a:solidFill>
                          <a:latin typeface="Microsoft JhengHei"/>
                          <a:ea typeface="Microsoft JhengHei"/>
                        </a:rPr>
                        <a:t>買進</a:t>
                      </a:r>
                    </a:p>
                  </a:txBody>
                  <a:tcPr>
                    <a:solidFill>
                      <a:srgbClr val="FFFFFF"/>
                    </a:solidFill>
                  </a:tcPr>
                </a:tc>
                <a:tc>
                  <a:txBody>
                    <a:bodyPr/>
                    <a:lstStyle/>
                    <a:p>
                      <a:r>
                        <a:rPr sz="1200" b="0">
                          <a:solidFill>
                            <a:srgbClr val="1F2328"/>
                          </a:solidFill>
                          <a:latin typeface="Microsoft JhengHei"/>
                          <a:ea typeface="Microsoft JhengHei"/>
                        </a:rPr>
                        <a:t>穩健｜1736 喬山</a:t>
                      </a:r>
                    </a:p>
                  </a:txBody>
                  <a:tcPr>
                    <a:solidFill>
                      <a:srgbClr val="FFFFFF"/>
                    </a:solidFill>
                  </a:tcPr>
                </a:tc>
                <a:tc>
                  <a:txBody>
                    <a:bodyPr/>
                    <a:lstStyle/>
                    <a:p>
                      <a:r>
                        <a:rPr sz="1200" b="0">
                          <a:solidFill>
                            <a:srgbClr val="1F2328"/>
                          </a:solidFill>
                          <a:latin typeface="Microsoft JhengHei"/>
                          <a:ea typeface="Microsoft JhengHei"/>
                        </a:rPr>
                        <a:t>3 張+600股</a:t>
                      </a:r>
                    </a:p>
                  </a:txBody>
                  <a:tcPr>
                    <a:solidFill>
                      <a:srgbClr val="FFFFFF"/>
                    </a:solidFill>
                  </a:tcPr>
                </a:tc>
                <a:tc>
                  <a:txBody>
                    <a:bodyPr/>
                    <a:lstStyle/>
                    <a:p>
                      <a:r>
                        <a:rPr sz="1200" b="0">
                          <a:solidFill>
                            <a:srgbClr val="1F2328"/>
                          </a:solidFill>
                          <a:latin typeface="Microsoft JhengHei"/>
                          <a:ea typeface="Microsoft JhengHei"/>
                        </a:rPr>
                        <a:t>124.0</a:t>
                      </a:r>
                    </a:p>
                  </a:txBody>
                  <a:tcPr>
                    <a:solidFill>
                      <a:srgbClr val="FFFFFF"/>
                    </a:solidFill>
                  </a:tcPr>
                </a:tc>
                <a:tc>
                  <a:txBody>
                    <a:bodyPr/>
                    <a:lstStyle/>
                    <a:p>
                      <a:r>
                        <a:rPr sz="1200" b="0">
                          <a:solidFill>
                            <a:srgbClr val="1F2328"/>
                          </a:solidFill>
                          <a:latin typeface="Microsoft JhengHei"/>
                          <a:ea typeface="Microsoft JhengHei"/>
                        </a:rPr>
                        <a:t>116.5</a:t>
                      </a:r>
                    </a:p>
                  </a:txBody>
                  <a:tcPr>
                    <a:solidFill>
                      <a:srgbClr val="FFFFFF"/>
                    </a:solidFill>
                  </a:tcPr>
                </a:tc>
                <a:tc>
                  <a:txBody>
                    <a:bodyPr/>
                    <a:lstStyle/>
                    <a:p>
                      <a:r>
                        <a:rPr sz="1200" b="0">
                          <a:solidFill>
                            <a:srgbClr val="1F2328"/>
                          </a:solidFill>
                          <a:latin typeface="Microsoft JhengHei"/>
                          <a:ea typeface="Microsoft JhengHei"/>
                        </a:rPr>
                        <a:t>446,400</a:t>
                      </a:r>
                    </a:p>
                  </a:txBody>
                  <a:tcPr>
                    <a:solidFill>
                      <a:srgbClr val="FFFFFF"/>
                    </a:solidFill>
                  </a:tcPr>
                </a:tc>
                <a:tc>
                  <a:txBody>
                    <a:bodyPr/>
                    <a:lstStyle/>
                    <a:p>
                      <a:r>
                        <a:rPr sz="1200" b="0">
                          <a:solidFill>
                            <a:srgbClr val="1F2328"/>
                          </a:solidFill>
                          <a:latin typeface="Microsoft JhengHei"/>
                          <a:ea typeface="Microsoft JhengHei"/>
                        </a:rPr>
                        <a:t>5.2%</a:t>
                      </a:r>
                    </a:p>
                  </a:txBody>
                  <a:tcP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6182 合晶｜0 張 + 333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21</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風險警示：單日重挫 -5.86%：先減碼三分之一，確認原因後再決定</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觸發條件中最嚴重者決定賣出比例：33%；限價取最近價 × 0.99（不低於跌停價）以提高成交機率</a:t>
            </a:r>
          </a:p>
          <a:p>
            <a:pPr>
              <a:spcAft>
                <a:spcPts val="400"/>
              </a:spcAft>
            </a:pPr>
            <a:r>
              <a:rPr sz="1600" b="0">
                <a:solidFill>
                  <a:srgbClr val="1F2328"/>
                </a:solidFill>
                <a:latin typeface="Microsoft JhengHei"/>
                <a:ea typeface="Microsoft JhengHei"/>
              </a:rPr>
              <a:t>• 賣出後剩餘 667 股</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5880 合庫金｜24 張</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22</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換股計畫 → 獲利換股：已獲利 +49,505 元（+7.89%）先入袋；這檔一個月預期只剩 +2.21%，轉買 00915 凱基優選高股息30（預期 +5.41%）扣除換股成本後多 2.61%（門檻 1.0%），且收正報酬機率不低於原標的</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24 張（24,000 股），回收資金約 676,800 元，依分數重新配置到同一籃的買進候選（最佳替換標的 00915 凱基優選高股息30，實際買進股數受單一標的與產業上限約束，見買進明細）；部分換股會讓兩檔都表現平庸，因此一次換完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2889 國票金｜40 張 + 416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23</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換股計畫 → 獲利換股：已獲利 +36,804 元（+5.68%）先入袋；這檔一個月預期只剩 +2.57%，轉買 00915 凱基優選高股息30（預期 +5.41%）扣除換股成本後多 2.25%（門檻 1.0%），且收正報酬機率不低於原標的</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40 張又 416 股（共 40,416 股），回收資金約 685,051 元，依分數重新配置到同一籃的買進候選（最佳替換標的 00915 凱基優選高股息30，實際買進股數受單一標的與產業上限約束，見買進明細）；部分換股會讓兩檔都表現平庸，因此一次換完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2845 遠東銀｜36 張 + 71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24</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換股計畫 → 獲利換股：已獲利 +11,936 元（+2.55%）先入袋；這檔一個月預期只剩 +0.25%，轉買 00915 凱基優選高股息30（預期 +5.41%）扣除換股成本後多 4.58%（門檻 1.0%），且收正報酬機率不低於原標的</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36 張又 71 股（共 36,071 股），回收資金約 479,744 元，依分數重新配置到同一籃的買進候選（最佳替換標的 00915 凱基優選高股息30，實際買進股數受單一標的與產業上限約束，見買進明細）；部分換股會讓兩檔都表現平庸，因此一次換完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2915 潤泰全｜7 張 + 173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25</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換股計畫 → 獲利換股：已獲利 +1,850 元（+0.45%）先入袋；這檔一個月預期只剩 +2.47%，轉買 00915 凱基優選高股息30（預期 +5.41%）扣除換股成本後多 2.35%（門檻 1.0%），且收正報酬機率不低於原標的</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7 張又 173 股（共 7,173 股），回收資金約 414,599 元，依分數重新配置到同一籃的買進候選（最佳替換標的 00915 凱基優選高股息30，實際買進股數受單一標的與產業上限約束，見買進明細）；部分換股會讓兩檔都表現平庸，因此一次換完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3189 景碩｜1 張 + 639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26</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觸發停損：收盤 986.00 元 ≤ 停損價 999.00 元（成本 1084.26 元，損益 -9.06%）；同時風險警示：已跌破停損價 999.0（目前 986.0）：依紀律全數出場</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停損一律全數出場，避免虧損擴大；紀律優先於預測</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3591 艾笛森｜20 張 + 528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27</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虧損補回計畫 → 換股：6870 騰雲 扣除換股成本後的預期報酬比續抱高 2.79%（門檻 1.0%），且創新高機率不低於原標的 → 換股補回虧損較快；回收資金依綜合分數配置到買進候選，各檔仍受單一標的與產業上限約束</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20 張又 528 股（共 20,528 股），回收資金約 551,177 元，依分數重新配置到同一籃的買進候選（最佳替換標的 6870 騰雲，實際買進股數受單一標的與產業上限約束，見買進明細）；部分換股會讓兩檔都表現平庸，因此一次換完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1560 中砂｜1 張 + 91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28</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觸發停損：收盤 846.00 元 ≤ 停損價 936.69 元（成本 1017.82 元，損益 -16.88%）；同時風險警示：已跌破停損價 936.69（目前 846.0）：依紀律全數出場；法人近 5 日賣超 1,037 張，籌碼轉弱</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停損一律全數出場，避免虧損擴大；紀律優先於預測</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6196 帆宣｜2 張 + 150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29</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觸發停損：收盤 597.00 元 ≤ 停損價 599.23 元（成本 634.77 元，損益 -5.95%）；同時風險警示：已跌破停損價 599.23（目前 597.0）：依紀律全數出場</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停損一律全數出場，避免虧損擴大；紀律優先於預測</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6213 聯茂｜1 張</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30</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換股計畫 → 獲利換股：已獲利 +49,965 元（+6.87%）先入袋；這檔一個月預期只剩 +9.12%，轉買 6870 騰雲（預期 +15.55%）扣除換股成本後多 5.85%（門檻 1.0%），且創新高機率不低於原標的；同時風險警示：單日重挫 -5.59%：先減碼三分之一，確認原因後再決定；法人近 5 日賣超 3,738 張，籌碼轉弱</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1 張（1,000 股），回收資金約 777,000 元，依分數重新配置到同一籃的買進候選（最佳替換標的 6870 騰雲，實際買進股數受單一標的與產業上限約束，見買進明細）；部分換股會讓兩檔都表現平庸，因此一次換完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2103 台橡｜3 張</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31</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虧損補回計畫 → 換股：6870 騰雲 扣除換股成本後的預期報酬比續抱高 12.31%（門檻 1.0%），且創新高機率不低於原標的 → 換股補回虧損較快；回收資金依綜合分數配置到買進候選，各檔仍受單一標的與產業上限約束</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全數賣出 3 張（3,000 股），回收資金約 84,300 元，依分數重新配置到同一籃的買進候選（最佳替換標的 6870 騰雲，實際買進股數受單一標的與產業上限約束，見買進明細）；部分換股會讓兩檔都表現平庸，因此一次換完</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賣出 2360 致茂｜0 張 + 8 股</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32</a:t>
            </a:r>
          </a:p>
        </p:txBody>
      </p:sp>
      <p:sp>
        <p:nvSpPr>
          <p:cNvPr id="5" name="Rectangle 4"/>
          <p:cNvSpPr/>
          <p:nvPr/>
        </p:nvSpPr>
        <p:spPr>
          <a:xfrm>
            <a:off x="457200" y="1280160"/>
            <a:ext cx="11247120" cy="21945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0972800" cy="2011680"/>
          </a:xfrm>
          <a:prstGeom prst="rect">
            <a:avLst/>
          </a:prstGeom>
          <a:noFill/>
        </p:spPr>
        <p:txBody>
          <a:bodyPr wrap="square">
            <a:spAutoFit/>
          </a:bodyPr>
          <a:lstStyle/>
          <a:p>
            <a:r>
              <a:rPr sz="2000" b="1">
                <a:solidFill>
                  <a:srgbClr val="1F3A5F"/>
                </a:solidFill>
                <a:latin typeface="Microsoft JhengHei"/>
                <a:ea typeface="Microsoft JhengHei"/>
              </a:rPr>
              <a:t>賣出原因</a:t>
            </a:r>
          </a:p>
          <a:p>
            <a:pPr>
              <a:spcAft>
                <a:spcPts val="400"/>
              </a:spcAft>
            </a:pPr>
            <a:r>
              <a:rPr sz="1800" b="0">
                <a:solidFill>
                  <a:srgbClr val="1F2328"/>
                </a:solidFill>
                <a:latin typeface="Microsoft JhengHei"/>
                <a:ea typeface="Microsoft JhengHei"/>
              </a:rPr>
              <a:t>• 觸發停損：收盤 1980.00 元 ≤ 停損價 2069.91 元（成本 2365.62 元，損益 -16.30%）；同時風險警示：已跌破停損價 2069.91（目前 1980.0）：依紀律全數出場；法人近 5 日賣超 1,911 張，籌碼轉弱</a:t>
            </a:r>
          </a:p>
        </p:txBody>
      </p:sp>
      <p:sp>
        <p:nvSpPr>
          <p:cNvPr id="7" name="Rectangle 6"/>
          <p:cNvSpPr/>
          <p:nvPr/>
        </p:nvSpPr>
        <p:spPr>
          <a:xfrm>
            <a:off x="457200" y="3749039"/>
            <a:ext cx="11247120" cy="237744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840479"/>
            <a:ext cx="10972800" cy="2194560"/>
          </a:xfrm>
          <a:prstGeom prst="rect">
            <a:avLst/>
          </a:prstGeom>
          <a:noFill/>
        </p:spPr>
        <p:txBody>
          <a:bodyPr wrap="square">
            <a:spAutoFit/>
          </a:bodyPr>
          <a:lstStyle/>
          <a:p>
            <a:r>
              <a:rPr sz="1800" b="1">
                <a:solidFill>
                  <a:srgbClr val="1F3A5F"/>
                </a:solidFill>
                <a:latin typeface="Microsoft JhengHei"/>
                <a:ea typeface="Microsoft JhengHei"/>
              </a:rPr>
              <a:t>為何賣這個股數</a:t>
            </a:r>
          </a:p>
          <a:p>
            <a:pPr>
              <a:spcAft>
                <a:spcPts val="400"/>
              </a:spcAft>
            </a:pPr>
            <a:r>
              <a:rPr sz="1600" b="0">
                <a:solidFill>
                  <a:srgbClr val="1F2328"/>
                </a:solidFill>
                <a:latin typeface="Microsoft JhengHei"/>
                <a:ea typeface="Microsoft JhengHei"/>
              </a:rPr>
              <a:t>• 停損一律全數出場，避免虧損擴大；紀律優先於預測</a:t>
            </a:r>
          </a:p>
          <a:p>
            <a:pPr>
              <a:spcAft>
                <a:spcPts val="400"/>
              </a:spcAft>
            </a:pPr>
            <a:r>
              <a:rPr sz="1600" b="0">
                <a:solidFill>
                  <a:srgbClr val="1F2328"/>
                </a:solidFill>
                <a:latin typeface="Microsoft JhengHei"/>
                <a:ea typeface="Microsoft JhengHei"/>
              </a:rPr>
              <a:t>• 賣出後剩餘 0 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買進【穩健籃】6245 立端｜6 張 + 516 股｜限價 90.0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33</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150" b="0">
                <a:solidFill>
                  <a:srgbClr val="1F2328"/>
                </a:solidFill>
                <a:latin typeface="Microsoft JhengHei"/>
                <a:ea typeface="Microsoft JhengHei"/>
              </a:rPr>
              <a:t>• 選入穩健籃因穩健分數 +0.75 達標且未來一個月收正報酬機率為 62.6%。依風險預算與流動性限制買進 6 張又 516 股（6,516 股），限價 90.0 元。出場規劃為收盤跌破 85.30 元停損，或持滿 10 個交易日後進行換股。</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【穩健籃】穩健分數 +0.75 達門檻（+0.20）；一個月收正報酬機率 62.6%、預期最大回檔 -8.6%，且未過熱</a:t>
            </a:r>
          </a:p>
          <a:p>
            <a:pPr>
              <a:spcAft>
                <a:spcPts val="400"/>
              </a:spcAft>
            </a:pPr>
            <a:r>
              <a:rPr sz="1200" b="0">
                <a:solidFill>
                  <a:srgbClr val="1F2328"/>
                </a:solidFill>
                <a:latin typeface="Microsoft JhengHei"/>
                <a:ea typeface="Microsoft JhengHei"/>
              </a:rPr>
              <a:t>• 穩健模型：未來一個月收正報酬機率 62.6%（全市場基準 51.8%），預期最大回檔 -8.6%（回檔幅度排名全市場最小的前 23%）</a:t>
            </a:r>
          </a:p>
          <a:p>
            <a:pPr>
              <a:spcAft>
                <a:spcPts val="400"/>
              </a:spcAft>
            </a:pPr>
            <a:r>
              <a:rPr sz="1200" b="0">
                <a:solidFill>
                  <a:srgbClr val="1F2328"/>
                </a:solidFill>
                <a:latin typeface="Microsoft JhengHei"/>
                <a:ea typeface="Microsoft JhengHei"/>
              </a:rPr>
              <a:t>• 持有到比賽結束（約 40 個交易日）：收正報酬機率 71.3%、預期報酬 +11.1%（模型估計，不是保證）</a:t>
            </a:r>
          </a:p>
          <a:p>
            <a:pPr>
              <a:spcAft>
                <a:spcPts val="400"/>
              </a:spcAft>
            </a:pPr>
            <a:r>
              <a:rPr sz="1200" b="0">
                <a:solidFill>
                  <a:srgbClr val="1F2328"/>
                </a:solidFill>
                <a:latin typeface="Microsoft JhengHei"/>
                <a:ea typeface="Microsoft JhengHei"/>
              </a:rPr>
              <a:t>• 風險：60 日 β = 0.50（大盤漲跌 1% 時約變動 0.50%），日波動 1.50%</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150" b="1">
                <a:solidFill>
                  <a:srgbClr val="1F3A5F"/>
                </a:solidFill>
                <a:latin typeface="Microsoft JhengHei"/>
                <a:ea typeface="Microsoft JhengHei"/>
              </a:rPr>
              <a:t>為何是這個股數</a:t>
            </a:r>
          </a:p>
          <a:p>
            <a:pPr>
              <a:spcAft>
                <a:spcPts val="400"/>
              </a:spcAft>
            </a:pPr>
            <a:r>
              <a:rPr sz="950" b="0">
                <a:solidFill>
                  <a:srgbClr val="1F2328"/>
                </a:solidFill>
                <a:latin typeface="Microsoft JhengHei"/>
                <a:ea typeface="Microsoft JhengHei"/>
              </a:rPr>
              <a:t>• 籃子配置：穩健籃佔目標持股 25% → 目標金額 1,942,150 元（已持有 72,400 元）</a:t>
            </a:r>
          </a:p>
          <a:p>
            <a:pPr>
              <a:spcAft>
                <a:spcPts val="400"/>
              </a:spcAft>
            </a:pPr>
            <a:r>
              <a:rPr sz="950" b="0">
                <a:solidFill>
                  <a:srgbClr val="1F2328"/>
                </a:solidFill>
                <a:latin typeface="Microsoft JhengHei"/>
                <a:ea typeface="Microsoft JhengHei"/>
              </a:rPr>
              <a:t>• 風險預算：總資產 8,631,779 元 × 每筆風險 0.8% × 信心係數 1.44（由穩健分數 +0.75 換算）= 99,093 元</a:t>
            </a:r>
          </a:p>
          <a:p>
            <a:pPr>
              <a:spcAft>
                <a:spcPts val="400"/>
              </a:spcAft>
            </a:pPr>
            <a:r>
              <a:rPr sz="950" b="0">
                <a:solidFill>
                  <a:srgbClr val="1F2328"/>
                </a:solidFill>
                <a:latin typeface="Microsoft JhengHei"/>
                <a:ea typeface="Microsoft JhengHei"/>
              </a:rPr>
              <a:t>• 停損距離：取 2×ATR14 = 4.66 與距 10 日低點 85.30 的距離 4.70 之較大者 = 4.70 元（進場 90.00 → 停損 85.30 元，5.2%）</a:t>
            </a:r>
          </a:p>
          <a:p>
            <a:pPr>
              <a:spcAft>
                <a:spcPts val="400"/>
              </a:spcAft>
            </a:pPr>
            <a:r>
              <a:rPr sz="950" b="0">
                <a:solidFill>
                  <a:srgbClr val="1F2328"/>
                </a:solidFill>
                <a:latin typeface="Microsoft JhengHei"/>
                <a:ea typeface="Microsoft JhengHei"/>
              </a:rPr>
              <a:t>• 風險法可買股數 = 99,093 ÷ 4.70 = 21,084 股</a:t>
            </a:r>
          </a:p>
          <a:p>
            <a:pPr>
              <a:spcAft>
                <a:spcPts val="400"/>
              </a:spcAft>
            </a:pPr>
            <a:r>
              <a:rPr sz="950" b="0">
                <a:solidFill>
                  <a:srgbClr val="1F2328"/>
                </a:solidFill>
                <a:latin typeface="Microsoft JhengHei"/>
                <a:ea typeface="Microsoft JhengHei"/>
              </a:rPr>
              <a:t>• 受「流動性上限（20 日均量 766 張 × 2%）」限制，下修至 15,330 股</a:t>
            </a:r>
          </a:p>
          <a:p>
            <a:pPr>
              <a:spcAft>
                <a:spcPts val="400"/>
              </a:spcAft>
            </a:pPr>
            <a:r>
              <a:rPr sz="950" b="0">
                <a:solidFill>
                  <a:srgbClr val="1F2328"/>
                </a:solidFill>
                <a:latin typeface="Microsoft JhengHei"/>
                <a:ea typeface="Microsoft JhengHei"/>
              </a:rPr>
              <a:t>• 穩健籃合計超過籃子上限，等比例下修 8,813 股</a:t>
            </a:r>
          </a:p>
          <a:p>
            <a:pPr>
              <a:spcAft>
                <a:spcPts val="400"/>
              </a:spcAft>
            </a:pPr>
            <a:r>
              <a:rPr sz="950" b="0">
                <a:solidFill>
                  <a:srgbClr val="1F2328"/>
                </a:solidFill>
                <a:latin typeface="Microsoft JhengHei"/>
                <a:ea typeface="Microsoft JhengHei"/>
              </a:rPr>
              <a:t>• 進場價：穩健籃不追價：限價取預測開盤價 90.26 與前一日收盤 90.0999984741211 的較低者 = 90.0</a:t>
            </a:r>
          </a:p>
          <a:p>
            <a:pPr>
              <a:spcAft>
                <a:spcPts val="400"/>
              </a:spcAft>
            </a:pPr>
            <a:r>
              <a:rPr sz="950" b="0">
                <a:solidFill>
                  <a:srgbClr val="1F2328"/>
                </a:solidFill>
                <a:latin typeface="Microsoft JhengHei"/>
                <a:ea typeface="Microsoft JhengHei"/>
              </a:rPr>
              <a:t>• 取整後：6 張又 516 股（共 6,516 股），金額約 586,440 元，佔總資產 6.8%</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【多買】穩健分數 +0.75 高，信心係數 1.44 ≥ 1 放大部位</a:t>
            </a:r>
          </a:p>
          <a:p>
            <a:pPr>
              <a:spcAft>
                <a:spcPts val="400"/>
              </a:spcAft>
            </a:pPr>
            <a:r>
              <a:rPr sz="1100" b="0">
                <a:solidFill>
                  <a:srgbClr val="1F2328"/>
                </a:solidFill>
                <a:latin typeface="Microsoft JhengHei"/>
                <a:ea typeface="Microsoft JhengHei"/>
              </a:rPr>
              <a:t>【多買】日均波動（ATR）2.6%，波動溫和 → 可承擔較多股數</a:t>
            </a:r>
          </a:p>
          <a:p>
            <a:pPr>
              <a:spcAft>
                <a:spcPts val="400"/>
              </a:spcAft>
            </a:pPr>
            <a:r>
              <a:rPr sz="1100" b="0">
                <a:solidFill>
                  <a:srgbClr val="1F2328"/>
                </a:solidFill>
                <a:latin typeface="Microsoft JhengHei"/>
                <a:ea typeface="Microsoft JhengHei"/>
              </a:rPr>
              <a:t>【多買】法人連續買超 3 日，籌碼穩定</a:t>
            </a:r>
          </a:p>
          <a:p>
            <a:pPr>
              <a:spcAft>
                <a:spcPts val="400"/>
              </a:spcAft>
            </a:pPr>
            <a:r>
              <a:rPr sz="1100" b="0">
                <a:solidFill>
                  <a:srgbClr val="1F2328"/>
                </a:solidFill>
                <a:latin typeface="Microsoft JhengHei"/>
                <a:ea typeface="Microsoft JhengHei"/>
              </a:rPr>
              <a:t>【多買】一個月收正報酬機率 62.6%，可提高「正報酬晉級」機率</a:t>
            </a:r>
          </a:p>
          <a:p>
            <a:pPr>
              <a:spcAft>
                <a:spcPts val="400"/>
              </a:spcAft>
            </a:pPr>
            <a:r>
              <a:rPr sz="1100" b="0">
                <a:solidFill>
                  <a:srgbClr val="1F2328"/>
                </a:solidFill>
                <a:latin typeface="Microsoft JhengHei"/>
                <a:ea typeface="Microsoft JhengHei"/>
              </a:rPr>
              <a:t>【少買】成交量不足，為避免衝擊價格而少買</a:t>
            </a:r>
          </a:p>
          <a:p>
            <a:pPr>
              <a:spcAft>
                <a:spcPts val="400"/>
              </a:spcAft>
            </a:pPr>
            <a:r>
              <a:rPr sz="1100" b="0">
                <a:solidFill>
                  <a:srgbClr val="1F2328"/>
                </a:solidFill>
                <a:latin typeface="Microsoft JhengHei"/>
                <a:ea typeface="Microsoft JhengHei"/>
              </a:rPr>
              <a:t>【少買】預期最大回檔 -8.6%，下檔風險偏大</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停損：收盤跌破 85.30 元全數賣出 6 張又 516 股（共 6,516 股）</a:t>
            </a:r>
          </a:p>
          <a:p>
            <a:pPr>
              <a:spcAft>
                <a:spcPts val="400"/>
              </a:spcAft>
            </a:pPr>
            <a:r>
              <a:rPr sz="1100" b="0">
                <a:solidFill>
                  <a:srgbClr val="1F2328"/>
                </a:solidFill>
                <a:latin typeface="Microsoft JhengHei"/>
                <a:ea typeface="Microsoft JhengHei"/>
              </a:rPr>
              <a:t>• 訊號轉弱（穩健分數 ≤ -0.30）先減碼一半</a:t>
            </a:r>
          </a:p>
          <a:p>
            <a:pPr>
              <a:spcAft>
                <a:spcPts val="400"/>
              </a:spcAft>
            </a:pPr>
            <a:r>
              <a:rPr sz="1100" b="0">
                <a:solidFill>
                  <a:srgbClr val="1F2328"/>
                </a:solidFill>
                <a:latin typeface="Microsoft JhengHei"/>
                <a:ea typeface="Microsoft JhengHei"/>
              </a:rPr>
              <a:t>• 結單轉股：持有滿 10 個交易日後，綜合排名出現扣成本後預期多 1% 以上的股票就全部賣出換股；獲利已達 10% 時多 2% 就可以當天換</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買進【穩健籃】1736 喬山｜3 張 + 600 股｜限價 124.0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34</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選入穩健籃因穩健分數 +0.63 且預期最大回檔僅 -8.3%。考量流動性上限與籃子權重，買進 3 張又 600 股（3,600 股），限價 124.0 元。若收盤跌破 116.50 元即執行停損。</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【穩健籃】穩健分數 +0.63 達門檻（+0.20）；一個月收正報酬機率 52.8%、預期最大回檔 -8.3%，且未過熱</a:t>
            </a:r>
          </a:p>
          <a:p>
            <a:pPr>
              <a:spcAft>
                <a:spcPts val="400"/>
              </a:spcAft>
            </a:pPr>
            <a:r>
              <a:rPr sz="1200" b="0">
                <a:solidFill>
                  <a:srgbClr val="1F2328"/>
                </a:solidFill>
                <a:latin typeface="Microsoft JhengHei"/>
                <a:ea typeface="Microsoft JhengHei"/>
              </a:rPr>
              <a:t>• 穩健模型：未來一個月收正報酬機率 52.8%（全市場基準 51.8%），預期最大回檔 -8.3%（回檔幅度排名全市場最小的前 19%）</a:t>
            </a:r>
          </a:p>
          <a:p>
            <a:pPr>
              <a:spcAft>
                <a:spcPts val="400"/>
              </a:spcAft>
            </a:pPr>
            <a:r>
              <a:rPr sz="1200" b="0">
                <a:solidFill>
                  <a:srgbClr val="1F2328"/>
                </a:solidFill>
                <a:latin typeface="Microsoft JhengHei"/>
                <a:ea typeface="Microsoft JhengHei"/>
              </a:rPr>
              <a:t>• 持有到比賽結束（約 40 個交易日）：收正報酬機率 53.7%、預期報酬 +13.0%（模型估計，不是保證）</a:t>
            </a:r>
          </a:p>
          <a:p>
            <a:pPr>
              <a:spcAft>
                <a:spcPts val="400"/>
              </a:spcAft>
            </a:pPr>
            <a:r>
              <a:rPr sz="1200" b="0">
                <a:solidFill>
                  <a:srgbClr val="1F2328"/>
                </a:solidFill>
                <a:latin typeface="Microsoft JhengHei"/>
                <a:ea typeface="Microsoft JhengHei"/>
              </a:rPr>
              <a:t>• 風險：60 日 β = -0.00（大盤漲跌 1% 時約變動 -0.00%），日波動 1.48%</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150" b="1">
                <a:solidFill>
                  <a:srgbClr val="1F3A5F"/>
                </a:solidFill>
                <a:latin typeface="Microsoft JhengHei"/>
                <a:ea typeface="Microsoft JhengHei"/>
              </a:rPr>
              <a:t>為何是這個股數</a:t>
            </a:r>
          </a:p>
          <a:p>
            <a:pPr>
              <a:spcAft>
                <a:spcPts val="400"/>
              </a:spcAft>
            </a:pPr>
            <a:r>
              <a:rPr sz="950" b="0">
                <a:solidFill>
                  <a:srgbClr val="1F2328"/>
                </a:solidFill>
                <a:latin typeface="Microsoft JhengHei"/>
                <a:ea typeface="Microsoft JhengHei"/>
              </a:rPr>
              <a:t>• 籃子配置：穩健籃佔目標持股 25% → 目標金額 1,942,150 元（已持有 72,400 元）</a:t>
            </a:r>
          </a:p>
          <a:p>
            <a:pPr>
              <a:spcAft>
                <a:spcPts val="400"/>
              </a:spcAft>
            </a:pPr>
            <a:r>
              <a:rPr sz="950" b="0">
                <a:solidFill>
                  <a:srgbClr val="1F2328"/>
                </a:solidFill>
                <a:latin typeface="Microsoft JhengHei"/>
                <a:ea typeface="Microsoft JhengHei"/>
              </a:rPr>
              <a:t>• 風險預算：總資產 8,631,779 元 × 每筆風險 0.8% × 信心係數 1.29（由穩健分數 +0.63 換算）= 88,735 元</a:t>
            </a:r>
          </a:p>
          <a:p>
            <a:pPr>
              <a:spcAft>
                <a:spcPts val="400"/>
              </a:spcAft>
            </a:pPr>
            <a:r>
              <a:rPr sz="950" b="0">
                <a:solidFill>
                  <a:srgbClr val="1F2328"/>
                </a:solidFill>
                <a:latin typeface="Microsoft JhengHei"/>
                <a:ea typeface="Microsoft JhengHei"/>
              </a:rPr>
              <a:t>• 停損距離：取 2×ATR14 = 7.50 與距 10 日低點 120.00 的距離 4.00 之較大者 = 7.50 元（進場 124.00 → 停損 116.50 元，6.0%）</a:t>
            </a:r>
          </a:p>
          <a:p>
            <a:pPr>
              <a:spcAft>
                <a:spcPts val="400"/>
              </a:spcAft>
            </a:pPr>
            <a:r>
              <a:rPr sz="950" b="0">
                <a:solidFill>
                  <a:srgbClr val="1F2328"/>
                </a:solidFill>
                <a:latin typeface="Microsoft JhengHei"/>
                <a:ea typeface="Microsoft JhengHei"/>
              </a:rPr>
              <a:t>• 風險法可買股數 = 88,735 ÷ 7.50 = 11,831 股</a:t>
            </a:r>
          </a:p>
          <a:p>
            <a:pPr>
              <a:spcAft>
                <a:spcPts val="400"/>
              </a:spcAft>
            </a:pPr>
            <a:r>
              <a:rPr sz="950" b="0">
                <a:solidFill>
                  <a:srgbClr val="1F2328"/>
                </a:solidFill>
                <a:latin typeface="Microsoft JhengHei"/>
                <a:ea typeface="Microsoft JhengHei"/>
              </a:rPr>
              <a:t>• 受「流動性上限（20 日均量 423 張 × 2%）」限制，下修至 8,470 股</a:t>
            </a:r>
          </a:p>
          <a:p>
            <a:pPr>
              <a:spcAft>
                <a:spcPts val="400"/>
              </a:spcAft>
            </a:pPr>
            <a:r>
              <a:rPr sz="950" b="0">
                <a:solidFill>
                  <a:srgbClr val="1F2328"/>
                </a:solidFill>
                <a:latin typeface="Microsoft JhengHei"/>
                <a:ea typeface="Microsoft JhengHei"/>
              </a:rPr>
              <a:t>• 穩健籃合計超過籃子上限，等比例下修 4,869 股</a:t>
            </a:r>
          </a:p>
          <a:p>
            <a:pPr>
              <a:spcAft>
                <a:spcPts val="400"/>
              </a:spcAft>
            </a:pPr>
            <a:r>
              <a:rPr sz="950" b="0">
                <a:solidFill>
                  <a:srgbClr val="1F2328"/>
                </a:solidFill>
                <a:latin typeface="Microsoft JhengHei"/>
                <a:ea typeface="Microsoft JhengHei"/>
              </a:rPr>
              <a:t>• 進場價：穩健籃不追價：限價取預測開盤價 124.24 與前一日收盤 124.0 的較低者 = 124.0</a:t>
            </a:r>
          </a:p>
          <a:p>
            <a:pPr>
              <a:spcAft>
                <a:spcPts val="400"/>
              </a:spcAft>
            </a:pPr>
            <a:r>
              <a:rPr sz="950" b="0">
                <a:solidFill>
                  <a:srgbClr val="1F2328"/>
                </a:solidFill>
                <a:latin typeface="Microsoft JhengHei"/>
                <a:ea typeface="Microsoft JhengHei"/>
              </a:rPr>
              <a:t>• 取整後：3 張又 600 股（共 3,600 股），金額約 446,400 元，佔總資產 5.2%</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【多買】穩健分數 +0.63 高，信心係數 1.29 ≥ 1 放大部位</a:t>
            </a:r>
          </a:p>
          <a:p>
            <a:pPr>
              <a:spcAft>
                <a:spcPts val="400"/>
              </a:spcAft>
            </a:pPr>
            <a:r>
              <a:rPr sz="1100" b="0">
                <a:solidFill>
                  <a:srgbClr val="1F2328"/>
                </a:solidFill>
                <a:latin typeface="Microsoft JhengHei"/>
                <a:ea typeface="Microsoft JhengHei"/>
              </a:rPr>
              <a:t>【多買】日均波動（ATR）3.0%，波動溫和 → 可承擔較多股數</a:t>
            </a:r>
          </a:p>
          <a:p>
            <a:pPr>
              <a:spcAft>
                <a:spcPts val="400"/>
              </a:spcAft>
            </a:pPr>
            <a:r>
              <a:rPr sz="1100" b="0">
                <a:solidFill>
                  <a:srgbClr val="1F2328"/>
                </a:solidFill>
                <a:latin typeface="Microsoft JhengHei"/>
                <a:ea typeface="Microsoft JhengHei"/>
              </a:rPr>
              <a:t>【少買】成交量不足，為避免衝擊價格而少買</a:t>
            </a:r>
          </a:p>
          <a:p>
            <a:pPr>
              <a:spcAft>
                <a:spcPts val="400"/>
              </a:spcAft>
            </a:pPr>
            <a:r>
              <a:rPr sz="1100" b="0">
                <a:solidFill>
                  <a:srgbClr val="1F2328"/>
                </a:solidFill>
                <a:latin typeface="Microsoft JhengHei"/>
                <a:ea typeface="Microsoft JhengHei"/>
              </a:rPr>
              <a:t>【少買】一個月收正報酬機率 52.8%，勝率普通</a:t>
            </a:r>
          </a:p>
          <a:p>
            <a:pPr>
              <a:spcAft>
                <a:spcPts val="400"/>
              </a:spcAft>
            </a:pPr>
            <a:r>
              <a:rPr sz="1100" b="0">
                <a:solidFill>
                  <a:srgbClr val="1F2328"/>
                </a:solidFill>
                <a:latin typeface="Microsoft JhengHei"/>
                <a:ea typeface="Microsoft JhengHei"/>
              </a:rPr>
              <a:t>【少買】預期最大回檔 -8.3%，下檔風險偏大</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停損：收盤跌破 116.50 元全數賣出 3 張又 600 股（共 3,600 股）</a:t>
            </a:r>
          </a:p>
          <a:p>
            <a:pPr>
              <a:spcAft>
                <a:spcPts val="400"/>
              </a:spcAft>
            </a:pPr>
            <a:r>
              <a:rPr sz="1100" b="0">
                <a:solidFill>
                  <a:srgbClr val="1F2328"/>
                </a:solidFill>
                <a:latin typeface="Microsoft JhengHei"/>
                <a:ea typeface="Microsoft JhengHei"/>
              </a:rPr>
              <a:t>• 訊號轉弱（穩健分數 ≤ -0.30）先減碼一半</a:t>
            </a:r>
          </a:p>
          <a:p>
            <a:pPr>
              <a:spcAft>
                <a:spcPts val="400"/>
              </a:spcAft>
            </a:pPr>
            <a:r>
              <a:rPr sz="1100" b="0">
                <a:solidFill>
                  <a:srgbClr val="1F2328"/>
                </a:solidFill>
                <a:latin typeface="Microsoft JhengHei"/>
                <a:ea typeface="Microsoft JhengHei"/>
              </a:rPr>
              <a:t>• 結單轉股：持有滿 10 個交易日後，綜合排名出現扣成本後預期多 1% 以上的股票就全部賣出換股；獲利已達 10% 時多 2% 就可以當天換</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買進【穩健籃】1808 潤隆｜12 張 + 697 股｜限價 33.9</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35</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選入穩健籃因穩健分數 +0.61 且法人連續買超 11 日。經風險法與籃子比例計算後買进 12 張又 697 股（12,697 股），限價 33.9 元。出場設定為收盤跌破 31.85 元執行停損。</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【穩健籃】穩健分數 +0.61 達門檻（+0.20）；一個月收正報酬機率 49.2%、預期最大回檔 -8.2%，且未過熱</a:t>
            </a:r>
          </a:p>
          <a:p>
            <a:pPr>
              <a:spcAft>
                <a:spcPts val="400"/>
              </a:spcAft>
            </a:pPr>
            <a:r>
              <a:rPr sz="1200" b="0">
                <a:solidFill>
                  <a:srgbClr val="1F2328"/>
                </a:solidFill>
                <a:latin typeface="Microsoft JhengHei"/>
                <a:ea typeface="Microsoft JhengHei"/>
              </a:rPr>
              <a:t>• 穩健模型：未來一個月收正報酬機率 49.2%（全市場基準 51.8%），預期最大回檔 -8.2%（回檔幅度排名全市場最小的前 18%）</a:t>
            </a:r>
          </a:p>
          <a:p>
            <a:pPr>
              <a:spcAft>
                <a:spcPts val="400"/>
              </a:spcAft>
            </a:pPr>
            <a:r>
              <a:rPr sz="1200" b="0">
                <a:solidFill>
                  <a:srgbClr val="1F2328"/>
                </a:solidFill>
                <a:latin typeface="Microsoft JhengHei"/>
                <a:ea typeface="Microsoft JhengHei"/>
              </a:rPr>
              <a:t>• 持有到比賽結束（約 40 個交易日）：收正報酬機率 57.1%、預期報酬 +12.2%（模型估計，不是保證）</a:t>
            </a:r>
          </a:p>
          <a:p>
            <a:pPr>
              <a:spcAft>
                <a:spcPts val="400"/>
              </a:spcAft>
            </a:pPr>
            <a:r>
              <a:rPr sz="1200" b="0">
                <a:solidFill>
                  <a:srgbClr val="1F2328"/>
                </a:solidFill>
                <a:latin typeface="Microsoft JhengHei"/>
                <a:ea typeface="Microsoft JhengHei"/>
              </a:rPr>
              <a:t>• 風險：60 日 β = 0.18（大盤漲跌 1% 時約變動 0.18%），日波動 2.83%</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150" b="1">
                <a:solidFill>
                  <a:srgbClr val="1F3A5F"/>
                </a:solidFill>
                <a:latin typeface="Microsoft JhengHei"/>
                <a:ea typeface="Microsoft JhengHei"/>
              </a:rPr>
              <a:t>為何是這個股數</a:t>
            </a:r>
          </a:p>
          <a:p>
            <a:pPr>
              <a:spcAft>
                <a:spcPts val="400"/>
              </a:spcAft>
            </a:pPr>
            <a:r>
              <a:rPr sz="950" b="0">
                <a:solidFill>
                  <a:srgbClr val="1F2328"/>
                </a:solidFill>
                <a:latin typeface="Microsoft JhengHei"/>
                <a:ea typeface="Microsoft JhengHei"/>
              </a:rPr>
              <a:t>• 籃子配置：穩健籃佔目標持股 25% → 目標金額 1,942,150 元（已持有 72,400 元）</a:t>
            </a:r>
          </a:p>
          <a:p>
            <a:pPr>
              <a:spcAft>
                <a:spcPts val="400"/>
              </a:spcAft>
            </a:pPr>
            <a:r>
              <a:rPr sz="950" b="0">
                <a:solidFill>
                  <a:srgbClr val="1F2328"/>
                </a:solidFill>
                <a:latin typeface="Microsoft JhengHei"/>
                <a:ea typeface="Microsoft JhengHei"/>
              </a:rPr>
              <a:t>• 風險預算：總資產 8,631,779 元 × 每筆風險 0.8% × 信心係數 1.26（由穩健分數 +0.61 換算）= 87,095 元</a:t>
            </a:r>
          </a:p>
          <a:p>
            <a:pPr>
              <a:spcAft>
                <a:spcPts val="400"/>
              </a:spcAft>
            </a:pPr>
            <a:r>
              <a:rPr sz="950" b="0">
                <a:solidFill>
                  <a:srgbClr val="1F2328"/>
                </a:solidFill>
                <a:latin typeface="Microsoft JhengHei"/>
                <a:ea typeface="Microsoft JhengHei"/>
              </a:rPr>
              <a:t>• 停損距離：取 2×ATR14 = 1.62 與距 10 日低點 31.90 的距離 2.00 之較大者 = 2.00 元（進場 33.90 → 停損 31.85 元，5.9%）</a:t>
            </a:r>
          </a:p>
          <a:p>
            <a:pPr>
              <a:spcAft>
                <a:spcPts val="400"/>
              </a:spcAft>
            </a:pPr>
            <a:r>
              <a:rPr sz="950" b="0">
                <a:solidFill>
                  <a:srgbClr val="1F2328"/>
                </a:solidFill>
                <a:latin typeface="Microsoft JhengHei"/>
                <a:ea typeface="Microsoft JhengHei"/>
              </a:rPr>
              <a:t>• 風險法可買股數 = 87,095 ÷ 2.00 = 43,547 股</a:t>
            </a:r>
          </a:p>
          <a:p>
            <a:pPr>
              <a:spcAft>
                <a:spcPts val="400"/>
              </a:spcAft>
            </a:pPr>
            <a:r>
              <a:rPr sz="950" b="0">
                <a:solidFill>
                  <a:srgbClr val="1F2328"/>
                </a:solidFill>
                <a:latin typeface="Microsoft JhengHei"/>
                <a:ea typeface="Microsoft JhengHei"/>
              </a:rPr>
              <a:t>• 受「流動性上限（20 日均量 1,493 張 × 2%）」限制，下修至 29,868 股</a:t>
            </a:r>
          </a:p>
          <a:p>
            <a:pPr>
              <a:spcAft>
                <a:spcPts val="400"/>
              </a:spcAft>
            </a:pPr>
            <a:r>
              <a:rPr sz="950" b="0">
                <a:solidFill>
                  <a:srgbClr val="1F2328"/>
                </a:solidFill>
                <a:latin typeface="Microsoft JhengHei"/>
                <a:ea typeface="Microsoft JhengHei"/>
              </a:rPr>
              <a:t>• 穩健籃合計超過籃子上限，等比例下修 17,171 股</a:t>
            </a:r>
          </a:p>
          <a:p>
            <a:pPr>
              <a:spcAft>
                <a:spcPts val="400"/>
              </a:spcAft>
            </a:pPr>
            <a:r>
              <a:rPr sz="950" b="0">
                <a:solidFill>
                  <a:srgbClr val="1F2328"/>
                </a:solidFill>
                <a:latin typeface="Microsoft JhengHei"/>
                <a:ea typeface="Microsoft JhengHei"/>
              </a:rPr>
              <a:t>• 進場價：穩健籃不追價：限價取預測開盤價 33.93 與前一日收盤 33.900001525878906 的較低者 = 33.9</a:t>
            </a:r>
          </a:p>
          <a:p>
            <a:pPr>
              <a:spcAft>
                <a:spcPts val="400"/>
              </a:spcAft>
            </a:pPr>
            <a:r>
              <a:rPr sz="950" b="0">
                <a:solidFill>
                  <a:srgbClr val="1F2328"/>
                </a:solidFill>
                <a:latin typeface="Microsoft JhengHei"/>
                <a:ea typeface="Microsoft JhengHei"/>
              </a:rPr>
              <a:t>• 取整後：12 張又 697 股（共 12,697 股），金額約 430,428 元，佔總資產 5.0%</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【多買】穩健分數 +0.61 高，信心係數 1.26 ≥ 1 放大部位</a:t>
            </a:r>
          </a:p>
          <a:p>
            <a:pPr>
              <a:spcAft>
                <a:spcPts val="400"/>
              </a:spcAft>
            </a:pPr>
            <a:r>
              <a:rPr sz="1100" b="0">
                <a:solidFill>
                  <a:srgbClr val="1F2328"/>
                </a:solidFill>
                <a:latin typeface="Microsoft JhengHei"/>
                <a:ea typeface="Microsoft JhengHei"/>
              </a:rPr>
              <a:t>【多買】日均波動（ATR）2.4%，波動溫和 → 可承擔較多股數</a:t>
            </a:r>
          </a:p>
          <a:p>
            <a:pPr>
              <a:spcAft>
                <a:spcPts val="400"/>
              </a:spcAft>
            </a:pPr>
            <a:r>
              <a:rPr sz="1100" b="0">
                <a:solidFill>
                  <a:srgbClr val="1F2328"/>
                </a:solidFill>
                <a:latin typeface="Microsoft JhengHei"/>
                <a:ea typeface="Microsoft JhengHei"/>
              </a:rPr>
              <a:t>【多買】法人連續買超 11 日，籌碼穩定</a:t>
            </a:r>
          </a:p>
          <a:p>
            <a:pPr>
              <a:spcAft>
                <a:spcPts val="400"/>
              </a:spcAft>
            </a:pPr>
            <a:r>
              <a:rPr sz="1100" b="0">
                <a:solidFill>
                  <a:srgbClr val="1F2328"/>
                </a:solidFill>
                <a:latin typeface="Microsoft JhengHei"/>
                <a:ea typeface="Microsoft JhengHei"/>
              </a:rPr>
              <a:t>【多買】月營收年增 +63462.8%，基本面支撐</a:t>
            </a:r>
          </a:p>
          <a:p>
            <a:pPr>
              <a:spcAft>
                <a:spcPts val="400"/>
              </a:spcAft>
            </a:pPr>
            <a:r>
              <a:rPr sz="1100" b="0">
                <a:solidFill>
                  <a:srgbClr val="1F2328"/>
                </a:solidFill>
                <a:latin typeface="Microsoft JhengHei"/>
                <a:ea typeface="Microsoft JhengHei"/>
              </a:rPr>
              <a:t>【少買】成交量不足，為避免衝擊價格而少買</a:t>
            </a:r>
          </a:p>
          <a:p>
            <a:pPr>
              <a:spcAft>
                <a:spcPts val="400"/>
              </a:spcAft>
            </a:pPr>
            <a:r>
              <a:rPr sz="1100" b="0">
                <a:solidFill>
                  <a:srgbClr val="1F2328"/>
                </a:solidFill>
                <a:latin typeface="Microsoft JhengHei"/>
                <a:ea typeface="Microsoft JhengHei"/>
              </a:rPr>
              <a:t>【少買】一個月收正報酬機率 49.2%，勝率普通</a:t>
            </a:r>
          </a:p>
          <a:p>
            <a:pPr>
              <a:spcAft>
                <a:spcPts val="400"/>
              </a:spcAft>
            </a:pPr>
            <a:r>
              <a:rPr sz="1100" b="0">
                <a:solidFill>
                  <a:srgbClr val="1F2328"/>
                </a:solidFill>
                <a:latin typeface="Microsoft JhengHei"/>
                <a:ea typeface="Microsoft JhengHei"/>
              </a:rPr>
              <a:t>【少買】預期最大回檔 -8.2%，下檔風險偏大</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停損：收盤跌破 31.85 元全數賣出 12 張又 697 股（共 12,697 股）</a:t>
            </a:r>
          </a:p>
          <a:p>
            <a:pPr>
              <a:spcAft>
                <a:spcPts val="400"/>
              </a:spcAft>
            </a:pPr>
            <a:r>
              <a:rPr sz="1100" b="0">
                <a:solidFill>
                  <a:srgbClr val="1F2328"/>
                </a:solidFill>
                <a:latin typeface="Microsoft JhengHei"/>
                <a:ea typeface="Microsoft JhengHei"/>
              </a:rPr>
              <a:t>• 訊號轉弱（穩健分數 ≤ -0.30）先減碼一半</a:t>
            </a:r>
          </a:p>
          <a:p>
            <a:pPr>
              <a:spcAft>
                <a:spcPts val="400"/>
              </a:spcAft>
            </a:pPr>
            <a:r>
              <a:rPr sz="1100" b="0">
                <a:solidFill>
                  <a:srgbClr val="1F2328"/>
                </a:solidFill>
                <a:latin typeface="Microsoft JhengHei"/>
                <a:ea typeface="Microsoft JhengHei"/>
              </a:rPr>
              <a:t>• 結單轉股：持有滿 10 個交易日後，綜合排名出現扣成本後預期多 1% 以上的股票就全部賣出換股；獲利已達 10% 時多 2% 就可以當天換</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買進【穩健籃】2885 元大金｜8 張 + 604 股｜限價 72.3</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36</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選入穩健籃因穩健分數 +0.54 且一個月收正報酬機率 59.3%。配合風險預算買進 8 張又 604 股（8,604 股），限價 72.3 元。出場設定為收盤跌破 68.30 元停損。</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【穩健籃】穩健分數 +0.54 達門檻（+0.20）；一個月收正報酬機率 59.3%、預期最大回檔 -6.6%，且未過熱</a:t>
            </a:r>
          </a:p>
          <a:p>
            <a:pPr>
              <a:spcAft>
                <a:spcPts val="400"/>
              </a:spcAft>
            </a:pPr>
            <a:r>
              <a:rPr sz="1200" b="0">
                <a:solidFill>
                  <a:srgbClr val="1F2328"/>
                </a:solidFill>
                <a:latin typeface="Microsoft JhengHei"/>
                <a:ea typeface="Microsoft JhengHei"/>
              </a:rPr>
              <a:t>• 穩健模型：未來一個月收正報酬機率 59.3%（全市場基準 51.8%），預期最大回檔 -6.6%（回檔幅度排名全市場最小的前 8%）</a:t>
            </a:r>
          </a:p>
          <a:p>
            <a:pPr>
              <a:spcAft>
                <a:spcPts val="400"/>
              </a:spcAft>
            </a:pPr>
            <a:r>
              <a:rPr sz="1200" b="0">
                <a:solidFill>
                  <a:srgbClr val="1F2328"/>
                </a:solidFill>
                <a:latin typeface="Microsoft JhengHei"/>
                <a:ea typeface="Microsoft JhengHei"/>
              </a:rPr>
              <a:t>• 持有到比賽結束（約 40 個交易日）：收正報酬機率 59.9%、預期報酬 +3.8%（模型估計，不是保證）</a:t>
            </a:r>
          </a:p>
          <a:p>
            <a:pPr>
              <a:spcAft>
                <a:spcPts val="400"/>
              </a:spcAft>
            </a:pPr>
            <a:r>
              <a:rPr sz="1200" b="0">
                <a:solidFill>
                  <a:srgbClr val="1F2328"/>
                </a:solidFill>
                <a:latin typeface="Microsoft JhengHei"/>
                <a:ea typeface="Microsoft JhengHei"/>
              </a:rPr>
              <a:t>• 風險：60 日 β = 0.63（大盤漲跌 1% 時約變動 0.63%），日波動 1.49%</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200" b="1">
                <a:solidFill>
                  <a:srgbClr val="1F3A5F"/>
                </a:solidFill>
                <a:latin typeface="Microsoft JhengHei"/>
                <a:ea typeface="Microsoft JhengHei"/>
              </a:rPr>
              <a:t>為何是這個股數</a:t>
            </a:r>
          </a:p>
          <a:p>
            <a:pPr>
              <a:spcAft>
                <a:spcPts val="400"/>
              </a:spcAft>
            </a:pPr>
            <a:r>
              <a:rPr sz="1000" b="0">
                <a:solidFill>
                  <a:srgbClr val="1F2328"/>
                </a:solidFill>
                <a:latin typeface="Microsoft JhengHei"/>
                <a:ea typeface="Microsoft JhengHei"/>
              </a:rPr>
              <a:t>• 籃子配置：穩健籃佔目標持股 25% → 目標金額 1,942,150 元（已持有 72,400 元）</a:t>
            </a:r>
          </a:p>
          <a:p>
            <a:pPr>
              <a:spcAft>
                <a:spcPts val="400"/>
              </a:spcAft>
            </a:pPr>
            <a:r>
              <a:rPr sz="1000" b="0">
                <a:solidFill>
                  <a:srgbClr val="1F2328"/>
                </a:solidFill>
                <a:latin typeface="Microsoft JhengHei"/>
                <a:ea typeface="Microsoft JhengHei"/>
              </a:rPr>
              <a:t>• 風險預算：總資產 8,631,779 元 × 每筆風險 0.8% × 信心係數 1.17（由穩健分數 +0.54 換算）= 80,966 元</a:t>
            </a:r>
          </a:p>
          <a:p>
            <a:pPr>
              <a:spcAft>
                <a:spcPts val="400"/>
              </a:spcAft>
            </a:pPr>
            <a:r>
              <a:rPr sz="1000" b="0">
                <a:solidFill>
                  <a:srgbClr val="1F2328"/>
                </a:solidFill>
                <a:latin typeface="Microsoft JhengHei"/>
                <a:ea typeface="Microsoft JhengHei"/>
              </a:rPr>
              <a:t>• 停損距離：取 2×ATR14 = 3.53 與距 10 日低點 68.30 的距離 4.00 之較大者 = 4.00 元（進場 72.30 → 停損 68.30 元，5.5%）</a:t>
            </a:r>
          </a:p>
          <a:p>
            <a:pPr>
              <a:spcAft>
                <a:spcPts val="400"/>
              </a:spcAft>
            </a:pPr>
            <a:r>
              <a:rPr sz="1000" b="0">
                <a:solidFill>
                  <a:srgbClr val="1F2328"/>
                </a:solidFill>
                <a:latin typeface="Microsoft JhengHei"/>
                <a:ea typeface="Microsoft JhengHei"/>
              </a:rPr>
              <a:t>• 風險法可買股數 = 80,966 ÷ 4.00 = 20,242 股</a:t>
            </a:r>
          </a:p>
          <a:p>
            <a:pPr>
              <a:spcAft>
                <a:spcPts val="400"/>
              </a:spcAft>
            </a:pPr>
            <a:r>
              <a:rPr sz="1000" b="0">
                <a:solidFill>
                  <a:srgbClr val="1F2328"/>
                </a:solidFill>
                <a:latin typeface="Microsoft JhengHei"/>
                <a:ea typeface="Microsoft JhengHei"/>
              </a:rPr>
              <a:t>• 穩健籃合計超過籃子上限，等比例下修 11,637 股</a:t>
            </a:r>
          </a:p>
          <a:p>
            <a:pPr>
              <a:spcAft>
                <a:spcPts val="400"/>
              </a:spcAft>
            </a:pPr>
            <a:r>
              <a:rPr sz="1000" b="0">
                <a:solidFill>
                  <a:srgbClr val="1F2328"/>
                </a:solidFill>
                <a:latin typeface="Microsoft JhengHei"/>
                <a:ea typeface="Microsoft JhengHei"/>
              </a:rPr>
              <a:t>• 進場價：穩健籃不追價：限價取預測開盤價 72.3 與前一日收盤 72.4000015258789 的較低者 = 72.3</a:t>
            </a:r>
          </a:p>
          <a:p>
            <a:pPr>
              <a:spcAft>
                <a:spcPts val="400"/>
              </a:spcAft>
            </a:pPr>
            <a:r>
              <a:rPr sz="1000" b="0">
                <a:solidFill>
                  <a:srgbClr val="1F2328"/>
                </a:solidFill>
                <a:latin typeface="Microsoft JhengHei"/>
                <a:ea typeface="Microsoft JhengHei"/>
              </a:rPr>
              <a:t>• 取整後：8 張又 604 股（共 8,604 股），金額約 622,069 元，佔總資產 7.2%</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【多買】穩健分數 +0.54 高，信心係數 1.17 ≥ 1 放大部位</a:t>
            </a:r>
          </a:p>
          <a:p>
            <a:pPr>
              <a:spcAft>
                <a:spcPts val="400"/>
              </a:spcAft>
            </a:pPr>
            <a:r>
              <a:rPr sz="1100" b="0">
                <a:solidFill>
                  <a:srgbClr val="1F2328"/>
                </a:solidFill>
                <a:latin typeface="Microsoft JhengHei"/>
                <a:ea typeface="Microsoft JhengHei"/>
              </a:rPr>
              <a:t>【多買】日均波動（ATR）2.4%，波動溫和 → 可承擔較多股數</a:t>
            </a:r>
          </a:p>
          <a:p>
            <a:pPr>
              <a:spcAft>
                <a:spcPts val="400"/>
              </a:spcAft>
            </a:pPr>
            <a:r>
              <a:rPr sz="1100" b="0">
                <a:solidFill>
                  <a:srgbClr val="1F2328"/>
                </a:solidFill>
                <a:latin typeface="Microsoft JhengHei"/>
                <a:ea typeface="Microsoft JhengHei"/>
              </a:rPr>
              <a:t>【多買】月營收年增 +22.7%，基本面支撐</a:t>
            </a:r>
          </a:p>
          <a:p>
            <a:pPr>
              <a:spcAft>
                <a:spcPts val="400"/>
              </a:spcAft>
            </a:pPr>
            <a:r>
              <a:rPr sz="1100" b="0">
                <a:solidFill>
                  <a:srgbClr val="1F2328"/>
                </a:solidFill>
                <a:latin typeface="Microsoft JhengHei"/>
                <a:ea typeface="Microsoft JhengHei"/>
              </a:rPr>
              <a:t>【少買】一個月收正報酬機率 59.3%，勝率普通</a:t>
            </a:r>
          </a:p>
          <a:p>
            <a:pPr>
              <a:spcAft>
                <a:spcPts val="400"/>
              </a:spcAft>
            </a:pPr>
            <a:r>
              <a:rPr sz="1100" b="0">
                <a:solidFill>
                  <a:srgbClr val="1F2328"/>
                </a:solidFill>
                <a:latin typeface="Microsoft JhengHei"/>
                <a:ea typeface="Microsoft JhengHei"/>
              </a:rPr>
              <a:t>【少買】預期最大回檔 -6.6%，下檔風險偏大</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停損：收盤跌破 68.30 元全數賣出 8 張又 604 股（共 8,604 股）</a:t>
            </a:r>
          </a:p>
          <a:p>
            <a:pPr>
              <a:spcAft>
                <a:spcPts val="400"/>
              </a:spcAft>
            </a:pPr>
            <a:r>
              <a:rPr sz="1100" b="0">
                <a:solidFill>
                  <a:srgbClr val="1F2328"/>
                </a:solidFill>
                <a:latin typeface="Microsoft JhengHei"/>
                <a:ea typeface="Microsoft JhengHei"/>
              </a:rPr>
              <a:t>• 訊號轉弱（穩健分數 ≤ -0.30）先減碼一半</a:t>
            </a:r>
          </a:p>
          <a:p>
            <a:pPr>
              <a:spcAft>
                <a:spcPts val="400"/>
              </a:spcAft>
            </a:pPr>
            <a:r>
              <a:rPr sz="1100" b="0">
                <a:solidFill>
                  <a:srgbClr val="1F2328"/>
                </a:solidFill>
                <a:latin typeface="Microsoft JhengHei"/>
                <a:ea typeface="Microsoft JhengHei"/>
              </a:rPr>
              <a:t>• 結單轉股：持有滿 10 個交易日後，綜合排名出現扣成本後預期多 1% 以上的股票就全部賣出換股；獲利已達 10% 時多 2% 就可以當天換</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買進【進攻籃】6456 GIS-KY｜13 張 + 968 股｜限價 103.0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37</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250" b="0">
                <a:solidFill>
                  <a:srgbClr val="1F2328"/>
                </a:solidFill>
                <a:latin typeface="Microsoft JhengHei"/>
                <a:ea typeface="Microsoft JhengHei"/>
              </a:rPr>
              <a:t>• 選入進攻籃因綜合分數 +0.78，創 52 週新高機率達 85.2%。依據風險預算與金額補足買進 13 張又 968 股（13,968 股），限價 103.0 元。停損價設為收盤跌破 92.70 元。</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【進攻籃】綜合分數 +0.78 達門檻（+0.30）；一個月模型預期超額報酬排名全市場前 1%、創新高機率 85.2%</a:t>
            </a:r>
          </a:p>
          <a:p>
            <a:pPr>
              <a:spcAft>
                <a:spcPts val="400"/>
              </a:spcAft>
            </a:pPr>
            <a:r>
              <a:rPr sz="1200" b="0">
                <a:solidFill>
                  <a:srgbClr val="1F2328"/>
                </a:solidFill>
                <a:latin typeface="Microsoft JhengHei"/>
                <a:ea typeface="Microsoft JhengHei"/>
              </a:rPr>
              <a:t>• 一個月模型：創 52 週新高機率 85.2%（全市場基準 17.9%，排名前 3%），預期超額報酬 +9.88%（排名前 1%）</a:t>
            </a:r>
          </a:p>
          <a:p>
            <a:pPr>
              <a:spcAft>
                <a:spcPts val="400"/>
              </a:spcAft>
            </a:pPr>
            <a:r>
              <a:rPr sz="1200" b="0">
                <a:solidFill>
                  <a:srgbClr val="1F2328"/>
                </a:solidFill>
                <a:latin typeface="Microsoft JhengHei"/>
                <a:ea typeface="Microsoft JhengHei"/>
              </a:rPr>
              <a:t>• 距 52 週高點 -5.6%（52 週高 108.0，現價 102.0）</a:t>
            </a:r>
          </a:p>
          <a:p>
            <a:pPr>
              <a:spcAft>
                <a:spcPts val="400"/>
              </a:spcAft>
            </a:pPr>
            <a:r>
              <a:rPr sz="1200" b="0">
                <a:solidFill>
                  <a:srgbClr val="1F2328"/>
                </a:solidFill>
                <a:latin typeface="Microsoft JhengHei"/>
                <a:ea typeface="Microsoft JhengHei"/>
              </a:rPr>
              <a:t>• 動能：近 20 日 +41.9%、近 60 日 +61.7%，相對大盤 20 日 +45.4%、60 日 +56.1%</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200" b="1">
                <a:solidFill>
                  <a:srgbClr val="1F3A5F"/>
                </a:solidFill>
                <a:latin typeface="Microsoft JhengHei"/>
                <a:ea typeface="Microsoft JhengHei"/>
              </a:rPr>
              <a:t>為何是這個股數</a:t>
            </a:r>
          </a:p>
          <a:p>
            <a:pPr>
              <a:spcAft>
                <a:spcPts val="400"/>
              </a:spcAft>
            </a:pPr>
            <a:r>
              <a:rPr sz="1000" b="0">
                <a:solidFill>
                  <a:srgbClr val="1F2328"/>
                </a:solidFill>
                <a:latin typeface="Microsoft JhengHei"/>
                <a:ea typeface="Microsoft JhengHei"/>
              </a:rPr>
              <a:t>• 籃子配置：進攻籃佔目標持股 75% → 目標金額 5,826,451 元（已持有 722,950 元）</a:t>
            </a:r>
          </a:p>
          <a:p>
            <a:pPr>
              <a:spcAft>
                <a:spcPts val="400"/>
              </a:spcAft>
            </a:pPr>
            <a:r>
              <a:rPr sz="1000" b="0">
                <a:solidFill>
                  <a:srgbClr val="1F2328"/>
                </a:solidFill>
                <a:latin typeface="Microsoft JhengHei"/>
                <a:ea typeface="Microsoft JhengHei"/>
              </a:rPr>
              <a:t>• 風險預算：總資產 8,631,779 元 × 每筆風險 0.8% × 信心係數 1.47（由綜合分數 +0.78 換算）= 101,769 元</a:t>
            </a:r>
          </a:p>
          <a:p>
            <a:pPr>
              <a:spcAft>
                <a:spcPts val="400"/>
              </a:spcAft>
            </a:pPr>
            <a:r>
              <a:rPr sz="1000" b="0">
                <a:solidFill>
                  <a:srgbClr val="1F2328"/>
                </a:solidFill>
                <a:latin typeface="Microsoft JhengHei"/>
                <a:ea typeface="Microsoft JhengHei"/>
              </a:rPr>
              <a:t>• 停損距離：取 2×ATR14 = 15.54 與距 10 日低點 83.30 的距離 19.70 之較大者，但不超過進場價 10%（10.30） = 10.30 元（進場 103.00 → 停損 92.70 元，10.0%）</a:t>
            </a:r>
          </a:p>
          <a:p>
            <a:pPr>
              <a:spcAft>
                <a:spcPts val="400"/>
              </a:spcAft>
            </a:pPr>
            <a:r>
              <a:rPr sz="1000" b="0">
                <a:solidFill>
                  <a:srgbClr val="1F2328"/>
                </a:solidFill>
                <a:latin typeface="Microsoft JhengHei"/>
                <a:ea typeface="Microsoft JhengHei"/>
              </a:rPr>
              <a:t>• 風險法可買股數 = 101,769 ÷ 10.30 = 9,880 股</a:t>
            </a:r>
          </a:p>
          <a:p>
            <a:pPr>
              <a:spcAft>
                <a:spcPts val="400"/>
              </a:spcAft>
            </a:pPr>
            <a:r>
              <a:rPr sz="1000" b="0">
                <a:solidFill>
                  <a:srgbClr val="1F2328"/>
                </a:solidFill>
                <a:latin typeface="Microsoft JhengHei"/>
                <a:ea typeface="Microsoft JhengHei"/>
              </a:rPr>
              <a:t>• 為補足進攻籃目標金額上調 4,089 股</a:t>
            </a:r>
          </a:p>
          <a:p>
            <a:pPr>
              <a:spcAft>
                <a:spcPts val="400"/>
              </a:spcAft>
            </a:pPr>
            <a:r>
              <a:rPr sz="1000" b="0">
                <a:solidFill>
                  <a:srgbClr val="1F2328"/>
                </a:solidFill>
                <a:latin typeface="Microsoft JhengHei"/>
                <a:ea typeface="Microsoft JhengHei"/>
              </a:rPr>
              <a:t>• 進場價：限價 = 預測開盤價 102.07 × (1 + 0.5%) = 103.0，提高成交機率</a:t>
            </a:r>
          </a:p>
          <a:p>
            <a:pPr>
              <a:spcAft>
                <a:spcPts val="400"/>
              </a:spcAft>
            </a:pPr>
            <a:r>
              <a:rPr sz="1000" b="0">
                <a:solidFill>
                  <a:srgbClr val="1F2328"/>
                </a:solidFill>
                <a:latin typeface="Microsoft JhengHei"/>
                <a:ea typeface="Microsoft JhengHei"/>
              </a:rPr>
              <a:t>• 取整後：13 張又 968 股（共 13,968 股），金額約 1,438,704 元，佔總資產 16.7%</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【多買】綜合分數 +0.78 高，信心係數 1.47 ≥ 1 放大部位</a:t>
            </a:r>
          </a:p>
          <a:p>
            <a:pPr>
              <a:spcAft>
                <a:spcPts val="400"/>
              </a:spcAft>
            </a:pPr>
            <a:r>
              <a:rPr sz="1100" b="0">
                <a:solidFill>
                  <a:srgbClr val="1F2328"/>
                </a:solidFill>
                <a:latin typeface="Microsoft JhengHei"/>
                <a:ea typeface="Microsoft JhengHei"/>
              </a:rPr>
              <a:t>【多買】一個月內創新高機率 85.2%，勝率高可多配置</a:t>
            </a:r>
          </a:p>
          <a:p>
            <a:pPr>
              <a:spcAft>
                <a:spcPts val="400"/>
              </a:spcAft>
            </a:pPr>
            <a:r>
              <a:rPr sz="1100" b="0">
                <a:solidFill>
                  <a:srgbClr val="1F2328"/>
                </a:solidFill>
                <a:latin typeface="Microsoft JhengHei"/>
                <a:ea typeface="Microsoft JhengHei"/>
              </a:rPr>
              <a:t>【多買】月營收年增 +30.8%，基本面支撐</a:t>
            </a:r>
          </a:p>
          <a:p>
            <a:pPr>
              <a:spcAft>
                <a:spcPts val="400"/>
              </a:spcAft>
            </a:pPr>
            <a:r>
              <a:rPr sz="1100" b="0">
                <a:solidFill>
                  <a:srgbClr val="1F2328"/>
                </a:solidFill>
                <a:latin typeface="Microsoft JhengHei"/>
                <a:ea typeface="Microsoft JhengHei"/>
              </a:rPr>
              <a:t>【少買】日均波動（ATR）7.6%，波動大 → 停損距離遠 → 股數少</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一個月目標：突破 52 週高點 108.0 元（距現價 5.6%）即確認創新高，續抱讓獲利奔跑</a:t>
            </a:r>
          </a:p>
          <a:p>
            <a:pPr>
              <a:spcAft>
                <a:spcPts val="400"/>
              </a:spcAft>
            </a:pPr>
            <a:r>
              <a:rPr sz="1100" b="0">
                <a:solidFill>
                  <a:srgbClr val="1F2328"/>
                </a:solidFill>
                <a:latin typeface="Microsoft JhengHei"/>
                <a:ea typeface="Microsoft JhengHei"/>
              </a:rPr>
              <a:t>• 停損：收盤跌破 92.70 元全數賣出 13 張又 968 股（共 13,968 股）</a:t>
            </a:r>
          </a:p>
          <a:p>
            <a:pPr>
              <a:spcAft>
                <a:spcPts val="400"/>
              </a:spcAft>
            </a:pPr>
            <a:r>
              <a:rPr sz="1100" b="0">
                <a:solidFill>
                  <a:srgbClr val="1F2328"/>
                </a:solidFill>
                <a:latin typeface="Microsoft JhengHei"/>
                <a:ea typeface="Microsoft JhengHei"/>
              </a:rPr>
              <a:t>• 訊號轉弱（綜合分數 ≤ -0.30）先減碼一半</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買進【進攻籃】2468 華經｜25 張 + 507 股｜限價 56.3</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38</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選入進攻籃因綜合分數 +0.77 且創 52 週新高機率高達 96.9%。經風險法計算後買進 25 張又 507 股（25,507 股），限價 56.3 元。跌破停損價 50.60 元全數出場。</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【進攻籃】綜合分數 +0.77 達門檻（+0.30）；一個月模型預期超額報酬排名全市場前 5%、創新高機率 96.9%</a:t>
            </a:r>
          </a:p>
          <a:p>
            <a:pPr>
              <a:spcAft>
                <a:spcPts val="400"/>
              </a:spcAft>
            </a:pPr>
            <a:r>
              <a:rPr sz="1200" b="0">
                <a:solidFill>
                  <a:srgbClr val="1F2328"/>
                </a:solidFill>
                <a:latin typeface="Microsoft JhengHei"/>
                <a:ea typeface="Microsoft JhengHei"/>
              </a:rPr>
              <a:t>• 一個月模型：創 52 週新高機率 96.9%（全市場基準 17.9%，排名前 0%），預期超額報酬 +7.18%（排名前 5%）</a:t>
            </a:r>
          </a:p>
          <a:p>
            <a:pPr>
              <a:spcAft>
                <a:spcPts val="400"/>
              </a:spcAft>
            </a:pPr>
            <a:r>
              <a:rPr sz="1200" b="0">
                <a:solidFill>
                  <a:srgbClr val="1F2328"/>
                </a:solidFill>
                <a:latin typeface="Microsoft JhengHei"/>
                <a:ea typeface="Microsoft JhengHei"/>
              </a:rPr>
              <a:t>• 距 52 週高點 +0.0%（52 週高 55.0，現價 55.0），正處於創高區</a:t>
            </a:r>
          </a:p>
          <a:p>
            <a:pPr>
              <a:spcAft>
                <a:spcPts val="400"/>
              </a:spcAft>
            </a:pPr>
            <a:r>
              <a:rPr sz="1200" b="0">
                <a:solidFill>
                  <a:srgbClr val="1F2328"/>
                </a:solidFill>
                <a:latin typeface="Microsoft JhengHei"/>
                <a:ea typeface="Microsoft JhengHei"/>
              </a:rPr>
              <a:t>• 動能：近 20 日 +18.1%、近 60 日 +58.7%，相對大盤 20 日 +21.7%、60 日 +53.2%</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200" b="1">
                <a:solidFill>
                  <a:srgbClr val="1F3A5F"/>
                </a:solidFill>
                <a:latin typeface="Microsoft JhengHei"/>
                <a:ea typeface="Microsoft JhengHei"/>
              </a:rPr>
              <a:t>為何是這個股數</a:t>
            </a:r>
          </a:p>
          <a:p>
            <a:pPr>
              <a:spcAft>
                <a:spcPts val="400"/>
              </a:spcAft>
            </a:pPr>
            <a:r>
              <a:rPr sz="1000" b="0">
                <a:solidFill>
                  <a:srgbClr val="1F2328"/>
                </a:solidFill>
                <a:latin typeface="Microsoft JhengHei"/>
                <a:ea typeface="Microsoft JhengHei"/>
              </a:rPr>
              <a:t>• 籃子配置：進攻籃佔目標持股 75% → 目標金額 5,826,451 元（已持有 722,950 元）</a:t>
            </a:r>
          </a:p>
          <a:p>
            <a:pPr>
              <a:spcAft>
                <a:spcPts val="400"/>
              </a:spcAft>
            </a:pPr>
            <a:r>
              <a:rPr sz="1000" b="0">
                <a:solidFill>
                  <a:srgbClr val="1F2328"/>
                </a:solidFill>
                <a:latin typeface="Microsoft JhengHei"/>
                <a:ea typeface="Microsoft JhengHei"/>
              </a:rPr>
              <a:t>• 風險預算：總資產 8,631,779 元 × 每筆風險 0.8% × 信心係數 1.47（由綜合分數 +0.77 換算）= 101,337 元</a:t>
            </a:r>
          </a:p>
          <a:p>
            <a:pPr>
              <a:spcAft>
                <a:spcPts val="400"/>
              </a:spcAft>
            </a:pPr>
            <a:r>
              <a:rPr sz="1000" b="0">
                <a:solidFill>
                  <a:srgbClr val="1F2328"/>
                </a:solidFill>
                <a:latin typeface="Microsoft JhengHei"/>
                <a:ea typeface="Microsoft JhengHei"/>
              </a:rPr>
              <a:t>• 停損距離：取 2×ATR14 = 7.28 與距 10 日低點 40.50 的距離 15.80 之較大者，但不超過進場價 10%（5.63） = 5.63 元（進場 56.30 → 停損 50.60 元，10.0%）</a:t>
            </a:r>
          </a:p>
          <a:p>
            <a:pPr>
              <a:spcAft>
                <a:spcPts val="400"/>
              </a:spcAft>
            </a:pPr>
            <a:r>
              <a:rPr sz="1000" b="0">
                <a:solidFill>
                  <a:srgbClr val="1F2328"/>
                </a:solidFill>
                <a:latin typeface="Microsoft JhengHei"/>
                <a:ea typeface="Microsoft JhengHei"/>
              </a:rPr>
              <a:t>• 風險法可買股數 = 101,337 ÷ 5.63 = 17,999 股</a:t>
            </a:r>
          </a:p>
          <a:p>
            <a:pPr>
              <a:spcAft>
                <a:spcPts val="400"/>
              </a:spcAft>
            </a:pPr>
            <a:r>
              <a:rPr sz="1000" b="0">
                <a:solidFill>
                  <a:srgbClr val="1F2328"/>
                </a:solidFill>
                <a:latin typeface="Microsoft JhengHei"/>
                <a:ea typeface="Microsoft JhengHei"/>
              </a:rPr>
              <a:t>• 為補足進攻籃目標金額上調 7,508 股</a:t>
            </a:r>
          </a:p>
          <a:p>
            <a:pPr>
              <a:spcAft>
                <a:spcPts val="400"/>
              </a:spcAft>
            </a:pPr>
            <a:r>
              <a:rPr sz="1000" b="0">
                <a:solidFill>
                  <a:srgbClr val="1F2328"/>
                </a:solidFill>
                <a:latin typeface="Microsoft JhengHei"/>
                <a:ea typeface="Microsoft JhengHei"/>
              </a:rPr>
              <a:t>• 進場價：限價 = 預測開盤價 55.98 × (1 + 0.5%) = 56.3，提高成交機率</a:t>
            </a:r>
          </a:p>
          <a:p>
            <a:pPr>
              <a:spcAft>
                <a:spcPts val="400"/>
              </a:spcAft>
            </a:pPr>
            <a:r>
              <a:rPr sz="1000" b="0">
                <a:solidFill>
                  <a:srgbClr val="1F2328"/>
                </a:solidFill>
                <a:latin typeface="Microsoft JhengHei"/>
                <a:ea typeface="Microsoft JhengHei"/>
              </a:rPr>
              <a:t>• 取整後：25 張又 507 股（共 25,507 股），金額約 1,436,044 元，佔總資產 16.6%</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【多買】綜合分數 +0.77 高，信心係數 1.47 ≥ 1 放大部位</a:t>
            </a:r>
          </a:p>
          <a:p>
            <a:pPr>
              <a:spcAft>
                <a:spcPts val="400"/>
              </a:spcAft>
            </a:pPr>
            <a:r>
              <a:rPr sz="1100" b="0">
                <a:solidFill>
                  <a:srgbClr val="1F2328"/>
                </a:solidFill>
                <a:latin typeface="Microsoft JhengHei"/>
                <a:ea typeface="Microsoft JhengHei"/>
              </a:rPr>
              <a:t>【多買】一個月內創新高機率 96.9%，勝率高可多配置</a:t>
            </a:r>
          </a:p>
          <a:p>
            <a:pPr>
              <a:spcAft>
                <a:spcPts val="400"/>
              </a:spcAft>
            </a:pPr>
            <a:r>
              <a:rPr sz="1100" b="0">
                <a:solidFill>
                  <a:srgbClr val="1F2328"/>
                </a:solidFill>
                <a:latin typeface="Microsoft JhengHei"/>
                <a:ea typeface="Microsoft JhengHei"/>
              </a:rPr>
              <a:t>【多買】月營收年增 +68.8%，基本面支撐</a:t>
            </a:r>
          </a:p>
          <a:p>
            <a:pPr>
              <a:spcAft>
                <a:spcPts val="400"/>
              </a:spcAft>
            </a:pPr>
            <a:r>
              <a:rPr sz="1100" b="0">
                <a:solidFill>
                  <a:srgbClr val="1F2328"/>
                </a:solidFill>
                <a:latin typeface="Microsoft JhengHei"/>
                <a:ea typeface="Microsoft JhengHei"/>
              </a:rPr>
              <a:t>【少買】日均波動（ATR）6.6%，波動大 → 停損距離遠 → 股數少</a:t>
            </a:r>
          </a:p>
          <a:p>
            <a:pPr>
              <a:spcAft>
                <a:spcPts val="400"/>
              </a:spcAft>
            </a:pPr>
            <a:r>
              <a:rPr sz="1100" b="0">
                <a:solidFill>
                  <a:srgbClr val="1F2328"/>
                </a:solidFill>
                <a:latin typeface="Microsoft JhengHei"/>
                <a:ea typeface="Microsoft JhengHei"/>
              </a:rPr>
              <a:t>【少買】此檔開盤預測模型回測命中率未達門檻，預測權重已降低</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一個月目標：突破 52 週高點 55.0 元（距現價 -0.0%）即確認創新高，續抱讓獲利奔跑</a:t>
            </a:r>
          </a:p>
          <a:p>
            <a:pPr>
              <a:spcAft>
                <a:spcPts val="400"/>
              </a:spcAft>
            </a:pPr>
            <a:r>
              <a:rPr sz="1100" b="0">
                <a:solidFill>
                  <a:srgbClr val="1F2328"/>
                </a:solidFill>
                <a:latin typeface="Microsoft JhengHei"/>
                <a:ea typeface="Microsoft JhengHei"/>
              </a:rPr>
              <a:t>• 停損：收盤跌破 50.60 元全數賣出 25 張又 507 股（共 25,507 股）</a:t>
            </a:r>
          </a:p>
          <a:p>
            <a:pPr>
              <a:spcAft>
                <a:spcPts val="400"/>
              </a:spcAft>
            </a:pPr>
            <a:r>
              <a:rPr sz="1100" b="0">
                <a:solidFill>
                  <a:srgbClr val="1F2328"/>
                </a:solidFill>
                <a:latin typeface="Microsoft JhengHei"/>
                <a:ea typeface="Microsoft JhengHei"/>
              </a:rPr>
              <a:t>• 訊號轉弱（綜合分數 ≤ -0.30）先減碼一半</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買進【進攻籃】6756 威鋒電子｜10 張 + 360 股｜限價 122.5</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39</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選入進攻籃因綜合分數 +0.75 且營收年增 +66.2%。因指標偏熱採回檔限價 122.5 元買進 10 張又 360 股（10,360 股）。收盤跌破 110.00 元執行停損。</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【進攻籃】綜合分數 +0.75 達門檻（+0.30）；一個月模型預期超額報酬排名全市場前 4%、創新高機率 73.2%</a:t>
            </a:r>
          </a:p>
          <a:p>
            <a:pPr>
              <a:spcAft>
                <a:spcPts val="400"/>
              </a:spcAft>
            </a:pPr>
            <a:r>
              <a:rPr sz="1200" b="0">
                <a:solidFill>
                  <a:srgbClr val="1F2328"/>
                </a:solidFill>
                <a:latin typeface="Microsoft JhengHei"/>
                <a:ea typeface="Microsoft JhengHei"/>
              </a:rPr>
              <a:t>• 一個月模型：創 52 週新高機率 73.2%（全市場基準 17.9%，排名前 6%），預期超額報酬 +7.36%（排名前 4%）</a:t>
            </a:r>
          </a:p>
          <a:p>
            <a:pPr>
              <a:spcAft>
                <a:spcPts val="400"/>
              </a:spcAft>
            </a:pPr>
            <a:r>
              <a:rPr sz="1200" b="0">
                <a:solidFill>
                  <a:srgbClr val="1F2328"/>
                </a:solidFill>
                <a:latin typeface="Microsoft JhengHei"/>
                <a:ea typeface="Microsoft JhengHei"/>
              </a:rPr>
              <a:t>• 距 52 週高點 -6.7%（52 週高 134.5，現價 125.5）</a:t>
            </a:r>
          </a:p>
          <a:p>
            <a:pPr>
              <a:spcAft>
                <a:spcPts val="400"/>
              </a:spcAft>
            </a:pPr>
            <a:r>
              <a:rPr sz="1200" b="0">
                <a:solidFill>
                  <a:srgbClr val="1F2328"/>
                </a:solidFill>
                <a:latin typeface="Microsoft JhengHei"/>
                <a:ea typeface="Microsoft JhengHei"/>
              </a:rPr>
              <a:t>• 動能：近 20 日 +29.4%、近 60 日 +32.1%，相對大盤 20 日 +32.9%、60 日 +26.6%</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150" b="1">
                <a:solidFill>
                  <a:srgbClr val="1F3A5F"/>
                </a:solidFill>
                <a:latin typeface="Microsoft JhengHei"/>
                <a:ea typeface="Microsoft JhengHei"/>
              </a:rPr>
              <a:t>為何是這個股數</a:t>
            </a:r>
          </a:p>
          <a:p>
            <a:pPr>
              <a:spcAft>
                <a:spcPts val="400"/>
              </a:spcAft>
            </a:pPr>
            <a:r>
              <a:rPr sz="950" b="0">
                <a:solidFill>
                  <a:srgbClr val="1F2328"/>
                </a:solidFill>
                <a:latin typeface="Microsoft JhengHei"/>
                <a:ea typeface="Microsoft JhengHei"/>
              </a:rPr>
              <a:t>• 籃子配置：進攻籃佔目標持股 75% → 目標金額 5,826,451 元（已持有 722,950 元）</a:t>
            </a:r>
          </a:p>
          <a:p>
            <a:pPr>
              <a:spcAft>
                <a:spcPts val="400"/>
              </a:spcAft>
            </a:pPr>
            <a:r>
              <a:rPr sz="950" b="0">
                <a:solidFill>
                  <a:srgbClr val="1F2328"/>
                </a:solidFill>
                <a:latin typeface="Microsoft JhengHei"/>
                <a:ea typeface="Microsoft JhengHei"/>
              </a:rPr>
              <a:t>• 風險預算：總資產 8,631,779 元 × 每筆風險 0.8% × 信心係數 1.44（由綜合分數 +0.75 換算）= 99,524 元</a:t>
            </a:r>
          </a:p>
          <a:p>
            <a:pPr>
              <a:spcAft>
                <a:spcPts val="400"/>
              </a:spcAft>
            </a:pPr>
            <a:r>
              <a:rPr sz="950" b="0">
                <a:solidFill>
                  <a:srgbClr val="1F2328"/>
                </a:solidFill>
                <a:latin typeface="Microsoft JhengHei"/>
                <a:ea typeface="Microsoft JhengHei"/>
              </a:rPr>
              <a:t>• 停損距離：取 2×ATR14 = 11.61 與距 10 日低點 91.80 的距離 30.70 之較大者，但不超過進場價 10%（12.25） = 12.25 元（進場 122.50 → 停損 110.00 元，10.0%）</a:t>
            </a:r>
          </a:p>
          <a:p>
            <a:pPr>
              <a:spcAft>
                <a:spcPts val="400"/>
              </a:spcAft>
            </a:pPr>
            <a:r>
              <a:rPr sz="950" b="0">
                <a:solidFill>
                  <a:srgbClr val="1F2328"/>
                </a:solidFill>
                <a:latin typeface="Microsoft JhengHei"/>
                <a:ea typeface="Microsoft JhengHei"/>
              </a:rPr>
              <a:t>• 風險法可買股數 = 99,524 ÷ 12.25 = 8,124 股</a:t>
            </a:r>
          </a:p>
          <a:p>
            <a:pPr>
              <a:spcAft>
                <a:spcPts val="400"/>
              </a:spcAft>
            </a:pPr>
            <a:r>
              <a:rPr sz="950" b="0">
                <a:solidFill>
                  <a:srgbClr val="1F2328"/>
                </a:solidFill>
                <a:latin typeface="Microsoft JhengHei"/>
                <a:ea typeface="Microsoft JhengHei"/>
              </a:rPr>
              <a:t>• 為補足進攻籃目標金額上調 2,236 股</a:t>
            </a:r>
          </a:p>
          <a:p>
            <a:pPr>
              <a:spcAft>
                <a:spcPts val="400"/>
              </a:spcAft>
            </a:pPr>
            <a:r>
              <a:rPr sz="950" b="0">
                <a:solidFill>
                  <a:srgbClr val="1F2328"/>
                </a:solidFill>
                <a:latin typeface="Microsoft JhengHei"/>
                <a:ea typeface="Microsoft JhengHei"/>
              </a:rPr>
              <a:t>• 進場價：RSI14 = 78.8 &gt; 75 偏熱，不追價：限價設在前一日收盤 125.5 − 0.5×ATR 5.81 = 122.5，等回檔才買（可能當日不成交）</a:t>
            </a:r>
          </a:p>
          <a:p>
            <a:pPr>
              <a:spcAft>
                <a:spcPts val="400"/>
              </a:spcAft>
            </a:pPr>
            <a:r>
              <a:rPr sz="950" b="0">
                <a:solidFill>
                  <a:srgbClr val="1F2328"/>
                </a:solidFill>
                <a:latin typeface="Microsoft JhengHei"/>
                <a:ea typeface="Microsoft JhengHei"/>
              </a:rPr>
              <a:t>• 取整後：10 張又 360 股（共 10,360 股），金額約 1,269,100 元，佔總資產 14.7%</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【多買】綜合分數 +0.75 高，信心係數 1.44 ≥ 1 放大部位</a:t>
            </a:r>
          </a:p>
          <a:p>
            <a:pPr>
              <a:spcAft>
                <a:spcPts val="400"/>
              </a:spcAft>
            </a:pPr>
            <a:r>
              <a:rPr sz="1100" b="0">
                <a:solidFill>
                  <a:srgbClr val="1F2328"/>
                </a:solidFill>
                <a:latin typeface="Microsoft JhengHei"/>
                <a:ea typeface="Microsoft JhengHei"/>
              </a:rPr>
              <a:t>【多買】一個月內創新高機率 73.2%，勝率高可多配置</a:t>
            </a:r>
          </a:p>
          <a:p>
            <a:pPr>
              <a:spcAft>
                <a:spcPts val="400"/>
              </a:spcAft>
            </a:pPr>
            <a:r>
              <a:rPr sz="1100" b="0">
                <a:solidFill>
                  <a:srgbClr val="1F2328"/>
                </a:solidFill>
                <a:latin typeface="Microsoft JhengHei"/>
                <a:ea typeface="Microsoft JhengHei"/>
              </a:rPr>
              <a:t>【多買】月營收年增 +66.2%，基本面支撐</a:t>
            </a:r>
          </a:p>
          <a:p>
            <a:pPr>
              <a:spcAft>
                <a:spcPts val="400"/>
              </a:spcAft>
            </a:pPr>
            <a:r>
              <a:rPr sz="1100" b="0">
                <a:solidFill>
                  <a:srgbClr val="1F2328"/>
                </a:solidFill>
                <a:latin typeface="Microsoft JhengHei"/>
                <a:ea typeface="Microsoft JhengHei"/>
              </a:rPr>
              <a:t>【少買】日均波動（ATR）4.6%，波動大 → 停損距離遠 → 股數少</a:t>
            </a:r>
          </a:p>
          <a:p>
            <a:pPr>
              <a:spcAft>
                <a:spcPts val="400"/>
              </a:spcAft>
            </a:pPr>
            <a:r>
              <a:rPr sz="1100" b="0">
                <a:solidFill>
                  <a:srgbClr val="1F2328"/>
                </a:solidFill>
                <a:latin typeface="Microsoft JhengHei"/>
                <a:ea typeface="Microsoft JhengHei"/>
              </a:rPr>
              <a:t>【少買】RSI14 = 78.8 偏熱，限價等回檔，可能買不到或買得少</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一個月目標：突破 52 週高點 134.5 元（距現價 6.7%）即確認創新高，續抱讓獲利奔跑</a:t>
            </a:r>
          </a:p>
          <a:p>
            <a:pPr>
              <a:spcAft>
                <a:spcPts val="400"/>
              </a:spcAft>
            </a:pPr>
            <a:r>
              <a:rPr sz="1100" b="0">
                <a:solidFill>
                  <a:srgbClr val="1F2328"/>
                </a:solidFill>
                <a:latin typeface="Microsoft JhengHei"/>
                <a:ea typeface="Microsoft JhengHei"/>
              </a:rPr>
              <a:t>• 停損：收盤跌破 110.00 元全數賣出 10 張又 360 股（共 10,360 股）</a:t>
            </a:r>
          </a:p>
          <a:p>
            <a:pPr>
              <a:spcAft>
                <a:spcPts val="400"/>
              </a:spcAft>
            </a:pPr>
            <a:r>
              <a:rPr sz="1100" b="0">
                <a:solidFill>
                  <a:srgbClr val="1F2328"/>
                </a:solidFill>
                <a:latin typeface="Microsoft JhengHei"/>
                <a:ea typeface="Microsoft JhengHei"/>
              </a:rPr>
              <a:t>• 訊號轉弱（綜合分數 ≤ -0.30）先減碼一半</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買進【進攻籃】3037 欣興｜0 張 + 888 股｜限價 1080.0</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40</a:t>
            </a:r>
          </a:p>
        </p:txBody>
      </p:sp>
      <p:sp>
        <p:nvSpPr>
          <p:cNvPr id="5" name="TextBox 4"/>
          <p:cNvSpPr txBox="1"/>
          <p:nvPr/>
        </p:nvSpPr>
        <p:spPr>
          <a:xfrm>
            <a:off x="594360" y="1143000"/>
            <a:ext cx="10972800" cy="45720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選入進攻籃因綜合分數 +0.32 且獲主動式ETF青睞。採不追高限價 1080.0 元買進 888 股（零股）。停損價設為收盤跌破 972.00 元。</a:t>
            </a:r>
          </a:p>
        </p:txBody>
      </p:sp>
      <p:sp>
        <p:nvSpPr>
          <p:cNvPr id="6" name="Rectangle 5"/>
          <p:cNvSpPr/>
          <p:nvPr/>
        </p:nvSpPr>
        <p:spPr>
          <a:xfrm>
            <a:off x="45720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5212080" cy="2468880"/>
          </a:xfrm>
          <a:prstGeom prst="rect">
            <a:avLst/>
          </a:prstGeom>
          <a:noFill/>
        </p:spPr>
        <p:txBody>
          <a:bodyPr wrap="square">
            <a:spAutoFit/>
          </a:bodyPr>
          <a:lstStyle/>
          <a:p>
            <a:r>
              <a:rPr sz="1400" b="1">
                <a:solidFill>
                  <a:srgbClr val="1F3A5F"/>
                </a:solidFill>
                <a:latin typeface="Microsoft JhengHei"/>
                <a:ea typeface="Microsoft JhengHei"/>
              </a:rPr>
              <a:t>為何選擇這檔</a:t>
            </a:r>
          </a:p>
          <a:p>
            <a:pPr>
              <a:spcAft>
                <a:spcPts val="400"/>
              </a:spcAft>
            </a:pPr>
            <a:r>
              <a:rPr sz="1200" b="0">
                <a:solidFill>
                  <a:srgbClr val="1F2328"/>
                </a:solidFill>
                <a:latin typeface="Microsoft JhengHei"/>
                <a:ea typeface="Microsoft JhengHei"/>
              </a:rPr>
              <a:t>【進攻籃】綜合分數 +0.32 達門檻（+0.30）；一個月模型預期超額報酬排名全市場前 14%、創新高機率 16.4%</a:t>
            </a:r>
          </a:p>
          <a:p>
            <a:pPr>
              <a:spcAft>
                <a:spcPts val="400"/>
              </a:spcAft>
            </a:pPr>
            <a:r>
              <a:rPr sz="1200" b="0">
                <a:solidFill>
                  <a:srgbClr val="1F2328"/>
                </a:solidFill>
                <a:latin typeface="Microsoft JhengHei"/>
                <a:ea typeface="Microsoft JhengHei"/>
              </a:rPr>
              <a:t>• 一個月模型：創 52 週新高機率 16.4%（全市場基準 17.9%，排名前 34%），預期超額報酬 +4.88%（排名前 14%）</a:t>
            </a:r>
          </a:p>
          <a:p>
            <a:pPr>
              <a:spcAft>
                <a:spcPts val="400"/>
              </a:spcAft>
            </a:pPr>
            <a:r>
              <a:rPr sz="1200" b="0">
                <a:solidFill>
                  <a:srgbClr val="1F2328"/>
                </a:solidFill>
                <a:latin typeface="Microsoft JhengHei"/>
                <a:ea typeface="Microsoft JhengHei"/>
              </a:rPr>
              <a:t>• 距 52 週高點 -23.6%（52 週高 1420.0，現價 1085.0）</a:t>
            </a:r>
          </a:p>
          <a:p>
            <a:pPr>
              <a:spcAft>
                <a:spcPts val="400"/>
              </a:spcAft>
            </a:pPr>
            <a:r>
              <a:rPr sz="1200" b="0">
                <a:solidFill>
                  <a:srgbClr val="1F2328"/>
                </a:solidFill>
                <a:latin typeface="Microsoft JhengHei"/>
                <a:ea typeface="Microsoft JhengHei"/>
              </a:rPr>
              <a:t>• 動能：近 20 日 +6.4%、近 60 日 +28.0%，相對大盤 20 日 +9.9%、60 日 +22.4%</a:t>
            </a:r>
          </a:p>
        </p:txBody>
      </p:sp>
      <p:sp>
        <p:nvSpPr>
          <p:cNvPr id="8" name="Rectangle 7"/>
          <p:cNvSpPr/>
          <p:nvPr/>
        </p:nvSpPr>
        <p:spPr>
          <a:xfrm>
            <a:off x="6217920" y="1737360"/>
            <a:ext cx="5486400" cy="265176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5212080" cy="2468880"/>
          </a:xfrm>
          <a:prstGeom prst="rect">
            <a:avLst/>
          </a:prstGeom>
          <a:noFill/>
        </p:spPr>
        <p:txBody>
          <a:bodyPr wrap="square">
            <a:spAutoFit/>
          </a:bodyPr>
          <a:lstStyle/>
          <a:p>
            <a:r>
              <a:rPr sz="1200" b="1">
                <a:solidFill>
                  <a:srgbClr val="1F3A5F"/>
                </a:solidFill>
                <a:latin typeface="Microsoft JhengHei"/>
                <a:ea typeface="Microsoft JhengHei"/>
              </a:rPr>
              <a:t>為何是這個股數</a:t>
            </a:r>
          </a:p>
          <a:p>
            <a:pPr>
              <a:spcAft>
                <a:spcPts val="400"/>
              </a:spcAft>
            </a:pPr>
            <a:r>
              <a:rPr sz="1000" b="0">
                <a:solidFill>
                  <a:srgbClr val="1F2328"/>
                </a:solidFill>
                <a:latin typeface="Microsoft JhengHei"/>
                <a:ea typeface="Microsoft JhengHei"/>
              </a:rPr>
              <a:t>• 籃子配置：進攻籃佔目標持股 75% → 目標金額 5,826,451 元（已持有 722,950 元）</a:t>
            </a:r>
          </a:p>
          <a:p>
            <a:pPr>
              <a:spcAft>
                <a:spcPts val="400"/>
              </a:spcAft>
            </a:pPr>
            <a:r>
              <a:rPr sz="1000" b="0">
                <a:solidFill>
                  <a:srgbClr val="1F2328"/>
                </a:solidFill>
                <a:latin typeface="Microsoft JhengHei"/>
                <a:ea typeface="Microsoft JhengHei"/>
              </a:rPr>
              <a:t>• 風險預算：總資產 8,631,779 元 × 每筆風險 0.8% × 信心係數 0.90（由綜合分數 +0.32 換算）= 61,976 元</a:t>
            </a:r>
          </a:p>
          <a:p>
            <a:pPr>
              <a:spcAft>
                <a:spcPts val="400"/>
              </a:spcAft>
            </a:pPr>
            <a:r>
              <a:rPr sz="1000" b="0">
                <a:solidFill>
                  <a:srgbClr val="1F2328"/>
                </a:solidFill>
                <a:latin typeface="Microsoft JhengHei"/>
                <a:ea typeface="Microsoft JhengHei"/>
              </a:rPr>
              <a:t>• 停損距離：取 2×ATR14 = 155.71 與距 10 日低點 1040.00 的距離 40.00 之較大者，但不超過進場價 10%（108.00） = 108.00 元（進場 1080.00 → 停損 972.00 元，10.0%）</a:t>
            </a:r>
          </a:p>
          <a:p>
            <a:pPr>
              <a:spcAft>
                <a:spcPts val="400"/>
              </a:spcAft>
            </a:pPr>
            <a:r>
              <a:rPr sz="1000" b="0">
                <a:solidFill>
                  <a:srgbClr val="1F2328"/>
                </a:solidFill>
                <a:latin typeface="Microsoft JhengHei"/>
                <a:ea typeface="Microsoft JhengHei"/>
              </a:rPr>
              <a:t>• 風險法可買股數 = 61,976 ÷ 108.00 = 574 股</a:t>
            </a:r>
          </a:p>
          <a:p>
            <a:pPr>
              <a:spcAft>
                <a:spcPts val="400"/>
              </a:spcAft>
            </a:pPr>
            <a:r>
              <a:rPr sz="1000" b="0">
                <a:solidFill>
                  <a:srgbClr val="1F2328"/>
                </a:solidFill>
                <a:latin typeface="Microsoft JhengHei"/>
                <a:ea typeface="Microsoft JhengHei"/>
              </a:rPr>
              <a:t>• 為補足進攻籃目標金額上調 315 股</a:t>
            </a:r>
          </a:p>
          <a:p>
            <a:pPr>
              <a:spcAft>
                <a:spcPts val="400"/>
              </a:spcAft>
            </a:pPr>
            <a:r>
              <a:rPr sz="1000" b="0">
                <a:solidFill>
                  <a:srgbClr val="1F2328"/>
                </a:solidFill>
                <a:latin typeface="Microsoft JhengHei"/>
                <a:ea typeface="Microsoft JhengHei"/>
              </a:rPr>
              <a:t>• 進場價：模型預測開高回落，限價設於預測開盤價 1086.78 × (1 -0.30%) = 1080.0，不追高</a:t>
            </a:r>
          </a:p>
          <a:p>
            <a:pPr>
              <a:spcAft>
                <a:spcPts val="400"/>
              </a:spcAft>
            </a:pPr>
            <a:r>
              <a:rPr sz="1000" b="0">
                <a:solidFill>
                  <a:srgbClr val="1F2328"/>
                </a:solidFill>
                <a:latin typeface="Microsoft JhengHei"/>
                <a:ea typeface="Microsoft JhengHei"/>
              </a:rPr>
              <a:t>• 取整後：888 股（零股），金額約 959,040 元，佔總資產 11.1%</a:t>
            </a:r>
          </a:p>
        </p:txBody>
      </p:sp>
      <p:sp>
        <p:nvSpPr>
          <p:cNvPr id="10" name="TextBox 9"/>
          <p:cNvSpPr txBox="1"/>
          <p:nvPr/>
        </p:nvSpPr>
        <p:spPr>
          <a:xfrm>
            <a:off x="59436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多買／少買原因</a:t>
            </a:r>
          </a:p>
          <a:p>
            <a:pPr>
              <a:spcAft>
                <a:spcPts val="400"/>
              </a:spcAft>
            </a:pPr>
            <a:r>
              <a:rPr sz="1100" b="0">
                <a:solidFill>
                  <a:srgbClr val="1F2328"/>
                </a:solidFill>
                <a:latin typeface="Microsoft JhengHei"/>
                <a:ea typeface="Microsoft JhengHei"/>
              </a:rPr>
              <a:t>【多買】月營收年增 +64.7%，基本面支撐</a:t>
            </a:r>
          </a:p>
          <a:p>
            <a:pPr>
              <a:spcAft>
                <a:spcPts val="400"/>
              </a:spcAft>
            </a:pPr>
            <a:r>
              <a:rPr sz="1100" b="0">
                <a:solidFill>
                  <a:srgbClr val="1F2328"/>
                </a:solidFill>
                <a:latin typeface="Microsoft JhengHei"/>
                <a:ea typeface="Microsoft JhengHei"/>
              </a:rPr>
              <a:t>【少買】綜合分數 +0.32 普通，信心係數 0.90 &lt; 1 縮小部位</a:t>
            </a:r>
          </a:p>
          <a:p>
            <a:pPr>
              <a:spcAft>
                <a:spcPts val="400"/>
              </a:spcAft>
            </a:pPr>
            <a:r>
              <a:rPr sz="1100" b="0">
                <a:solidFill>
                  <a:srgbClr val="1F2328"/>
                </a:solidFill>
                <a:latin typeface="Microsoft JhengHei"/>
                <a:ea typeface="Microsoft JhengHei"/>
              </a:rPr>
              <a:t>【少買】日均波動（ATR）7.2%，波動大 → 停損距離遠 → 股數少</a:t>
            </a:r>
          </a:p>
          <a:p>
            <a:pPr>
              <a:spcAft>
                <a:spcPts val="400"/>
              </a:spcAft>
            </a:pPr>
            <a:r>
              <a:rPr sz="1100" b="0">
                <a:solidFill>
                  <a:srgbClr val="1F2328"/>
                </a:solidFill>
                <a:latin typeface="Microsoft JhengHei"/>
                <a:ea typeface="Microsoft JhengHei"/>
              </a:rPr>
              <a:t>【少買】一個月內創新高機率 16.4%，勝率普通故保守配置</a:t>
            </a:r>
          </a:p>
        </p:txBody>
      </p:sp>
      <p:sp>
        <p:nvSpPr>
          <p:cNvPr id="11" name="TextBox 10"/>
          <p:cNvSpPr txBox="1"/>
          <p:nvPr/>
        </p:nvSpPr>
        <p:spPr>
          <a:xfrm>
            <a:off x="6355080" y="4617720"/>
            <a:ext cx="5212080" cy="1645920"/>
          </a:xfrm>
          <a:prstGeom prst="rect">
            <a:avLst/>
          </a:prstGeom>
          <a:noFill/>
        </p:spPr>
        <p:txBody>
          <a:bodyPr wrap="square">
            <a:spAutoFit/>
          </a:bodyPr>
          <a:lstStyle/>
          <a:p>
            <a:r>
              <a:rPr sz="1300" b="1">
                <a:solidFill>
                  <a:srgbClr val="1F3A5F"/>
                </a:solidFill>
                <a:latin typeface="Microsoft JhengHei"/>
                <a:ea typeface="Microsoft JhengHei"/>
              </a:rPr>
              <a:t>出場計畫（賣出條件與張數）</a:t>
            </a:r>
          </a:p>
          <a:p>
            <a:pPr>
              <a:spcAft>
                <a:spcPts val="400"/>
              </a:spcAft>
            </a:pPr>
            <a:r>
              <a:rPr sz="1100" b="0">
                <a:solidFill>
                  <a:srgbClr val="1F2328"/>
                </a:solidFill>
                <a:latin typeface="Microsoft JhengHei"/>
                <a:ea typeface="Microsoft JhengHei"/>
              </a:rPr>
              <a:t>• 一個月目標：突破 52 週高點 1420.0 元（距現價 23.6%）即確認創新高，續抱讓獲利奔跑</a:t>
            </a:r>
          </a:p>
          <a:p>
            <a:pPr>
              <a:spcAft>
                <a:spcPts val="400"/>
              </a:spcAft>
            </a:pPr>
            <a:r>
              <a:rPr sz="1100" b="0">
                <a:solidFill>
                  <a:srgbClr val="1F2328"/>
                </a:solidFill>
                <a:latin typeface="Microsoft JhengHei"/>
                <a:ea typeface="Microsoft JhengHei"/>
              </a:rPr>
              <a:t>• 停損：收盤跌破 972.00 元全數賣出 888 股（零股）</a:t>
            </a:r>
          </a:p>
          <a:p>
            <a:pPr>
              <a:spcAft>
                <a:spcPts val="400"/>
              </a:spcAft>
            </a:pPr>
            <a:r>
              <a:rPr sz="1100" b="0">
                <a:solidFill>
                  <a:srgbClr val="1F2328"/>
                </a:solidFill>
                <a:latin typeface="Microsoft JhengHei"/>
                <a:ea typeface="Microsoft JhengHei"/>
              </a:rPr>
              <a:t>• 訊號轉弱（綜合分數 ≤ -0.30）先減碼一半</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執行後持股配置</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41</a:t>
            </a:r>
          </a:p>
        </p:txBody>
      </p:sp>
      <p:pic>
        <p:nvPicPr>
          <p:cNvPr id="5" name="Picture 4" descr="2026-10-23_盤後檢討與隔日預掛單_alloc.png"/>
          <p:cNvPicPr>
            <a:picLocks noChangeAspect="1"/>
          </p:cNvPicPr>
          <p:nvPr/>
        </p:nvPicPr>
        <p:blipFill>
          <a:blip r:embed="rId2"/>
          <a:stretch>
            <a:fillRect/>
          </a:stretch>
        </p:blipFill>
        <p:spPr>
          <a:xfrm>
            <a:off x="365760" y="1097280"/>
            <a:ext cx="4456555" cy="5212080"/>
          </a:xfrm>
          <a:prstGeom prst="rect">
            <a:avLst/>
          </a:prstGeom>
        </p:spPr>
      </p:pic>
      <p:sp>
        <p:nvSpPr>
          <p:cNvPr id="6" name="Rectangle 5"/>
          <p:cNvSpPr/>
          <p:nvPr/>
        </p:nvSpPr>
        <p:spPr>
          <a:xfrm>
            <a:off x="8138160" y="1188720"/>
            <a:ext cx="3657600" cy="5029200"/>
          </a:xfrm>
          <a:prstGeom prst="rect">
            <a:avLst/>
          </a:prstGeom>
          <a:solidFill>
            <a:srgbClr val="F3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280160"/>
            <a:ext cx="3383280" cy="4846320"/>
          </a:xfrm>
          <a:prstGeom prst="rect">
            <a:avLst/>
          </a:prstGeom>
          <a:noFill/>
        </p:spPr>
        <p:txBody>
          <a:bodyPr wrap="square">
            <a:spAutoFit/>
          </a:bodyPr>
          <a:lstStyle/>
          <a:p>
            <a:pPr>
              <a:spcAft>
                <a:spcPts val="400"/>
              </a:spcAft>
            </a:pPr>
            <a:r>
              <a:rPr sz="1300" b="0">
                <a:solidFill>
                  <a:srgbClr val="1F2328"/>
                </a:solidFill>
                <a:latin typeface="Microsoft JhengHei"/>
                <a:ea typeface="Microsoft JhengHei"/>
              </a:rPr>
              <a:t>• 期貨戶轉入證券戶：675,300 元</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競賽規則檢查</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42</a:t>
            </a:r>
          </a:p>
        </p:txBody>
      </p:sp>
      <p:graphicFrame>
        <p:nvGraphicFramePr>
          <p:cNvPr id="5" name="Table 4"/>
          <p:cNvGraphicFramePr>
            <a:graphicFrameLocks noGrp="1"/>
          </p:cNvGraphicFramePr>
          <p:nvPr/>
        </p:nvGraphicFramePr>
        <p:xfrm>
          <a:off x="457200" y="1188720"/>
          <a:ext cx="11247119" cy="2926080"/>
        </p:xfrm>
        <a:graphic>
          <a:graphicData uri="http://schemas.openxmlformats.org/drawingml/2006/table">
            <a:tbl>
              <a:tblPr firstRow="1" bandRow="1">
                <a:tableStyleId>{5C22544A-7EE6-4342-B048-85BDC9FD1C3A}</a:tableStyleId>
              </a:tblPr>
              <a:tblGrid>
                <a:gridCol w="3078159"/>
                <a:gridCol w="1065516"/>
                <a:gridCol w="7103444"/>
              </a:tblGrid>
              <a:tr h="365760">
                <a:tc>
                  <a:txBody>
                    <a:bodyPr/>
                    <a:lstStyle/>
                    <a:p>
                      <a:r>
                        <a:rPr sz="1100" b="1">
                          <a:solidFill>
                            <a:srgbClr val="FFFFFF"/>
                          </a:solidFill>
                          <a:latin typeface="Microsoft JhengHei"/>
                          <a:ea typeface="Microsoft JhengHei"/>
                        </a:rPr>
                        <a:t>項目</a:t>
                      </a:r>
                    </a:p>
                  </a:txBody>
                  <a:tcPr>
                    <a:solidFill>
                      <a:srgbClr val="1F3A5F"/>
                    </a:solidFill>
                  </a:tcPr>
                </a:tc>
                <a:tc>
                  <a:txBody>
                    <a:bodyPr/>
                    <a:lstStyle/>
                    <a:p>
                      <a:r>
                        <a:rPr sz="1100" b="1">
                          <a:solidFill>
                            <a:srgbClr val="FFFFFF"/>
                          </a:solidFill>
                          <a:latin typeface="Microsoft JhengHei"/>
                          <a:ea typeface="Microsoft JhengHei"/>
                        </a:rPr>
                        <a:t>結果</a:t>
                      </a:r>
                    </a:p>
                  </a:txBody>
                  <a:tcPr>
                    <a:solidFill>
                      <a:srgbClr val="1F3A5F"/>
                    </a:solidFill>
                  </a:tcPr>
                </a:tc>
                <a:tc>
                  <a:txBody>
                    <a:bodyPr/>
                    <a:lstStyle/>
                    <a:p>
                      <a:r>
                        <a:rPr sz="1100" b="1">
                          <a:solidFill>
                            <a:srgbClr val="FFFFFF"/>
                          </a:solidFill>
                          <a:latin typeface="Microsoft JhengHei"/>
                          <a:ea typeface="Microsoft JhengHei"/>
                        </a:rPr>
                        <a:t>說明</a:t>
                      </a:r>
                    </a:p>
                  </a:txBody>
                  <a:tcPr>
                    <a:solidFill>
                      <a:srgbClr val="1F3A5F"/>
                    </a:solidFill>
                  </a:tcPr>
                </a:tc>
              </a:tr>
              <a:tr h="365760">
                <a:tc>
                  <a:txBody>
                    <a:bodyPr/>
                    <a:lstStyle/>
                    <a:p>
                      <a:r>
                        <a:rPr sz="1100" b="0">
                          <a:solidFill>
                            <a:srgbClr val="1F2328"/>
                          </a:solidFill>
                          <a:latin typeface="Microsoft JhengHei"/>
                          <a:ea typeface="Microsoft JhengHei"/>
                        </a:rPr>
                        <a:t>禁止交易權證</a:t>
                      </a:r>
                    </a:p>
                  </a:txBody>
                  <a:tcPr>
                    <a:solidFill>
                      <a:srgbClr val="F3F5F8"/>
                    </a:solidFill>
                  </a:tcPr>
                </a:tc>
                <a:tc>
                  <a:txBody>
                    <a:bodyPr/>
                    <a:lstStyle/>
                    <a:p>
                      <a:r>
                        <a:rPr sz="1100" b="0">
                          <a:solidFill>
                            <a:srgbClr val="1F2328"/>
                          </a:solidFill>
                          <a:latin typeface="Microsoft JhengHei"/>
                          <a:ea typeface="Microsoft JhengHei"/>
                        </a:rPr>
                        <a:t>通過</a:t>
                      </a:r>
                    </a:p>
                  </a:txBody>
                  <a:tcPr>
                    <a:solidFill>
                      <a:srgbClr val="F3F5F8"/>
                    </a:solidFill>
                  </a:tcPr>
                </a:tc>
                <a:tc>
                  <a:txBody>
                    <a:bodyPr/>
                    <a:lstStyle/>
                    <a:p>
                      <a:r>
                        <a:rPr sz="1100" b="0">
                          <a:solidFill>
                            <a:srgbClr val="1F2328"/>
                          </a:solidFill>
                          <a:latin typeface="Microsoft JhengHei"/>
                          <a:ea typeface="Microsoft JhengHei"/>
                        </a:rPr>
                        <a:t>無權證標的</a:t>
                      </a:r>
                    </a:p>
                  </a:txBody>
                  <a:tcPr>
                    <a:solidFill>
                      <a:srgbClr val="F3F5F8"/>
                    </a:solidFill>
                  </a:tcPr>
                </a:tc>
              </a:tr>
              <a:tr h="365760">
                <a:tc>
                  <a:txBody>
                    <a:bodyPr/>
                    <a:lstStyle/>
                    <a:p>
                      <a:r>
                        <a:rPr sz="1100" b="0">
                          <a:solidFill>
                            <a:srgbClr val="1F2328"/>
                          </a:solidFill>
                          <a:latin typeface="Microsoft JhengHei"/>
                          <a:ea typeface="Microsoft JhengHei"/>
                        </a:rPr>
                        <a:t>目前持股率 ≥ 70%</a:t>
                      </a:r>
                    </a:p>
                  </a:txBody>
                  <a:tcPr>
                    <a:solidFill>
                      <a:srgbClr val="FFFFFF"/>
                    </a:solidFill>
                  </a:tcPr>
                </a:tc>
                <a:tc>
                  <a:txBody>
                    <a:bodyPr/>
                    <a:lstStyle/>
                    <a:p>
                      <a:r>
                        <a:rPr sz="1100" b="0">
                          <a:solidFill>
                            <a:srgbClr val="1F2328"/>
                          </a:solidFill>
                          <a:latin typeface="Microsoft JhengHei"/>
                          <a:ea typeface="Microsoft JhengHei"/>
                        </a:rPr>
                        <a:t>通過</a:t>
                      </a:r>
                    </a:p>
                  </a:txBody>
                  <a:tcPr>
                    <a:solidFill>
                      <a:srgbClr val="FFFFFF"/>
                    </a:solidFill>
                  </a:tcPr>
                </a:tc>
                <a:tc>
                  <a:txBody>
                    <a:bodyPr/>
                    <a:lstStyle/>
                    <a:p>
                      <a:r>
                        <a:rPr sz="1100" b="0">
                          <a:solidFill>
                            <a:srgbClr val="1F2328"/>
                          </a:solidFill>
                          <a:latin typeface="Microsoft JhengHei"/>
                          <a:ea typeface="Microsoft JhengHei"/>
                        </a:rPr>
                        <a:t>目前 96.2%（每日收盤檢查，未達扣報酬率 0.2%）</a:t>
                      </a:r>
                    </a:p>
                  </a:txBody>
                  <a:tcPr>
                    <a:solidFill>
                      <a:srgbClr val="FFFFFF"/>
                    </a:solidFill>
                  </a:tcPr>
                </a:tc>
              </a:tr>
              <a:tr h="365760">
                <a:tc>
                  <a:txBody>
                    <a:bodyPr/>
                    <a:lstStyle/>
                    <a:p>
                      <a:r>
                        <a:rPr sz="1100" b="0">
                          <a:solidFill>
                            <a:srgbClr val="1F2328"/>
                          </a:solidFill>
                          <a:latin typeface="Microsoft JhengHei"/>
                          <a:ea typeface="Microsoft JhengHei"/>
                        </a:rPr>
                        <a:t>執行建議後持股率 ≥ 70%</a:t>
                      </a:r>
                    </a:p>
                  </a:txBody>
                  <a:tcPr>
                    <a:solidFill>
                      <a:srgbClr val="F3F5F8"/>
                    </a:solidFill>
                  </a:tcPr>
                </a:tc>
                <a:tc>
                  <a:txBody>
                    <a:bodyPr/>
                    <a:lstStyle/>
                    <a:p>
                      <a:r>
                        <a:rPr sz="1100" b="0">
                          <a:solidFill>
                            <a:srgbClr val="1F2328"/>
                          </a:solidFill>
                          <a:latin typeface="Microsoft JhengHei"/>
                          <a:ea typeface="Microsoft JhengHei"/>
                        </a:rPr>
                        <a:t>通過</a:t>
                      </a:r>
                    </a:p>
                  </a:txBody>
                  <a:tcPr>
                    <a:solidFill>
                      <a:srgbClr val="F3F5F8"/>
                    </a:solidFill>
                  </a:tcPr>
                </a:tc>
                <a:tc>
                  <a:txBody>
                    <a:bodyPr/>
                    <a:lstStyle/>
                    <a:p>
                      <a:r>
                        <a:rPr sz="1100" b="0">
                          <a:solidFill>
                            <a:srgbClr val="1F2328"/>
                          </a:solidFill>
                          <a:latin typeface="Microsoft JhengHei"/>
                          <a:ea typeface="Microsoft JhengHei"/>
                        </a:rPr>
                        <a:t>預估 93.0%（目標 90%）；注意只算實際成交，掛單未成交不算</a:t>
                      </a:r>
                    </a:p>
                  </a:txBody>
                  <a:tcPr>
                    <a:solidFill>
                      <a:srgbClr val="F3F5F8"/>
                    </a:solidFill>
                  </a:tcPr>
                </a:tc>
              </a:tr>
              <a:tr h="365760">
                <a:tc>
                  <a:txBody>
                    <a:bodyPr/>
                    <a:lstStyle/>
                    <a:p>
                      <a:r>
                        <a:rPr sz="1100" b="0">
                          <a:solidFill>
                            <a:srgbClr val="1F2328"/>
                          </a:solidFill>
                          <a:latin typeface="Microsoft JhengHei"/>
                          <a:ea typeface="Microsoft JhengHei"/>
                        </a:rPr>
                        <a:t>交易過的標的 ≥ 5（每日收盤追蹤）</a:t>
                      </a:r>
                    </a:p>
                  </a:txBody>
                  <a:tcPr>
                    <a:solidFill>
                      <a:srgbClr val="FFFFFF"/>
                    </a:solidFill>
                  </a:tcPr>
                </a:tc>
                <a:tc>
                  <a:txBody>
                    <a:bodyPr/>
                    <a:lstStyle/>
                    <a:p>
                      <a:r>
                        <a:rPr sz="1100" b="0">
                          <a:solidFill>
                            <a:srgbClr val="1F2328"/>
                          </a:solidFill>
                          <a:latin typeface="Microsoft JhengHei"/>
                          <a:ea typeface="Microsoft JhengHei"/>
                        </a:rPr>
                        <a:t>通過</a:t>
                      </a:r>
                    </a:p>
                  </a:txBody>
                  <a:tcPr>
                    <a:solidFill>
                      <a:srgbClr val="FFFFFF"/>
                    </a:solidFill>
                  </a:tcPr>
                </a:tc>
                <a:tc>
                  <a:txBody>
                    <a:bodyPr/>
                    <a:lstStyle/>
                    <a:p>
                      <a:r>
                        <a:rPr sz="1100" b="0">
                          <a:solidFill>
                            <a:srgbClr val="1F2328"/>
                          </a:solidFill>
                          <a:latin typeface="Microsoft JhengHei"/>
                          <a:ea typeface="Microsoft JhengHei"/>
                        </a:rPr>
                        <a:t>已成交 14 檔＋本次建議 = 20 檔；執行後持有 9 檔（未達每次扣報酬率 0.2%）</a:t>
                      </a:r>
                    </a:p>
                  </a:txBody>
                  <a:tcPr>
                    <a:solidFill>
                      <a:srgbClr val="FFFFFF"/>
                    </a:solidFill>
                  </a:tcPr>
                </a:tc>
              </a:tr>
              <a:tr h="365760">
                <a:tc>
                  <a:txBody>
                    <a:bodyPr/>
                    <a:lstStyle/>
                    <a:p>
                      <a:r>
                        <a:rPr sz="1100" b="0">
                          <a:solidFill>
                            <a:srgbClr val="1F2328"/>
                          </a:solidFill>
                          <a:latin typeface="Microsoft JhengHei"/>
                          <a:ea typeface="Microsoft JhengHei"/>
                        </a:rPr>
                        <a:t>總交易筆數 ≥ 10</a:t>
                      </a:r>
                    </a:p>
                  </a:txBody>
                  <a:tcPr>
                    <a:solidFill>
                      <a:srgbClr val="F3F5F8"/>
                    </a:solidFill>
                  </a:tcPr>
                </a:tc>
                <a:tc>
                  <a:txBody>
                    <a:bodyPr/>
                    <a:lstStyle/>
                    <a:p>
                      <a:r>
                        <a:rPr sz="1100" b="0">
                          <a:solidFill>
                            <a:srgbClr val="1F2328"/>
                          </a:solidFill>
                          <a:latin typeface="Microsoft JhengHei"/>
                          <a:ea typeface="Microsoft JhengHei"/>
                        </a:rPr>
                        <a:t>通過</a:t>
                      </a:r>
                    </a:p>
                  </a:txBody>
                  <a:tcPr>
                    <a:solidFill>
                      <a:srgbClr val="F3F5F8"/>
                    </a:solidFill>
                  </a:tcPr>
                </a:tc>
                <a:tc>
                  <a:txBody>
                    <a:bodyPr/>
                    <a:lstStyle/>
                    <a:p>
                      <a:r>
                        <a:rPr sz="1100" b="0">
                          <a:solidFill>
                            <a:srgbClr val="1F2328"/>
                          </a:solidFill>
                          <a:latin typeface="Microsoft JhengHei"/>
                          <a:ea typeface="Microsoft JhengHei"/>
                        </a:rPr>
                        <a:t>累計 88 筆＋本次建議 20 筆 = 108 筆；剩餘 25 個交易日</a:t>
                      </a:r>
                    </a:p>
                  </a:txBody>
                  <a:tcPr>
                    <a:solidFill>
                      <a:srgbClr val="F3F5F8"/>
                    </a:solidFill>
                  </a:tcPr>
                </a:tc>
              </a:tr>
              <a:tr h="365760">
                <a:tc>
                  <a:txBody>
                    <a:bodyPr/>
                    <a:lstStyle/>
                    <a:p>
                      <a:r>
                        <a:rPr sz="1100" b="0">
                          <a:solidFill>
                            <a:srgbClr val="1F2328"/>
                          </a:solidFill>
                          <a:latin typeface="Microsoft JhengHei"/>
                          <a:ea typeface="Microsoft JhengHei"/>
                        </a:rPr>
                        <a:t>融資借款在自訂上限內</a:t>
                      </a:r>
                    </a:p>
                  </a:txBody>
                  <a:tcPr>
                    <a:solidFill>
                      <a:srgbClr val="FFFFFF"/>
                    </a:solidFill>
                  </a:tcPr>
                </a:tc>
                <a:tc>
                  <a:txBody>
                    <a:bodyPr/>
                    <a:lstStyle/>
                    <a:p>
                      <a:r>
                        <a:rPr sz="1100" b="0">
                          <a:solidFill>
                            <a:srgbClr val="1F2328"/>
                          </a:solidFill>
                          <a:latin typeface="Microsoft JhengHei"/>
                          <a:ea typeface="Microsoft JhengHei"/>
                        </a:rPr>
                        <a:t>通過</a:t>
                      </a:r>
                    </a:p>
                  </a:txBody>
                  <a:tcPr>
                    <a:solidFill>
                      <a:srgbClr val="FFFFFF"/>
                    </a:solidFill>
                  </a:tcPr>
                </a:tc>
                <a:tc>
                  <a:txBody>
                    <a:bodyPr/>
                    <a:lstStyle/>
                    <a:p>
                      <a:r>
                        <a:rPr sz="1100" b="0">
                          <a:solidFill>
                            <a:srgbClr val="1F2328"/>
                          </a:solidFill>
                          <a:latin typeface="Microsoft JhengHei"/>
                          <a:ea typeface="Microsoft JhengHei"/>
                        </a:rPr>
                        <a:t>融資借款 0 元 / 上限 2,589,534 元（總資產 30%）</a:t>
                      </a:r>
                    </a:p>
                  </a:txBody>
                  <a:tcPr>
                    <a:solidFill>
                      <a:srgbClr val="FFFFFF"/>
                    </a:solidFill>
                  </a:tcPr>
                </a:tc>
              </a:tr>
              <a:tr h="365760">
                <a:tc>
                  <a:txBody>
                    <a:bodyPr/>
                    <a:lstStyle/>
                    <a:p>
                      <a:r>
                        <a:rPr sz="1100" b="0">
                          <a:solidFill>
                            <a:srgbClr val="1F2328"/>
                          </a:solidFill>
                          <a:latin typeface="Microsoft JhengHei"/>
                          <a:ea typeface="Microsoft JhengHei"/>
                        </a:rPr>
                        <a:t>累積報酬為正（才列入排名）</a:t>
                      </a:r>
                    </a:p>
                  </a:txBody>
                  <a:tcPr>
                    <a:solidFill>
                      <a:srgbClr val="F3F5F8"/>
                    </a:solidFill>
                  </a:tcPr>
                </a:tc>
                <a:tc>
                  <a:txBody>
                    <a:bodyPr/>
                    <a:lstStyle/>
                    <a:p>
                      <a:r>
                        <a:rPr sz="1100" b="0">
                          <a:solidFill>
                            <a:srgbClr val="1F2328"/>
                          </a:solidFill>
                          <a:latin typeface="Microsoft JhengHei"/>
                          <a:ea typeface="Microsoft JhengHei"/>
                        </a:rPr>
                        <a:t>注意</a:t>
                      </a:r>
                    </a:p>
                  </a:txBody>
                  <a:tcPr>
                    <a:solidFill>
                      <a:srgbClr val="F3F5F8"/>
                    </a:solidFill>
                  </a:tcPr>
                </a:tc>
                <a:tc>
                  <a:txBody>
                    <a:bodyPr/>
                    <a:lstStyle/>
                    <a:p>
                      <a:r>
                        <a:rPr sz="1100" b="0">
                          <a:solidFill>
                            <a:srgbClr val="1F2328"/>
                          </a:solidFill>
                          <a:latin typeface="Microsoft JhengHei"/>
                          <a:ea typeface="Microsoft JhengHei"/>
                        </a:rPr>
                        <a:t>目前累積報酬 -13.68%</a:t>
                      </a:r>
                    </a:p>
                  </a:txBody>
                  <a:tcPr>
                    <a:solidFill>
                      <a:srgbClr val="F3F5F8"/>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模型健康度與調整 Agent</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43</a:t>
            </a:r>
          </a:p>
        </p:txBody>
      </p:sp>
      <p:graphicFrame>
        <p:nvGraphicFramePr>
          <p:cNvPr id="5" name="Table 4"/>
          <p:cNvGraphicFramePr>
            <a:graphicFrameLocks noGrp="1"/>
          </p:cNvGraphicFramePr>
          <p:nvPr/>
        </p:nvGraphicFramePr>
        <p:xfrm>
          <a:off x="457200" y="1188720"/>
          <a:ext cx="11247120" cy="2560320"/>
        </p:xfrm>
        <a:graphic>
          <a:graphicData uri="http://schemas.openxmlformats.org/drawingml/2006/table">
            <a:tbl>
              <a:tblPr firstRow="1" bandRow="1">
                <a:tableStyleId>{5C22544A-7EE6-4342-B048-85BDC9FD1C3A}</a:tableStyleId>
              </a:tblPr>
              <a:tblGrid>
                <a:gridCol w="5623560"/>
                <a:gridCol w="1874520"/>
                <a:gridCol w="3749040"/>
              </a:tblGrid>
              <a:tr h="365760">
                <a:tc>
                  <a:txBody>
                    <a:bodyPr/>
                    <a:lstStyle/>
                    <a:p>
                      <a:r>
                        <a:rPr sz="1200" b="1">
                          <a:solidFill>
                            <a:srgbClr val="FFFFFF"/>
                          </a:solidFill>
                          <a:latin typeface="Microsoft JhengHei"/>
                          <a:ea typeface="Microsoft JhengHei"/>
                        </a:rPr>
                        <a:t>指標</a:t>
                      </a:r>
                    </a:p>
                  </a:txBody>
                  <a:tcPr>
                    <a:solidFill>
                      <a:srgbClr val="1F3A5F"/>
                    </a:solidFill>
                  </a:tcPr>
                </a:tc>
                <a:tc>
                  <a:txBody>
                    <a:bodyPr/>
                    <a:lstStyle/>
                    <a:p>
                      <a:r>
                        <a:rPr sz="1200" b="1">
                          <a:solidFill>
                            <a:srgbClr val="FFFFFF"/>
                          </a:solidFill>
                          <a:latin typeface="Microsoft JhengHei"/>
                          <a:ea typeface="Microsoft JhengHei"/>
                        </a:rPr>
                        <a:t>樣本</a:t>
                      </a:r>
                    </a:p>
                  </a:txBody>
                  <a:tcPr>
                    <a:solidFill>
                      <a:srgbClr val="1F3A5F"/>
                    </a:solidFill>
                  </a:tcPr>
                </a:tc>
                <a:tc>
                  <a:txBody>
                    <a:bodyPr/>
                    <a:lstStyle/>
                    <a:p>
                      <a:r>
                        <a:rPr sz="1200" b="1">
                          <a:solidFill>
                            <a:srgbClr val="FFFFFF"/>
                          </a:solidFill>
                          <a:latin typeface="Microsoft JhengHei"/>
                          <a:ea typeface="Microsoft JhengHei"/>
                        </a:rPr>
                        <a:t>表現</a:t>
                      </a:r>
                    </a:p>
                  </a:txBody>
                  <a:tcPr>
                    <a:solidFill>
                      <a:srgbClr val="1F3A5F"/>
                    </a:solidFill>
                  </a:tcPr>
                </a:tc>
              </a:tr>
              <a:tr h="365760">
                <a:tc>
                  <a:txBody>
                    <a:bodyPr/>
                    <a:lstStyle/>
                    <a:p>
                      <a:r>
                        <a:rPr sz="1200" b="0">
                          <a:solidFill>
                            <a:srgbClr val="1F2328"/>
                          </a:solidFill>
                          <a:latin typeface="Microsoft JhengHei"/>
                          <a:ea typeface="Microsoft JhengHei"/>
                        </a:rPr>
                        <a:t>大盤隔夜跳空命中率</a:t>
                      </a:r>
                    </a:p>
                  </a:txBody>
                  <a:tcPr>
                    <a:solidFill>
                      <a:srgbClr val="F3F5F8"/>
                    </a:solidFill>
                  </a:tcPr>
                </a:tc>
                <a:tc>
                  <a:txBody>
                    <a:bodyPr/>
                    <a:lstStyle/>
                    <a:p>
                      <a:r>
                        <a:rPr sz="1200" b="0">
                          <a:solidFill>
                            <a:srgbClr val="1F2328"/>
                          </a:solidFill>
                          <a:latin typeface="Microsoft JhengHei"/>
                          <a:ea typeface="Microsoft JhengHei"/>
                        </a:rPr>
                        <a:t>29</a:t>
                      </a:r>
                    </a:p>
                  </a:txBody>
                  <a:tcPr>
                    <a:solidFill>
                      <a:srgbClr val="F3F5F8"/>
                    </a:solidFill>
                  </a:tcPr>
                </a:tc>
                <a:tc>
                  <a:txBody>
                    <a:bodyPr/>
                    <a:lstStyle/>
                    <a:p>
                      <a:r>
                        <a:rPr sz="1200" b="0">
                          <a:solidFill>
                            <a:srgbClr val="1F2328"/>
                          </a:solidFill>
                          <a:latin typeface="Microsoft JhengHei"/>
                          <a:ea typeface="Microsoft JhengHei"/>
                        </a:rPr>
                        <a:t>86.2%</a:t>
                      </a:r>
                    </a:p>
                  </a:txBody>
                  <a:tcPr>
                    <a:solidFill>
                      <a:srgbClr val="F3F5F8"/>
                    </a:solidFill>
                  </a:tcPr>
                </a:tc>
              </a:tr>
              <a:tr h="365760">
                <a:tc>
                  <a:txBody>
                    <a:bodyPr/>
                    <a:lstStyle/>
                    <a:p>
                      <a:r>
                        <a:rPr sz="1200" b="0">
                          <a:solidFill>
                            <a:srgbClr val="1F2328"/>
                          </a:solidFill>
                          <a:latin typeface="Microsoft JhengHei"/>
                          <a:ea typeface="Microsoft JhengHei"/>
                        </a:rPr>
                        <a:t>個股隔夜跳空命中率</a:t>
                      </a:r>
                    </a:p>
                  </a:txBody>
                  <a:tcPr>
                    <a:solidFill>
                      <a:srgbClr val="FFFFFF"/>
                    </a:solidFill>
                  </a:tcPr>
                </a:tc>
                <a:tc>
                  <a:txBody>
                    <a:bodyPr/>
                    <a:lstStyle/>
                    <a:p>
                      <a:r>
                        <a:rPr sz="1200" b="0">
                          <a:solidFill>
                            <a:srgbClr val="1F2328"/>
                          </a:solidFill>
                          <a:latin typeface="Microsoft JhengHei"/>
                          <a:ea typeface="Microsoft JhengHei"/>
                        </a:rPr>
                        <a:t>954</a:t>
                      </a:r>
                    </a:p>
                  </a:txBody>
                  <a:tcPr>
                    <a:solidFill>
                      <a:srgbClr val="FFFFFF"/>
                    </a:solidFill>
                  </a:tcPr>
                </a:tc>
                <a:tc>
                  <a:txBody>
                    <a:bodyPr/>
                    <a:lstStyle/>
                    <a:p>
                      <a:r>
                        <a:rPr sz="1200" b="0">
                          <a:solidFill>
                            <a:srgbClr val="1F2328"/>
                          </a:solidFill>
                          <a:latin typeface="Microsoft JhengHei"/>
                          <a:ea typeface="Microsoft JhengHei"/>
                        </a:rPr>
                        <a:t>71.9%</a:t>
                      </a:r>
                    </a:p>
                  </a:txBody>
                  <a:tcPr>
                    <a:solidFill>
                      <a:srgbClr val="FFFFFF"/>
                    </a:solidFill>
                  </a:tcPr>
                </a:tc>
              </a:tr>
              <a:tr h="365760">
                <a:tc>
                  <a:txBody>
                    <a:bodyPr/>
                    <a:lstStyle/>
                    <a:p>
                      <a:r>
                        <a:rPr sz="1200" b="0">
                          <a:solidFill>
                            <a:srgbClr val="1F2328"/>
                          </a:solidFill>
                          <a:latin typeface="Microsoft JhengHei"/>
                          <a:ea typeface="Microsoft JhengHei"/>
                        </a:rPr>
                        <a:t>一個月推薦實際超額報酬</a:t>
                      </a:r>
                    </a:p>
                  </a:txBody>
                  <a:tcPr>
                    <a:solidFill>
                      <a:srgbClr val="F3F5F8"/>
                    </a:solidFill>
                  </a:tcPr>
                </a:tc>
                <a:tc>
                  <a:txBody>
                    <a:bodyPr/>
                    <a:lstStyle/>
                    <a:p>
                      <a:r>
                        <a:rPr sz="1200" b="0">
                          <a:solidFill>
                            <a:srgbClr val="1F2328"/>
                          </a:solidFill>
                          <a:latin typeface="Microsoft JhengHei"/>
                          <a:ea typeface="Microsoft JhengHei"/>
                        </a:rPr>
                        <a:t>1071</a:t>
                      </a:r>
                    </a:p>
                  </a:txBody>
                  <a:tcPr>
                    <a:solidFill>
                      <a:srgbClr val="F3F5F8"/>
                    </a:solidFill>
                  </a:tcPr>
                </a:tc>
                <a:tc>
                  <a:txBody>
                    <a:bodyPr/>
                    <a:lstStyle/>
                    <a:p>
                      <a:r>
                        <a:rPr sz="1200" b="0">
                          <a:solidFill>
                            <a:srgbClr val="1F2328"/>
                          </a:solidFill>
                          <a:latin typeface="Microsoft JhengHei"/>
                          <a:ea typeface="Microsoft JhengHei"/>
                        </a:rPr>
                        <a:t>+0.82%</a:t>
                      </a:r>
                    </a:p>
                  </a:txBody>
                  <a:tcPr>
                    <a:solidFill>
                      <a:srgbClr val="F3F5F8"/>
                    </a:solidFill>
                  </a:tcPr>
                </a:tc>
              </a:tr>
              <a:tr h="365760">
                <a:tc>
                  <a:txBody>
                    <a:bodyPr/>
                    <a:lstStyle/>
                    <a:p>
                      <a:r>
                        <a:rPr sz="1200" b="0">
                          <a:solidFill>
                            <a:srgbClr val="1F2328"/>
                          </a:solidFill>
                          <a:latin typeface="Microsoft JhengHei"/>
                          <a:ea typeface="Microsoft JhengHei"/>
                        </a:rPr>
                        <a:t>一個月推薦實際創新高比例</a:t>
                      </a:r>
                    </a:p>
                  </a:txBody>
                  <a:tcPr>
                    <a:solidFill>
                      <a:srgbClr val="FFFFFF"/>
                    </a:solidFill>
                  </a:tcPr>
                </a:tc>
                <a:tc>
                  <a:txBody>
                    <a:bodyPr/>
                    <a:lstStyle/>
                    <a:p>
                      <a:r>
                        <a:rPr sz="1200" b="0">
                          <a:solidFill>
                            <a:srgbClr val="1F2328"/>
                          </a:solidFill>
                          <a:latin typeface="Microsoft JhengHei"/>
                          <a:ea typeface="Microsoft JhengHei"/>
                        </a:rPr>
                        <a:t>1071</a:t>
                      </a:r>
                    </a:p>
                  </a:txBody>
                  <a:tcPr>
                    <a:solidFill>
                      <a:srgbClr val="FFFFFF"/>
                    </a:solidFill>
                  </a:tcPr>
                </a:tc>
                <a:tc>
                  <a:txBody>
                    <a:bodyPr/>
                    <a:lstStyle/>
                    <a:p>
                      <a:r>
                        <a:rPr sz="1200" b="0">
                          <a:solidFill>
                            <a:srgbClr val="1F2328"/>
                          </a:solidFill>
                          <a:latin typeface="Microsoft JhengHei"/>
                          <a:ea typeface="Microsoft JhengHei"/>
                        </a:rPr>
                        <a:t>43.9%</a:t>
                      </a:r>
                    </a:p>
                  </a:txBody>
                  <a:tcPr>
                    <a:solidFill>
                      <a:srgbClr val="FFFFFF"/>
                    </a:solidFill>
                  </a:tcPr>
                </a:tc>
              </a:tr>
              <a:tr h="365760">
                <a:tc>
                  <a:txBody>
                    <a:bodyPr/>
                    <a:lstStyle/>
                    <a:p>
                      <a:r>
                        <a:rPr sz="1200" b="0">
                          <a:solidFill>
                            <a:srgbClr val="1F2328"/>
                          </a:solidFill>
                          <a:latin typeface="Microsoft JhengHei"/>
                          <a:ea typeface="Microsoft JhengHei"/>
                        </a:rPr>
                        <a:t>回測：前 20 名創新高率 / 基準</a:t>
                      </a:r>
                    </a:p>
                  </a:txBody>
                  <a:tcPr>
                    <a:solidFill>
                      <a:srgbClr val="F3F5F8"/>
                    </a:solidFill>
                  </a:tcPr>
                </a:tc>
                <a:tc>
                  <a:txBody>
                    <a:bodyPr/>
                    <a:lstStyle/>
                    <a:p>
                      <a:r>
                        <a:rPr sz="1200" b="0">
                          <a:solidFill>
                            <a:srgbClr val="1F2328"/>
                          </a:solidFill>
                          <a:latin typeface="Microsoft JhengHei"/>
                          <a:ea typeface="Microsoft JhengHei"/>
                        </a:rPr>
                        <a:t>4</a:t>
                      </a:r>
                    </a:p>
                  </a:txBody>
                  <a:tcPr>
                    <a:solidFill>
                      <a:srgbClr val="F3F5F8"/>
                    </a:solidFill>
                  </a:tcPr>
                </a:tc>
                <a:tc>
                  <a:txBody>
                    <a:bodyPr/>
                    <a:lstStyle/>
                    <a:p>
                      <a:r>
                        <a:rPr sz="1200" b="0">
                          <a:solidFill>
                            <a:srgbClr val="1F2328"/>
                          </a:solidFill>
                          <a:latin typeface="Microsoft JhengHei"/>
                          <a:ea typeface="Microsoft JhengHei"/>
                        </a:rPr>
                        <a:t>88.1% / 30.2%</a:t>
                      </a:r>
                    </a:p>
                  </a:txBody>
                  <a:tcPr>
                    <a:solidFill>
                      <a:srgbClr val="F3F5F8"/>
                    </a:solidFill>
                  </a:tcPr>
                </a:tc>
              </a:tr>
              <a:tr h="365760">
                <a:tc>
                  <a:txBody>
                    <a:bodyPr/>
                    <a:lstStyle/>
                    <a:p>
                      <a:r>
                        <a:rPr sz="1200" b="0">
                          <a:solidFill>
                            <a:srgbClr val="1F2328"/>
                          </a:solidFill>
                          <a:latin typeface="Microsoft JhengHei"/>
                          <a:ea typeface="Microsoft JhengHei"/>
                        </a:rPr>
                        <a:t>回測：前 20 名月超額報酬</a:t>
                      </a:r>
                    </a:p>
                  </a:txBody>
                  <a:tcPr>
                    <a:solidFill>
                      <a:srgbClr val="FFFFFF"/>
                    </a:solidFill>
                  </a:tcPr>
                </a:tc>
                <a:tc>
                  <a:txBody>
                    <a:bodyPr/>
                    <a:lstStyle/>
                    <a:p>
                      <a:r>
                        <a:rPr sz="1200" b="0">
                          <a:solidFill>
                            <a:srgbClr val="1F2328"/>
                          </a:solidFill>
                          <a:latin typeface="Microsoft JhengHei"/>
                          <a:ea typeface="Microsoft JhengHei"/>
                        </a:rPr>
                        <a:t>4</a:t>
                      </a:r>
                    </a:p>
                  </a:txBody>
                  <a:tcPr>
                    <a:solidFill>
                      <a:srgbClr val="FFFFFF"/>
                    </a:solidFill>
                  </a:tcPr>
                </a:tc>
                <a:tc>
                  <a:txBody>
                    <a:bodyPr/>
                    <a:lstStyle/>
                    <a:p>
                      <a:r>
                        <a:rPr sz="1200" b="0">
                          <a:solidFill>
                            <a:srgbClr val="1F2328"/>
                          </a:solidFill>
                          <a:latin typeface="Microsoft JhengHei"/>
                          <a:ea typeface="Microsoft JhengHei"/>
                        </a:rPr>
                        <a:t>+7.32%</a:t>
                      </a:r>
                    </a:p>
                  </a:txBody>
                  <a:tcPr>
                    <a:solidFill>
                      <a:srgbClr val="FFFFFF"/>
                    </a:solidFill>
                  </a:tcPr>
                </a:tc>
              </a:tr>
            </a:tbl>
          </a:graphicData>
        </a:graphic>
      </p:graphicFrame>
      <p:sp>
        <p:nvSpPr>
          <p:cNvPr id="6" name="TextBox 5"/>
          <p:cNvSpPr txBox="1"/>
          <p:nvPr/>
        </p:nvSpPr>
        <p:spPr>
          <a:xfrm>
            <a:off x="594360" y="4297680"/>
            <a:ext cx="10972800" cy="1920240"/>
          </a:xfrm>
          <a:prstGeom prst="rect">
            <a:avLst/>
          </a:prstGeom>
          <a:noFill/>
        </p:spPr>
        <p:txBody>
          <a:bodyPr wrap="square">
            <a:spAutoFit/>
          </a:bodyPr>
          <a:lstStyle/>
          <a:p>
            <a:pPr>
              <a:spcAft>
                <a:spcPts val="400"/>
              </a:spcAft>
            </a:pPr>
            <a:r>
              <a:rPr sz="1200" b="0">
                <a:solidFill>
                  <a:srgbClr val="1F2328"/>
                </a:solidFill>
                <a:latin typeface="Microsoft JhengHei"/>
                <a:ea typeface="Microsoft JhengHei"/>
              </a:rPr>
              <a:t>• [中] 穩健籃推薦後 5 日：收正比例 28%、平均最大回檔 -3.1%（警戒 45%／-5%）</a:t>
            </a:r>
          </a:p>
          <a:p>
            <a:pPr>
              <a:spcAft>
                <a:spcPts val="400"/>
              </a:spcAft>
            </a:pPr>
            <a:r>
              <a:rPr sz="1200" b="0">
                <a:solidFill>
                  <a:srgbClr val="1F2328"/>
                </a:solidFill>
                <a:latin typeface="Microsoft JhengHei"/>
                <a:ea typeface="Microsoft JhengHei"/>
              </a:rPr>
              <a:t>• [高] 總資產自高點 10,198,741 回落 15.4%，超過 8%</a:t>
            </a:r>
          </a:p>
          <a:p>
            <a:pPr>
              <a:spcAft>
                <a:spcPts val="400"/>
              </a:spcAft>
            </a:pPr>
            <a:r>
              <a:rPr sz="1200" b="0">
                <a:solidFill>
                  <a:srgbClr val="1F2328"/>
                </a:solidFill>
                <a:latin typeface="Microsoft JhengHei"/>
                <a:ea typeface="Microsoft JhengHei"/>
              </a:rPr>
              <a:t>• 偵測結果：穩健籃推薦後 5 日：收正比例 28%、平均最大回檔 -3.1%（警戒 45%／-5%）；總資產自高點 10,198,741 回落 15.4%，超過 8%。修正：未修改參數。</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none">
            <a:spAutoFit/>
          </a:bodyPr>
          <a:lstStyle/>
          <a:p>
            <a:r>
              <a:rPr sz="2600" b="1">
                <a:solidFill>
                  <a:srgbClr val="1F3A5F"/>
                </a:solidFill>
                <a:latin typeface="Microsoft JhengHei"/>
                <a:ea typeface="Microsoft JhengHei"/>
              </a:rPr>
              <a:t>累積報酬走勢</a:t>
            </a:r>
          </a:p>
        </p:txBody>
      </p:sp>
      <p:sp>
        <p:nvSpPr>
          <p:cNvPr id="4" name="TextBox 3"/>
          <p:cNvSpPr txBox="1"/>
          <p:nvPr/>
        </p:nvSpPr>
        <p:spPr>
          <a:xfrm>
            <a:off x="457200" y="6446520"/>
            <a:ext cx="11247120" cy="320040"/>
          </a:xfrm>
          <a:prstGeom prst="rect">
            <a:avLst/>
          </a:prstGeom>
          <a:noFill/>
        </p:spPr>
        <p:txBody>
          <a:bodyPr wrap="none">
            <a:spAutoFit/>
          </a:bodyPr>
          <a:lstStyle/>
          <a:p>
            <a:pPr algn="r"/>
            <a:r>
              <a:rPr sz="1000" b="0">
                <a:solidFill>
                  <a:srgbClr val="57606A"/>
                </a:solidFill>
                <a:latin typeface="Microsoft JhengHei"/>
                <a:ea typeface="Microsoft JhengHei"/>
              </a:rPr>
              <a:t>台股投資競賽 盤後檢討與隔日預掛單 2026-10-23　|　44</a:t>
            </a:r>
          </a:p>
        </p:txBody>
      </p:sp>
      <p:pic>
        <p:nvPicPr>
          <p:cNvPr id="5" name="Picture 4" descr="2026-10-23_盤後檢討與隔日預掛單_nav.png"/>
          <p:cNvPicPr>
            <a:picLocks noChangeAspect="1"/>
          </p:cNvPicPr>
          <p:nvPr/>
        </p:nvPicPr>
        <p:blipFill>
          <a:blip r:embed="rId2"/>
          <a:stretch>
            <a:fillRect/>
          </a:stretch>
        </p:blipFill>
        <p:spPr>
          <a:xfrm>
            <a:off x="472287" y="1097280"/>
            <a:ext cx="11247120" cy="44988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