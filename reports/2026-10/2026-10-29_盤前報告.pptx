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a:t>
            </a:r>
          </a:p>
        </p:txBody>
      </p:sp>
      <p:sp>
        <p:nvSpPr>
          <p:cNvPr id="3" name="Rectangle 2"/>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698480" cy="1280160"/>
          </a:xfrm>
          <a:prstGeom prst="rect">
            <a:avLst/>
          </a:prstGeom>
          <a:noFill/>
        </p:spPr>
        <p:txBody>
          <a:bodyPr wrap="none">
            <a:spAutoFit/>
          </a:bodyPr>
          <a:lstStyle/>
          <a:p>
            <a:r>
              <a:rPr sz="3800" b="1">
                <a:solidFill>
                  <a:srgbClr val="FFFFFF"/>
                </a:solidFill>
                <a:latin typeface="Microsoft JhengHei"/>
                <a:ea typeface="Microsoft JhengHei"/>
              </a:rPr>
              <a:t>盤前報告</a:t>
            </a:r>
          </a:p>
        </p:txBody>
      </p:sp>
      <p:sp>
        <p:nvSpPr>
          <p:cNvPr id="5" name="TextBox 4"/>
          <p:cNvSpPr txBox="1"/>
          <p:nvPr/>
        </p:nvSpPr>
        <p:spPr>
          <a:xfrm>
            <a:off x="731520" y="3566160"/>
            <a:ext cx="10698480" cy="914400"/>
          </a:xfrm>
          <a:prstGeom prst="rect">
            <a:avLst/>
          </a:prstGeom>
          <a:noFill/>
        </p:spPr>
        <p:txBody>
          <a:bodyPr wrap="none">
            <a:spAutoFit/>
          </a:bodyPr>
          <a:lstStyle/>
          <a:p>
            <a:r>
              <a:rPr sz="1800" b="0">
                <a:solidFill>
                  <a:srgbClr val="C9D6E8"/>
                </a:solidFill>
                <a:latin typeface="Microsoft JhengHei"/>
                <a:ea typeface="Microsoft JhengHei"/>
              </a:rPr>
              <a:t>2026-10-29　|　2026 德明X富達投資擂台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今日重點</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a:t>
            </a:r>
          </a:p>
        </p:txBody>
      </p:sp>
      <p:sp>
        <p:nvSpPr>
          <p:cNvPr id="5" name="Rectangle 4"/>
          <p:cNvSpPr/>
          <p:nvPr/>
        </p:nvSpPr>
        <p:spPr>
          <a:xfrm>
            <a:off x="457200" y="1280160"/>
            <a:ext cx="2647873" cy="14630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2373553" cy="1280160"/>
          </a:xfrm>
          <a:prstGeom prst="rect">
            <a:avLst/>
          </a:prstGeom>
          <a:noFill/>
        </p:spPr>
        <p:txBody>
          <a:bodyPr wrap="none">
            <a:spAutoFit/>
          </a:bodyPr>
          <a:lstStyle/>
          <a:p>
            <a:r>
              <a:rPr sz="1300" b="0">
                <a:solidFill>
                  <a:srgbClr val="57606A"/>
                </a:solidFill>
                <a:latin typeface="Microsoft JhengHei"/>
                <a:ea typeface="Microsoft JhengHei"/>
              </a:rPr>
              <a:t>總資產</a:t>
            </a:r>
          </a:p>
          <a:p>
            <a:r>
              <a:rPr sz="3000" b="1">
                <a:solidFill>
                  <a:srgbClr val="1F2328"/>
                </a:solidFill>
                <a:latin typeface="Microsoft JhengHei"/>
                <a:ea typeface="Microsoft JhengHei"/>
              </a:rPr>
              <a:t>879 萬</a:t>
            </a:r>
          </a:p>
        </p:txBody>
      </p:sp>
      <p:sp>
        <p:nvSpPr>
          <p:cNvPr id="7" name="Rectangle 6"/>
          <p:cNvSpPr/>
          <p:nvPr/>
        </p:nvSpPr>
        <p:spPr>
          <a:xfrm>
            <a:off x="3333673" y="1280160"/>
            <a:ext cx="2647873" cy="14630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0833" y="1371600"/>
            <a:ext cx="2373553" cy="1280160"/>
          </a:xfrm>
          <a:prstGeom prst="rect">
            <a:avLst/>
          </a:prstGeom>
          <a:noFill/>
        </p:spPr>
        <p:txBody>
          <a:bodyPr wrap="none">
            <a:spAutoFit/>
          </a:bodyPr>
          <a:lstStyle/>
          <a:p>
            <a:r>
              <a:rPr sz="1300" b="0">
                <a:solidFill>
                  <a:srgbClr val="57606A"/>
                </a:solidFill>
                <a:latin typeface="Microsoft JhengHei"/>
                <a:ea typeface="Microsoft JhengHei"/>
              </a:rPr>
              <a:t>累積報酬</a:t>
            </a:r>
          </a:p>
          <a:p>
            <a:r>
              <a:rPr sz="3000" b="1">
                <a:solidFill>
                  <a:srgbClr val="2E8B57"/>
                </a:solidFill>
                <a:latin typeface="Microsoft JhengHei"/>
                <a:ea typeface="Microsoft JhengHei"/>
              </a:rPr>
              <a:t>-12.12%</a:t>
            </a:r>
          </a:p>
        </p:txBody>
      </p:sp>
      <p:sp>
        <p:nvSpPr>
          <p:cNvPr id="9" name="Rectangle 8"/>
          <p:cNvSpPr/>
          <p:nvPr/>
        </p:nvSpPr>
        <p:spPr>
          <a:xfrm>
            <a:off x="6210147" y="1280160"/>
            <a:ext cx="2647873" cy="14630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7307" y="1371600"/>
            <a:ext cx="2373553" cy="1280160"/>
          </a:xfrm>
          <a:prstGeom prst="rect">
            <a:avLst/>
          </a:prstGeom>
          <a:noFill/>
        </p:spPr>
        <p:txBody>
          <a:bodyPr wrap="none">
            <a:spAutoFit/>
          </a:bodyPr>
          <a:lstStyle/>
          <a:p>
            <a:r>
              <a:rPr sz="1300" b="0">
                <a:solidFill>
                  <a:srgbClr val="57606A"/>
                </a:solidFill>
                <a:latin typeface="Microsoft JhengHei"/>
                <a:ea typeface="Microsoft JhengHei"/>
              </a:rPr>
              <a:t>執行後持股率</a:t>
            </a:r>
          </a:p>
          <a:p>
            <a:r>
              <a:rPr sz="3000" b="1">
                <a:solidFill>
                  <a:srgbClr val="1F2328"/>
                </a:solidFill>
                <a:latin typeface="Microsoft JhengHei"/>
                <a:ea typeface="Microsoft JhengHei"/>
              </a:rPr>
              <a:t>95.1%</a:t>
            </a:r>
          </a:p>
        </p:txBody>
      </p:sp>
      <p:sp>
        <p:nvSpPr>
          <p:cNvPr id="11" name="Rectangle 10"/>
          <p:cNvSpPr/>
          <p:nvPr/>
        </p:nvSpPr>
        <p:spPr>
          <a:xfrm>
            <a:off x="9086621" y="1280160"/>
            <a:ext cx="2647873" cy="14630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23781" y="1371600"/>
            <a:ext cx="2373553" cy="1280160"/>
          </a:xfrm>
          <a:prstGeom prst="rect">
            <a:avLst/>
          </a:prstGeom>
          <a:noFill/>
        </p:spPr>
        <p:txBody>
          <a:bodyPr wrap="none">
            <a:spAutoFit/>
          </a:bodyPr>
          <a:lstStyle/>
          <a:p>
            <a:r>
              <a:rPr sz="1300" b="0">
                <a:solidFill>
                  <a:srgbClr val="57606A"/>
                </a:solidFill>
                <a:latin typeface="Microsoft JhengHei"/>
                <a:ea typeface="Microsoft JhengHei"/>
              </a:rPr>
              <a:t>大盤預測開盤</a:t>
            </a:r>
          </a:p>
          <a:p>
            <a:r>
              <a:rPr sz="3000" b="1">
                <a:solidFill>
                  <a:srgbClr val="C8423B"/>
                </a:solidFill>
                <a:latin typeface="Microsoft JhengHei"/>
                <a:ea typeface="Microsoft JhengHei"/>
              </a:rPr>
              <a:t>+0.08%</a:t>
            </a:r>
          </a:p>
        </p:txBody>
      </p:sp>
      <p:sp>
        <p:nvSpPr>
          <p:cNvPr id="13" name="TextBox 12"/>
          <p:cNvSpPr txBox="1"/>
          <p:nvPr/>
        </p:nvSpPr>
        <p:spPr>
          <a:xfrm>
            <a:off x="594360" y="3108960"/>
            <a:ext cx="10972800" cy="3108960"/>
          </a:xfrm>
          <a:prstGeom prst="rect">
            <a:avLst/>
          </a:prstGeom>
          <a:noFill/>
        </p:spPr>
        <p:txBody>
          <a:bodyPr wrap="square">
            <a:spAutoFit/>
          </a:bodyPr>
          <a:lstStyle/>
          <a:p>
            <a:pPr>
              <a:spcAft>
                <a:spcPts val="400"/>
              </a:spcAft>
            </a:pPr>
            <a:r>
              <a:rPr sz="1600" b="0">
                <a:solidFill>
                  <a:srgbClr val="1F2328"/>
                </a:solidFill>
                <a:latin typeface="Microsoft JhengHei"/>
                <a:ea typeface="Microsoft JhengHei"/>
              </a:rPr>
              <a:t>• 美股前一交易日：費城半導體 +1.75%、那斯達克 +0.27%、標普500 +0.28%、台積電ADR +0.60%、美10年債殖利率 +1.04%。新聞面：美股受聯準會按兵不動激勵齊揚，台股強勁反彈大漲939點重回4萬7千點關卡，股匯同步走高，市場多頭情緒明顯回溫。</a:t>
            </a:r>
          </a:p>
          <a:p>
            <a:pPr>
              <a:spcAft>
                <a:spcPts val="400"/>
              </a:spcAft>
            </a:pPr>
            <a:r>
              <a:rPr sz="1600" b="0">
                <a:solidFill>
                  <a:srgbClr val="1F2328"/>
                </a:solidFill>
                <a:latin typeface="Microsoft JhengHei"/>
                <a:ea typeface="Microsoft JhengHei"/>
              </a:rPr>
              <a:t>• 模型預測加權指數開盤 +0.08%（平盤），開盤後 +0.46%（續強）；樣本外方向命中率 83.5%，誤差區間約 ±0.52%。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庫存怎麼處理</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a:t>
            </a:r>
          </a:p>
        </p:txBody>
      </p:sp>
      <p:graphicFrame>
        <p:nvGraphicFramePr>
          <p:cNvPr id="5" name="Table 4"/>
          <p:cNvGraphicFramePr>
            <a:graphicFrameLocks noGrp="1"/>
          </p:cNvGraphicFramePr>
          <p:nvPr/>
        </p:nvGraphicFramePr>
        <p:xfrm>
          <a:off x="457200" y="1188720"/>
          <a:ext cx="11247117" cy="5486400"/>
        </p:xfrm>
        <a:graphic>
          <a:graphicData uri="http://schemas.openxmlformats.org/drawingml/2006/table">
            <a:tbl>
              <a:tblPr firstRow="1" bandRow="1">
                <a:tableStyleId>{5C22544A-7EE6-4342-B048-85BDC9FD1C3A}</a:tableStyleId>
              </a:tblPr>
              <a:tblGrid>
                <a:gridCol w="2402297"/>
                <a:gridCol w="1201148"/>
                <a:gridCol w="1091953"/>
                <a:gridCol w="1091953"/>
                <a:gridCol w="4367813"/>
                <a:gridCol w="1091953"/>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持股</a:t>
                      </a:r>
                    </a:p>
                  </a:txBody>
                  <a:tcPr>
                    <a:solidFill>
                      <a:srgbClr val="1F3A5F"/>
                    </a:solidFill>
                  </a:tcPr>
                </a:tc>
                <a:tc>
                  <a:txBody>
                    <a:bodyPr/>
                    <a:lstStyle/>
                    <a:p>
                      <a:r>
                        <a:rPr sz="1100" b="1">
                          <a:solidFill>
                            <a:srgbClr val="FFFFFF"/>
                          </a:solidFill>
                          <a:latin typeface="Microsoft JhengHei"/>
                          <a:ea typeface="Microsoft JhengHei"/>
                        </a:rPr>
                        <a:t>損益</a:t>
                      </a:r>
                    </a:p>
                  </a:txBody>
                  <a:tcPr>
                    <a:solidFill>
                      <a:srgbClr val="1F3A5F"/>
                    </a:solidFill>
                  </a:tcPr>
                </a:tc>
                <a:tc>
                  <a:txBody>
                    <a:bodyPr/>
                    <a:lstStyle/>
                    <a:p>
                      <a:r>
                        <a:rPr sz="1100" b="1">
                          <a:solidFill>
                            <a:srgbClr val="FFFFFF"/>
                          </a:solidFill>
                          <a:latin typeface="Microsoft JhengHei"/>
                          <a:ea typeface="Microsoft JhengHei"/>
                        </a:rPr>
                        <a:t>建議</a:t>
                      </a:r>
                    </a:p>
                  </a:txBody>
                  <a:tcPr>
                    <a:solidFill>
                      <a:srgbClr val="1F3A5F"/>
                    </a:solidFill>
                  </a:tcPr>
                </a:tc>
                <a:tc>
                  <a:txBody>
                    <a:bodyPr/>
                    <a:lstStyle/>
                    <a:p>
                      <a:r>
                        <a:rPr sz="1100" b="1">
                          <a:solidFill>
                            <a:srgbClr val="FFFFFF"/>
                          </a:solidFill>
                          <a:latin typeface="Microsoft JhengHei"/>
                          <a:ea typeface="Microsoft JhengHei"/>
                        </a:rPr>
                        <a:t>數量</a:t>
                      </a:r>
                    </a:p>
                  </a:txBody>
                  <a:tcPr>
                    <a:solidFill>
                      <a:srgbClr val="1F3A5F"/>
                    </a:solidFill>
                  </a:tcPr>
                </a:tc>
                <a:tc>
                  <a:txBody>
                    <a:bodyPr/>
                    <a:lstStyle/>
                    <a:p>
                      <a:r>
                        <a:rPr sz="1100" b="1">
                          <a:solidFill>
                            <a:srgbClr val="FFFFFF"/>
                          </a:solidFill>
                          <a:latin typeface="Microsoft JhengHei"/>
                          <a:ea typeface="Microsoft JhengHei"/>
                        </a:rPr>
                        <a:t>限價</a:t>
                      </a:r>
                    </a:p>
                  </a:txBody>
                  <a:tcPr>
                    <a:solidFill>
                      <a:srgbClr val="1F3A5F"/>
                    </a:solidFill>
                  </a:tcPr>
                </a:tc>
              </a:tr>
              <a:tr h="365760">
                <a:tc>
                  <a:txBody>
                    <a:bodyPr/>
                    <a:lstStyle/>
                    <a:p>
                      <a:r>
                        <a:rPr sz="1100" b="0">
                          <a:solidFill>
                            <a:srgbClr val="1F2328"/>
                          </a:solidFill>
                          <a:latin typeface="Microsoft JhengHei"/>
                          <a:ea typeface="Microsoft JhengHei"/>
                        </a:rPr>
                        <a:t>6196 帆宣</a:t>
                      </a:r>
                    </a:p>
                  </a:txBody>
                  <a:tcPr>
                    <a:solidFill>
                      <a:srgbClr val="F3F5F8"/>
                    </a:solidFill>
                  </a:tcPr>
                </a:tc>
                <a:tc>
                  <a:txBody>
                    <a:bodyPr/>
                    <a:lstStyle/>
                    <a:p>
                      <a:r>
                        <a:rPr sz="1100" b="0">
                          <a:solidFill>
                            <a:srgbClr val="1F2328"/>
                          </a:solidFill>
                          <a:latin typeface="Microsoft JhengHei"/>
                          <a:ea typeface="Microsoft JhengHei"/>
                        </a:rPr>
                        <a:t>2,150</a:t>
                      </a:r>
                    </a:p>
                  </a:txBody>
                  <a:tcPr>
                    <a:solidFill>
                      <a:srgbClr val="F3F5F8"/>
                    </a:solidFill>
                  </a:tcPr>
                </a:tc>
                <a:tc>
                  <a:txBody>
                    <a:bodyPr/>
                    <a:lstStyle/>
                    <a:p>
                      <a:r>
                        <a:rPr sz="1100" b="0">
                          <a:solidFill>
                            <a:srgbClr val="2E8B57"/>
                          </a:solidFill>
                          <a:latin typeface="Microsoft JhengHei"/>
                          <a:ea typeface="Microsoft JhengHei"/>
                        </a:rPr>
                        <a:t>-6.74%</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2 張又 150 股（共 2,150 股）</a:t>
                      </a:r>
                    </a:p>
                  </a:txBody>
                  <a:tcPr>
                    <a:solidFill>
                      <a:srgbClr val="F3F5F8"/>
                    </a:solidFill>
                  </a:tcPr>
                </a:tc>
                <a:tc>
                  <a:txBody>
                    <a:bodyPr/>
                    <a:lstStyle/>
                    <a:p>
                      <a:r>
                        <a:rPr sz="1100" b="0">
                          <a:solidFill>
                            <a:srgbClr val="1F2328"/>
                          </a:solidFill>
                          <a:latin typeface="Microsoft JhengHei"/>
                          <a:ea typeface="Microsoft JhengHei"/>
                        </a:rPr>
                        <a:t>586.0</a:t>
                      </a:r>
                    </a:p>
                  </a:txBody>
                  <a:tcPr>
                    <a:solidFill>
                      <a:srgbClr val="F3F5F8"/>
                    </a:solidFill>
                  </a:tcPr>
                </a:tc>
              </a:tr>
              <a:tr h="365760">
                <a:tc>
                  <a:txBody>
                    <a:bodyPr/>
                    <a:lstStyle/>
                    <a:p>
                      <a:r>
                        <a:rPr sz="1100" b="0">
                          <a:solidFill>
                            <a:srgbClr val="1F2328"/>
                          </a:solidFill>
                          <a:latin typeface="Microsoft JhengHei"/>
                          <a:ea typeface="Microsoft JhengHei"/>
                        </a:rPr>
                        <a:t>1560 中砂</a:t>
                      </a:r>
                    </a:p>
                  </a:txBody>
                  <a:tcPr>
                    <a:solidFill>
                      <a:srgbClr val="FFFFFF"/>
                    </a:solidFill>
                  </a:tcPr>
                </a:tc>
                <a:tc>
                  <a:txBody>
                    <a:bodyPr/>
                    <a:lstStyle/>
                    <a:p>
                      <a:r>
                        <a:rPr sz="1100" b="0">
                          <a:solidFill>
                            <a:srgbClr val="1F2328"/>
                          </a:solidFill>
                          <a:latin typeface="Microsoft JhengHei"/>
                          <a:ea typeface="Microsoft JhengHei"/>
                        </a:rPr>
                        <a:t>1,091</a:t>
                      </a:r>
                    </a:p>
                  </a:txBody>
                  <a:tcPr>
                    <a:solidFill>
                      <a:srgbClr val="FFFFFF"/>
                    </a:solidFill>
                  </a:tcPr>
                </a:tc>
                <a:tc>
                  <a:txBody>
                    <a:bodyPr/>
                    <a:lstStyle/>
                    <a:p>
                      <a:r>
                        <a:rPr sz="1100" b="0">
                          <a:solidFill>
                            <a:srgbClr val="2E8B57"/>
                          </a:solidFill>
                          <a:latin typeface="Microsoft JhengHei"/>
                          <a:ea typeface="Microsoft JhengHei"/>
                        </a:rPr>
                        <a:t>-10.20%</a:t>
                      </a:r>
                    </a:p>
                  </a:txBody>
                  <a:tcPr>
                    <a:solidFill>
                      <a:srgbClr val="FFFFFF"/>
                    </a:solidFill>
                  </a:tcPr>
                </a:tc>
                <a:tc>
                  <a:txBody>
                    <a:bodyPr/>
                    <a:lstStyle/>
                    <a:p>
                      <a:r>
                        <a:rPr sz="1100" b="0">
                          <a:solidFill>
                            <a:srgbClr val="1F2328"/>
                          </a:solidFill>
                          <a:latin typeface="Microsoft JhengHei"/>
                          <a:ea typeface="Microsoft JhengHei"/>
                        </a:rPr>
                        <a:t>全部出清</a:t>
                      </a:r>
                    </a:p>
                  </a:txBody>
                  <a:tcPr>
                    <a:solidFill>
                      <a:srgbClr val="FFFFFF"/>
                    </a:solidFill>
                  </a:tcPr>
                </a:tc>
                <a:tc>
                  <a:txBody>
                    <a:bodyPr/>
                    <a:lstStyle/>
                    <a:p>
                      <a:r>
                        <a:rPr sz="1100" b="0">
                          <a:solidFill>
                            <a:srgbClr val="1F2328"/>
                          </a:solidFill>
                          <a:latin typeface="Microsoft JhengHei"/>
                          <a:ea typeface="Microsoft JhengHei"/>
                        </a:rPr>
                        <a:t>賣出全部 1 張又 91 股（共 1,091 股）</a:t>
                      </a:r>
                    </a:p>
                  </a:txBody>
                  <a:tcPr>
                    <a:solidFill>
                      <a:srgbClr val="FFFFFF"/>
                    </a:solidFill>
                  </a:tcPr>
                </a:tc>
                <a:tc>
                  <a:txBody>
                    <a:bodyPr/>
                    <a:lstStyle/>
                    <a:p>
                      <a:r>
                        <a:rPr sz="1100" b="0">
                          <a:solidFill>
                            <a:srgbClr val="1F2328"/>
                          </a:solidFill>
                          <a:latin typeface="Microsoft JhengHei"/>
                          <a:ea typeface="Microsoft JhengHei"/>
                        </a:rPr>
                        <a:t>904.0</a:t>
                      </a:r>
                    </a:p>
                  </a:txBody>
                  <a:tcPr>
                    <a:solidFill>
                      <a:srgbClr val="FFFFFF"/>
                    </a:solidFill>
                  </a:tcPr>
                </a:tc>
              </a:tr>
              <a:tr h="365760">
                <a:tc>
                  <a:txBody>
                    <a:bodyPr/>
                    <a:lstStyle/>
                    <a:p>
                      <a:r>
                        <a:rPr sz="1100" b="0">
                          <a:solidFill>
                            <a:srgbClr val="1F2328"/>
                          </a:solidFill>
                          <a:latin typeface="Microsoft JhengHei"/>
                          <a:ea typeface="Microsoft JhengHei"/>
                        </a:rPr>
                        <a:t>2889 國票金</a:t>
                      </a:r>
                    </a:p>
                  </a:txBody>
                  <a:tcPr>
                    <a:solidFill>
                      <a:srgbClr val="F3F5F8"/>
                    </a:solidFill>
                  </a:tcPr>
                </a:tc>
                <a:tc>
                  <a:txBody>
                    <a:bodyPr/>
                    <a:lstStyle/>
                    <a:p>
                      <a:r>
                        <a:rPr sz="1100" b="0">
                          <a:solidFill>
                            <a:srgbClr val="1F2328"/>
                          </a:solidFill>
                          <a:latin typeface="Microsoft JhengHei"/>
                          <a:ea typeface="Microsoft JhengHei"/>
                        </a:rPr>
                        <a:t>40,416</a:t>
                      </a:r>
                    </a:p>
                  </a:txBody>
                  <a:tcPr>
                    <a:solidFill>
                      <a:srgbClr val="F3F5F8"/>
                    </a:solidFill>
                  </a:tcPr>
                </a:tc>
                <a:tc>
                  <a:txBody>
                    <a:bodyPr/>
                    <a:lstStyle/>
                    <a:p>
                      <a:r>
                        <a:rPr sz="1100" b="0">
                          <a:solidFill>
                            <a:srgbClr val="C8423B"/>
                          </a:solidFill>
                          <a:latin typeface="Microsoft JhengHei"/>
                          <a:ea typeface="Microsoft JhengHei"/>
                        </a:rPr>
                        <a:t>+6.61%</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40 張又 416 股（共 40,416 股）</a:t>
                      </a:r>
                    </a:p>
                  </a:txBody>
                  <a:tcPr>
                    <a:solidFill>
                      <a:srgbClr val="F3F5F8"/>
                    </a:solidFill>
                  </a:tcPr>
                </a:tc>
                <a:tc>
                  <a:txBody>
                    <a:bodyPr/>
                    <a:lstStyle/>
                    <a:p>
                      <a:r>
                        <a:rPr sz="1100" b="0">
                          <a:solidFill>
                            <a:srgbClr val="1F2328"/>
                          </a:solidFill>
                          <a:latin typeface="Microsoft JhengHei"/>
                          <a:ea typeface="Microsoft JhengHei"/>
                        </a:rPr>
                        <a:t>16.9</a:t>
                      </a:r>
                    </a:p>
                  </a:txBody>
                  <a:tcPr>
                    <a:solidFill>
                      <a:srgbClr val="F3F5F8"/>
                    </a:solidFill>
                  </a:tcPr>
                </a:tc>
              </a:tr>
              <a:tr h="365760">
                <a:tc>
                  <a:txBody>
                    <a:bodyPr/>
                    <a:lstStyle/>
                    <a:p>
                      <a:r>
                        <a:rPr sz="1100" b="0">
                          <a:solidFill>
                            <a:srgbClr val="1F2328"/>
                          </a:solidFill>
                          <a:latin typeface="Microsoft JhengHei"/>
                          <a:ea typeface="Microsoft JhengHei"/>
                        </a:rPr>
                        <a:t>5880 合庫金</a:t>
                      </a:r>
                    </a:p>
                  </a:txBody>
                  <a:tcPr>
                    <a:solidFill>
                      <a:srgbClr val="FFFFFF"/>
                    </a:solidFill>
                  </a:tcPr>
                </a:tc>
                <a:tc>
                  <a:txBody>
                    <a:bodyPr/>
                    <a:lstStyle/>
                    <a:p>
                      <a:r>
                        <a:rPr sz="1100" b="0">
                          <a:solidFill>
                            <a:srgbClr val="1F2328"/>
                          </a:solidFill>
                          <a:latin typeface="Microsoft JhengHei"/>
                          <a:ea typeface="Microsoft JhengHei"/>
                        </a:rPr>
                        <a:t>24,000</a:t>
                      </a:r>
                    </a:p>
                  </a:txBody>
                  <a:tcPr>
                    <a:solidFill>
                      <a:srgbClr val="FFFFFF"/>
                    </a:solidFill>
                  </a:tcPr>
                </a:tc>
                <a:tc>
                  <a:txBody>
                    <a:bodyPr/>
                    <a:lstStyle/>
                    <a:p>
                      <a:r>
                        <a:rPr sz="1100" b="0">
                          <a:solidFill>
                            <a:srgbClr val="C8423B"/>
                          </a:solidFill>
                          <a:latin typeface="Microsoft JhengHei"/>
                          <a:ea typeface="Microsoft JhengHei"/>
                        </a:rPr>
                        <a:t>+8.85%</a:t>
                      </a:r>
                    </a:p>
                  </a:txBody>
                  <a:tcPr>
                    <a:solidFill>
                      <a:srgbClr val="FFFFFF"/>
                    </a:solidFill>
                  </a:tcPr>
                </a:tc>
                <a:tc>
                  <a:txBody>
                    <a:bodyPr/>
                    <a:lstStyle/>
                    <a:p>
                      <a:r>
                        <a:rPr sz="1100" b="0">
                          <a:solidFill>
                            <a:srgbClr val="1F2328"/>
                          </a:solidFill>
                          <a:latin typeface="Microsoft JhengHei"/>
                          <a:ea typeface="Microsoft JhengHei"/>
                        </a:rPr>
                        <a:t>全部出清</a:t>
                      </a:r>
                    </a:p>
                  </a:txBody>
                  <a:tcPr>
                    <a:solidFill>
                      <a:srgbClr val="FFFFFF"/>
                    </a:solidFill>
                  </a:tcPr>
                </a:tc>
                <a:tc>
                  <a:txBody>
                    <a:bodyPr/>
                    <a:lstStyle/>
                    <a:p>
                      <a:r>
                        <a:rPr sz="1100" b="0">
                          <a:solidFill>
                            <a:srgbClr val="1F2328"/>
                          </a:solidFill>
                          <a:latin typeface="Microsoft JhengHei"/>
                          <a:ea typeface="Microsoft JhengHei"/>
                        </a:rPr>
                        <a:t>賣出全部 24 張（24,000 股）</a:t>
                      </a:r>
                    </a:p>
                  </a:txBody>
                  <a:tcPr>
                    <a:solidFill>
                      <a:srgbClr val="FFFFFF"/>
                    </a:solidFill>
                  </a:tcPr>
                </a:tc>
                <a:tc>
                  <a:txBody>
                    <a:bodyPr/>
                    <a:lstStyle/>
                    <a:p>
                      <a:r>
                        <a:rPr sz="1100" b="0">
                          <a:solidFill>
                            <a:srgbClr val="1F2328"/>
                          </a:solidFill>
                          <a:latin typeface="Microsoft JhengHei"/>
                          <a:ea typeface="Microsoft JhengHei"/>
                        </a:rPr>
                        <a:t>28.15</a:t>
                      </a:r>
                    </a:p>
                  </a:txBody>
                  <a:tcPr>
                    <a:solidFill>
                      <a:srgbClr val="FFFFFF"/>
                    </a:solidFill>
                  </a:tcPr>
                </a:tc>
              </a:tr>
              <a:tr h="365760">
                <a:tc>
                  <a:txBody>
                    <a:bodyPr/>
                    <a:lstStyle/>
                    <a:p>
                      <a:r>
                        <a:rPr sz="1100" b="0">
                          <a:solidFill>
                            <a:srgbClr val="1F2328"/>
                          </a:solidFill>
                          <a:latin typeface="Microsoft JhengHei"/>
                          <a:ea typeface="Microsoft JhengHei"/>
                        </a:rPr>
                        <a:t>3037 欣興</a:t>
                      </a:r>
                    </a:p>
                  </a:txBody>
                  <a:tcPr>
                    <a:solidFill>
                      <a:srgbClr val="F3F5F8"/>
                    </a:solidFill>
                  </a:tcPr>
                </a:tc>
                <a:tc>
                  <a:txBody>
                    <a:bodyPr/>
                    <a:lstStyle/>
                    <a:p>
                      <a:r>
                        <a:rPr sz="1100" b="0">
                          <a:solidFill>
                            <a:srgbClr val="1F2328"/>
                          </a:solidFill>
                          <a:latin typeface="Microsoft JhengHei"/>
                          <a:ea typeface="Microsoft JhengHei"/>
                        </a:rPr>
                        <a:t>570</a:t>
                      </a:r>
                    </a:p>
                  </a:txBody>
                  <a:tcPr>
                    <a:solidFill>
                      <a:srgbClr val="F3F5F8"/>
                    </a:solidFill>
                  </a:tcPr>
                </a:tc>
                <a:tc>
                  <a:txBody>
                    <a:bodyPr/>
                    <a:lstStyle/>
                    <a:p>
                      <a:r>
                        <a:rPr sz="1100" b="0">
                          <a:solidFill>
                            <a:srgbClr val="2E8B57"/>
                          </a:solidFill>
                          <a:latin typeface="Microsoft JhengHei"/>
                          <a:ea typeface="Microsoft JhengHei"/>
                        </a:rPr>
                        <a:t>-6.91%</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570 股（零股）</a:t>
                      </a:r>
                    </a:p>
                  </a:txBody>
                  <a:tcPr>
                    <a:solidFill>
                      <a:srgbClr val="F3F5F8"/>
                    </a:solidFill>
                  </a:tcPr>
                </a:tc>
                <a:tc>
                  <a:txBody>
                    <a:bodyPr/>
                    <a:lstStyle/>
                    <a:p>
                      <a:r>
                        <a:rPr sz="1100" b="0">
                          <a:solidFill>
                            <a:srgbClr val="1F2328"/>
                          </a:solidFill>
                          <a:latin typeface="Microsoft JhengHei"/>
                          <a:ea typeface="Microsoft JhengHei"/>
                        </a:rPr>
                        <a:t>1085.0</a:t>
                      </a:r>
                    </a:p>
                  </a:txBody>
                  <a:tcPr>
                    <a:solidFill>
                      <a:srgbClr val="F3F5F8"/>
                    </a:solidFill>
                  </a:tcPr>
                </a:tc>
              </a:tr>
              <a:tr h="365760">
                <a:tc>
                  <a:txBody>
                    <a:bodyPr/>
                    <a:lstStyle/>
                    <a:p>
                      <a:r>
                        <a:rPr sz="1100" b="0">
                          <a:solidFill>
                            <a:srgbClr val="1F2328"/>
                          </a:solidFill>
                          <a:latin typeface="Microsoft JhengHei"/>
                          <a:ea typeface="Microsoft JhengHei"/>
                        </a:rPr>
                        <a:t>2845 遠東銀</a:t>
                      </a:r>
                    </a:p>
                  </a:txBody>
                  <a:tcPr>
                    <a:solidFill>
                      <a:srgbClr val="FFFFFF"/>
                    </a:solidFill>
                  </a:tcPr>
                </a:tc>
                <a:tc>
                  <a:txBody>
                    <a:bodyPr/>
                    <a:lstStyle/>
                    <a:p>
                      <a:r>
                        <a:rPr sz="1100" b="0">
                          <a:solidFill>
                            <a:srgbClr val="1F2328"/>
                          </a:solidFill>
                          <a:latin typeface="Microsoft JhengHei"/>
                          <a:ea typeface="Microsoft JhengHei"/>
                        </a:rPr>
                        <a:t>36,071</a:t>
                      </a:r>
                    </a:p>
                  </a:txBody>
                  <a:tcPr>
                    <a:solidFill>
                      <a:srgbClr val="FFFFFF"/>
                    </a:solidFill>
                  </a:tcPr>
                </a:tc>
                <a:tc>
                  <a:txBody>
                    <a:bodyPr/>
                    <a:lstStyle/>
                    <a:p>
                      <a:r>
                        <a:rPr sz="1100" b="0">
                          <a:solidFill>
                            <a:srgbClr val="C8423B"/>
                          </a:solidFill>
                          <a:latin typeface="Microsoft JhengHei"/>
                          <a:ea typeface="Microsoft JhengHei"/>
                        </a:rPr>
                        <a:t>+1.39%</a:t>
                      </a:r>
                    </a:p>
                  </a:txBody>
                  <a:tcPr>
                    <a:solidFill>
                      <a:srgbClr val="FFFFFF"/>
                    </a:solidFill>
                  </a:tcPr>
                </a:tc>
                <a:tc>
                  <a:txBody>
                    <a:bodyPr/>
                    <a:lstStyle/>
                    <a:p>
                      <a:r>
                        <a:rPr sz="1100" b="0">
                          <a:solidFill>
                            <a:srgbClr val="1F2328"/>
                          </a:solidFill>
                          <a:latin typeface="Microsoft JhengHei"/>
                          <a:ea typeface="Microsoft JhengHei"/>
                        </a:rPr>
                        <a:t>全部出清</a:t>
                      </a:r>
                    </a:p>
                  </a:txBody>
                  <a:tcPr>
                    <a:solidFill>
                      <a:srgbClr val="FFFFFF"/>
                    </a:solidFill>
                  </a:tcPr>
                </a:tc>
                <a:tc>
                  <a:txBody>
                    <a:bodyPr/>
                    <a:lstStyle/>
                    <a:p>
                      <a:r>
                        <a:rPr sz="1100" b="0">
                          <a:solidFill>
                            <a:srgbClr val="1F2328"/>
                          </a:solidFill>
                          <a:latin typeface="Microsoft JhengHei"/>
                          <a:ea typeface="Microsoft JhengHei"/>
                        </a:rPr>
                        <a:t>賣出全部 36 張又 71 股（共 36,071 股）</a:t>
                      </a:r>
                    </a:p>
                  </a:txBody>
                  <a:tcPr>
                    <a:solidFill>
                      <a:srgbClr val="FFFFFF"/>
                    </a:solidFill>
                  </a:tcPr>
                </a:tc>
                <a:tc>
                  <a:txBody>
                    <a:bodyPr/>
                    <a:lstStyle/>
                    <a:p>
                      <a:r>
                        <a:rPr sz="1100" b="0">
                          <a:solidFill>
                            <a:srgbClr val="1F2328"/>
                          </a:solidFill>
                          <a:latin typeface="Microsoft JhengHei"/>
                          <a:ea typeface="Microsoft JhengHei"/>
                        </a:rPr>
                        <a:t>13.0</a:t>
                      </a:r>
                    </a:p>
                  </a:txBody>
                  <a:tcPr>
                    <a:solidFill>
                      <a:srgbClr val="FFFFFF"/>
                    </a:solidFill>
                  </a:tcPr>
                </a:tc>
              </a:tr>
              <a:tr h="365760">
                <a:tc>
                  <a:txBody>
                    <a:bodyPr/>
                    <a:lstStyle/>
                    <a:p>
                      <a:r>
                        <a:rPr sz="1100" b="0">
                          <a:solidFill>
                            <a:srgbClr val="1F2328"/>
                          </a:solidFill>
                          <a:latin typeface="Microsoft JhengHei"/>
                          <a:ea typeface="Microsoft JhengHei"/>
                        </a:rPr>
                        <a:t>2915 潤泰全</a:t>
                      </a:r>
                    </a:p>
                  </a:txBody>
                  <a:tcPr>
                    <a:solidFill>
                      <a:srgbClr val="F3F5F8"/>
                    </a:solidFill>
                  </a:tcPr>
                </a:tc>
                <a:tc>
                  <a:txBody>
                    <a:bodyPr/>
                    <a:lstStyle/>
                    <a:p>
                      <a:r>
                        <a:rPr sz="1100" b="0">
                          <a:solidFill>
                            <a:srgbClr val="1F2328"/>
                          </a:solidFill>
                          <a:latin typeface="Microsoft JhengHei"/>
                          <a:ea typeface="Microsoft JhengHei"/>
                        </a:rPr>
                        <a:t>7,173</a:t>
                      </a:r>
                    </a:p>
                  </a:txBody>
                  <a:tcPr>
                    <a:solidFill>
                      <a:srgbClr val="F3F5F8"/>
                    </a:solidFill>
                  </a:tcPr>
                </a:tc>
                <a:tc>
                  <a:txBody>
                    <a:bodyPr/>
                    <a:lstStyle/>
                    <a:p>
                      <a:r>
                        <a:rPr sz="1100" b="0">
                          <a:solidFill>
                            <a:srgbClr val="2E8B57"/>
                          </a:solidFill>
                          <a:latin typeface="Microsoft JhengHei"/>
                          <a:ea typeface="Microsoft JhengHei"/>
                        </a:rPr>
                        <a:t>-0.59%</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7 張又 173 股（共 7,173 股）</a:t>
                      </a:r>
                    </a:p>
                  </a:txBody>
                  <a:tcPr>
                    <a:solidFill>
                      <a:srgbClr val="F3F5F8"/>
                    </a:solidFill>
                  </a:tcPr>
                </a:tc>
                <a:tc>
                  <a:txBody>
                    <a:bodyPr/>
                    <a:lstStyle/>
                    <a:p>
                      <a:r>
                        <a:rPr sz="1100" b="0">
                          <a:solidFill>
                            <a:srgbClr val="1F2328"/>
                          </a:solidFill>
                          <a:latin typeface="Microsoft JhengHei"/>
                          <a:ea typeface="Microsoft JhengHei"/>
                        </a:rPr>
                        <a:t>56.6</a:t>
                      </a:r>
                    </a:p>
                  </a:txBody>
                  <a:tcPr>
                    <a:solidFill>
                      <a:srgbClr val="F3F5F8"/>
                    </a:solidFill>
                  </a:tcPr>
                </a:tc>
              </a:tr>
              <a:tr h="365760">
                <a:tc>
                  <a:txBody>
                    <a:bodyPr/>
                    <a:lstStyle/>
                    <a:p>
                      <a:r>
                        <a:rPr sz="1100" b="0">
                          <a:solidFill>
                            <a:srgbClr val="1F2328"/>
                          </a:solidFill>
                          <a:latin typeface="Microsoft JhengHei"/>
                          <a:ea typeface="Microsoft JhengHei"/>
                        </a:rPr>
                        <a:t>6182 合晶</a:t>
                      </a:r>
                    </a:p>
                  </a:txBody>
                  <a:tcPr>
                    <a:solidFill>
                      <a:srgbClr val="FFFFFF"/>
                    </a:solidFill>
                  </a:tcPr>
                </a:tc>
                <a:tc>
                  <a:txBody>
                    <a:bodyPr/>
                    <a:lstStyle/>
                    <a:p>
                      <a:r>
                        <a:rPr sz="1100" b="0">
                          <a:solidFill>
                            <a:srgbClr val="1F2328"/>
                          </a:solidFill>
                          <a:latin typeface="Microsoft JhengHei"/>
                          <a:ea typeface="Microsoft JhengHei"/>
                        </a:rPr>
                        <a:t>1,000</a:t>
                      </a:r>
                    </a:p>
                  </a:txBody>
                  <a:tcPr>
                    <a:solidFill>
                      <a:srgbClr val="FFFFFF"/>
                    </a:solidFill>
                  </a:tcPr>
                </a:tc>
                <a:tc>
                  <a:txBody>
                    <a:bodyPr/>
                    <a:lstStyle/>
                    <a:p>
                      <a:r>
                        <a:rPr sz="1100" b="0">
                          <a:solidFill>
                            <a:srgbClr val="2E8B57"/>
                          </a:solidFill>
                          <a:latin typeface="Microsoft JhengHei"/>
                          <a:ea typeface="Microsoft JhengHei"/>
                        </a:rPr>
                        <a:t>-9.22%</a:t>
                      </a:r>
                    </a:p>
                  </a:txBody>
                  <a:tcPr>
                    <a:solidFill>
                      <a:srgbClr val="FFFFFF"/>
                    </a:solidFill>
                  </a:tcPr>
                </a:tc>
                <a:tc>
                  <a:txBody>
                    <a:bodyPr/>
                    <a:lstStyle/>
                    <a:p>
                      <a:r>
                        <a:rPr sz="1100" b="0">
                          <a:solidFill>
                            <a:srgbClr val="1F2328"/>
                          </a:solidFill>
                          <a:latin typeface="Microsoft JhengHei"/>
                          <a:ea typeface="Microsoft JhengHei"/>
                        </a:rPr>
                        <a:t>全部出清</a:t>
                      </a:r>
                    </a:p>
                  </a:txBody>
                  <a:tcPr>
                    <a:solidFill>
                      <a:srgbClr val="FFFFFF"/>
                    </a:solidFill>
                  </a:tcPr>
                </a:tc>
                <a:tc>
                  <a:txBody>
                    <a:bodyPr/>
                    <a:lstStyle/>
                    <a:p>
                      <a:r>
                        <a:rPr sz="1100" b="0">
                          <a:solidFill>
                            <a:srgbClr val="1F2328"/>
                          </a:solidFill>
                          <a:latin typeface="Microsoft JhengHei"/>
                          <a:ea typeface="Microsoft JhengHei"/>
                        </a:rPr>
                        <a:t>賣出全部 1 張（1,000 股）</a:t>
                      </a:r>
                    </a:p>
                  </a:txBody>
                  <a:tcPr>
                    <a:solidFill>
                      <a:srgbClr val="FFFFFF"/>
                    </a:solidFill>
                  </a:tcPr>
                </a:tc>
                <a:tc>
                  <a:txBody>
                    <a:bodyPr/>
                    <a:lstStyle/>
                    <a:p>
                      <a:r>
                        <a:rPr sz="1100" b="0">
                          <a:solidFill>
                            <a:srgbClr val="1F2328"/>
                          </a:solidFill>
                          <a:latin typeface="Microsoft JhengHei"/>
                          <a:ea typeface="Microsoft JhengHei"/>
                        </a:rPr>
                        <a:t>103.5</a:t>
                      </a:r>
                    </a:p>
                  </a:txBody>
                  <a:tcPr>
                    <a:solidFill>
                      <a:srgbClr val="FFFFFF"/>
                    </a:solidFill>
                  </a:tcPr>
                </a:tc>
              </a:tr>
              <a:tr h="365760">
                <a:tc>
                  <a:txBody>
                    <a:bodyPr/>
                    <a:lstStyle/>
                    <a:p>
                      <a:r>
                        <a:rPr sz="1100" b="0">
                          <a:solidFill>
                            <a:srgbClr val="1F2328"/>
                          </a:solidFill>
                          <a:latin typeface="Microsoft JhengHei"/>
                          <a:ea typeface="Microsoft JhengHei"/>
                        </a:rPr>
                        <a:t>2103 台橡</a:t>
                      </a:r>
                    </a:p>
                  </a:txBody>
                  <a:tcPr>
                    <a:solidFill>
                      <a:srgbClr val="F3F5F8"/>
                    </a:solidFill>
                  </a:tcPr>
                </a:tc>
                <a:tc>
                  <a:txBody>
                    <a:bodyPr/>
                    <a:lstStyle/>
                    <a:p>
                      <a:r>
                        <a:rPr sz="1100" b="0">
                          <a:solidFill>
                            <a:srgbClr val="1F2328"/>
                          </a:solidFill>
                          <a:latin typeface="Microsoft JhengHei"/>
                          <a:ea typeface="Microsoft JhengHei"/>
                        </a:rPr>
                        <a:t>3,000</a:t>
                      </a:r>
                    </a:p>
                  </a:txBody>
                  <a:tcPr>
                    <a:solidFill>
                      <a:srgbClr val="F3F5F8"/>
                    </a:solidFill>
                  </a:tcPr>
                </a:tc>
                <a:tc>
                  <a:txBody>
                    <a:bodyPr/>
                    <a:lstStyle/>
                    <a:p>
                      <a:r>
                        <a:rPr sz="1100" b="0">
                          <a:solidFill>
                            <a:srgbClr val="2E8B57"/>
                          </a:solidFill>
                          <a:latin typeface="Microsoft JhengHei"/>
                          <a:ea typeface="Microsoft JhengHei"/>
                        </a:rPr>
                        <a:t>-5.39%</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3 張（3,000 股）</a:t>
                      </a:r>
                    </a:p>
                  </a:txBody>
                  <a:tcPr>
                    <a:solidFill>
                      <a:srgbClr val="F3F5F8"/>
                    </a:solidFill>
                  </a:tcPr>
                </a:tc>
                <a:tc>
                  <a:txBody>
                    <a:bodyPr/>
                    <a:lstStyle/>
                    <a:p>
                      <a:r>
                        <a:rPr sz="1100" b="0">
                          <a:solidFill>
                            <a:srgbClr val="1F2328"/>
                          </a:solidFill>
                          <a:latin typeface="Microsoft JhengHei"/>
                          <a:ea typeface="Microsoft JhengHei"/>
                        </a:rPr>
                        <a:t>27.65</a:t>
                      </a:r>
                    </a:p>
                  </a:txBody>
                  <a:tcPr>
                    <a:solidFill>
                      <a:srgbClr val="F3F5F8"/>
                    </a:solidFill>
                  </a:tcPr>
                </a:tc>
              </a:tr>
              <a:tr h="365760">
                <a:tc>
                  <a:txBody>
                    <a:bodyPr/>
                    <a:lstStyle/>
                    <a:p>
                      <a:r>
                        <a:rPr sz="1100" b="0">
                          <a:solidFill>
                            <a:srgbClr val="1F2328"/>
                          </a:solidFill>
                          <a:latin typeface="Microsoft JhengHei"/>
                          <a:ea typeface="Microsoft JhengHei"/>
                        </a:rPr>
                        <a:t>2360 致茂</a:t>
                      </a:r>
                    </a:p>
                  </a:txBody>
                  <a:tcPr>
                    <a:solidFill>
                      <a:srgbClr val="FFFFFF"/>
                    </a:solidFill>
                  </a:tcPr>
                </a:tc>
                <a:tc>
                  <a:txBody>
                    <a:bodyPr/>
                    <a:lstStyle/>
                    <a:p>
                      <a:r>
                        <a:rPr sz="1100" b="0">
                          <a:solidFill>
                            <a:srgbClr val="1F2328"/>
                          </a:solidFill>
                          <a:latin typeface="Microsoft JhengHei"/>
                          <a:ea typeface="Microsoft JhengHei"/>
                        </a:rPr>
                        <a:t>8</a:t>
                      </a:r>
                    </a:p>
                  </a:txBody>
                  <a:tcPr>
                    <a:solidFill>
                      <a:srgbClr val="FFFFFF"/>
                    </a:solidFill>
                  </a:tcPr>
                </a:tc>
                <a:tc>
                  <a:txBody>
                    <a:bodyPr/>
                    <a:lstStyle/>
                    <a:p>
                      <a:r>
                        <a:rPr sz="1100" b="0">
                          <a:solidFill>
                            <a:srgbClr val="2E8B57"/>
                          </a:solidFill>
                          <a:latin typeface="Microsoft JhengHei"/>
                          <a:ea typeface="Microsoft JhengHei"/>
                        </a:rPr>
                        <a:t>-13.98%</a:t>
                      </a:r>
                    </a:p>
                  </a:txBody>
                  <a:tcPr>
                    <a:solidFill>
                      <a:srgbClr val="FFFFFF"/>
                    </a:solidFill>
                  </a:tcPr>
                </a:tc>
                <a:tc>
                  <a:txBody>
                    <a:bodyPr/>
                    <a:lstStyle/>
                    <a:p>
                      <a:r>
                        <a:rPr sz="1100" b="0">
                          <a:solidFill>
                            <a:srgbClr val="1F2328"/>
                          </a:solidFill>
                          <a:latin typeface="Microsoft JhengHei"/>
                          <a:ea typeface="Microsoft JhengHei"/>
                        </a:rPr>
                        <a:t>全部出清</a:t>
                      </a:r>
                    </a:p>
                  </a:txBody>
                  <a:tcPr>
                    <a:solidFill>
                      <a:srgbClr val="FFFFFF"/>
                    </a:solidFill>
                  </a:tcPr>
                </a:tc>
                <a:tc>
                  <a:txBody>
                    <a:bodyPr/>
                    <a:lstStyle/>
                    <a:p>
                      <a:r>
                        <a:rPr sz="1100" b="0">
                          <a:solidFill>
                            <a:srgbClr val="1F2328"/>
                          </a:solidFill>
                          <a:latin typeface="Microsoft JhengHei"/>
                          <a:ea typeface="Microsoft JhengHei"/>
                        </a:rPr>
                        <a:t>賣出全部 8 股（零股）</a:t>
                      </a:r>
                    </a:p>
                  </a:txBody>
                  <a:tcPr>
                    <a:solidFill>
                      <a:srgbClr val="FFFFFF"/>
                    </a:solidFill>
                  </a:tcPr>
                </a:tc>
                <a:tc>
                  <a:txBody>
                    <a:bodyPr/>
                    <a:lstStyle/>
                    <a:p>
                      <a:r>
                        <a:rPr sz="1100" b="0">
                          <a:solidFill>
                            <a:srgbClr val="1F2328"/>
                          </a:solidFill>
                          <a:latin typeface="Microsoft JhengHei"/>
                          <a:ea typeface="Microsoft JhengHei"/>
                        </a:rPr>
                        <a:t>2010.0</a:t>
                      </a:r>
                    </a:p>
                  </a:txBody>
                  <a:tcPr>
                    <a:solidFill>
                      <a:srgbClr val="FFFFFF"/>
                    </a:solidFill>
                  </a:tcPr>
                </a:tc>
              </a:tr>
              <a:tr h="365760">
                <a:tc>
                  <a:txBody>
                    <a:bodyPr/>
                    <a:lstStyle/>
                    <a:p>
                      <a:r>
                        <a:rPr sz="1100" b="0">
                          <a:solidFill>
                            <a:srgbClr val="1F2328"/>
                          </a:solidFill>
                          <a:latin typeface="Microsoft JhengHei"/>
                          <a:ea typeface="Microsoft JhengHei"/>
                        </a:rPr>
                        <a:t>6213 聯茂</a:t>
                      </a:r>
                    </a:p>
                  </a:txBody>
                  <a:tcPr>
                    <a:solidFill>
                      <a:srgbClr val="F3F5F8"/>
                    </a:solidFill>
                  </a:tcPr>
                </a:tc>
                <a:tc>
                  <a:txBody>
                    <a:bodyPr/>
                    <a:lstStyle/>
                    <a:p>
                      <a:r>
                        <a:rPr sz="1100" b="0">
                          <a:solidFill>
                            <a:srgbClr val="1F2328"/>
                          </a:solidFill>
                          <a:latin typeface="Microsoft JhengHei"/>
                          <a:ea typeface="Microsoft JhengHei"/>
                        </a:rPr>
                        <a:t>1,000</a:t>
                      </a:r>
                    </a:p>
                  </a:txBody>
                  <a:tcPr>
                    <a:solidFill>
                      <a:srgbClr val="F3F5F8"/>
                    </a:solidFill>
                  </a:tcPr>
                </a:tc>
                <a:tc>
                  <a:txBody>
                    <a:bodyPr/>
                    <a:lstStyle/>
                    <a:p>
                      <a:r>
                        <a:rPr sz="1100" b="0">
                          <a:solidFill>
                            <a:srgbClr val="C8423B"/>
                          </a:solidFill>
                          <a:latin typeface="Microsoft JhengHei"/>
                          <a:ea typeface="Microsoft JhengHei"/>
                        </a:rPr>
                        <a:t>+7.01%</a:t>
                      </a:r>
                    </a:p>
                  </a:txBody>
                  <a:tcPr>
                    <a:solidFill>
                      <a:srgbClr val="F3F5F8"/>
                    </a:solidFill>
                  </a:tcPr>
                </a:tc>
                <a:tc>
                  <a:txBody>
                    <a:bodyPr/>
                    <a:lstStyle/>
                    <a:p>
                      <a:r>
                        <a:rPr sz="1100" b="0">
                          <a:solidFill>
                            <a:srgbClr val="1F2328"/>
                          </a:solidFill>
                          <a:latin typeface="Microsoft JhengHei"/>
                          <a:ea typeface="Microsoft JhengHei"/>
                        </a:rPr>
                        <a:t>加碼</a:t>
                      </a:r>
                    </a:p>
                  </a:txBody>
                  <a:tcPr>
                    <a:solidFill>
                      <a:srgbClr val="F3F5F8"/>
                    </a:solidFill>
                  </a:tcPr>
                </a:tc>
                <a:tc>
                  <a:txBody>
                    <a:bodyPr/>
                    <a:lstStyle/>
                    <a:p>
                      <a:r>
                        <a:rPr sz="1100" b="0">
                          <a:solidFill>
                            <a:srgbClr val="1F2328"/>
                          </a:solidFill>
                          <a:latin typeface="Microsoft JhengHei"/>
                          <a:ea typeface="Microsoft JhengHei"/>
                        </a:rPr>
                        <a:t>加買 319 股（零股），加碼後共 1 張又 319 股（共 1,319 股）</a:t>
                      </a:r>
                    </a:p>
                  </a:txBody>
                  <a:tcPr>
                    <a:solidFill>
                      <a:srgbClr val="F3F5F8"/>
                    </a:solidFill>
                  </a:tcPr>
                </a:tc>
                <a:tc>
                  <a:txBody>
                    <a:bodyPr/>
                    <a:lstStyle/>
                    <a:p>
                      <a:r>
                        <a:rPr sz="1100" b="0">
                          <a:solidFill>
                            <a:srgbClr val="1F2328"/>
                          </a:solidFill>
                          <a:latin typeface="Microsoft JhengHei"/>
                          <a:ea typeface="Microsoft JhengHei"/>
                        </a:rPr>
                        <a:t>795.0</a:t>
                      </a:r>
                    </a:p>
                  </a:txBody>
                  <a:tcPr>
                    <a:solidFill>
                      <a:srgbClr val="F3F5F8"/>
                    </a:solidFill>
                  </a:tcPr>
                </a:tc>
              </a:tr>
              <a:tr h="365760">
                <a:tc>
                  <a:txBody>
                    <a:bodyPr/>
                    <a:lstStyle/>
                    <a:p>
                      <a:r>
                        <a:rPr sz="1100" b="0">
                          <a:solidFill>
                            <a:srgbClr val="1F2328"/>
                          </a:solidFill>
                          <a:latin typeface="Microsoft JhengHei"/>
                          <a:ea typeface="Microsoft JhengHei"/>
                        </a:rPr>
                        <a:t>3591 艾笛森</a:t>
                      </a:r>
                    </a:p>
                  </a:txBody>
                  <a:tcPr>
                    <a:solidFill>
                      <a:srgbClr val="FFFFFF"/>
                    </a:solidFill>
                  </a:tcPr>
                </a:tc>
                <a:tc>
                  <a:txBody>
                    <a:bodyPr/>
                    <a:lstStyle/>
                    <a:p>
                      <a:r>
                        <a:rPr sz="1100" b="0">
                          <a:solidFill>
                            <a:srgbClr val="1F2328"/>
                          </a:solidFill>
                          <a:latin typeface="Microsoft JhengHei"/>
                          <a:ea typeface="Microsoft JhengHei"/>
                        </a:rPr>
                        <a:t>20,528</a:t>
                      </a:r>
                    </a:p>
                  </a:txBody>
                  <a:tcPr>
                    <a:solidFill>
                      <a:srgbClr val="FFFFFF"/>
                    </a:solidFill>
                  </a:tcPr>
                </a:tc>
                <a:tc>
                  <a:txBody>
                    <a:bodyPr/>
                    <a:lstStyle/>
                    <a:p>
                      <a:r>
                        <a:rPr sz="1100" b="0">
                          <a:solidFill>
                            <a:srgbClr val="2E8B57"/>
                          </a:solidFill>
                          <a:latin typeface="Microsoft JhengHei"/>
                          <a:ea typeface="Microsoft JhengHei"/>
                        </a:rPr>
                        <a:t>-6.36%</a:t>
                      </a:r>
                    </a:p>
                  </a:txBody>
                  <a:tcPr>
                    <a:solidFill>
                      <a:srgbClr val="FFFFFF"/>
                    </a:solidFill>
                  </a:tcPr>
                </a:tc>
                <a:tc>
                  <a:txBody>
                    <a:bodyPr/>
                    <a:lstStyle/>
                    <a:p>
                      <a:r>
                        <a:rPr sz="1100" b="0">
                          <a:solidFill>
                            <a:srgbClr val="1F2328"/>
                          </a:solidFill>
                          <a:latin typeface="Microsoft JhengHei"/>
                          <a:ea typeface="Microsoft JhengHei"/>
                        </a:rPr>
                        <a:t>加碼</a:t>
                      </a:r>
                    </a:p>
                  </a:txBody>
                  <a:tcPr>
                    <a:solidFill>
                      <a:srgbClr val="FFFFFF"/>
                    </a:solidFill>
                  </a:tcPr>
                </a:tc>
                <a:tc>
                  <a:txBody>
                    <a:bodyPr/>
                    <a:lstStyle/>
                    <a:p>
                      <a:r>
                        <a:rPr sz="1100" b="0">
                          <a:solidFill>
                            <a:srgbClr val="1F2328"/>
                          </a:solidFill>
                          <a:latin typeface="Microsoft JhengHei"/>
                          <a:ea typeface="Microsoft JhengHei"/>
                        </a:rPr>
                        <a:t>加買 28 張又 928 股（共 28,928 股），加碼後共 49 張又 456 股（共 49,456 股）</a:t>
                      </a:r>
                    </a:p>
                  </a:txBody>
                  <a:tcPr>
                    <a:solidFill>
                      <a:srgbClr val="FFFFFF"/>
                    </a:solidFill>
                  </a:tcPr>
                </a:tc>
                <a:tc>
                  <a:txBody>
                    <a:bodyPr/>
                    <a:lstStyle/>
                    <a:p>
                      <a:r>
                        <a:rPr sz="1100" b="0">
                          <a:solidFill>
                            <a:srgbClr val="1F2328"/>
                          </a:solidFill>
                          <a:latin typeface="Microsoft JhengHei"/>
                          <a:ea typeface="Microsoft JhengHei"/>
                        </a:rPr>
                        <a:t>27.05</a:t>
                      </a:r>
                    </a:p>
                  </a:txBody>
                  <a:tcPr>
                    <a:solidFill>
                      <a:srgbClr val="FFFFFF"/>
                    </a:solidFill>
                  </a:tcPr>
                </a:tc>
              </a:tr>
              <a:tr h="365760">
                <a:tc>
                  <a:txBody>
                    <a:bodyPr/>
                    <a:lstStyle/>
                    <a:p>
                      <a:r>
                        <a:rPr sz="1100" b="0">
                          <a:solidFill>
                            <a:srgbClr val="1F2328"/>
                          </a:solidFill>
                          <a:latin typeface="Microsoft JhengHei"/>
                          <a:ea typeface="Microsoft JhengHei"/>
                        </a:rPr>
                        <a:t>2885 元大金</a:t>
                      </a:r>
                    </a:p>
                  </a:txBody>
                  <a:tcPr>
                    <a:solidFill>
                      <a:srgbClr val="F3F5F8"/>
                    </a:solidFill>
                  </a:tcPr>
                </a:tc>
                <a:tc>
                  <a:txBody>
                    <a:bodyPr/>
                    <a:lstStyle/>
                    <a:p>
                      <a:r>
                        <a:rPr sz="1100" b="0">
                          <a:solidFill>
                            <a:srgbClr val="1F2328"/>
                          </a:solidFill>
                          <a:latin typeface="Microsoft JhengHei"/>
                          <a:ea typeface="Microsoft JhengHei"/>
                        </a:rPr>
                        <a:t>1,000</a:t>
                      </a:r>
                    </a:p>
                  </a:txBody>
                  <a:tcPr>
                    <a:solidFill>
                      <a:srgbClr val="F3F5F8"/>
                    </a:solidFill>
                  </a:tcPr>
                </a:tc>
                <a:tc>
                  <a:txBody>
                    <a:bodyPr/>
                    <a:lstStyle/>
                    <a:p>
                      <a:r>
                        <a:rPr sz="1100" b="0">
                          <a:solidFill>
                            <a:srgbClr val="C8423B"/>
                          </a:solidFill>
                          <a:latin typeface="Microsoft JhengHei"/>
                          <a:ea typeface="Microsoft JhengHei"/>
                        </a:rPr>
                        <a:t>+2.67%</a:t>
                      </a:r>
                    </a:p>
                  </a:txBody>
                  <a:tcPr>
                    <a:solidFill>
                      <a:srgbClr val="F3F5F8"/>
                    </a:solidFill>
                  </a:tcPr>
                </a:tc>
                <a:tc>
                  <a:txBody>
                    <a:bodyPr/>
                    <a:lstStyle/>
                    <a:p>
                      <a:r>
                        <a:rPr sz="1100" b="0">
                          <a:solidFill>
                            <a:srgbClr val="1F2328"/>
                          </a:solidFill>
                          <a:latin typeface="Microsoft JhengHei"/>
                          <a:ea typeface="Microsoft JhengHei"/>
                        </a:rPr>
                        <a:t>加碼</a:t>
                      </a:r>
                    </a:p>
                  </a:txBody>
                  <a:tcPr>
                    <a:solidFill>
                      <a:srgbClr val="F3F5F8"/>
                    </a:solidFill>
                  </a:tcPr>
                </a:tc>
                <a:tc>
                  <a:txBody>
                    <a:bodyPr/>
                    <a:lstStyle/>
                    <a:p>
                      <a:r>
                        <a:rPr sz="1100" b="0">
                          <a:solidFill>
                            <a:srgbClr val="1F2328"/>
                          </a:solidFill>
                          <a:latin typeface="Microsoft JhengHei"/>
                          <a:ea typeface="Microsoft JhengHei"/>
                        </a:rPr>
                        <a:t>加買 7 張又 967 股（共 7,967 股），加碼後共 8 張又 967 股（共 8,967 股）</a:t>
                      </a:r>
                    </a:p>
                  </a:txBody>
                  <a:tcPr>
                    <a:solidFill>
                      <a:srgbClr val="F3F5F8"/>
                    </a:solidFill>
                  </a:tcPr>
                </a:tc>
                <a:tc>
                  <a:txBody>
                    <a:bodyPr/>
                    <a:lstStyle/>
                    <a:p>
                      <a:r>
                        <a:rPr sz="1100" b="0">
                          <a:solidFill>
                            <a:srgbClr val="1F2328"/>
                          </a:solidFill>
                          <a:latin typeface="Microsoft JhengHei"/>
                          <a:ea typeface="Microsoft JhengHei"/>
                        </a:rPr>
                        <a:t>73.0</a:t>
                      </a:r>
                    </a:p>
                  </a:txBody>
                  <a:tcPr>
                    <a:solidFill>
                      <a:srgbClr val="F3F5F8"/>
                    </a:solidFill>
                  </a:tcPr>
                </a:tc>
              </a:tr>
              <a:tr h="365760">
                <a:tc>
                  <a:txBody>
                    <a:bodyPr/>
                    <a:lstStyle/>
                    <a:p>
                      <a:r>
                        <a:rPr sz="1100" b="0">
                          <a:solidFill>
                            <a:srgbClr val="1F2328"/>
                          </a:solidFill>
                          <a:latin typeface="Microsoft JhengHei"/>
                          <a:ea typeface="Microsoft JhengHei"/>
                        </a:rPr>
                        <a:t>3189 景碩</a:t>
                      </a:r>
                    </a:p>
                  </a:txBody>
                  <a:tcPr>
                    <a:solidFill>
                      <a:srgbClr val="FFFFFF"/>
                    </a:solidFill>
                  </a:tcPr>
                </a:tc>
                <a:tc>
                  <a:txBody>
                    <a:bodyPr/>
                    <a:lstStyle/>
                    <a:p>
                      <a:r>
                        <a:rPr sz="1100" b="0">
                          <a:solidFill>
                            <a:srgbClr val="1F2328"/>
                          </a:solidFill>
                          <a:latin typeface="Microsoft JhengHei"/>
                          <a:ea typeface="Microsoft JhengHei"/>
                        </a:rPr>
                        <a:t>1,639</a:t>
                      </a:r>
                    </a:p>
                  </a:txBody>
                  <a:tcPr>
                    <a:solidFill>
                      <a:srgbClr val="FFFFFF"/>
                    </a:solidFill>
                  </a:tcPr>
                </a:tc>
                <a:tc>
                  <a:txBody>
                    <a:bodyPr/>
                    <a:lstStyle/>
                    <a:p>
                      <a:r>
                        <a:rPr sz="1100" b="0">
                          <a:solidFill>
                            <a:srgbClr val="2E8B57"/>
                          </a:solidFill>
                          <a:latin typeface="Microsoft JhengHei"/>
                          <a:ea typeface="Microsoft JhengHei"/>
                        </a:rPr>
                        <a:t>-4.54%</a:t>
                      </a:r>
                    </a:p>
                  </a:txBody>
                  <a:tcPr>
                    <a:solidFill>
                      <a:srgbClr val="FFFFFF"/>
                    </a:solidFill>
                  </a:tcPr>
                </a:tc>
                <a:tc>
                  <a:txBody>
                    <a:bodyPr/>
                    <a:lstStyle/>
                    <a:p>
                      <a:r>
                        <a:rPr sz="1100" b="0">
                          <a:solidFill>
                            <a:srgbClr val="1F2328"/>
                          </a:solidFill>
                          <a:latin typeface="Microsoft JhengHei"/>
                          <a:ea typeface="Microsoft JhengHei"/>
                        </a:rPr>
                        <a:t>續抱</a:t>
                      </a:r>
                    </a:p>
                  </a:txBody>
                  <a:tcPr>
                    <a:solidFill>
                      <a:srgbClr val="FFFFFF"/>
                    </a:solidFill>
                  </a:tcPr>
                </a:tc>
                <a:tc>
                  <a:txBody>
                    <a:bodyPr/>
                    <a:lstStyle/>
                    <a:p>
                      <a:r>
                        <a:rPr sz="1100" b="0">
                          <a:solidFill>
                            <a:srgbClr val="1F2328"/>
                          </a:solidFill>
                          <a:latin typeface="Microsoft JhengHei"/>
                          <a:ea typeface="Microsoft JhengHei"/>
                        </a:rPr>
                        <a:t>維持 1 張又 639 股（共 1,639 股）</a:t>
                      </a:r>
                    </a:p>
                  </a:txBody>
                  <a:tcPr>
                    <a:solidFill>
                      <a:srgbClr val="FFFFFF"/>
                    </a:solidFill>
                  </a:tcPr>
                </a:tc>
                <a:tc>
                  <a:txBody>
                    <a:bodyPr/>
                    <a:lstStyle/>
                    <a:p>
                      <a:r>
                        <a:rPr sz="1100" b="0">
                          <a:solidFill>
                            <a:srgbClr val="1F2328"/>
                          </a:solidFill>
                          <a:latin typeface="Microsoft JhengHei"/>
                          <a:ea typeface="Microsoft JhengHei"/>
                        </a:rPr>
                        <a:t>—</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警示提醒（嚴重 3／警告 6）</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4</a:t>
            </a:r>
          </a:p>
        </p:txBody>
      </p:sp>
      <p:sp>
        <p:nvSpPr>
          <p:cNvPr id="5" name="TextBox 4"/>
          <p:cNvSpPr txBox="1"/>
          <p:nvPr/>
        </p:nvSpPr>
        <p:spPr>
          <a:xfrm>
            <a:off x="594360" y="1188720"/>
            <a:ext cx="10972800" cy="5029200"/>
          </a:xfrm>
          <a:prstGeom prst="rect">
            <a:avLst/>
          </a:prstGeom>
          <a:noFill/>
        </p:spPr>
        <p:txBody>
          <a:bodyPr wrap="square">
            <a:spAutoFit/>
          </a:bodyPr>
          <a:lstStyle/>
          <a:p>
            <a:pPr>
              <a:spcAft>
                <a:spcPts val="400"/>
              </a:spcAft>
            </a:pPr>
            <a:r>
              <a:rPr sz="1400" b="0">
                <a:solidFill>
                  <a:srgbClr val="1F2328"/>
                </a:solidFill>
                <a:latin typeface="Microsoft JhengHei"/>
                <a:ea typeface="Microsoft JhengHei"/>
              </a:rPr>
              <a:t>【嚴重】1560 中砂：已跌破停損價 936.69（目前 914.0）：依紀律全數出場 → 建議賣出 1 張又 91 股（共 1,091 股）（持有 1,091 股的 100%），限價 904.0</a:t>
            </a:r>
          </a:p>
          <a:p>
            <a:pPr>
              <a:spcAft>
                <a:spcPts val="400"/>
              </a:spcAft>
            </a:pPr>
            <a:r>
              <a:rPr sz="1400" b="0">
                <a:solidFill>
                  <a:srgbClr val="1F2328"/>
                </a:solidFill>
                <a:latin typeface="Microsoft JhengHei"/>
                <a:ea typeface="Microsoft JhengHei"/>
              </a:rPr>
              <a:t>【嚴重】6196 帆宣：已跌破停損價 599.23（目前 592.0）：依紀律全數出場 → 建議賣出 2 張又 150 股（共 2,150 股）（持有 2,150 股的 100%），限價 586.0</a:t>
            </a:r>
          </a:p>
          <a:p>
            <a:pPr>
              <a:spcAft>
                <a:spcPts val="400"/>
              </a:spcAft>
            </a:pPr>
            <a:r>
              <a:rPr sz="1400" b="0">
                <a:solidFill>
                  <a:srgbClr val="1F2328"/>
                </a:solidFill>
                <a:latin typeface="Microsoft JhengHei"/>
                <a:ea typeface="Microsoft JhengHei"/>
              </a:rPr>
              <a:t>【嚴重】2360 致茂：已跌破停損價 2069.91（目前 2035.0）：依紀律全數出場 → 建議賣出 8 股（零股）（持有 8 股的 100%），限價 2010.0</a:t>
            </a:r>
          </a:p>
          <a:p>
            <a:pPr>
              <a:spcAft>
                <a:spcPts val="400"/>
              </a:spcAft>
            </a:pPr>
            <a:r>
              <a:rPr sz="1400" b="0">
                <a:solidFill>
                  <a:srgbClr val="1F2328"/>
                </a:solidFill>
                <a:latin typeface="Microsoft JhengHei"/>
                <a:ea typeface="Microsoft JhengHei"/>
              </a:rPr>
              <a:t>【警告】2845 遠東銀：負面新聞：公告受金管會裁罰案；股價偏弱，減碼三分之一 → 建議賣出 12 張又 23 股（共 12,023 股）（持有 36,071 股的 33%），限價 13.0</a:t>
            </a:r>
          </a:p>
          <a:p>
            <a:pPr>
              <a:spcAft>
                <a:spcPts val="400"/>
              </a:spcAft>
            </a:pPr>
            <a:r>
              <a:rPr sz="1400" b="0">
                <a:solidFill>
                  <a:srgbClr val="1F2328"/>
                </a:solidFill>
                <a:latin typeface="Microsoft JhengHei"/>
                <a:ea typeface="Microsoft JhengHei"/>
              </a:rPr>
              <a:t>【警告】6213 聯茂：負面新聞：達公布注意交易資訊標準被列注意股票；股價尚穩，先上調停損 → 停損上調至 711.5</a:t>
            </a:r>
          </a:p>
          <a:p>
            <a:pPr>
              <a:spcAft>
                <a:spcPts val="400"/>
              </a:spcAft>
            </a:pPr>
            <a:r>
              <a:rPr sz="1400" b="0">
                <a:solidFill>
                  <a:srgbClr val="1F2328"/>
                </a:solidFill>
                <a:latin typeface="Microsoft JhengHei"/>
                <a:ea typeface="Microsoft JhengHei"/>
              </a:rPr>
              <a:t>【警告】6182 合晶：負面新聞：董事會決議辦理現金增資發行新股及發行國內第九次與第十次無擔保轉換公司債；股價偏弱，減碼三分之一 → 建議賣出 333 股（零股）（持有 1,000 股的 33%），限價 103.5</a:t>
            </a:r>
          </a:p>
          <a:p>
            <a:pPr>
              <a:spcAft>
                <a:spcPts val="400"/>
              </a:spcAft>
            </a:pPr>
            <a:r>
              <a:rPr sz="1400" b="0">
                <a:solidFill>
                  <a:srgbClr val="1F2328"/>
                </a:solidFill>
                <a:latin typeface="Microsoft JhengHei"/>
                <a:ea typeface="Microsoft JhengHei"/>
              </a:rPr>
              <a:t>【警告】6456 GIS-KY：負面新聞：觸控本業面臨衰退 → 減半買進（4 張又 673 股（共 4,673 股））或等回測支撐</a:t>
            </a:r>
          </a:p>
          <a:p>
            <a:pPr>
              <a:spcAft>
                <a:spcPts val="400"/>
              </a:spcAft>
            </a:pPr>
            <a:r>
              <a:rPr sz="1400" b="0">
                <a:solidFill>
                  <a:srgbClr val="1F2328"/>
                </a:solidFill>
                <a:latin typeface="Microsoft JhengHei"/>
                <a:ea typeface="Microsoft JhengHei"/>
              </a:rPr>
              <a:t>【警告】6213 聯茂：負面新聞：達公布注意交易資訊標準被列注意股票 → 減半買進（159 股（零股））或等回測支撐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今日漲跌停與原因（漲停 66／跌停 2）</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5</a:t>
            </a:r>
          </a:p>
        </p:txBody>
      </p:sp>
      <p:graphicFrame>
        <p:nvGraphicFramePr>
          <p:cNvPr id="5" name="Table 4"/>
          <p:cNvGraphicFramePr>
            <a:graphicFrameLocks noGrp="1"/>
          </p:cNvGraphicFramePr>
          <p:nvPr/>
        </p:nvGraphicFramePr>
        <p:xfrm>
          <a:off x="457200" y="1188720"/>
          <a:ext cx="11247119" cy="4023360"/>
        </p:xfrm>
        <a:graphic>
          <a:graphicData uri="http://schemas.openxmlformats.org/drawingml/2006/table">
            <a:tbl>
              <a:tblPr firstRow="1" bandRow="1">
                <a:tableStyleId>{5C22544A-7EE6-4342-B048-85BDC9FD1C3A}</a:tableStyleId>
              </a:tblPr>
              <a:tblGrid>
                <a:gridCol w="2577465"/>
                <a:gridCol w="1640204"/>
                <a:gridCol w="7029450"/>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產業</a:t>
                      </a:r>
                    </a:p>
                  </a:txBody>
                  <a:tcPr>
                    <a:solidFill>
                      <a:srgbClr val="1F3A5F"/>
                    </a:solidFill>
                  </a:tcPr>
                </a:tc>
                <a:tc>
                  <a:txBody>
                    <a:bodyPr/>
                    <a:lstStyle/>
                    <a:p>
                      <a:r>
                        <a:rPr sz="1100" b="1">
                          <a:solidFill>
                            <a:srgbClr val="FFFFFF"/>
                          </a:solidFill>
                          <a:latin typeface="Microsoft JhengHei"/>
                          <a:ea typeface="Microsoft JhengHei"/>
                        </a:rPr>
                        <a:t>可能原因</a:t>
                      </a:r>
                    </a:p>
                  </a:txBody>
                  <a:tcPr>
                    <a:solidFill>
                      <a:srgbClr val="1F3A5F"/>
                    </a:solidFill>
                  </a:tcPr>
                </a:tc>
              </a:tr>
              <a:tr h="365760">
                <a:tc>
                  <a:txBody>
                    <a:bodyPr/>
                    <a:lstStyle/>
                    <a:p>
                      <a:r>
                        <a:rPr sz="1100" b="0">
                          <a:solidFill>
                            <a:srgbClr val="1F2328"/>
                          </a:solidFill>
                          <a:latin typeface="Microsoft JhengHei"/>
                          <a:ea typeface="Microsoft JhengHei"/>
                        </a:rPr>
                        <a:t>跌停｜6873 泓德能源</a:t>
                      </a:r>
                    </a:p>
                  </a:txBody>
                  <a:tcPr>
                    <a:solidFill>
                      <a:srgbClr val="F3F5F8"/>
                    </a:solidFill>
                  </a:tcPr>
                </a:tc>
                <a:tc>
                  <a:txBody>
                    <a:bodyPr/>
                    <a:lstStyle/>
                    <a:p>
                      <a:r>
                        <a:rPr sz="1100" b="0">
                          <a:solidFill>
                            <a:srgbClr val="1F2328"/>
                          </a:solidFill>
                          <a:latin typeface="Microsoft JhengHei"/>
                          <a:ea typeface="Microsoft JhengHei"/>
                        </a:rPr>
                        <a:t>綠能環保</a:t>
                      </a:r>
                    </a:p>
                  </a:txBody>
                  <a:tcPr>
                    <a:solidFill>
                      <a:srgbClr val="F3F5F8"/>
                    </a:solidFill>
                  </a:tcPr>
                </a:tc>
                <a:tc>
                  <a:txBody>
                    <a:bodyPr/>
                    <a:lstStyle/>
                    <a:p>
                      <a:r>
                        <a:rPr sz="1100" b="0">
                          <a:solidFill>
                            <a:srgbClr val="1F2328"/>
                          </a:solidFill>
                          <a:latin typeface="Microsoft JhengHei"/>
                          <a:ea typeface="Microsoft JhengHei"/>
                        </a:rPr>
                        <a:t>可能原因（新聞）：上市綠能大廠泓德能源董總捲光電弊案遭押！ 公司急開臨時董事會：核心業務進度如常 - Yahoo股市；泓</a:t>
                      </a:r>
                    </a:p>
                  </a:txBody>
                  <a:tcPr>
                    <a:solidFill>
                      <a:srgbClr val="F3F5F8"/>
                    </a:solidFill>
                  </a:tcPr>
                </a:tc>
              </a:tr>
              <a:tr h="365760">
                <a:tc>
                  <a:txBody>
                    <a:bodyPr/>
                    <a:lstStyle/>
                    <a:p>
                      <a:r>
                        <a:rPr sz="1100" b="0">
                          <a:solidFill>
                            <a:srgbClr val="1F2328"/>
                          </a:solidFill>
                          <a:latin typeface="Microsoft JhengHei"/>
                          <a:ea typeface="Microsoft JhengHei"/>
                        </a:rPr>
                        <a:t>跌停｜1516 川飛</a:t>
                      </a:r>
                    </a:p>
                  </a:txBody>
                  <a:tcPr>
                    <a:solidFill>
                      <a:srgbClr val="FFFFFF"/>
                    </a:solidFill>
                  </a:tcPr>
                </a:tc>
                <a:tc>
                  <a:txBody>
                    <a:bodyPr/>
                    <a:lstStyle/>
                    <a:p>
                      <a:r>
                        <a:rPr sz="1100" b="0">
                          <a:solidFill>
                            <a:srgbClr val="1F2328"/>
                          </a:solidFill>
                          <a:latin typeface="Microsoft JhengHei"/>
                          <a:ea typeface="Microsoft JhengHei"/>
                        </a:rPr>
                        <a:t>其他</a:t>
                      </a:r>
                    </a:p>
                  </a:txBody>
                  <a:tcPr>
                    <a:solidFill>
                      <a:srgbClr val="FFFFFF"/>
                    </a:solidFill>
                  </a:tcPr>
                </a:tc>
                <a:tc>
                  <a:txBody>
                    <a:bodyPr/>
                    <a:lstStyle/>
                    <a:p>
                      <a:r>
                        <a:rPr sz="1100" b="0">
                          <a:solidFill>
                            <a:srgbClr val="1F2328"/>
                          </a:solidFill>
                          <a:latin typeface="Microsoft JhengHei"/>
                          <a:ea typeface="Microsoft JhengHei"/>
                        </a:rPr>
                        <a:t>可能原因（新聞）：《台北股市》注意股：28日42檔川飛、玉晶光、高力、尖點、中茂等- 上市櫃 - 旺得富理財網；《其他股</a:t>
                      </a:r>
                    </a:p>
                  </a:txBody>
                  <a:tcPr>
                    <a:solidFill>
                      <a:srgbClr val="FFFFFF"/>
                    </a:solidFill>
                  </a:tcPr>
                </a:tc>
              </a:tr>
              <a:tr h="365760">
                <a:tc>
                  <a:txBody>
                    <a:bodyPr/>
                    <a:lstStyle/>
                    <a:p>
                      <a:r>
                        <a:rPr sz="1100" b="0">
                          <a:solidFill>
                            <a:srgbClr val="1F2328"/>
                          </a:solidFill>
                          <a:latin typeface="Microsoft JhengHei"/>
                          <a:ea typeface="Microsoft JhengHei"/>
                        </a:rPr>
                        <a:t>漲停｜3189 景碩</a:t>
                      </a:r>
                    </a:p>
                  </a:txBody>
                  <a:tcPr>
                    <a:solidFill>
                      <a:srgbClr val="F3F5F8"/>
                    </a:solidFill>
                  </a:tcPr>
                </a:tc>
                <a:tc>
                  <a:txBody>
                    <a:bodyPr/>
                    <a:lstStyle/>
                    <a:p>
                      <a:r>
                        <a:rPr sz="1100" b="0">
                          <a:solidFill>
                            <a:srgbClr val="1F2328"/>
                          </a:solidFill>
                          <a:latin typeface="Microsoft JhengHei"/>
                          <a:ea typeface="Microsoft JhengHei"/>
                        </a:rPr>
                        <a:t>半導體業</a:t>
                      </a:r>
                    </a:p>
                  </a:txBody>
                  <a:tcPr>
                    <a:solidFill>
                      <a:srgbClr val="F3F5F8"/>
                    </a:solidFill>
                  </a:tcPr>
                </a:tc>
                <a:tc>
                  <a:txBody>
                    <a:bodyPr/>
                    <a:lstStyle/>
                    <a:p>
                      <a:r>
                        <a:rPr sz="1100" b="0">
                          <a:solidFill>
                            <a:srgbClr val="1F2328"/>
                          </a:solidFill>
                          <a:latin typeface="Microsoft JhengHei"/>
                          <a:ea typeface="Microsoft JhengHei"/>
                        </a:rPr>
                        <a:t>可能原因（新聞）：熱門股》明年獲利看俏 景碩站回均線上 - 自由時報；盤中速報 - 景碩(3189)股價拉至漲停，漲停價</a:t>
                      </a:r>
                    </a:p>
                  </a:txBody>
                  <a:tcPr>
                    <a:solidFill>
                      <a:srgbClr val="F3F5F8"/>
                    </a:solidFill>
                  </a:tcPr>
                </a:tc>
              </a:tr>
              <a:tr h="365760">
                <a:tc>
                  <a:txBody>
                    <a:bodyPr/>
                    <a:lstStyle/>
                    <a:p>
                      <a:r>
                        <a:rPr sz="1100" b="0">
                          <a:solidFill>
                            <a:srgbClr val="1F2328"/>
                          </a:solidFill>
                          <a:latin typeface="Microsoft JhengHei"/>
                          <a:ea typeface="Microsoft JhengHei"/>
                        </a:rPr>
                        <a:t>漲停｜3443 創意</a:t>
                      </a:r>
                    </a:p>
                  </a:txBody>
                  <a:tcPr>
                    <a:solidFill>
                      <a:srgbClr val="FFFFFF"/>
                    </a:solidFill>
                  </a:tcPr>
                </a:tc>
                <a:tc>
                  <a:txBody>
                    <a:bodyPr/>
                    <a:lstStyle/>
                    <a:p>
                      <a:r>
                        <a:rPr sz="1100" b="0">
                          <a:solidFill>
                            <a:srgbClr val="1F2328"/>
                          </a:solidFill>
                          <a:latin typeface="Microsoft JhengHei"/>
                          <a:ea typeface="Microsoft JhengHei"/>
                        </a:rPr>
                        <a:t>半導體業</a:t>
                      </a:r>
                    </a:p>
                  </a:txBody>
                  <a:tcPr>
                    <a:solidFill>
                      <a:srgbClr val="FFFFFF"/>
                    </a:solidFill>
                  </a:tcPr>
                </a:tc>
                <a:tc>
                  <a:txBody>
                    <a:bodyPr/>
                    <a:lstStyle/>
                    <a:p>
                      <a:r>
                        <a:rPr sz="1100" b="0">
                          <a:solidFill>
                            <a:srgbClr val="1F2328"/>
                          </a:solidFill>
                          <a:latin typeface="Microsoft JhengHei"/>
                          <a:ea typeface="Microsoft JhengHei"/>
                        </a:rPr>
                        <a:t>可能原因（新聞）：創意(3443) 個股概覽 | 個股 - 股市 - CMoney；焦點股》創意：3大CSP大單到手！ </a:t>
                      </a:r>
                    </a:p>
                  </a:txBody>
                  <a:tcPr>
                    <a:solidFill>
                      <a:srgbClr val="FFFFFF"/>
                    </a:solidFill>
                  </a:tcPr>
                </a:tc>
              </a:tr>
              <a:tr h="365760">
                <a:tc>
                  <a:txBody>
                    <a:bodyPr/>
                    <a:lstStyle/>
                    <a:p>
                      <a:r>
                        <a:rPr sz="1100" b="0">
                          <a:solidFill>
                            <a:srgbClr val="1F2328"/>
                          </a:solidFill>
                          <a:latin typeface="Microsoft JhengHei"/>
                          <a:ea typeface="Microsoft JhengHei"/>
                        </a:rPr>
                        <a:t>漲停｜1815 富喬</a:t>
                      </a:r>
                    </a:p>
                  </a:txBody>
                  <a:tcPr>
                    <a:solidFill>
                      <a:srgbClr val="F3F5F8"/>
                    </a:solidFill>
                  </a:tcPr>
                </a:tc>
                <a:tc>
                  <a:txBody>
                    <a:bodyPr/>
                    <a:lstStyle/>
                    <a:p>
                      <a:r>
                        <a:rPr sz="1100" b="0">
                          <a:solidFill>
                            <a:srgbClr val="1F2328"/>
                          </a:solidFill>
                          <a:latin typeface="Microsoft JhengHei"/>
                          <a:ea typeface="Microsoft JhengHei"/>
                        </a:rPr>
                        <a:t>電子零組件業</a:t>
                      </a:r>
                    </a:p>
                  </a:txBody>
                  <a:tcPr>
                    <a:solidFill>
                      <a:srgbClr val="F3F5F8"/>
                    </a:solidFill>
                  </a:tcPr>
                </a:tc>
                <a:tc>
                  <a:txBody>
                    <a:bodyPr/>
                    <a:lstStyle/>
                    <a:p>
                      <a:r>
                        <a:rPr sz="1100" b="0">
                          <a:solidFill>
                            <a:srgbClr val="1F2328"/>
                          </a:solidFill>
                          <a:latin typeface="Microsoft JhengHei"/>
                          <a:ea typeface="Microsoft JhengHei"/>
                        </a:rPr>
                        <a:t>可能原因（新聞）：富喬：Low DK2出貨放量 下半年動能續強 - 自由時報；【11:34 即時新聞】富喬(1815)亮</a:t>
                      </a:r>
                    </a:p>
                  </a:txBody>
                  <a:tcPr>
                    <a:solidFill>
                      <a:srgbClr val="F3F5F8"/>
                    </a:solidFill>
                  </a:tcPr>
                </a:tc>
              </a:tr>
              <a:tr h="365760">
                <a:tc>
                  <a:txBody>
                    <a:bodyPr/>
                    <a:lstStyle/>
                    <a:p>
                      <a:r>
                        <a:rPr sz="1100" b="0">
                          <a:solidFill>
                            <a:srgbClr val="1F2328"/>
                          </a:solidFill>
                          <a:latin typeface="Microsoft JhengHei"/>
                          <a:ea typeface="Microsoft JhengHei"/>
                        </a:rPr>
                        <a:t>漲停｜3105 穩懋</a:t>
                      </a:r>
                    </a:p>
                  </a:txBody>
                  <a:tcPr>
                    <a:solidFill>
                      <a:srgbClr val="FFFFFF"/>
                    </a:solidFill>
                  </a:tcPr>
                </a:tc>
                <a:tc>
                  <a:txBody>
                    <a:bodyPr/>
                    <a:lstStyle/>
                    <a:p>
                      <a:r>
                        <a:rPr sz="1100" b="0">
                          <a:solidFill>
                            <a:srgbClr val="1F2328"/>
                          </a:solidFill>
                          <a:latin typeface="Microsoft JhengHei"/>
                          <a:ea typeface="Microsoft JhengHei"/>
                        </a:rPr>
                        <a:t>半導體業</a:t>
                      </a:r>
                    </a:p>
                  </a:txBody>
                  <a:tcPr>
                    <a:solidFill>
                      <a:srgbClr val="FFFFFF"/>
                    </a:solidFill>
                  </a:tcPr>
                </a:tc>
                <a:tc>
                  <a:txBody>
                    <a:bodyPr/>
                    <a:lstStyle/>
                    <a:p>
                      <a:r>
                        <a:rPr sz="1100" b="0">
                          <a:solidFill>
                            <a:srgbClr val="1F2328"/>
                          </a:solidFill>
                          <a:latin typeface="Microsoft JhengHei"/>
                          <a:ea typeface="Microsoft JhengHei"/>
                        </a:rPr>
                        <a:t>可能原因（新聞）：穩懋(3105) 個股概覽 | 個股 - 股市 - CMoney；【09:03 即時新聞】穩懋(310</a:t>
                      </a:r>
                    </a:p>
                  </a:txBody>
                  <a:tcPr>
                    <a:solidFill>
                      <a:srgbClr val="FFFFFF"/>
                    </a:solidFill>
                  </a:tcPr>
                </a:tc>
              </a:tr>
              <a:tr h="365760">
                <a:tc>
                  <a:txBody>
                    <a:bodyPr/>
                    <a:lstStyle/>
                    <a:p>
                      <a:r>
                        <a:rPr sz="1100" b="0">
                          <a:solidFill>
                            <a:srgbClr val="1F2328"/>
                          </a:solidFill>
                          <a:latin typeface="Microsoft JhengHei"/>
                          <a:ea typeface="Microsoft JhengHei"/>
                        </a:rPr>
                        <a:t>漲停｜2368 金像電</a:t>
                      </a:r>
                    </a:p>
                  </a:txBody>
                  <a:tcPr>
                    <a:solidFill>
                      <a:srgbClr val="F3F5F8"/>
                    </a:solidFill>
                  </a:tcPr>
                </a:tc>
                <a:tc>
                  <a:txBody>
                    <a:bodyPr/>
                    <a:lstStyle/>
                    <a:p>
                      <a:r>
                        <a:rPr sz="1100" b="0">
                          <a:solidFill>
                            <a:srgbClr val="1F2328"/>
                          </a:solidFill>
                          <a:latin typeface="Microsoft JhengHei"/>
                          <a:ea typeface="Microsoft JhengHei"/>
                        </a:rPr>
                        <a:t>電子零組件業</a:t>
                      </a:r>
                    </a:p>
                  </a:txBody>
                  <a:tcPr>
                    <a:solidFill>
                      <a:srgbClr val="F3F5F8"/>
                    </a:solidFill>
                  </a:tcPr>
                </a:tc>
                <a:tc>
                  <a:txBody>
                    <a:bodyPr/>
                    <a:lstStyle/>
                    <a:p>
                      <a:r>
                        <a:rPr sz="1100" b="0">
                          <a:solidFill>
                            <a:srgbClr val="1F2328"/>
                          </a:solidFill>
                          <a:latin typeface="Microsoft JhengHei"/>
                          <a:ea typeface="Microsoft JhengHei"/>
                        </a:rPr>
                        <a:t>可能原因（新聞）：金像電(2368) 個股概覽 | 個股 - 股市 - CMoney；金像電 | 2368.TW 股價走</a:t>
                      </a:r>
                    </a:p>
                  </a:txBody>
                  <a:tcPr>
                    <a:solidFill>
                      <a:srgbClr val="F3F5F8"/>
                    </a:solidFill>
                  </a:tcPr>
                </a:tc>
              </a:tr>
              <a:tr h="365760">
                <a:tc>
                  <a:txBody>
                    <a:bodyPr/>
                    <a:lstStyle/>
                    <a:p>
                      <a:r>
                        <a:rPr sz="1100" b="0">
                          <a:solidFill>
                            <a:srgbClr val="1F2328"/>
                          </a:solidFill>
                          <a:latin typeface="Microsoft JhengHei"/>
                          <a:ea typeface="Microsoft JhengHei"/>
                        </a:rPr>
                        <a:t>漲停｜3406 玉晶光</a:t>
                      </a:r>
                    </a:p>
                  </a:txBody>
                  <a:tcPr>
                    <a:solidFill>
                      <a:srgbClr val="FFFFFF"/>
                    </a:solidFill>
                  </a:tcPr>
                </a:tc>
                <a:tc>
                  <a:txBody>
                    <a:bodyPr/>
                    <a:lstStyle/>
                    <a:p>
                      <a:r>
                        <a:rPr sz="1100" b="0">
                          <a:solidFill>
                            <a:srgbClr val="1F2328"/>
                          </a:solidFill>
                          <a:latin typeface="Microsoft JhengHei"/>
                          <a:ea typeface="Microsoft JhengHei"/>
                        </a:rPr>
                        <a:t>光電業</a:t>
                      </a:r>
                    </a:p>
                  </a:txBody>
                  <a:tcPr>
                    <a:solidFill>
                      <a:srgbClr val="FFFFFF"/>
                    </a:solidFill>
                  </a:tcPr>
                </a:tc>
                <a:tc>
                  <a:txBody>
                    <a:bodyPr/>
                    <a:lstStyle/>
                    <a:p>
                      <a:r>
                        <a:rPr sz="1100" b="0">
                          <a:solidFill>
                            <a:srgbClr val="1F2328"/>
                          </a:solidFill>
                          <a:latin typeface="Microsoft JhengHei"/>
                          <a:ea typeface="Microsoft JhengHei"/>
                        </a:rPr>
                        <a:t>可能原因（新聞）：玉晶光(3406) 個股概覽 | 個股 - 股市 - CMoney；玉晶光被列注意股！公布第三季自結 </a:t>
                      </a:r>
                    </a:p>
                  </a:txBody>
                  <a:tcPr>
                    <a:solidFill>
                      <a:srgbClr val="FFFFFF"/>
                    </a:solidFill>
                  </a:tcPr>
                </a:tc>
              </a:tr>
              <a:tr h="365760">
                <a:tc>
                  <a:txBody>
                    <a:bodyPr/>
                    <a:lstStyle/>
                    <a:p>
                      <a:r>
                        <a:rPr sz="1100" b="0">
                          <a:solidFill>
                            <a:srgbClr val="1F2328"/>
                          </a:solidFill>
                          <a:latin typeface="Microsoft JhengHei"/>
                          <a:ea typeface="Microsoft JhengHei"/>
                        </a:rPr>
                        <a:t>漲停｜3006 晶豪科</a:t>
                      </a:r>
                    </a:p>
                  </a:txBody>
                  <a:tcPr>
                    <a:solidFill>
                      <a:srgbClr val="F3F5F8"/>
                    </a:solidFill>
                  </a:tcPr>
                </a:tc>
                <a:tc>
                  <a:txBody>
                    <a:bodyPr/>
                    <a:lstStyle/>
                    <a:p>
                      <a:r>
                        <a:rPr sz="1100" b="0">
                          <a:solidFill>
                            <a:srgbClr val="1F2328"/>
                          </a:solidFill>
                          <a:latin typeface="Microsoft JhengHei"/>
                          <a:ea typeface="Microsoft JhengHei"/>
                        </a:rPr>
                        <a:t>半導體業</a:t>
                      </a:r>
                    </a:p>
                  </a:txBody>
                  <a:tcPr>
                    <a:solidFill>
                      <a:srgbClr val="F3F5F8"/>
                    </a:solidFill>
                  </a:tcPr>
                </a:tc>
                <a:tc>
                  <a:txBody>
                    <a:bodyPr/>
                    <a:lstStyle/>
                    <a:p>
                      <a:r>
                        <a:rPr sz="1100" b="0">
                          <a:solidFill>
                            <a:srgbClr val="1F2328"/>
                          </a:solidFill>
                          <a:latin typeface="Microsoft JhengHei"/>
                          <a:ea typeface="Microsoft JhengHei"/>
                        </a:rPr>
                        <a:t>可能原因（新聞）：盤中速報 - 晶豪科(3006)股價拉至漲停，漲停價275.5元，成交16,146張 - Tradin</a:t>
                      </a:r>
                    </a:p>
                  </a:txBody>
                  <a:tcPr>
                    <a:solidFill>
                      <a:srgbClr val="F3F5F8"/>
                    </a:solidFill>
                  </a:tcPr>
                </a:tc>
              </a:tr>
              <a:tr h="365760">
                <a:tc>
                  <a:txBody>
                    <a:bodyPr/>
                    <a:lstStyle/>
                    <a:p>
                      <a:r>
                        <a:rPr sz="1100" b="0">
                          <a:solidFill>
                            <a:srgbClr val="1F2328"/>
                          </a:solidFill>
                          <a:latin typeface="Microsoft JhengHei"/>
                          <a:ea typeface="Microsoft JhengHei"/>
                        </a:rPr>
                        <a:t>漲停｜2455 全新</a:t>
                      </a:r>
                    </a:p>
                  </a:txBody>
                  <a:tcPr>
                    <a:solidFill>
                      <a:srgbClr val="FFFFFF"/>
                    </a:solidFill>
                  </a:tcPr>
                </a:tc>
                <a:tc>
                  <a:txBody>
                    <a:bodyPr/>
                    <a:lstStyle/>
                    <a:p>
                      <a:r>
                        <a:rPr sz="1100" b="0">
                          <a:solidFill>
                            <a:srgbClr val="1F2328"/>
                          </a:solidFill>
                          <a:latin typeface="Microsoft JhengHei"/>
                          <a:ea typeface="Microsoft JhengHei"/>
                        </a:rPr>
                        <a:t>通信網路業</a:t>
                      </a:r>
                    </a:p>
                  </a:txBody>
                  <a:tcPr>
                    <a:solidFill>
                      <a:srgbClr val="FFFFFF"/>
                    </a:solidFill>
                  </a:tcPr>
                </a:tc>
                <a:tc>
                  <a:txBody>
                    <a:bodyPr/>
                    <a:lstStyle/>
                    <a:p>
                      <a:r>
                        <a:rPr sz="1100" b="0">
                          <a:solidFill>
                            <a:srgbClr val="1F2328"/>
                          </a:solidFill>
                          <a:latin typeface="Microsoft JhengHei"/>
                          <a:ea typeface="Microsoft JhengHei"/>
                        </a:rPr>
                        <a:t>可能原因（新聞）：熱門股》處置出關 全新漲停創天價 - 自由時報；【11:01 即時新聞】全新(2455)股價走強靠攏5</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三籃配置：進攻 75%／穩健 25%／ETF 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6</a:t>
            </a:r>
          </a:p>
        </p:txBody>
      </p:sp>
      <p:sp>
        <p:nvSpPr>
          <p:cNvPr id="5" name="Rectangle 4"/>
          <p:cNvSpPr/>
          <p:nvPr/>
        </p:nvSpPr>
        <p:spPr>
          <a:xfrm>
            <a:off x="457200" y="1097280"/>
            <a:ext cx="5486400" cy="51206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5212080" cy="4937760"/>
          </a:xfrm>
          <a:prstGeom prst="rect">
            <a:avLst/>
          </a:prstGeom>
          <a:noFill/>
        </p:spPr>
        <p:txBody>
          <a:bodyPr wrap="square">
            <a:spAutoFit/>
          </a:bodyPr>
          <a:lstStyle/>
          <a:p>
            <a:r>
              <a:rPr sz="1500" b="1">
                <a:solidFill>
                  <a:srgbClr val="1F3A5F"/>
                </a:solidFill>
                <a:latin typeface="Microsoft JhengHei"/>
                <a:ea typeface="Microsoft JhengHei"/>
              </a:rPr>
              <a:t>比例如何決定</a:t>
            </a:r>
          </a:p>
          <a:p>
            <a:pPr>
              <a:spcAft>
                <a:spcPts val="400"/>
              </a:spcAft>
            </a:pPr>
            <a:r>
              <a:rPr sz="1300" b="0">
                <a:solidFill>
                  <a:srgbClr val="1F2328"/>
                </a:solidFill>
                <a:latin typeface="Microsoft JhengHei"/>
                <a:ea typeface="Microsoft JhengHei"/>
              </a:rPr>
              <a:t>• 黃燈：灰燈（中性）但出現 1 項風險訊號，先暫停追高 → 進攻籃 80%（已持續 8 個交易日）</a:t>
            </a:r>
          </a:p>
          <a:p>
            <a:pPr>
              <a:spcAft>
                <a:spcPts val="400"/>
              </a:spcAft>
            </a:pPr>
            <a:r>
              <a:rPr sz="1300" b="0">
                <a:solidFill>
                  <a:srgbClr val="1F2328"/>
                </a:solidFill>
                <a:latin typeface="Microsoft JhengHei"/>
                <a:ea typeface="Microsoft JhengHei"/>
              </a:rPr>
              <a:t>• 依據（報酬率第一）：十年回測每次前 20 名 20 日報酬，進攻籃在綠燈 6.0%／灰燈 6.2%／紅燈 3.7%，都高於穩健籃 4.4%／3.8%／2.1%，勝率相近</a:t>
            </a:r>
          </a:p>
          <a:p>
            <a:pPr>
              <a:spcAft>
                <a:spcPts val="400"/>
              </a:spcAft>
            </a:pPr>
            <a:r>
              <a:rPr sz="1300" b="0">
                <a:solidFill>
                  <a:srgbClr val="1F2328"/>
                </a:solidFill>
                <a:latin typeface="Microsoft JhengHei"/>
                <a:ea typeface="Microsoft JhengHei"/>
              </a:rPr>
              <a:t>• 調整 Agent 偵測到 2 項失誤 → 進攻 −5%，待模型修正後再恢復</a:t>
            </a:r>
          </a:p>
          <a:p>
            <a:pPr>
              <a:spcAft>
                <a:spcPts val="400"/>
              </a:spcAft>
            </a:pPr>
            <a:r>
              <a:rPr sz="1300" b="0">
                <a:solidFill>
                  <a:srgbClr val="1F2328"/>
                </a:solidFill>
                <a:latin typeface="Microsoft JhengHei"/>
                <a:ea typeface="Microsoft JhengHei"/>
              </a:rPr>
              <a:t>• 股票內部：進攻籃 75%、穩健籃 25%</a:t>
            </a:r>
          </a:p>
          <a:p>
            <a:pPr>
              <a:spcAft>
                <a:spcPts val="400"/>
              </a:spcAft>
            </a:pPr>
            <a:r>
              <a:rPr sz="1300" b="0">
                <a:solidFill>
                  <a:srgbClr val="1F2328"/>
                </a:solidFill>
                <a:latin typeface="Microsoft JhengHei"/>
                <a:ea typeface="Microsoft JhengHei"/>
              </a:rPr>
              <a:t>• 今日配置（佔股票＋ETF 目標持股）：進攻籃 75%、穩健籃 25%、ETF 籃 0%</a:t>
            </a:r>
          </a:p>
          <a:p>
            <a:pPr>
              <a:spcAft>
                <a:spcPts val="400"/>
              </a:spcAft>
            </a:pPr>
            <a:r>
              <a:rPr sz="1300" b="0">
                <a:solidFill>
                  <a:srgbClr val="1F2328"/>
                </a:solidFill>
                <a:latin typeface="Microsoft JhengHei"/>
                <a:ea typeface="Microsoft JhengHei"/>
              </a:rPr>
              <a:t>• ETF 基準比例 0%（分散個股風險、證交稅 0.1%）</a:t>
            </a:r>
          </a:p>
          <a:p>
            <a:pPr>
              <a:spcAft>
                <a:spcPts val="400"/>
              </a:spcAft>
            </a:pPr>
            <a:r>
              <a:rPr sz="1300" b="0">
                <a:solidFill>
                  <a:srgbClr val="1F2328"/>
                </a:solidFill>
                <a:latin typeface="Microsoft JhengHei"/>
                <a:ea typeface="Microsoft JhengHei"/>
              </a:rPr>
              <a:t>• 今日 ETF 籃比例 0%（佔股票＋ETF 目標持股；基準 0% 已依上述條件調整）</a:t>
            </a:r>
          </a:p>
        </p:txBody>
      </p:sp>
      <p:sp>
        <p:nvSpPr>
          <p:cNvPr id="7" name="TextBox 6"/>
          <p:cNvSpPr txBox="1"/>
          <p:nvPr/>
        </p:nvSpPr>
        <p:spPr>
          <a:xfrm>
            <a:off x="6355080" y="1188720"/>
            <a:ext cx="5212080" cy="4937760"/>
          </a:xfrm>
          <a:prstGeom prst="rect">
            <a:avLst/>
          </a:prstGeom>
          <a:noFill/>
        </p:spPr>
        <p:txBody>
          <a:bodyPr wrap="square">
            <a:spAutoFit/>
          </a:bodyPr>
          <a:lstStyle/>
          <a:p>
            <a:r>
              <a:rPr sz="1450" b="1">
                <a:solidFill>
                  <a:srgbClr val="1F3A5F"/>
                </a:solidFill>
                <a:latin typeface="Microsoft JhengHei"/>
                <a:ea typeface="Microsoft JhengHei"/>
              </a:rPr>
              <a:t>各籃內容</a:t>
            </a:r>
          </a:p>
          <a:p>
            <a:pPr>
              <a:spcAft>
                <a:spcPts val="400"/>
              </a:spcAft>
            </a:pPr>
            <a:r>
              <a:rPr sz="1250" b="0">
                <a:solidFill>
                  <a:srgbClr val="1F2328"/>
                </a:solidFill>
                <a:latin typeface="Microsoft JhengHei"/>
                <a:ea typeface="Microsoft JhengHei"/>
              </a:rPr>
              <a:t>【進攻籃】目標 593 萬，執行後佔總資產 69.4%</a:t>
            </a:r>
          </a:p>
          <a:p>
            <a:pPr>
              <a:spcAft>
                <a:spcPts val="400"/>
              </a:spcAft>
            </a:pPr>
            <a:r>
              <a:rPr sz="1250" b="0">
                <a:solidFill>
                  <a:srgbClr val="1F2328"/>
                </a:solidFill>
                <a:latin typeface="Microsoft JhengHei"/>
                <a:ea typeface="Microsoft JhengHei"/>
              </a:rPr>
              <a:t>• 進攻籃買進：7730 暉盛-創、6456 GIS-KY、3591 艾笛森、6213 聯茂</a:t>
            </a:r>
          </a:p>
          <a:p>
            <a:pPr>
              <a:spcAft>
                <a:spcPts val="400"/>
              </a:spcAft>
            </a:pPr>
            <a:r>
              <a:rPr sz="1250" b="0">
                <a:solidFill>
                  <a:srgbClr val="1F2328"/>
                </a:solidFill>
                <a:latin typeface="Microsoft JhengHei"/>
                <a:ea typeface="Microsoft JhengHei"/>
              </a:rPr>
              <a:t>【穩健籃】目標 198 萬，執行後佔總資產 25.0%</a:t>
            </a:r>
          </a:p>
          <a:p>
            <a:pPr>
              <a:spcAft>
                <a:spcPts val="400"/>
              </a:spcAft>
            </a:pPr>
            <a:r>
              <a:rPr sz="1250" b="0">
                <a:solidFill>
                  <a:srgbClr val="1F2328"/>
                </a:solidFill>
                <a:latin typeface="Microsoft JhengHei"/>
                <a:ea typeface="Microsoft JhengHei"/>
              </a:rPr>
              <a:t>• 穩健籃買進：1736 喬山、6462 神盾、2357 華碩、2885 元大金</a:t>
            </a:r>
          </a:p>
          <a:p>
            <a:pPr>
              <a:spcAft>
                <a:spcPts val="400"/>
              </a:spcAft>
            </a:pPr>
            <a:r>
              <a:rPr sz="1250" b="0">
                <a:solidFill>
                  <a:srgbClr val="1F2328"/>
                </a:solidFill>
                <a:latin typeface="Microsoft JhengHei"/>
                <a:ea typeface="Microsoft JhengHei"/>
              </a:rPr>
              <a:t>【ETF 籃】目標 0 萬，執行後佔總資產 0.0%</a:t>
            </a:r>
          </a:p>
          <a:p>
            <a:pPr>
              <a:spcAft>
                <a:spcPts val="400"/>
              </a:spcAft>
            </a:pPr>
            <a:r>
              <a:rPr sz="1250" b="0">
                <a:solidFill>
                  <a:srgbClr val="1F2328"/>
                </a:solidFill>
                <a:latin typeface="Microsoft JhengHei"/>
                <a:ea typeface="Microsoft JhengHei"/>
              </a:rPr>
              <a:t>• ETF 籃買進：無</a:t>
            </a:r>
          </a:p>
          <a:p>
            <a:pPr>
              <a:spcAft>
                <a:spcPts val="400"/>
              </a:spcAft>
            </a:pPr>
            <a:r>
              <a:rPr sz="1250" b="0">
                <a:solidFill>
                  <a:srgbClr val="1F2328"/>
                </a:solidFill>
                <a:latin typeface="Microsoft JhengHei"/>
                <a:ea typeface="Microsoft JhengHei"/>
              </a:rPr>
              <a:t>• 黃燈：灰燈（中性）但出現 1 項風險訊號，先暫停追高 → 進攻籃 80%（已持續 8 個交易日）；依據（報酬率第一）：十年回測每次前 20 名 20 日報酬，進攻籃在綠燈 6.0%／灰燈 6.2%／紅燈 3.7%，都高於穩健籃 4.4%／3.8%／2.1%，勝率相近；調整 Agent 偵測到 2 項失誤 → 進攻 −5%，待模型修正後再恢復；股票內部：進攻籃 75%、穩健籃 25%；今日配置（佔股票＋ETF 目標持股）：進攻籃 75%、穩健籃 25%、ETF 籃 0%。進攻籃買進：7730 暉盛-創、6456 GIS-KY、3591 艾笛森、6213 聯茂。穩健籃買進：1736 喬山、6462 神盾、2357 華碩、2885 元大金。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穩健籃候選（收正報酬機率高、回檔小、不追高）</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7</a:t>
            </a:r>
          </a:p>
        </p:txBody>
      </p:sp>
      <p:graphicFrame>
        <p:nvGraphicFramePr>
          <p:cNvPr id="5" name="Table 4"/>
          <p:cNvGraphicFramePr>
            <a:graphicFrameLocks noGrp="1"/>
          </p:cNvGraphicFramePr>
          <p:nvPr/>
        </p:nvGraphicFramePr>
        <p:xfrm>
          <a:off x="457200" y="1188720"/>
          <a:ext cx="11247115" cy="4754880"/>
        </p:xfrm>
        <a:graphic>
          <a:graphicData uri="http://schemas.openxmlformats.org/drawingml/2006/table">
            <a:tbl>
              <a:tblPr firstRow="1" bandRow="1">
                <a:tableStyleId>{5C22544A-7EE6-4342-B048-85BDC9FD1C3A}</a:tableStyleId>
              </a:tblPr>
              <a:tblGrid>
                <a:gridCol w="3067396"/>
                <a:gridCol w="2044930"/>
                <a:gridCol w="1278081"/>
                <a:gridCol w="1278081"/>
                <a:gridCol w="1022465"/>
                <a:gridCol w="1278081"/>
                <a:gridCol w="1278081"/>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產業</a:t>
                      </a:r>
                    </a:p>
                  </a:txBody>
                  <a:tcPr>
                    <a:solidFill>
                      <a:srgbClr val="1F3A5F"/>
                    </a:solidFill>
                  </a:tcPr>
                </a:tc>
                <a:tc>
                  <a:txBody>
                    <a:bodyPr/>
                    <a:lstStyle/>
                    <a:p>
                      <a:r>
                        <a:rPr sz="1100" b="1">
                          <a:solidFill>
                            <a:srgbClr val="FFFFFF"/>
                          </a:solidFill>
                          <a:latin typeface="Microsoft JhengHei"/>
                          <a:ea typeface="Microsoft JhengHei"/>
                        </a:rPr>
                        <a:t>收正機率</a:t>
                      </a:r>
                    </a:p>
                  </a:txBody>
                  <a:tcPr>
                    <a:solidFill>
                      <a:srgbClr val="1F3A5F"/>
                    </a:solidFill>
                  </a:tcPr>
                </a:tc>
                <a:tc>
                  <a:txBody>
                    <a:bodyPr/>
                    <a:lstStyle/>
                    <a:p>
                      <a:r>
                        <a:rPr sz="1100" b="1">
                          <a:solidFill>
                            <a:srgbClr val="FFFFFF"/>
                          </a:solidFill>
                          <a:latin typeface="Microsoft JhengHei"/>
                          <a:ea typeface="Microsoft JhengHei"/>
                        </a:rPr>
                        <a:t>預期回檔</a:t>
                      </a:r>
                    </a:p>
                  </a:txBody>
                  <a:tcPr>
                    <a:solidFill>
                      <a:srgbClr val="1F3A5F"/>
                    </a:solidFill>
                  </a:tcPr>
                </a:tc>
                <a:tc>
                  <a:txBody>
                    <a:bodyPr/>
                    <a:lstStyle/>
                    <a:p>
                      <a:r>
                        <a:rPr sz="1100" b="1">
                          <a:solidFill>
                            <a:srgbClr val="FFFFFF"/>
                          </a:solidFill>
                          <a:latin typeface="Microsoft JhengHei"/>
                          <a:ea typeface="Microsoft JhengHei"/>
                        </a:rPr>
                        <a:t>β</a:t>
                      </a:r>
                    </a:p>
                  </a:txBody>
                  <a:tcPr>
                    <a:solidFill>
                      <a:srgbClr val="1F3A5F"/>
                    </a:solidFill>
                  </a:tcPr>
                </a:tc>
                <a:tc>
                  <a:txBody>
                    <a:bodyPr/>
                    <a:lstStyle/>
                    <a:p>
                      <a:r>
                        <a:rPr sz="1100" b="1">
                          <a:solidFill>
                            <a:srgbClr val="FFFFFF"/>
                          </a:solidFill>
                          <a:latin typeface="Microsoft JhengHei"/>
                          <a:ea typeface="Microsoft JhengHei"/>
                        </a:rPr>
                        <a:t>穩健分數</a:t>
                      </a:r>
                    </a:p>
                  </a:txBody>
                  <a:tcPr>
                    <a:solidFill>
                      <a:srgbClr val="1F3A5F"/>
                    </a:solidFill>
                  </a:tcPr>
                </a:tc>
                <a:tc>
                  <a:txBody>
                    <a:bodyPr/>
                    <a:lstStyle/>
                    <a:p>
                      <a:r>
                        <a:rPr sz="1100" b="1">
                          <a:solidFill>
                            <a:srgbClr val="FFFFFF"/>
                          </a:solidFill>
                          <a:latin typeface="Microsoft JhengHei"/>
                          <a:ea typeface="Microsoft JhengHei"/>
                        </a:rPr>
                        <a:t>訊號</a:t>
                      </a:r>
                    </a:p>
                  </a:txBody>
                  <a:tcPr>
                    <a:solidFill>
                      <a:srgbClr val="1F3A5F"/>
                    </a:solidFill>
                  </a:tcPr>
                </a:tc>
              </a:tr>
              <a:tr h="365760">
                <a:tc>
                  <a:txBody>
                    <a:bodyPr/>
                    <a:lstStyle/>
                    <a:p>
                      <a:r>
                        <a:rPr sz="1100" b="0">
                          <a:solidFill>
                            <a:srgbClr val="1F2328"/>
                          </a:solidFill>
                          <a:latin typeface="Microsoft JhengHei"/>
                          <a:ea typeface="Microsoft JhengHei"/>
                        </a:rPr>
                        <a:t>1736 喬山</a:t>
                      </a:r>
                    </a:p>
                  </a:txBody>
                  <a:tcPr>
                    <a:solidFill>
                      <a:srgbClr val="F3F5F8"/>
                    </a:solidFill>
                  </a:tcPr>
                </a:tc>
                <a:tc>
                  <a:txBody>
                    <a:bodyPr/>
                    <a:lstStyle/>
                    <a:p>
                      <a:r>
                        <a:rPr sz="1100" b="0">
                          <a:solidFill>
                            <a:srgbClr val="1F2328"/>
                          </a:solidFill>
                          <a:latin typeface="Microsoft JhengHei"/>
                          <a:ea typeface="Microsoft JhengHei"/>
                        </a:rPr>
                        <a:t>運動休閒</a:t>
                      </a:r>
                    </a:p>
                  </a:txBody>
                  <a:tcPr>
                    <a:solidFill>
                      <a:srgbClr val="F3F5F8"/>
                    </a:solidFill>
                  </a:tcPr>
                </a:tc>
                <a:tc>
                  <a:txBody>
                    <a:bodyPr/>
                    <a:lstStyle/>
                    <a:p>
                      <a:r>
                        <a:rPr sz="1100" b="0">
                          <a:solidFill>
                            <a:srgbClr val="1F2328"/>
                          </a:solidFill>
                          <a:latin typeface="Microsoft JhengHei"/>
                          <a:ea typeface="Microsoft JhengHei"/>
                        </a:rPr>
                        <a:t>66.5%</a:t>
                      </a:r>
                    </a:p>
                  </a:txBody>
                  <a:tcPr>
                    <a:solidFill>
                      <a:srgbClr val="F3F5F8"/>
                    </a:solidFill>
                  </a:tcPr>
                </a:tc>
                <a:tc>
                  <a:txBody>
                    <a:bodyPr/>
                    <a:lstStyle/>
                    <a:p>
                      <a:r>
                        <a:rPr sz="1100" b="0">
                          <a:solidFill>
                            <a:srgbClr val="1F2328"/>
                          </a:solidFill>
                          <a:latin typeface="Microsoft JhengHei"/>
                          <a:ea typeface="Microsoft JhengHei"/>
                        </a:rPr>
                        <a:t>-5.5%</a:t>
                      </a:r>
                    </a:p>
                  </a:txBody>
                  <a:tcPr>
                    <a:solidFill>
                      <a:srgbClr val="F3F5F8"/>
                    </a:solidFill>
                  </a:tcPr>
                </a:tc>
                <a:tc>
                  <a:txBody>
                    <a:bodyPr/>
                    <a:lstStyle/>
                    <a:p>
                      <a:r>
                        <a:rPr sz="1100" b="0">
                          <a:solidFill>
                            <a:srgbClr val="1F2328"/>
                          </a:solidFill>
                          <a:latin typeface="Microsoft JhengHei"/>
                          <a:ea typeface="Microsoft JhengHei"/>
                        </a:rPr>
                        <a:t>-0.01</a:t>
                      </a:r>
                    </a:p>
                  </a:txBody>
                  <a:tcPr>
                    <a:solidFill>
                      <a:srgbClr val="F3F5F8"/>
                    </a:solidFill>
                  </a:tcPr>
                </a:tc>
                <a:tc>
                  <a:txBody>
                    <a:bodyPr/>
                    <a:lstStyle/>
                    <a:p>
                      <a:r>
                        <a:rPr sz="1100" b="0">
                          <a:solidFill>
                            <a:srgbClr val="1F2328"/>
                          </a:solidFill>
                          <a:latin typeface="Microsoft JhengHei"/>
                          <a:ea typeface="Microsoft JhengHei"/>
                        </a:rPr>
                        <a:t>+0.86</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00915 凱基優選高股息30</a:t>
                      </a:r>
                    </a:p>
                  </a:txBody>
                  <a:tcPr>
                    <a:solidFill>
                      <a:srgbClr val="FFFFFF"/>
                    </a:solidFill>
                  </a:tcPr>
                </a:tc>
                <a:tc>
                  <a:txBody>
                    <a:bodyPr/>
                    <a:lstStyle/>
                    <a:p>
                      <a:r>
                        <a:rPr sz="1100" b="0">
                          <a:solidFill>
                            <a:srgbClr val="1F2328"/>
                          </a:solidFill>
                          <a:latin typeface="Microsoft JhengHei"/>
                          <a:ea typeface="Microsoft JhengHei"/>
                        </a:rPr>
                        <a:t>ETF</a:t>
                      </a:r>
                    </a:p>
                  </a:txBody>
                  <a:tcPr>
                    <a:solidFill>
                      <a:srgbClr val="FFFFFF"/>
                    </a:solidFill>
                  </a:tcPr>
                </a:tc>
                <a:tc>
                  <a:txBody>
                    <a:bodyPr/>
                    <a:lstStyle/>
                    <a:p>
                      <a:r>
                        <a:rPr sz="1100" b="0">
                          <a:solidFill>
                            <a:srgbClr val="1F2328"/>
                          </a:solidFill>
                          <a:latin typeface="Microsoft JhengHei"/>
                          <a:ea typeface="Microsoft JhengHei"/>
                        </a:rPr>
                        <a:t>75.6%</a:t>
                      </a:r>
                    </a:p>
                  </a:txBody>
                  <a:tcPr>
                    <a:solidFill>
                      <a:srgbClr val="FFFFFF"/>
                    </a:solidFill>
                  </a:tcPr>
                </a:tc>
                <a:tc>
                  <a:txBody>
                    <a:bodyPr/>
                    <a:lstStyle/>
                    <a:p>
                      <a:r>
                        <a:rPr sz="1100" b="0">
                          <a:solidFill>
                            <a:srgbClr val="1F2328"/>
                          </a:solidFill>
                          <a:latin typeface="Microsoft JhengHei"/>
                          <a:ea typeface="Microsoft JhengHei"/>
                        </a:rPr>
                        <a:t>-4.6%</a:t>
                      </a:r>
                    </a:p>
                  </a:txBody>
                  <a:tcPr>
                    <a:solidFill>
                      <a:srgbClr val="FFFFFF"/>
                    </a:solidFill>
                  </a:tcPr>
                </a:tc>
                <a:tc>
                  <a:txBody>
                    <a:bodyPr/>
                    <a:lstStyle/>
                    <a:p>
                      <a:r>
                        <a:rPr sz="1100" b="0">
                          <a:solidFill>
                            <a:srgbClr val="1F2328"/>
                          </a:solidFill>
                          <a:latin typeface="Microsoft JhengHei"/>
                          <a:ea typeface="Microsoft JhengHei"/>
                        </a:rPr>
                        <a:t>0.42</a:t>
                      </a:r>
                    </a:p>
                  </a:txBody>
                  <a:tcPr>
                    <a:solidFill>
                      <a:srgbClr val="FFFFFF"/>
                    </a:solidFill>
                  </a:tcPr>
                </a:tc>
                <a:tc>
                  <a:txBody>
                    <a:bodyPr/>
                    <a:lstStyle/>
                    <a:p>
                      <a:r>
                        <a:rPr sz="1100" b="0">
                          <a:solidFill>
                            <a:srgbClr val="1F2328"/>
                          </a:solidFill>
                          <a:latin typeface="Microsoft JhengHei"/>
                          <a:ea typeface="Microsoft JhengHei"/>
                        </a:rPr>
                        <a:t>+0.84</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r h="365760">
                <a:tc>
                  <a:txBody>
                    <a:bodyPr/>
                    <a:lstStyle/>
                    <a:p>
                      <a:r>
                        <a:rPr sz="1100" b="0">
                          <a:solidFill>
                            <a:srgbClr val="1F2328"/>
                          </a:solidFill>
                          <a:latin typeface="Microsoft JhengHei"/>
                          <a:ea typeface="Microsoft JhengHei"/>
                        </a:rPr>
                        <a:t>00900 富邦特選高股息30</a:t>
                      </a:r>
                    </a:p>
                  </a:txBody>
                  <a:tcPr>
                    <a:solidFill>
                      <a:srgbClr val="F3F5F8"/>
                    </a:solidFill>
                  </a:tcPr>
                </a:tc>
                <a:tc>
                  <a:txBody>
                    <a:bodyPr/>
                    <a:lstStyle/>
                    <a:p>
                      <a:r>
                        <a:rPr sz="1100" b="0">
                          <a:solidFill>
                            <a:srgbClr val="1F2328"/>
                          </a:solidFill>
                          <a:latin typeface="Microsoft JhengHei"/>
                          <a:ea typeface="Microsoft JhengHei"/>
                        </a:rPr>
                        <a:t>ETF</a:t>
                      </a:r>
                    </a:p>
                  </a:txBody>
                  <a:tcPr>
                    <a:solidFill>
                      <a:srgbClr val="F3F5F8"/>
                    </a:solidFill>
                  </a:tcPr>
                </a:tc>
                <a:tc>
                  <a:txBody>
                    <a:bodyPr/>
                    <a:lstStyle/>
                    <a:p>
                      <a:r>
                        <a:rPr sz="1100" b="0">
                          <a:solidFill>
                            <a:srgbClr val="1F2328"/>
                          </a:solidFill>
                          <a:latin typeface="Microsoft JhengHei"/>
                          <a:ea typeface="Microsoft JhengHei"/>
                        </a:rPr>
                        <a:t>63.4%</a:t>
                      </a:r>
                    </a:p>
                  </a:txBody>
                  <a:tcPr>
                    <a:solidFill>
                      <a:srgbClr val="F3F5F8"/>
                    </a:solidFill>
                  </a:tcPr>
                </a:tc>
                <a:tc>
                  <a:txBody>
                    <a:bodyPr/>
                    <a:lstStyle/>
                    <a:p>
                      <a:r>
                        <a:rPr sz="1100" b="0">
                          <a:solidFill>
                            <a:srgbClr val="1F2328"/>
                          </a:solidFill>
                          <a:latin typeface="Microsoft JhengHei"/>
                          <a:ea typeface="Microsoft JhengHei"/>
                        </a:rPr>
                        <a:t>-4.2%</a:t>
                      </a:r>
                    </a:p>
                  </a:txBody>
                  <a:tcPr>
                    <a:solidFill>
                      <a:srgbClr val="F3F5F8"/>
                    </a:solidFill>
                  </a:tcPr>
                </a:tc>
                <a:tc>
                  <a:txBody>
                    <a:bodyPr/>
                    <a:lstStyle/>
                    <a:p>
                      <a:r>
                        <a:rPr sz="1100" b="0">
                          <a:solidFill>
                            <a:srgbClr val="1F2328"/>
                          </a:solidFill>
                          <a:latin typeface="Microsoft JhengHei"/>
                          <a:ea typeface="Microsoft JhengHei"/>
                        </a:rPr>
                        <a:t>0.35</a:t>
                      </a:r>
                    </a:p>
                  </a:txBody>
                  <a:tcPr>
                    <a:solidFill>
                      <a:srgbClr val="F3F5F8"/>
                    </a:solidFill>
                  </a:tcPr>
                </a:tc>
                <a:tc>
                  <a:txBody>
                    <a:bodyPr/>
                    <a:lstStyle/>
                    <a:p>
                      <a:r>
                        <a:rPr sz="1100" b="0">
                          <a:solidFill>
                            <a:srgbClr val="1F2328"/>
                          </a:solidFill>
                          <a:latin typeface="Microsoft JhengHei"/>
                          <a:ea typeface="Microsoft JhengHei"/>
                        </a:rPr>
                        <a:t>+0.73</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00731 復華富時高息低波</a:t>
                      </a:r>
                    </a:p>
                  </a:txBody>
                  <a:tcPr>
                    <a:solidFill>
                      <a:srgbClr val="FFFFFF"/>
                    </a:solidFill>
                  </a:tcPr>
                </a:tc>
                <a:tc>
                  <a:txBody>
                    <a:bodyPr/>
                    <a:lstStyle/>
                    <a:p>
                      <a:r>
                        <a:rPr sz="1100" b="0">
                          <a:solidFill>
                            <a:srgbClr val="1F2328"/>
                          </a:solidFill>
                          <a:latin typeface="Microsoft JhengHei"/>
                          <a:ea typeface="Microsoft JhengHei"/>
                        </a:rPr>
                        <a:t>ETF</a:t>
                      </a:r>
                    </a:p>
                  </a:txBody>
                  <a:tcPr>
                    <a:solidFill>
                      <a:srgbClr val="FFFFFF"/>
                    </a:solidFill>
                  </a:tcPr>
                </a:tc>
                <a:tc>
                  <a:txBody>
                    <a:bodyPr/>
                    <a:lstStyle/>
                    <a:p>
                      <a:r>
                        <a:rPr sz="1100" b="0">
                          <a:solidFill>
                            <a:srgbClr val="1F2328"/>
                          </a:solidFill>
                          <a:latin typeface="Microsoft JhengHei"/>
                          <a:ea typeface="Microsoft JhengHei"/>
                        </a:rPr>
                        <a:t>77.3%</a:t>
                      </a:r>
                    </a:p>
                  </a:txBody>
                  <a:tcPr>
                    <a:solidFill>
                      <a:srgbClr val="FFFFFF"/>
                    </a:solidFill>
                  </a:tcPr>
                </a:tc>
                <a:tc>
                  <a:txBody>
                    <a:bodyPr/>
                    <a:lstStyle/>
                    <a:p>
                      <a:r>
                        <a:rPr sz="1100" b="0">
                          <a:solidFill>
                            <a:srgbClr val="1F2328"/>
                          </a:solidFill>
                          <a:latin typeface="Microsoft JhengHei"/>
                          <a:ea typeface="Microsoft JhengHei"/>
                        </a:rPr>
                        <a:t>-5.3%</a:t>
                      </a:r>
                    </a:p>
                  </a:txBody>
                  <a:tcPr>
                    <a:solidFill>
                      <a:srgbClr val="FFFFFF"/>
                    </a:solidFill>
                  </a:tcPr>
                </a:tc>
                <a:tc>
                  <a:txBody>
                    <a:bodyPr/>
                    <a:lstStyle/>
                    <a:p>
                      <a:r>
                        <a:rPr sz="1100" b="0">
                          <a:solidFill>
                            <a:srgbClr val="1F2328"/>
                          </a:solidFill>
                          <a:latin typeface="Microsoft JhengHei"/>
                          <a:ea typeface="Microsoft JhengHei"/>
                        </a:rPr>
                        <a:t>0.32</a:t>
                      </a:r>
                    </a:p>
                  </a:txBody>
                  <a:tcPr>
                    <a:solidFill>
                      <a:srgbClr val="FFFFFF"/>
                    </a:solidFill>
                  </a:tcPr>
                </a:tc>
                <a:tc>
                  <a:txBody>
                    <a:bodyPr/>
                    <a:lstStyle/>
                    <a:p>
                      <a:r>
                        <a:rPr sz="1100" b="0">
                          <a:solidFill>
                            <a:srgbClr val="1F2328"/>
                          </a:solidFill>
                          <a:latin typeface="Microsoft JhengHei"/>
                          <a:ea typeface="Microsoft JhengHei"/>
                        </a:rPr>
                        <a:t>+0.73</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r h="365760">
                <a:tc>
                  <a:txBody>
                    <a:bodyPr/>
                    <a:lstStyle/>
                    <a:p>
                      <a:r>
                        <a:rPr sz="1100" b="0">
                          <a:solidFill>
                            <a:srgbClr val="1F2328"/>
                          </a:solidFill>
                          <a:latin typeface="Microsoft JhengHei"/>
                          <a:ea typeface="Microsoft JhengHei"/>
                        </a:rPr>
                        <a:t>6462 神盾</a:t>
                      </a:r>
                    </a:p>
                  </a:txBody>
                  <a:tcPr>
                    <a:solidFill>
                      <a:srgbClr val="F3F5F8"/>
                    </a:solidFill>
                  </a:tcPr>
                </a:tc>
                <a:tc>
                  <a:txBody>
                    <a:bodyPr/>
                    <a:lstStyle/>
                    <a:p>
                      <a:r>
                        <a:rPr sz="1100" b="0">
                          <a:solidFill>
                            <a:srgbClr val="1F2328"/>
                          </a:solidFill>
                          <a:latin typeface="Microsoft JhengHei"/>
                          <a:ea typeface="Microsoft JhengHei"/>
                        </a:rPr>
                        <a:t>半導體業</a:t>
                      </a:r>
                    </a:p>
                  </a:txBody>
                  <a:tcPr>
                    <a:solidFill>
                      <a:srgbClr val="F3F5F8"/>
                    </a:solidFill>
                  </a:tcPr>
                </a:tc>
                <a:tc>
                  <a:txBody>
                    <a:bodyPr/>
                    <a:lstStyle/>
                    <a:p>
                      <a:r>
                        <a:rPr sz="1100" b="0">
                          <a:solidFill>
                            <a:srgbClr val="1F2328"/>
                          </a:solidFill>
                          <a:latin typeface="Microsoft JhengHei"/>
                          <a:ea typeface="Microsoft JhengHei"/>
                        </a:rPr>
                        <a:t>57.2%</a:t>
                      </a:r>
                    </a:p>
                  </a:txBody>
                  <a:tcPr>
                    <a:solidFill>
                      <a:srgbClr val="F3F5F8"/>
                    </a:solidFill>
                  </a:tcPr>
                </a:tc>
                <a:tc>
                  <a:txBody>
                    <a:bodyPr/>
                    <a:lstStyle/>
                    <a:p>
                      <a:r>
                        <a:rPr sz="1100" b="0">
                          <a:solidFill>
                            <a:srgbClr val="1F2328"/>
                          </a:solidFill>
                          <a:latin typeface="Microsoft JhengHei"/>
                          <a:ea typeface="Microsoft JhengHei"/>
                        </a:rPr>
                        <a:t>-6.9%</a:t>
                      </a:r>
                    </a:p>
                  </a:txBody>
                  <a:tcPr>
                    <a:solidFill>
                      <a:srgbClr val="F3F5F8"/>
                    </a:solidFill>
                  </a:tcPr>
                </a:tc>
                <a:tc>
                  <a:txBody>
                    <a:bodyPr/>
                    <a:lstStyle/>
                    <a:p>
                      <a:r>
                        <a:rPr sz="1100" b="0">
                          <a:solidFill>
                            <a:srgbClr val="1F2328"/>
                          </a:solidFill>
                          <a:latin typeface="Microsoft JhengHei"/>
                          <a:ea typeface="Microsoft JhengHei"/>
                        </a:rPr>
                        <a:t>0.78</a:t>
                      </a:r>
                    </a:p>
                  </a:txBody>
                  <a:tcPr>
                    <a:solidFill>
                      <a:srgbClr val="F3F5F8"/>
                    </a:solidFill>
                  </a:tcPr>
                </a:tc>
                <a:tc>
                  <a:txBody>
                    <a:bodyPr/>
                    <a:lstStyle/>
                    <a:p>
                      <a:r>
                        <a:rPr sz="1100" b="0">
                          <a:solidFill>
                            <a:srgbClr val="1F2328"/>
                          </a:solidFill>
                          <a:latin typeface="Microsoft JhengHei"/>
                          <a:ea typeface="Microsoft JhengHei"/>
                        </a:rPr>
                        <a:t>+0.67</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2357 華碩</a:t>
                      </a:r>
                    </a:p>
                  </a:txBody>
                  <a:tcPr>
                    <a:solidFill>
                      <a:srgbClr val="FFFFFF"/>
                    </a:solidFill>
                  </a:tcPr>
                </a:tc>
                <a:tc>
                  <a:txBody>
                    <a:bodyPr/>
                    <a:lstStyle/>
                    <a:p>
                      <a:r>
                        <a:rPr sz="1100" b="0">
                          <a:solidFill>
                            <a:srgbClr val="1F2328"/>
                          </a:solidFill>
                          <a:latin typeface="Microsoft JhengHei"/>
                          <a:ea typeface="Microsoft JhengHei"/>
                        </a:rPr>
                        <a:t>電腦及週邊設備業</a:t>
                      </a:r>
                    </a:p>
                  </a:txBody>
                  <a:tcPr>
                    <a:solidFill>
                      <a:srgbClr val="FFFFFF"/>
                    </a:solidFill>
                  </a:tcPr>
                </a:tc>
                <a:tc>
                  <a:txBody>
                    <a:bodyPr/>
                    <a:lstStyle/>
                    <a:p>
                      <a:r>
                        <a:rPr sz="1100" b="0">
                          <a:solidFill>
                            <a:srgbClr val="1F2328"/>
                          </a:solidFill>
                          <a:latin typeface="Microsoft JhengHei"/>
                          <a:ea typeface="Microsoft JhengHei"/>
                        </a:rPr>
                        <a:t>59.8%</a:t>
                      </a:r>
                    </a:p>
                  </a:txBody>
                  <a:tcPr>
                    <a:solidFill>
                      <a:srgbClr val="FFFFFF"/>
                    </a:solidFill>
                  </a:tcPr>
                </a:tc>
                <a:tc>
                  <a:txBody>
                    <a:bodyPr/>
                    <a:lstStyle/>
                    <a:p>
                      <a:r>
                        <a:rPr sz="1100" b="0">
                          <a:solidFill>
                            <a:srgbClr val="1F2328"/>
                          </a:solidFill>
                          <a:latin typeface="Microsoft JhengHei"/>
                          <a:ea typeface="Microsoft JhengHei"/>
                        </a:rPr>
                        <a:t>-7.4%</a:t>
                      </a:r>
                    </a:p>
                  </a:txBody>
                  <a:tcPr>
                    <a:solidFill>
                      <a:srgbClr val="FFFFFF"/>
                    </a:solidFill>
                  </a:tcPr>
                </a:tc>
                <a:tc>
                  <a:txBody>
                    <a:bodyPr/>
                    <a:lstStyle/>
                    <a:p>
                      <a:r>
                        <a:rPr sz="1100" b="0">
                          <a:solidFill>
                            <a:srgbClr val="1F2328"/>
                          </a:solidFill>
                          <a:latin typeface="Microsoft JhengHei"/>
                          <a:ea typeface="Microsoft JhengHei"/>
                        </a:rPr>
                        <a:t>1.09</a:t>
                      </a:r>
                    </a:p>
                  </a:txBody>
                  <a:tcPr>
                    <a:solidFill>
                      <a:srgbClr val="FFFFFF"/>
                    </a:solidFill>
                  </a:tcPr>
                </a:tc>
                <a:tc>
                  <a:txBody>
                    <a:bodyPr/>
                    <a:lstStyle/>
                    <a:p>
                      <a:r>
                        <a:rPr sz="1100" b="0">
                          <a:solidFill>
                            <a:srgbClr val="1F2328"/>
                          </a:solidFill>
                          <a:latin typeface="Microsoft JhengHei"/>
                          <a:ea typeface="Microsoft JhengHei"/>
                        </a:rPr>
                        <a:t>+0.67</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r h="365760">
                <a:tc>
                  <a:txBody>
                    <a:bodyPr/>
                    <a:lstStyle/>
                    <a:p>
                      <a:r>
                        <a:rPr sz="1100" b="0">
                          <a:solidFill>
                            <a:srgbClr val="1F2328"/>
                          </a:solidFill>
                          <a:latin typeface="Microsoft JhengHei"/>
                          <a:ea typeface="Microsoft JhengHei"/>
                        </a:rPr>
                        <a:t>2850 新產</a:t>
                      </a:r>
                    </a:p>
                  </a:txBody>
                  <a:tcPr>
                    <a:solidFill>
                      <a:srgbClr val="F3F5F8"/>
                    </a:solidFill>
                  </a:tcPr>
                </a:tc>
                <a:tc>
                  <a:txBody>
                    <a:bodyPr/>
                    <a:lstStyle/>
                    <a:p>
                      <a:r>
                        <a:rPr sz="1100" b="0">
                          <a:solidFill>
                            <a:srgbClr val="1F2328"/>
                          </a:solidFill>
                          <a:latin typeface="Microsoft JhengHei"/>
                          <a:ea typeface="Microsoft JhengHei"/>
                        </a:rPr>
                        <a:t>金融保險</a:t>
                      </a:r>
                    </a:p>
                  </a:txBody>
                  <a:tcPr>
                    <a:solidFill>
                      <a:srgbClr val="F3F5F8"/>
                    </a:solidFill>
                  </a:tcPr>
                </a:tc>
                <a:tc>
                  <a:txBody>
                    <a:bodyPr/>
                    <a:lstStyle/>
                    <a:p>
                      <a:r>
                        <a:rPr sz="1100" b="0">
                          <a:solidFill>
                            <a:srgbClr val="1F2328"/>
                          </a:solidFill>
                          <a:latin typeface="Microsoft JhengHei"/>
                          <a:ea typeface="Microsoft JhengHei"/>
                        </a:rPr>
                        <a:t>67.5%</a:t>
                      </a:r>
                    </a:p>
                  </a:txBody>
                  <a:tcPr>
                    <a:solidFill>
                      <a:srgbClr val="F3F5F8"/>
                    </a:solidFill>
                  </a:tcPr>
                </a:tc>
                <a:tc>
                  <a:txBody>
                    <a:bodyPr/>
                    <a:lstStyle/>
                    <a:p>
                      <a:r>
                        <a:rPr sz="1100" b="0">
                          <a:solidFill>
                            <a:srgbClr val="1F2328"/>
                          </a:solidFill>
                          <a:latin typeface="Microsoft JhengHei"/>
                          <a:ea typeface="Microsoft JhengHei"/>
                        </a:rPr>
                        <a:t>-5.7%</a:t>
                      </a:r>
                    </a:p>
                  </a:txBody>
                  <a:tcPr>
                    <a:solidFill>
                      <a:srgbClr val="F3F5F8"/>
                    </a:solidFill>
                  </a:tcPr>
                </a:tc>
                <a:tc>
                  <a:txBody>
                    <a:bodyPr/>
                    <a:lstStyle/>
                    <a:p>
                      <a:r>
                        <a:rPr sz="1100" b="0">
                          <a:solidFill>
                            <a:srgbClr val="1F2328"/>
                          </a:solidFill>
                          <a:latin typeface="Microsoft JhengHei"/>
                          <a:ea typeface="Microsoft JhengHei"/>
                        </a:rPr>
                        <a:t>0.13</a:t>
                      </a:r>
                    </a:p>
                  </a:txBody>
                  <a:tcPr>
                    <a:solidFill>
                      <a:srgbClr val="F3F5F8"/>
                    </a:solidFill>
                  </a:tcPr>
                </a:tc>
                <a:tc>
                  <a:txBody>
                    <a:bodyPr/>
                    <a:lstStyle/>
                    <a:p>
                      <a:r>
                        <a:rPr sz="1100" b="0">
                          <a:solidFill>
                            <a:srgbClr val="1F2328"/>
                          </a:solidFill>
                          <a:latin typeface="Microsoft JhengHei"/>
                          <a:ea typeface="Microsoft JhengHei"/>
                        </a:rPr>
                        <a:t>+0.66</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00940 元大台灣價值高息</a:t>
                      </a:r>
                    </a:p>
                  </a:txBody>
                  <a:tcPr>
                    <a:solidFill>
                      <a:srgbClr val="FFFFFF"/>
                    </a:solidFill>
                  </a:tcPr>
                </a:tc>
                <a:tc>
                  <a:txBody>
                    <a:bodyPr/>
                    <a:lstStyle/>
                    <a:p>
                      <a:r>
                        <a:rPr sz="1100" b="0">
                          <a:solidFill>
                            <a:srgbClr val="1F2328"/>
                          </a:solidFill>
                          <a:latin typeface="Microsoft JhengHei"/>
                          <a:ea typeface="Microsoft JhengHei"/>
                        </a:rPr>
                        <a:t>ETF</a:t>
                      </a:r>
                    </a:p>
                  </a:txBody>
                  <a:tcPr>
                    <a:solidFill>
                      <a:srgbClr val="FFFFFF"/>
                    </a:solidFill>
                  </a:tcPr>
                </a:tc>
                <a:tc>
                  <a:txBody>
                    <a:bodyPr/>
                    <a:lstStyle/>
                    <a:p>
                      <a:r>
                        <a:rPr sz="1100" b="0">
                          <a:solidFill>
                            <a:srgbClr val="1F2328"/>
                          </a:solidFill>
                          <a:latin typeface="Microsoft JhengHei"/>
                          <a:ea typeface="Microsoft JhengHei"/>
                        </a:rPr>
                        <a:t>69.8%</a:t>
                      </a:r>
                    </a:p>
                  </a:txBody>
                  <a:tcPr>
                    <a:solidFill>
                      <a:srgbClr val="FFFFFF"/>
                    </a:solidFill>
                  </a:tcPr>
                </a:tc>
                <a:tc>
                  <a:txBody>
                    <a:bodyPr/>
                    <a:lstStyle/>
                    <a:p>
                      <a:r>
                        <a:rPr sz="1100" b="0">
                          <a:solidFill>
                            <a:srgbClr val="1F2328"/>
                          </a:solidFill>
                          <a:latin typeface="Microsoft JhengHei"/>
                          <a:ea typeface="Microsoft JhengHei"/>
                        </a:rPr>
                        <a:t>-4.6%</a:t>
                      </a:r>
                    </a:p>
                  </a:txBody>
                  <a:tcPr>
                    <a:solidFill>
                      <a:srgbClr val="FFFFFF"/>
                    </a:solidFill>
                  </a:tcPr>
                </a:tc>
                <a:tc>
                  <a:txBody>
                    <a:bodyPr/>
                    <a:lstStyle/>
                    <a:p>
                      <a:r>
                        <a:rPr sz="1100" b="0">
                          <a:solidFill>
                            <a:srgbClr val="1F2328"/>
                          </a:solidFill>
                          <a:latin typeface="Microsoft JhengHei"/>
                          <a:ea typeface="Microsoft JhengHei"/>
                        </a:rPr>
                        <a:t>0.49</a:t>
                      </a:r>
                    </a:p>
                  </a:txBody>
                  <a:tcPr>
                    <a:solidFill>
                      <a:srgbClr val="FFFFFF"/>
                    </a:solidFill>
                  </a:tcPr>
                </a:tc>
                <a:tc>
                  <a:txBody>
                    <a:bodyPr/>
                    <a:lstStyle/>
                    <a:p>
                      <a:r>
                        <a:rPr sz="1100" b="0">
                          <a:solidFill>
                            <a:srgbClr val="1F2328"/>
                          </a:solidFill>
                          <a:latin typeface="Microsoft JhengHei"/>
                          <a:ea typeface="Microsoft JhengHei"/>
                        </a:rPr>
                        <a:t>+0.66</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r h="365760">
                <a:tc>
                  <a:txBody>
                    <a:bodyPr/>
                    <a:lstStyle/>
                    <a:p>
                      <a:r>
                        <a:rPr sz="1100" b="0">
                          <a:solidFill>
                            <a:srgbClr val="1F2328"/>
                          </a:solidFill>
                          <a:latin typeface="Microsoft JhengHei"/>
                          <a:ea typeface="Microsoft JhengHei"/>
                        </a:rPr>
                        <a:t>2376 技嘉</a:t>
                      </a:r>
                    </a:p>
                  </a:txBody>
                  <a:tcPr>
                    <a:solidFill>
                      <a:srgbClr val="F3F5F8"/>
                    </a:solidFill>
                  </a:tcPr>
                </a:tc>
                <a:tc>
                  <a:txBody>
                    <a:bodyPr/>
                    <a:lstStyle/>
                    <a:p>
                      <a:r>
                        <a:rPr sz="1100" b="0">
                          <a:solidFill>
                            <a:srgbClr val="1F2328"/>
                          </a:solidFill>
                          <a:latin typeface="Microsoft JhengHei"/>
                          <a:ea typeface="Microsoft JhengHei"/>
                        </a:rPr>
                        <a:t>電腦及週邊設備業</a:t>
                      </a:r>
                    </a:p>
                  </a:txBody>
                  <a:tcPr>
                    <a:solidFill>
                      <a:srgbClr val="F3F5F8"/>
                    </a:solidFill>
                  </a:tcPr>
                </a:tc>
                <a:tc>
                  <a:txBody>
                    <a:bodyPr/>
                    <a:lstStyle/>
                    <a:p>
                      <a:r>
                        <a:rPr sz="1100" b="0">
                          <a:solidFill>
                            <a:srgbClr val="1F2328"/>
                          </a:solidFill>
                          <a:latin typeface="Microsoft JhengHei"/>
                          <a:ea typeface="Microsoft JhengHei"/>
                        </a:rPr>
                        <a:t>57.0%</a:t>
                      </a:r>
                    </a:p>
                  </a:txBody>
                  <a:tcPr>
                    <a:solidFill>
                      <a:srgbClr val="F3F5F8"/>
                    </a:solidFill>
                  </a:tcPr>
                </a:tc>
                <a:tc>
                  <a:txBody>
                    <a:bodyPr/>
                    <a:lstStyle/>
                    <a:p>
                      <a:r>
                        <a:rPr sz="1100" b="0">
                          <a:solidFill>
                            <a:srgbClr val="1F2328"/>
                          </a:solidFill>
                          <a:latin typeface="Microsoft JhengHei"/>
                          <a:ea typeface="Microsoft JhengHei"/>
                        </a:rPr>
                        <a:t>-6.4%</a:t>
                      </a:r>
                    </a:p>
                  </a:txBody>
                  <a:tcPr>
                    <a:solidFill>
                      <a:srgbClr val="F3F5F8"/>
                    </a:solidFill>
                  </a:tcPr>
                </a:tc>
                <a:tc>
                  <a:txBody>
                    <a:bodyPr/>
                    <a:lstStyle/>
                    <a:p>
                      <a:r>
                        <a:rPr sz="1100" b="0">
                          <a:solidFill>
                            <a:srgbClr val="1F2328"/>
                          </a:solidFill>
                          <a:latin typeface="Microsoft JhengHei"/>
                          <a:ea typeface="Microsoft JhengHei"/>
                        </a:rPr>
                        <a:t>0.81</a:t>
                      </a:r>
                    </a:p>
                  </a:txBody>
                  <a:tcPr>
                    <a:solidFill>
                      <a:srgbClr val="F3F5F8"/>
                    </a:solidFill>
                  </a:tcPr>
                </a:tc>
                <a:tc>
                  <a:txBody>
                    <a:bodyPr/>
                    <a:lstStyle/>
                    <a:p>
                      <a:r>
                        <a:rPr sz="1100" b="0">
                          <a:solidFill>
                            <a:srgbClr val="1F2328"/>
                          </a:solidFill>
                          <a:latin typeface="Microsoft JhengHei"/>
                          <a:ea typeface="Microsoft JhengHei"/>
                        </a:rPr>
                        <a:t>+0.60</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4167 松瑞藥</a:t>
                      </a:r>
                    </a:p>
                  </a:txBody>
                  <a:tcPr>
                    <a:solidFill>
                      <a:srgbClr val="FFFFFF"/>
                    </a:solidFill>
                  </a:tcPr>
                </a:tc>
                <a:tc>
                  <a:txBody>
                    <a:bodyPr/>
                    <a:lstStyle/>
                    <a:p>
                      <a:r>
                        <a:rPr sz="1100" b="0">
                          <a:solidFill>
                            <a:srgbClr val="1F2328"/>
                          </a:solidFill>
                          <a:latin typeface="Microsoft JhengHei"/>
                          <a:ea typeface="Microsoft JhengHei"/>
                        </a:rPr>
                        <a:t>生技醫療業</a:t>
                      </a:r>
                    </a:p>
                  </a:txBody>
                  <a:tcPr>
                    <a:solidFill>
                      <a:srgbClr val="FFFFFF"/>
                    </a:solidFill>
                  </a:tcPr>
                </a:tc>
                <a:tc>
                  <a:txBody>
                    <a:bodyPr/>
                    <a:lstStyle/>
                    <a:p>
                      <a:r>
                        <a:rPr sz="1100" b="0">
                          <a:solidFill>
                            <a:srgbClr val="1F2328"/>
                          </a:solidFill>
                          <a:latin typeface="Microsoft JhengHei"/>
                          <a:ea typeface="Microsoft JhengHei"/>
                        </a:rPr>
                        <a:t>54.9%</a:t>
                      </a:r>
                    </a:p>
                  </a:txBody>
                  <a:tcPr>
                    <a:solidFill>
                      <a:srgbClr val="FFFFFF"/>
                    </a:solidFill>
                  </a:tcPr>
                </a:tc>
                <a:tc>
                  <a:txBody>
                    <a:bodyPr/>
                    <a:lstStyle/>
                    <a:p>
                      <a:r>
                        <a:rPr sz="1100" b="0">
                          <a:solidFill>
                            <a:srgbClr val="1F2328"/>
                          </a:solidFill>
                          <a:latin typeface="Microsoft JhengHei"/>
                          <a:ea typeface="Microsoft JhengHei"/>
                        </a:rPr>
                        <a:t>-8.6%</a:t>
                      </a:r>
                    </a:p>
                  </a:txBody>
                  <a:tcPr>
                    <a:solidFill>
                      <a:srgbClr val="FFFFFF"/>
                    </a:solidFill>
                  </a:tcPr>
                </a:tc>
                <a:tc>
                  <a:txBody>
                    <a:bodyPr/>
                    <a:lstStyle/>
                    <a:p>
                      <a:r>
                        <a:rPr sz="1100" b="0">
                          <a:solidFill>
                            <a:srgbClr val="1F2328"/>
                          </a:solidFill>
                          <a:latin typeface="Microsoft JhengHei"/>
                          <a:ea typeface="Microsoft JhengHei"/>
                        </a:rPr>
                        <a:t>-0.05</a:t>
                      </a:r>
                    </a:p>
                  </a:txBody>
                  <a:tcPr>
                    <a:solidFill>
                      <a:srgbClr val="FFFFFF"/>
                    </a:solidFill>
                  </a:tcPr>
                </a:tc>
                <a:tc>
                  <a:txBody>
                    <a:bodyPr/>
                    <a:lstStyle/>
                    <a:p>
                      <a:r>
                        <a:rPr sz="1100" b="0">
                          <a:solidFill>
                            <a:srgbClr val="1F2328"/>
                          </a:solidFill>
                          <a:latin typeface="Microsoft JhengHei"/>
                          <a:ea typeface="Microsoft JhengHei"/>
                        </a:rPr>
                        <a:t>+0.58</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r h="365760">
                <a:tc>
                  <a:txBody>
                    <a:bodyPr/>
                    <a:lstStyle/>
                    <a:p>
                      <a:r>
                        <a:rPr sz="1100" b="0">
                          <a:solidFill>
                            <a:srgbClr val="1F2328"/>
                          </a:solidFill>
                          <a:latin typeface="Microsoft JhengHei"/>
                          <a:ea typeface="Microsoft JhengHei"/>
                        </a:rPr>
                        <a:t>0055 元大MSCI金融</a:t>
                      </a:r>
                    </a:p>
                  </a:txBody>
                  <a:tcPr>
                    <a:solidFill>
                      <a:srgbClr val="F3F5F8"/>
                    </a:solidFill>
                  </a:tcPr>
                </a:tc>
                <a:tc>
                  <a:txBody>
                    <a:bodyPr/>
                    <a:lstStyle/>
                    <a:p>
                      <a:r>
                        <a:rPr sz="1100" b="0">
                          <a:solidFill>
                            <a:srgbClr val="1F2328"/>
                          </a:solidFill>
                          <a:latin typeface="Microsoft JhengHei"/>
                          <a:ea typeface="Microsoft JhengHei"/>
                        </a:rPr>
                        <a:t>ETF</a:t>
                      </a:r>
                    </a:p>
                  </a:txBody>
                  <a:tcPr>
                    <a:solidFill>
                      <a:srgbClr val="F3F5F8"/>
                    </a:solidFill>
                  </a:tcPr>
                </a:tc>
                <a:tc>
                  <a:txBody>
                    <a:bodyPr/>
                    <a:lstStyle/>
                    <a:p>
                      <a:r>
                        <a:rPr sz="1100" b="0">
                          <a:solidFill>
                            <a:srgbClr val="1F2328"/>
                          </a:solidFill>
                          <a:latin typeface="Microsoft JhengHei"/>
                          <a:ea typeface="Microsoft JhengHei"/>
                        </a:rPr>
                        <a:t>72.9%</a:t>
                      </a:r>
                    </a:p>
                  </a:txBody>
                  <a:tcPr>
                    <a:solidFill>
                      <a:srgbClr val="F3F5F8"/>
                    </a:solidFill>
                  </a:tcPr>
                </a:tc>
                <a:tc>
                  <a:txBody>
                    <a:bodyPr/>
                    <a:lstStyle/>
                    <a:p>
                      <a:r>
                        <a:rPr sz="1100" b="0">
                          <a:solidFill>
                            <a:srgbClr val="1F2328"/>
                          </a:solidFill>
                          <a:latin typeface="Microsoft JhengHei"/>
                          <a:ea typeface="Microsoft JhengHei"/>
                        </a:rPr>
                        <a:t>-7.1%</a:t>
                      </a:r>
                    </a:p>
                  </a:txBody>
                  <a:tcPr>
                    <a:solidFill>
                      <a:srgbClr val="F3F5F8"/>
                    </a:solidFill>
                  </a:tcPr>
                </a:tc>
                <a:tc>
                  <a:txBody>
                    <a:bodyPr/>
                    <a:lstStyle/>
                    <a:p>
                      <a:r>
                        <a:rPr sz="1100" b="0">
                          <a:solidFill>
                            <a:srgbClr val="1F2328"/>
                          </a:solidFill>
                          <a:latin typeface="Microsoft JhengHei"/>
                          <a:ea typeface="Microsoft JhengHei"/>
                        </a:rPr>
                        <a:t>0.27</a:t>
                      </a:r>
                    </a:p>
                  </a:txBody>
                  <a:tcPr>
                    <a:solidFill>
                      <a:srgbClr val="F3F5F8"/>
                    </a:solidFill>
                  </a:tcPr>
                </a:tc>
                <a:tc>
                  <a:txBody>
                    <a:bodyPr/>
                    <a:lstStyle/>
                    <a:p>
                      <a:r>
                        <a:rPr sz="1100" b="0">
                          <a:solidFill>
                            <a:srgbClr val="1F2328"/>
                          </a:solidFill>
                          <a:latin typeface="Microsoft JhengHei"/>
                          <a:ea typeface="Microsoft JhengHei"/>
                        </a:rPr>
                        <a:t>+0.58</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6913 鴻呈</a:t>
                      </a:r>
                    </a:p>
                  </a:txBody>
                  <a:tcPr>
                    <a:solidFill>
                      <a:srgbClr val="FFFFFF"/>
                    </a:solidFill>
                  </a:tcPr>
                </a:tc>
                <a:tc>
                  <a:txBody>
                    <a:bodyPr/>
                    <a:lstStyle/>
                    <a:p>
                      <a:r>
                        <a:rPr sz="1100" b="0">
                          <a:solidFill>
                            <a:srgbClr val="1F2328"/>
                          </a:solidFill>
                          <a:latin typeface="Microsoft JhengHei"/>
                          <a:ea typeface="Microsoft JhengHei"/>
                        </a:rPr>
                        <a:t>電子零組件業</a:t>
                      </a:r>
                    </a:p>
                  </a:txBody>
                  <a:tcPr>
                    <a:solidFill>
                      <a:srgbClr val="FFFFFF"/>
                    </a:solidFill>
                  </a:tcPr>
                </a:tc>
                <a:tc>
                  <a:txBody>
                    <a:bodyPr/>
                    <a:lstStyle/>
                    <a:p>
                      <a:r>
                        <a:rPr sz="1100" b="0">
                          <a:solidFill>
                            <a:srgbClr val="1F2328"/>
                          </a:solidFill>
                          <a:latin typeface="Microsoft JhengHei"/>
                          <a:ea typeface="Microsoft JhengHei"/>
                        </a:rPr>
                        <a:t>57.0%</a:t>
                      </a:r>
                    </a:p>
                  </a:txBody>
                  <a:tcPr>
                    <a:solidFill>
                      <a:srgbClr val="FFFFFF"/>
                    </a:solidFill>
                  </a:tcPr>
                </a:tc>
                <a:tc>
                  <a:txBody>
                    <a:bodyPr/>
                    <a:lstStyle/>
                    <a:p>
                      <a:r>
                        <a:rPr sz="1100" b="0">
                          <a:solidFill>
                            <a:srgbClr val="1F2328"/>
                          </a:solidFill>
                          <a:latin typeface="Microsoft JhengHei"/>
                          <a:ea typeface="Microsoft JhengHei"/>
                        </a:rPr>
                        <a:t>-7.5%</a:t>
                      </a:r>
                    </a:p>
                  </a:txBody>
                  <a:tcPr>
                    <a:solidFill>
                      <a:srgbClr val="FFFFFF"/>
                    </a:solidFill>
                  </a:tcPr>
                </a:tc>
                <a:tc>
                  <a:txBody>
                    <a:bodyPr/>
                    <a:lstStyle/>
                    <a:p>
                      <a:r>
                        <a:rPr sz="1100" b="0">
                          <a:solidFill>
                            <a:srgbClr val="1F2328"/>
                          </a:solidFill>
                          <a:latin typeface="Microsoft JhengHei"/>
                          <a:ea typeface="Microsoft JhengHei"/>
                        </a:rPr>
                        <a:t>0.48</a:t>
                      </a:r>
                    </a:p>
                  </a:txBody>
                  <a:tcPr>
                    <a:solidFill>
                      <a:srgbClr val="FFFFFF"/>
                    </a:solidFill>
                  </a:tcPr>
                </a:tc>
                <a:tc>
                  <a:txBody>
                    <a:bodyPr/>
                    <a:lstStyle/>
                    <a:p>
                      <a:r>
                        <a:rPr sz="1100" b="0">
                          <a:solidFill>
                            <a:srgbClr val="1F2328"/>
                          </a:solidFill>
                          <a:latin typeface="Microsoft JhengHei"/>
                          <a:ea typeface="Microsoft JhengHei"/>
                        </a:rPr>
                        <a:t>+0.58</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期貨與選擇權：做多 微型臺指期貨 7 口</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8</a:t>
            </a:r>
          </a:p>
        </p:txBody>
      </p:sp>
      <p:graphicFrame>
        <p:nvGraphicFramePr>
          <p:cNvPr id="5" name="Table 4"/>
          <p:cNvGraphicFramePr>
            <a:graphicFrameLocks noGrp="1"/>
          </p:cNvGraphicFramePr>
          <p:nvPr/>
        </p:nvGraphicFramePr>
        <p:xfrm>
          <a:off x="457200" y="1188720"/>
          <a:ext cx="11247117" cy="731520"/>
        </p:xfrm>
        <a:graphic>
          <a:graphicData uri="http://schemas.openxmlformats.org/drawingml/2006/table">
            <a:tbl>
              <a:tblPr firstRow="1" bandRow="1">
                <a:tableStyleId>{5C22544A-7EE6-4342-B048-85BDC9FD1C3A}</a:tableStyleId>
              </a:tblPr>
              <a:tblGrid>
                <a:gridCol w="1640204"/>
                <a:gridCol w="2577465"/>
                <a:gridCol w="937260"/>
                <a:gridCol w="1405890"/>
                <a:gridCol w="1405890"/>
                <a:gridCol w="1640204"/>
                <a:gridCol w="1640204"/>
              </a:tblGrid>
              <a:tr h="365760">
                <a:tc>
                  <a:txBody>
                    <a:bodyPr/>
                    <a:lstStyle/>
                    <a:p>
                      <a:r>
                        <a:rPr sz="1200" b="1">
                          <a:solidFill>
                            <a:srgbClr val="FFFFFF"/>
                          </a:solidFill>
                          <a:latin typeface="Microsoft JhengHei"/>
                          <a:ea typeface="Microsoft JhengHei"/>
                        </a:rPr>
                        <a:t>動作</a:t>
                      </a:r>
                    </a:p>
                  </a:txBody>
                  <a:tcPr>
                    <a:solidFill>
                      <a:srgbClr val="1F3A5F"/>
                    </a:solidFill>
                  </a:tcPr>
                </a:tc>
                <a:tc>
                  <a:txBody>
                    <a:bodyPr/>
                    <a:lstStyle/>
                    <a:p>
                      <a:r>
                        <a:rPr sz="1200" b="1">
                          <a:solidFill>
                            <a:srgbClr val="FFFFFF"/>
                          </a:solidFill>
                          <a:latin typeface="Microsoft JhengHei"/>
                          <a:ea typeface="Microsoft JhengHei"/>
                        </a:rPr>
                        <a:t>合約</a:t>
                      </a:r>
                    </a:p>
                  </a:txBody>
                  <a:tcPr>
                    <a:solidFill>
                      <a:srgbClr val="1F3A5F"/>
                    </a:solidFill>
                  </a:tcPr>
                </a:tc>
                <a:tc>
                  <a:txBody>
                    <a:bodyPr/>
                    <a:lstStyle/>
                    <a:p>
                      <a:r>
                        <a:rPr sz="1200" b="1">
                          <a:solidFill>
                            <a:srgbClr val="FFFFFF"/>
                          </a:solidFill>
                          <a:latin typeface="Microsoft JhengHei"/>
                          <a:ea typeface="Microsoft JhengHei"/>
                        </a:rPr>
                        <a:t>口數</a:t>
                      </a:r>
                    </a:p>
                  </a:txBody>
                  <a:tcPr>
                    <a:solidFill>
                      <a:srgbClr val="1F3A5F"/>
                    </a:solidFill>
                  </a:tcPr>
                </a:tc>
                <a:tc>
                  <a:txBody>
                    <a:bodyPr/>
                    <a:lstStyle/>
                    <a:p>
                      <a:r>
                        <a:rPr sz="1200" b="1">
                          <a:solidFill>
                            <a:srgbClr val="FFFFFF"/>
                          </a:solidFill>
                          <a:latin typeface="Microsoft JhengHei"/>
                          <a:ea typeface="Microsoft JhengHei"/>
                        </a:rPr>
                        <a:t>限價</a:t>
                      </a:r>
                    </a:p>
                  </a:txBody>
                  <a:tcPr>
                    <a:solidFill>
                      <a:srgbClr val="1F3A5F"/>
                    </a:solidFill>
                  </a:tcPr>
                </a:tc>
                <a:tc>
                  <a:txBody>
                    <a:bodyPr/>
                    <a:lstStyle/>
                    <a:p>
                      <a:r>
                        <a:rPr sz="1200" b="1">
                          <a:solidFill>
                            <a:srgbClr val="FFFFFF"/>
                          </a:solidFill>
                          <a:latin typeface="Microsoft JhengHei"/>
                          <a:ea typeface="Microsoft JhengHei"/>
                        </a:rPr>
                        <a:t>停損</a:t>
                      </a:r>
                    </a:p>
                  </a:txBody>
                  <a:tcPr>
                    <a:solidFill>
                      <a:srgbClr val="1F3A5F"/>
                    </a:solidFill>
                  </a:tcPr>
                </a:tc>
                <a:tc>
                  <a:txBody>
                    <a:bodyPr/>
                    <a:lstStyle/>
                    <a:p>
                      <a:r>
                        <a:rPr sz="1200" b="1">
                          <a:solidFill>
                            <a:srgbClr val="FFFFFF"/>
                          </a:solidFill>
                          <a:latin typeface="Microsoft JhengHei"/>
                          <a:ea typeface="Microsoft JhengHei"/>
                        </a:rPr>
                        <a:t>保證金</a:t>
                      </a:r>
                    </a:p>
                  </a:txBody>
                  <a:tcPr>
                    <a:solidFill>
                      <a:srgbClr val="1F3A5F"/>
                    </a:solidFill>
                  </a:tcPr>
                </a:tc>
                <a:tc>
                  <a:txBody>
                    <a:bodyPr/>
                    <a:lstStyle/>
                    <a:p>
                      <a:r>
                        <a:rPr sz="1200" b="1">
                          <a:solidFill>
                            <a:srgbClr val="FFFFFF"/>
                          </a:solidFill>
                          <a:latin typeface="Microsoft JhengHei"/>
                          <a:ea typeface="Microsoft JhengHei"/>
                        </a:rPr>
                        <a:t>最大損失</a:t>
                      </a:r>
                    </a:p>
                  </a:txBody>
                  <a:tcPr>
                    <a:solidFill>
                      <a:srgbClr val="1F3A5F"/>
                    </a:solidFill>
                  </a:tcPr>
                </a:tc>
              </a:tr>
              <a:tr h="365760">
                <a:tc>
                  <a:txBody>
                    <a:bodyPr/>
                    <a:lstStyle/>
                    <a:p>
                      <a:r>
                        <a:rPr sz="1200" b="0">
                          <a:solidFill>
                            <a:srgbClr val="1F2328"/>
                          </a:solidFill>
                          <a:latin typeface="Microsoft JhengHei"/>
                          <a:ea typeface="Microsoft JhengHei"/>
                        </a:rPr>
                        <a:t>做多</a:t>
                      </a:r>
                    </a:p>
                  </a:txBody>
                  <a:tcPr>
                    <a:solidFill>
                      <a:srgbClr val="F3F5F8"/>
                    </a:solidFill>
                  </a:tcPr>
                </a:tc>
                <a:tc>
                  <a:txBody>
                    <a:bodyPr/>
                    <a:lstStyle/>
                    <a:p>
                      <a:r>
                        <a:rPr sz="1200" b="0">
                          <a:solidFill>
                            <a:srgbClr val="1F2328"/>
                          </a:solidFill>
                          <a:latin typeface="Microsoft JhengHei"/>
                          <a:ea typeface="Microsoft JhengHei"/>
                        </a:rPr>
                        <a:t>TMF202611</a:t>
                      </a:r>
                    </a:p>
                  </a:txBody>
                  <a:tcPr>
                    <a:solidFill>
                      <a:srgbClr val="F3F5F8"/>
                    </a:solidFill>
                  </a:tcPr>
                </a:tc>
                <a:tc>
                  <a:txBody>
                    <a:bodyPr/>
                    <a:lstStyle/>
                    <a:p>
                      <a:r>
                        <a:rPr sz="1200" b="0">
                          <a:solidFill>
                            <a:srgbClr val="1F2328"/>
                          </a:solidFill>
                          <a:latin typeface="Microsoft JhengHei"/>
                          <a:ea typeface="Microsoft JhengHei"/>
                        </a:rPr>
                        <a:t>7</a:t>
                      </a:r>
                    </a:p>
                  </a:txBody>
                  <a:tcPr>
                    <a:solidFill>
                      <a:srgbClr val="F3F5F8"/>
                    </a:solidFill>
                  </a:tcPr>
                </a:tc>
                <a:tc>
                  <a:txBody>
                    <a:bodyPr/>
                    <a:lstStyle/>
                    <a:p>
                      <a:r>
                        <a:rPr sz="1200" b="0">
                          <a:solidFill>
                            <a:srgbClr val="1F2328"/>
                          </a:solidFill>
                          <a:latin typeface="Microsoft JhengHei"/>
                          <a:ea typeface="Microsoft JhengHei"/>
                        </a:rPr>
                        <a:t>47,249</a:t>
                      </a:r>
                    </a:p>
                  </a:txBody>
                  <a:tcPr>
                    <a:solidFill>
                      <a:srgbClr val="F3F5F8"/>
                    </a:solidFill>
                  </a:tcPr>
                </a:tc>
                <a:tc>
                  <a:txBody>
                    <a:bodyPr/>
                    <a:lstStyle/>
                    <a:p>
                      <a:r>
                        <a:rPr sz="1200" b="0">
                          <a:solidFill>
                            <a:srgbClr val="1F2328"/>
                          </a:solidFill>
                          <a:latin typeface="Microsoft JhengHei"/>
                          <a:ea typeface="Microsoft JhengHei"/>
                        </a:rPr>
                        <a:t>45,484</a:t>
                      </a:r>
                    </a:p>
                  </a:txBody>
                  <a:tcPr>
                    <a:solidFill>
                      <a:srgbClr val="F3F5F8"/>
                    </a:solidFill>
                  </a:tcPr>
                </a:tc>
                <a:tc>
                  <a:txBody>
                    <a:bodyPr/>
                    <a:lstStyle/>
                    <a:p>
                      <a:r>
                        <a:rPr sz="1200" b="0">
                          <a:solidFill>
                            <a:srgbClr val="1F2328"/>
                          </a:solidFill>
                          <a:latin typeface="Microsoft JhengHei"/>
                          <a:ea typeface="Microsoft JhengHei"/>
                        </a:rPr>
                        <a:t>245,350</a:t>
                      </a:r>
                    </a:p>
                  </a:txBody>
                  <a:tcPr>
                    <a:solidFill>
                      <a:srgbClr val="F3F5F8"/>
                    </a:solidFill>
                  </a:tcPr>
                </a:tc>
                <a:tc>
                  <a:txBody>
                    <a:bodyPr/>
                    <a:lstStyle/>
                    <a:p>
                      <a:r>
                        <a:rPr sz="1200" b="0">
                          <a:solidFill>
                            <a:srgbClr val="1F2328"/>
                          </a:solidFill>
                          <a:latin typeface="Microsoft JhengHei"/>
                          <a:ea typeface="Microsoft JhengHei"/>
                        </a:rPr>
                        <a:t>123,550</a:t>
                      </a:r>
                    </a:p>
                  </a:txBody>
                  <a:tcPr>
                    <a:solidFill>
                      <a:srgbClr val="F3F5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期貨與選擇權判斷：做多 微型臺指期貨 7 口</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9</a:t>
            </a:r>
          </a:p>
        </p:txBody>
      </p:sp>
      <p:sp>
        <p:nvSpPr>
          <p:cNvPr id="5" name="Rectangle 4"/>
          <p:cNvSpPr/>
          <p:nvPr/>
        </p:nvSpPr>
        <p:spPr>
          <a:xfrm>
            <a:off x="457200" y="1097280"/>
            <a:ext cx="11247120" cy="51206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10972800" cy="4937760"/>
          </a:xfrm>
          <a:prstGeom prst="rect">
            <a:avLst/>
          </a:prstGeom>
          <a:noFill/>
        </p:spPr>
        <p:txBody>
          <a:bodyPr wrap="square">
            <a:spAutoFit/>
          </a:bodyPr>
          <a:lstStyle/>
          <a:p>
            <a:r>
              <a:rPr sz="1500" b="1">
                <a:solidFill>
                  <a:srgbClr val="1F3A5F"/>
                </a:solidFill>
                <a:latin typeface="Microsoft JhengHei"/>
                <a:ea typeface="Microsoft JhengHei"/>
              </a:rPr>
              <a:t>依據（模型估計，不是保證）</a:t>
            </a:r>
          </a:p>
          <a:p>
            <a:pPr>
              <a:spcAft>
                <a:spcPts val="400"/>
              </a:spcAft>
            </a:pPr>
            <a:r>
              <a:rPr sz="1300" b="0">
                <a:solidFill>
                  <a:srgbClr val="1F2328"/>
                </a:solidFill>
                <a:latin typeface="Microsoft JhengHei"/>
                <a:ea typeface="Microsoft JhengHei"/>
              </a:rPr>
              <a:t>• 做多理由：方向模型：未來 5 個交易日上漲機率 62.4%（模型估計，不是保證）</a:t>
            </a:r>
          </a:p>
          <a:p>
            <a:pPr>
              <a:spcAft>
                <a:spcPts val="400"/>
              </a:spcAft>
            </a:pPr>
            <a:r>
              <a:rPr sz="1300" b="0">
                <a:solidFill>
                  <a:srgbClr val="1F2328"/>
                </a:solidFill>
                <a:latin typeface="Microsoft JhengHei"/>
                <a:ea typeface="Microsoft JhengHei"/>
              </a:rPr>
              <a:t>• 做多：樣本外 67 次，命中率 64.2%（基準 62.7%），平均每次 +0.88%（已扣成本）</a:t>
            </a:r>
          </a:p>
          <a:p>
            <a:pPr>
              <a:spcAft>
                <a:spcPts val="400"/>
              </a:spcAft>
            </a:pPr>
            <a:r>
              <a:rPr sz="1300" b="0">
                <a:solidFill>
                  <a:srgbClr val="1F2328"/>
                </a:solidFill>
                <a:latin typeface="Microsoft JhengHei"/>
                <a:ea typeface="Microsoft JhengHei"/>
              </a:rPr>
              <a:t>• 主要依據：費半前一晚看多、月線在季線上看多、加權 20 日報酬看空</a:t>
            </a:r>
          </a:p>
          <a:p>
            <a:pPr>
              <a:spcAft>
                <a:spcPts val="400"/>
              </a:spcAft>
            </a:pPr>
            <a:r>
              <a:rPr sz="1300" b="0">
                <a:solidFill>
                  <a:srgbClr val="1F2328"/>
                </a:solidFill>
                <a:latin typeface="Microsoft JhengHei"/>
                <a:ea typeface="Microsoft JhengHei"/>
              </a:rPr>
              <a:t>• 目前累積報酬 -12.11%、距高點回撤 -13.83%、剩 22 個交易日</a:t>
            </a:r>
          </a:p>
          <a:p>
            <a:pPr>
              <a:spcAft>
                <a:spcPts val="400"/>
              </a:spcAft>
            </a:pPr>
            <a:r>
              <a:rPr sz="1300" b="0">
                <a:solidFill>
                  <a:srgbClr val="1F2328"/>
                </a:solidFill>
                <a:latin typeface="Microsoft JhengHei"/>
                <a:ea typeface="Microsoft JhengHei"/>
              </a:rPr>
              <a:t>• 報酬為負或回撤 ≥ 4%：提高機率門檻、放寬每筆風險</a:t>
            </a:r>
          </a:p>
          <a:p>
            <a:pPr>
              <a:spcAft>
                <a:spcPts val="400"/>
              </a:spcAft>
            </a:pPr>
            <a:r>
              <a:rPr sz="1300" b="0">
                <a:solidFill>
                  <a:srgbClr val="1F2328"/>
                </a:solidFill>
                <a:latin typeface="Microsoft JhengHei"/>
                <a:ea typeface="Microsoft JhengHei"/>
              </a:rPr>
              <a:t>• 方向模型：未來 5 個交易日上漲機率 62.4%（模型估計，不是保證）</a:t>
            </a:r>
          </a:p>
          <a:p>
            <a:pPr>
              <a:spcAft>
                <a:spcPts val="400"/>
              </a:spcAft>
            </a:pPr>
            <a:r>
              <a:rPr sz="1300" b="0">
                <a:solidFill>
                  <a:srgbClr val="1F2328"/>
                </a:solidFill>
                <a:latin typeface="Microsoft JhengHei"/>
                <a:ea typeface="Microsoft JhengHei"/>
              </a:rPr>
              <a:t>• 做多：樣本外 67 次，命中率 64.2%（基準 62.7%），平均每次 +0.88%（已扣成本）</a:t>
            </a:r>
          </a:p>
          <a:p>
            <a:pPr>
              <a:spcAft>
                <a:spcPts val="400"/>
              </a:spcAft>
            </a:pPr>
            <a:r>
              <a:rPr sz="1300" b="0">
                <a:solidFill>
                  <a:srgbClr val="1F2328"/>
                </a:solidFill>
                <a:latin typeface="Microsoft JhengHei"/>
                <a:ea typeface="Microsoft JhengHei"/>
              </a:rPr>
              <a:t>• 放空：樣本外交易僅 2 次，少於 20 次，證據不足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為何今日會漲／會跌（2026-10-28）</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10</a:t>
            </a:r>
          </a:p>
        </p:txBody>
      </p:sp>
      <p:pic>
        <p:nvPicPr>
          <p:cNvPr id="5" name="Picture 4" descr="2026-10-29_盤前報告_att.png"/>
          <p:cNvPicPr>
            <a:picLocks noChangeAspect="1"/>
          </p:cNvPicPr>
          <p:nvPr/>
        </p:nvPicPr>
        <p:blipFill>
          <a:blip r:embed="rId2"/>
          <a:stretch>
            <a:fillRect/>
          </a:stretch>
        </p:blipFill>
        <p:spPr>
          <a:xfrm>
            <a:off x="365760" y="1097280"/>
            <a:ext cx="3563815" cy="5212080"/>
          </a:xfrm>
          <a:prstGeom prst="rect">
            <a:avLst/>
          </a:prstGeom>
        </p:spPr>
      </p:pic>
      <p:sp>
        <p:nvSpPr>
          <p:cNvPr id="6" name="Rectangle 5"/>
          <p:cNvSpPr/>
          <p:nvPr/>
        </p:nvSpPr>
        <p:spPr>
          <a:xfrm>
            <a:off x="8138160" y="1188720"/>
            <a:ext cx="3657600" cy="50292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1280160"/>
            <a:ext cx="3383280" cy="4846320"/>
          </a:xfrm>
          <a:prstGeom prst="rect">
            <a:avLst/>
          </a:prstGeom>
          <a:noFill/>
        </p:spPr>
        <p:txBody>
          <a:bodyPr wrap="square">
            <a:spAutoFit/>
          </a:bodyPr>
          <a:lstStyle/>
          <a:p>
            <a:pPr>
              <a:spcAft>
                <a:spcPts val="400"/>
              </a:spcAft>
            </a:pPr>
            <a:r>
              <a:rPr sz="1250" b="0">
                <a:solidFill>
                  <a:srgbClr val="1F2328"/>
                </a:solidFill>
                <a:latin typeface="Microsoft JhengHei"/>
                <a:ea typeface="Microsoft JhengHei"/>
              </a:rPr>
              <a:t>• 5880 合庫金：今日下跌 -1.22%（-8,400 元），主因為「產業因素」（-2.51%）</a:t>
            </a:r>
          </a:p>
          <a:p>
            <a:pPr>
              <a:spcAft>
                <a:spcPts val="400"/>
              </a:spcAft>
            </a:pPr>
            <a:r>
              <a:rPr sz="1250" b="0">
                <a:solidFill>
                  <a:srgbClr val="1F2328"/>
                </a:solidFill>
                <a:latin typeface="Microsoft JhengHei"/>
                <a:ea typeface="Microsoft JhengHei"/>
              </a:rPr>
              <a:t>• 2889 國票金：今日上漲 +0.29%（+2,021 元），主因為「個股特有因素」（+2.85%）</a:t>
            </a:r>
          </a:p>
          <a:p>
            <a:pPr>
              <a:spcAft>
                <a:spcPts val="400"/>
              </a:spcAft>
            </a:pPr>
            <a:r>
              <a:rPr sz="1250" b="0">
                <a:solidFill>
                  <a:srgbClr val="1F2328"/>
                </a:solidFill>
                <a:latin typeface="Microsoft JhengHei"/>
                <a:ea typeface="Microsoft JhengHei"/>
              </a:rPr>
              <a:t>• 2845 遠東銀：今日下跌 -1.87%（-9,018 元），主因為「產業因素」（-2.51%）</a:t>
            </a:r>
          </a:p>
          <a:p>
            <a:pPr>
              <a:spcAft>
                <a:spcPts val="400"/>
              </a:spcAft>
            </a:pPr>
            <a:r>
              <a:rPr sz="1250" b="0">
                <a:solidFill>
                  <a:srgbClr val="1F2328"/>
                </a:solidFill>
                <a:latin typeface="Microsoft JhengHei"/>
                <a:ea typeface="Microsoft JhengHei"/>
              </a:rPr>
              <a:t>• 2915 潤泰全：今日下跌 -1.04%（-4,304 元），主因為「個股特有因素」（-1.44%）</a:t>
            </a:r>
          </a:p>
          <a:p>
            <a:pPr>
              <a:spcAft>
                <a:spcPts val="400"/>
              </a:spcAft>
            </a:pPr>
            <a:r>
              <a:rPr sz="1250" b="0">
                <a:solidFill>
                  <a:srgbClr val="1F2328"/>
                </a:solidFill>
                <a:latin typeface="Microsoft JhengHei"/>
                <a:ea typeface="Microsoft JhengHei"/>
              </a:rPr>
              <a:t>• 3189 景碩：今日上漲 +9.99%（+154,066 元），主因為「個股特有因素」（+4.43%）</a:t>
            </a:r>
          </a:p>
          <a:p>
            <a:pPr>
              <a:spcAft>
                <a:spcPts val="400"/>
              </a:spcAft>
            </a:pPr>
            <a:r>
              <a:rPr sz="1250" b="0">
                <a:solidFill>
                  <a:srgbClr val="1F2328"/>
                </a:solidFill>
                <a:latin typeface="Microsoft JhengHei"/>
                <a:ea typeface="Microsoft JhengHei"/>
              </a:rPr>
              <a:t>• 3591 艾笛森：今日上漲 +3.35%（+18,475 元），主因為「產業因素」（+2.19%）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漲跌歸因明細</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11</a:t>
            </a:r>
          </a:p>
        </p:txBody>
      </p:sp>
      <p:graphicFrame>
        <p:nvGraphicFramePr>
          <p:cNvPr id="5" name="Table 4"/>
          <p:cNvGraphicFramePr>
            <a:graphicFrameLocks noGrp="1"/>
          </p:cNvGraphicFramePr>
          <p:nvPr/>
        </p:nvGraphicFramePr>
        <p:xfrm>
          <a:off x="457200" y="1188720"/>
          <a:ext cx="11247118" cy="5486400"/>
        </p:xfrm>
        <a:graphic>
          <a:graphicData uri="http://schemas.openxmlformats.org/drawingml/2006/table">
            <a:tbl>
              <a:tblPr firstRow="1" bandRow="1">
                <a:tableStyleId>{5C22544A-7EE6-4342-B048-85BDC9FD1C3A}</a:tableStyleId>
              </a:tblPr>
              <a:tblGrid>
                <a:gridCol w="2871605"/>
                <a:gridCol w="1196502"/>
                <a:gridCol w="1675102"/>
                <a:gridCol w="1196502"/>
                <a:gridCol w="1196502"/>
                <a:gridCol w="1196502"/>
                <a:gridCol w="1914403"/>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漲跌</a:t>
                      </a:r>
                    </a:p>
                  </a:txBody>
                  <a:tcPr>
                    <a:solidFill>
                      <a:srgbClr val="1F3A5F"/>
                    </a:solidFill>
                  </a:tcPr>
                </a:tc>
                <a:tc>
                  <a:txBody>
                    <a:bodyPr/>
                    <a:lstStyle/>
                    <a:p>
                      <a:r>
                        <a:rPr sz="1100" b="1">
                          <a:solidFill>
                            <a:srgbClr val="FFFFFF"/>
                          </a:solidFill>
                          <a:latin typeface="Microsoft JhengHei"/>
                          <a:ea typeface="Microsoft JhengHei"/>
                        </a:rPr>
                        <a:t>損益(元)</a:t>
                      </a:r>
                    </a:p>
                  </a:txBody>
                  <a:tcPr>
                    <a:solidFill>
                      <a:srgbClr val="1F3A5F"/>
                    </a:solidFill>
                  </a:tcPr>
                </a:tc>
                <a:tc>
                  <a:txBody>
                    <a:bodyPr/>
                    <a:lstStyle/>
                    <a:p>
                      <a:r>
                        <a:rPr sz="1100" b="1">
                          <a:solidFill>
                            <a:srgbClr val="FFFFFF"/>
                          </a:solidFill>
                          <a:latin typeface="Microsoft JhengHei"/>
                          <a:ea typeface="Microsoft JhengHei"/>
                        </a:rPr>
                        <a:t>大盤</a:t>
                      </a:r>
                    </a:p>
                  </a:txBody>
                  <a:tcPr>
                    <a:solidFill>
                      <a:srgbClr val="1F3A5F"/>
                    </a:solidFill>
                  </a:tcPr>
                </a:tc>
                <a:tc>
                  <a:txBody>
                    <a:bodyPr/>
                    <a:lstStyle/>
                    <a:p>
                      <a:r>
                        <a:rPr sz="1100" b="1">
                          <a:solidFill>
                            <a:srgbClr val="FFFFFF"/>
                          </a:solidFill>
                          <a:latin typeface="Microsoft JhengHei"/>
                          <a:ea typeface="Microsoft JhengHei"/>
                        </a:rPr>
                        <a:t>產業</a:t>
                      </a:r>
                    </a:p>
                  </a:txBody>
                  <a:tcPr>
                    <a:solidFill>
                      <a:srgbClr val="1F3A5F"/>
                    </a:solidFill>
                  </a:tcPr>
                </a:tc>
                <a:tc>
                  <a:txBody>
                    <a:bodyPr/>
                    <a:lstStyle/>
                    <a:p>
                      <a:r>
                        <a:rPr sz="1100" b="1">
                          <a:solidFill>
                            <a:srgbClr val="FFFFFF"/>
                          </a:solidFill>
                          <a:latin typeface="Microsoft JhengHei"/>
                          <a:ea typeface="Microsoft JhengHei"/>
                        </a:rPr>
                        <a:t>個股</a:t>
                      </a:r>
                    </a:p>
                  </a:txBody>
                  <a:tcPr>
                    <a:solidFill>
                      <a:srgbClr val="1F3A5F"/>
                    </a:solidFill>
                  </a:tcPr>
                </a:tc>
                <a:tc>
                  <a:txBody>
                    <a:bodyPr/>
                    <a:lstStyle/>
                    <a:p>
                      <a:r>
                        <a:rPr sz="1100" b="1">
                          <a:solidFill>
                            <a:srgbClr val="FFFFFF"/>
                          </a:solidFill>
                          <a:latin typeface="Microsoft JhengHei"/>
                          <a:ea typeface="Microsoft JhengHei"/>
                        </a:rPr>
                        <a:t>主因</a:t>
                      </a:r>
                    </a:p>
                  </a:txBody>
                  <a:tcPr>
                    <a:solidFill>
                      <a:srgbClr val="1F3A5F"/>
                    </a:solidFill>
                  </a:tcPr>
                </a:tc>
              </a:tr>
              <a:tr h="365760">
                <a:tc>
                  <a:txBody>
                    <a:bodyPr/>
                    <a:lstStyle/>
                    <a:p>
                      <a:r>
                        <a:rPr sz="1100" b="0">
                          <a:solidFill>
                            <a:srgbClr val="1F2328"/>
                          </a:solidFill>
                          <a:latin typeface="Microsoft JhengHei"/>
                          <a:ea typeface="Microsoft JhengHei"/>
                        </a:rPr>
                        <a:t>5880 合庫金</a:t>
                      </a:r>
                    </a:p>
                  </a:txBody>
                  <a:tcPr>
                    <a:solidFill>
                      <a:srgbClr val="F3F5F8"/>
                    </a:solidFill>
                  </a:tcPr>
                </a:tc>
                <a:tc>
                  <a:txBody>
                    <a:bodyPr/>
                    <a:lstStyle/>
                    <a:p>
                      <a:r>
                        <a:rPr sz="1100" b="0">
                          <a:solidFill>
                            <a:srgbClr val="2E8B57"/>
                          </a:solidFill>
                          <a:latin typeface="Microsoft JhengHei"/>
                          <a:ea typeface="Microsoft JhengHei"/>
                        </a:rPr>
                        <a:t>-1.22%</a:t>
                      </a:r>
                    </a:p>
                  </a:txBody>
                  <a:tcPr>
                    <a:solidFill>
                      <a:srgbClr val="F3F5F8"/>
                    </a:solidFill>
                  </a:tcPr>
                </a:tc>
                <a:tc>
                  <a:txBody>
                    <a:bodyPr/>
                    <a:lstStyle/>
                    <a:p>
                      <a:r>
                        <a:rPr sz="1100" b="0">
                          <a:solidFill>
                            <a:srgbClr val="1F2328"/>
                          </a:solidFill>
                          <a:latin typeface="Microsoft JhengHei"/>
                          <a:ea typeface="Microsoft JhengHei"/>
                        </a:rPr>
                        <a:t>-8,400</a:t>
                      </a:r>
                    </a:p>
                  </a:txBody>
                  <a:tcPr>
                    <a:solidFill>
                      <a:srgbClr val="F3F5F8"/>
                    </a:solidFill>
                  </a:tcPr>
                </a:tc>
                <a:tc>
                  <a:txBody>
                    <a:bodyPr/>
                    <a:lstStyle/>
                    <a:p>
                      <a:r>
                        <a:rPr sz="1100" b="0">
                          <a:solidFill>
                            <a:srgbClr val="1F2328"/>
                          </a:solidFill>
                          <a:latin typeface="Microsoft JhengHei"/>
                          <a:ea typeface="Microsoft JhengHei"/>
                        </a:rPr>
                        <a:t>+0.15%</a:t>
                      </a:r>
                    </a:p>
                  </a:txBody>
                  <a:tcPr>
                    <a:solidFill>
                      <a:srgbClr val="F3F5F8"/>
                    </a:solidFill>
                  </a:tcPr>
                </a:tc>
                <a:tc>
                  <a:txBody>
                    <a:bodyPr/>
                    <a:lstStyle/>
                    <a:p>
                      <a:r>
                        <a:rPr sz="1100" b="0">
                          <a:solidFill>
                            <a:srgbClr val="1F2328"/>
                          </a:solidFill>
                          <a:latin typeface="Microsoft JhengHei"/>
                          <a:ea typeface="Microsoft JhengHei"/>
                        </a:rPr>
                        <a:t>-2.51%</a:t>
                      </a:r>
                    </a:p>
                  </a:txBody>
                  <a:tcPr>
                    <a:solidFill>
                      <a:srgbClr val="F3F5F8"/>
                    </a:solidFill>
                  </a:tcPr>
                </a:tc>
                <a:tc>
                  <a:txBody>
                    <a:bodyPr/>
                    <a:lstStyle/>
                    <a:p>
                      <a:r>
                        <a:rPr sz="1100" b="0">
                          <a:solidFill>
                            <a:srgbClr val="1F2328"/>
                          </a:solidFill>
                          <a:latin typeface="Microsoft JhengHei"/>
                          <a:ea typeface="Microsoft JhengHei"/>
                        </a:rPr>
                        <a:t>+1.14%</a:t>
                      </a:r>
                    </a:p>
                  </a:txBody>
                  <a:tcPr>
                    <a:solidFill>
                      <a:srgbClr val="F3F5F8"/>
                    </a:solidFill>
                  </a:tcPr>
                </a:tc>
                <a:tc>
                  <a:txBody>
                    <a:bodyPr/>
                    <a:lstStyle/>
                    <a:p>
                      <a:r>
                        <a:rPr sz="1100" b="0">
                          <a:solidFill>
                            <a:srgbClr val="1F2328"/>
                          </a:solidFill>
                          <a:latin typeface="Microsoft JhengHei"/>
                          <a:ea typeface="Microsoft JhengHei"/>
                        </a:rPr>
                        <a:t>產業因素</a:t>
                      </a:r>
                    </a:p>
                  </a:txBody>
                  <a:tcPr>
                    <a:solidFill>
                      <a:srgbClr val="F3F5F8"/>
                    </a:solidFill>
                  </a:tcPr>
                </a:tc>
              </a:tr>
              <a:tr h="365760">
                <a:tc>
                  <a:txBody>
                    <a:bodyPr/>
                    <a:lstStyle/>
                    <a:p>
                      <a:r>
                        <a:rPr sz="1100" b="0">
                          <a:solidFill>
                            <a:srgbClr val="1F2328"/>
                          </a:solidFill>
                          <a:latin typeface="Microsoft JhengHei"/>
                          <a:ea typeface="Microsoft JhengHei"/>
                        </a:rPr>
                        <a:t>2889 國票金</a:t>
                      </a:r>
                    </a:p>
                  </a:txBody>
                  <a:tcPr>
                    <a:solidFill>
                      <a:srgbClr val="FFFFFF"/>
                    </a:solidFill>
                  </a:tcPr>
                </a:tc>
                <a:tc>
                  <a:txBody>
                    <a:bodyPr/>
                    <a:lstStyle/>
                    <a:p>
                      <a:r>
                        <a:rPr sz="1100" b="0">
                          <a:solidFill>
                            <a:srgbClr val="C8423B"/>
                          </a:solidFill>
                          <a:latin typeface="Microsoft JhengHei"/>
                          <a:ea typeface="Microsoft JhengHei"/>
                        </a:rPr>
                        <a:t>+0.29%</a:t>
                      </a:r>
                    </a:p>
                  </a:txBody>
                  <a:tcPr>
                    <a:solidFill>
                      <a:srgbClr val="FFFFFF"/>
                    </a:solidFill>
                  </a:tcPr>
                </a:tc>
                <a:tc>
                  <a:txBody>
                    <a:bodyPr/>
                    <a:lstStyle/>
                    <a:p>
                      <a:r>
                        <a:rPr sz="1100" b="0">
                          <a:solidFill>
                            <a:srgbClr val="1F2328"/>
                          </a:solidFill>
                          <a:latin typeface="Microsoft JhengHei"/>
                          <a:ea typeface="Microsoft JhengHei"/>
                        </a:rPr>
                        <a:t>+2,021</a:t>
                      </a:r>
                    </a:p>
                  </a:txBody>
                  <a:tcPr>
                    <a:solidFill>
                      <a:srgbClr val="FFFFFF"/>
                    </a:solidFill>
                  </a:tcPr>
                </a:tc>
                <a:tc>
                  <a:txBody>
                    <a:bodyPr/>
                    <a:lstStyle/>
                    <a:p>
                      <a:r>
                        <a:rPr sz="1100" b="0">
                          <a:solidFill>
                            <a:srgbClr val="1F2328"/>
                          </a:solidFill>
                          <a:latin typeface="Microsoft JhengHei"/>
                          <a:ea typeface="Microsoft JhengHei"/>
                        </a:rPr>
                        <a:t>+0.10%</a:t>
                      </a:r>
                    </a:p>
                  </a:txBody>
                  <a:tcPr>
                    <a:solidFill>
                      <a:srgbClr val="FFFFFF"/>
                    </a:solidFill>
                  </a:tcPr>
                </a:tc>
                <a:tc>
                  <a:txBody>
                    <a:bodyPr/>
                    <a:lstStyle/>
                    <a:p>
                      <a:r>
                        <a:rPr sz="1100" b="0">
                          <a:solidFill>
                            <a:srgbClr val="1F2328"/>
                          </a:solidFill>
                          <a:latin typeface="Microsoft JhengHei"/>
                          <a:ea typeface="Microsoft JhengHei"/>
                        </a:rPr>
                        <a:t>-2.66%</a:t>
                      </a:r>
                    </a:p>
                  </a:txBody>
                  <a:tcPr>
                    <a:solidFill>
                      <a:srgbClr val="FFFFFF"/>
                    </a:solidFill>
                  </a:tcPr>
                </a:tc>
                <a:tc>
                  <a:txBody>
                    <a:bodyPr/>
                    <a:lstStyle/>
                    <a:p>
                      <a:r>
                        <a:rPr sz="1100" b="0">
                          <a:solidFill>
                            <a:srgbClr val="1F2328"/>
                          </a:solidFill>
                          <a:latin typeface="Microsoft JhengHei"/>
                          <a:ea typeface="Microsoft JhengHei"/>
                        </a:rPr>
                        <a:t>+2.85%</a:t>
                      </a:r>
                    </a:p>
                  </a:txBody>
                  <a:tcPr>
                    <a:solidFill>
                      <a:srgbClr val="FFFFFF"/>
                    </a:solidFill>
                  </a:tcPr>
                </a:tc>
                <a:tc>
                  <a:txBody>
                    <a:bodyPr/>
                    <a:lstStyle/>
                    <a:p>
                      <a:r>
                        <a:rPr sz="1100" b="0">
                          <a:solidFill>
                            <a:srgbClr val="1F2328"/>
                          </a:solidFill>
                          <a:latin typeface="Microsoft JhengHei"/>
                          <a:ea typeface="Microsoft JhengHei"/>
                        </a:rPr>
                        <a:t>個股特有因素</a:t>
                      </a:r>
                    </a:p>
                  </a:txBody>
                  <a:tcPr>
                    <a:solidFill>
                      <a:srgbClr val="FFFFFF"/>
                    </a:solidFill>
                  </a:tcPr>
                </a:tc>
              </a:tr>
              <a:tr h="365760">
                <a:tc>
                  <a:txBody>
                    <a:bodyPr/>
                    <a:lstStyle/>
                    <a:p>
                      <a:r>
                        <a:rPr sz="1100" b="0">
                          <a:solidFill>
                            <a:srgbClr val="1F2328"/>
                          </a:solidFill>
                          <a:latin typeface="Microsoft JhengHei"/>
                          <a:ea typeface="Microsoft JhengHei"/>
                        </a:rPr>
                        <a:t>2845 遠東銀</a:t>
                      </a:r>
                    </a:p>
                  </a:txBody>
                  <a:tcPr>
                    <a:solidFill>
                      <a:srgbClr val="F3F5F8"/>
                    </a:solidFill>
                  </a:tcPr>
                </a:tc>
                <a:tc>
                  <a:txBody>
                    <a:bodyPr/>
                    <a:lstStyle/>
                    <a:p>
                      <a:r>
                        <a:rPr sz="1100" b="0">
                          <a:solidFill>
                            <a:srgbClr val="2E8B57"/>
                          </a:solidFill>
                          <a:latin typeface="Microsoft JhengHei"/>
                          <a:ea typeface="Microsoft JhengHei"/>
                        </a:rPr>
                        <a:t>-1.87%</a:t>
                      </a:r>
                    </a:p>
                  </a:txBody>
                  <a:tcPr>
                    <a:solidFill>
                      <a:srgbClr val="F3F5F8"/>
                    </a:solidFill>
                  </a:tcPr>
                </a:tc>
                <a:tc>
                  <a:txBody>
                    <a:bodyPr/>
                    <a:lstStyle/>
                    <a:p>
                      <a:r>
                        <a:rPr sz="1100" b="0">
                          <a:solidFill>
                            <a:srgbClr val="1F2328"/>
                          </a:solidFill>
                          <a:latin typeface="Microsoft JhengHei"/>
                          <a:ea typeface="Microsoft JhengHei"/>
                        </a:rPr>
                        <a:t>-9,018</a:t>
                      </a:r>
                    </a:p>
                  </a:txBody>
                  <a:tcPr>
                    <a:solidFill>
                      <a:srgbClr val="F3F5F8"/>
                    </a:solidFill>
                  </a:tcPr>
                </a:tc>
                <a:tc>
                  <a:txBody>
                    <a:bodyPr/>
                    <a:lstStyle/>
                    <a:p>
                      <a:r>
                        <a:rPr sz="1100" b="0">
                          <a:solidFill>
                            <a:srgbClr val="1F2328"/>
                          </a:solidFill>
                          <a:latin typeface="Microsoft JhengHei"/>
                          <a:ea typeface="Microsoft JhengHei"/>
                        </a:rPr>
                        <a:t>+0.16%</a:t>
                      </a:r>
                    </a:p>
                  </a:txBody>
                  <a:tcPr>
                    <a:solidFill>
                      <a:srgbClr val="F3F5F8"/>
                    </a:solidFill>
                  </a:tcPr>
                </a:tc>
                <a:tc>
                  <a:txBody>
                    <a:bodyPr/>
                    <a:lstStyle/>
                    <a:p>
                      <a:r>
                        <a:rPr sz="1100" b="0">
                          <a:solidFill>
                            <a:srgbClr val="1F2328"/>
                          </a:solidFill>
                          <a:latin typeface="Microsoft JhengHei"/>
                          <a:ea typeface="Microsoft JhengHei"/>
                        </a:rPr>
                        <a:t>-2.51%</a:t>
                      </a:r>
                    </a:p>
                  </a:txBody>
                  <a:tcPr>
                    <a:solidFill>
                      <a:srgbClr val="F3F5F8"/>
                    </a:solidFill>
                  </a:tcPr>
                </a:tc>
                <a:tc>
                  <a:txBody>
                    <a:bodyPr/>
                    <a:lstStyle/>
                    <a:p>
                      <a:r>
                        <a:rPr sz="1100" b="0">
                          <a:solidFill>
                            <a:srgbClr val="1F2328"/>
                          </a:solidFill>
                          <a:latin typeface="Microsoft JhengHei"/>
                          <a:ea typeface="Microsoft JhengHei"/>
                        </a:rPr>
                        <a:t>+0.48%</a:t>
                      </a:r>
                    </a:p>
                  </a:txBody>
                  <a:tcPr>
                    <a:solidFill>
                      <a:srgbClr val="F3F5F8"/>
                    </a:solidFill>
                  </a:tcPr>
                </a:tc>
                <a:tc>
                  <a:txBody>
                    <a:bodyPr/>
                    <a:lstStyle/>
                    <a:p>
                      <a:r>
                        <a:rPr sz="1100" b="0">
                          <a:solidFill>
                            <a:srgbClr val="1F2328"/>
                          </a:solidFill>
                          <a:latin typeface="Microsoft JhengHei"/>
                          <a:ea typeface="Microsoft JhengHei"/>
                        </a:rPr>
                        <a:t>產業因素</a:t>
                      </a:r>
                    </a:p>
                  </a:txBody>
                  <a:tcPr>
                    <a:solidFill>
                      <a:srgbClr val="F3F5F8"/>
                    </a:solidFill>
                  </a:tcPr>
                </a:tc>
              </a:tr>
              <a:tr h="365760">
                <a:tc>
                  <a:txBody>
                    <a:bodyPr/>
                    <a:lstStyle/>
                    <a:p>
                      <a:r>
                        <a:rPr sz="1100" b="0">
                          <a:solidFill>
                            <a:srgbClr val="1F2328"/>
                          </a:solidFill>
                          <a:latin typeface="Microsoft JhengHei"/>
                          <a:ea typeface="Microsoft JhengHei"/>
                        </a:rPr>
                        <a:t>2915 潤泰全</a:t>
                      </a:r>
                    </a:p>
                  </a:txBody>
                  <a:tcPr>
                    <a:solidFill>
                      <a:srgbClr val="FFFFFF"/>
                    </a:solidFill>
                  </a:tcPr>
                </a:tc>
                <a:tc>
                  <a:txBody>
                    <a:bodyPr/>
                    <a:lstStyle/>
                    <a:p>
                      <a:r>
                        <a:rPr sz="1100" b="0">
                          <a:solidFill>
                            <a:srgbClr val="2E8B57"/>
                          </a:solidFill>
                          <a:latin typeface="Microsoft JhengHei"/>
                          <a:ea typeface="Microsoft JhengHei"/>
                        </a:rPr>
                        <a:t>-1.04%</a:t>
                      </a:r>
                    </a:p>
                  </a:txBody>
                  <a:tcPr>
                    <a:solidFill>
                      <a:srgbClr val="FFFFFF"/>
                    </a:solidFill>
                  </a:tcPr>
                </a:tc>
                <a:tc>
                  <a:txBody>
                    <a:bodyPr/>
                    <a:lstStyle/>
                    <a:p>
                      <a:r>
                        <a:rPr sz="1100" b="0">
                          <a:solidFill>
                            <a:srgbClr val="1F2328"/>
                          </a:solidFill>
                          <a:latin typeface="Microsoft JhengHei"/>
                          <a:ea typeface="Microsoft JhengHei"/>
                        </a:rPr>
                        <a:t>-4,304</a:t>
                      </a:r>
                    </a:p>
                  </a:txBody>
                  <a:tcPr>
                    <a:solidFill>
                      <a:srgbClr val="FFFFFF"/>
                    </a:solidFill>
                  </a:tcPr>
                </a:tc>
                <a:tc>
                  <a:txBody>
                    <a:bodyPr/>
                    <a:lstStyle/>
                    <a:p>
                      <a:r>
                        <a:rPr sz="1100" b="0">
                          <a:solidFill>
                            <a:srgbClr val="1F2328"/>
                          </a:solidFill>
                          <a:latin typeface="Microsoft JhengHei"/>
                          <a:ea typeface="Microsoft JhengHei"/>
                        </a:rPr>
                        <a:t>+0.40%</a:t>
                      </a:r>
                    </a:p>
                  </a:txBody>
                  <a:tcPr>
                    <a:solidFill>
                      <a:srgbClr val="FFFFFF"/>
                    </a:solidFill>
                  </a:tcPr>
                </a:tc>
                <a:tc>
                  <a:txBody>
                    <a:bodyPr/>
                    <a:lstStyle/>
                    <a:p>
                      <a:r>
                        <a:rPr sz="1100" b="0">
                          <a:solidFill>
                            <a:srgbClr val="1F2328"/>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-1.44%</a:t>
                      </a:r>
                    </a:p>
                  </a:txBody>
                  <a:tcPr>
                    <a:solidFill>
                      <a:srgbClr val="FFFFFF"/>
                    </a:solidFill>
                  </a:tcPr>
                </a:tc>
                <a:tc>
                  <a:txBody>
                    <a:bodyPr/>
                    <a:lstStyle/>
                    <a:p>
                      <a:r>
                        <a:rPr sz="1100" b="0">
                          <a:solidFill>
                            <a:srgbClr val="1F2328"/>
                          </a:solidFill>
                          <a:latin typeface="Microsoft JhengHei"/>
                          <a:ea typeface="Microsoft JhengHei"/>
                        </a:rPr>
                        <a:t>個股特有因素</a:t>
                      </a:r>
                    </a:p>
                  </a:txBody>
                  <a:tcPr>
                    <a:solidFill>
                      <a:srgbClr val="FFFFFF"/>
                    </a:solidFill>
                  </a:tcPr>
                </a:tc>
              </a:tr>
              <a:tr h="365760">
                <a:tc>
                  <a:txBody>
                    <a:bodyPr/>
                    <a:lstStyle/>
                    <a:p>
                      <a:r>
                        <a:rPr sz="1100" b="0">
                          <a:solidFill>
                            <a:srgbClr val="1F2328"/>
                          </a:solidFill>
                          <a:latin typeface="Microsoft JhengHei"/>
                          <a:ea typeface="Microsoft JhengHei"/>
                        </a:rPr>
                        <a:t>3189 景碩</a:t>
                      </a:r>
                    </a:p>
                  </a:txBody>
                  <a:tcPr>
                    <a:solidFill>
                      <a:srgbClr val="F3F5F8"/>
                    </a:solidFill>
                  </a:tcPr>
                </a:tc>
                <a:tc>
                  <a:txBody>
                    <a:bodyPr/>
                    <a:lstStyle/>
                    <a:p>
                      <a:r>
                        <a:rPr sz="1100" b="0">
                          <a:solidFill>
                            <a:srgbClr val="C8423B"/>
                          </a:solidFill>
                          <a:latin typeface="Microsoft JhengHei"/>
                          <a:ea typeface="Microsoft JhengHei"/>
                        </a:rPr>
                        <a:t>+9.99%</a:t>
                      </a:r>
                    </a:p>
                  </a:txBody>
                  <a:tcPr>
                    <a:solidFill>
                      <a:srgbClr val="F3F5F8"/>
                    </a:solidFill>
                  </a:tcPr>
                </a:tc>
                <a:tc>
                  <a:txBody>
                    <a:bodyPr/>
                    <a:lstStyle/>
                    <a:p>
                      <a:r>
                        <a:rPr sz="1100" b="0">
                          <a:solidFill>
                            <a:srgbClr val="1F2328"/>
                          </a:solidFill>
                          <a:latin typeface="Microsoft JhengHei"/>
                          <a:ea typeface="Microsoft JhengHei"/>
                        </a:rPr>
                        <a:t>+154,066</a:t>
                      </a:r>
                    </a:p>
                  </a:txBody>
                  <a:tcPr>
                    <a:solidFill>
                      <a:srgbClr val="F3F5F8"/>
                    </a:solidFill>
                  </a:tcPr>
                </a:tc>
                <a:tc>
                  <a:txBody>
                    <a:bodyPr/>
                    <a:lstStyle/>
                    <a:p>
                      <a:r>
                        <a:rPr sz="1100" b="0">
                          <a:solidFill>
                            <a:srgbClr val="1F2328"/>
                          </a:solidFill>
                          <a:latin typeface="Microsoft JhengHei"/>
                          <a:ea typeface="Microsoft JhengHei"/>
                        </a:rPr>
                        <a:t>+3.93%</a:t>
                      </a:r>
                    </a:p>
                  </a:txBody>
                  <a:tcPr>
                    <a:solidFill>
                      <a:srgbClr val="F3F5F8"/>
                    </a:solidFill>
                  </a:tcPr>
                </a:tc>
                <a:tc>
                  <a:txBody>
                    <a:bodyPr/>
                    <a:lstStyle/>
                    <a:p>
                      <a:r>
                        <a:rPr sz="1100" b="0">
                          <a:solidFill>
                            <a:srgbClr val="1F2328"/>
                          </a:solidFill>
                          <a:latin typeface="Microsoft JhengHei"/>
                          <a:ea typeface="Microsoft JhengHei"/>
                        </a:rPr>
                        <a:t>+1.64%</a:t>
                      </a:r>
                    </a:p>
                  </a:txBody>
                  <a:tcPr>
                    <a:solidFill>
                      <a:srgbClr val="F3F5F8"/>
                    </a:solidFill>
                  </a:tcPr>
                </a:tc>
                <a:tc>
                  <a:txBody>
                    <a:bodyPr/>
                    <a:lstStyle/>
                    <a:p>
                      <a:r>
                        <a:rPr sz="1100" b="0">
                          <a:solidFill>
                            <a:srgbClr val="1F2328"/>
                          </a:solidFill>
                          <a:latin typeface="Microsoft JhengHei"/>
                          <a:ea typeface="Microsoft JhengHei"/>
                        </a:rPr>
                        <a:t>+4.43%</a:t>
                      </a:r>
                    </a:p>
                  </a:txBody>
                  <a:tcPr>
                    <a:solidFill>
                      <a:srgbClr val="F3F5F8"/>
                    </a:solidFill>
                  </a:tcPr>
                </a:tc>
                <a:tc>
                  <a:txBody>
                    <a:bodyPr/>
                    <a:lstStyle/>
                    <a:p>
                      <a:r>
                        <a:rPr sz="1100" b="0">
                          <a:solidFill>
                            <a:srgbClr val="1F2328"/>
                          </a:solidFill>
                          <a:latin typeface="Microsoft JhengHei"/>
                          <a:ea typeface="Microsoft JhengHei"/>
                        </a:rPr>
                        <a:t>個股特有因素</a:t>
                      </a:r>
                    </a:p>
                  </a:txBody>
                  <a:tcPr>
                    <a:solidFill>
                      <a:srgbClr val="F3F5F8"/>
                    </a:solidFill>
                  </a:tcPr>
                </a:tc>
              </a:tr>
              <a:tr h="365760">
                <a:tc>
                  <a:txBody>
                    <a:bodyPr/>
                    <a:lstStyle/>
                    <a:p>
                      <a:r>
                        <a:rPr sz="1100" b="0">
                          <a:solidFill>
                            <a:srgbClr val="1F2328"/>
                          </a:solidFill>
                          <a:latin typeface="Microsoft JhengHei"/>
                          <a:ea typeface="Microsoft JhengHei"/>
                        </a:rPr>
                        <a:t>3591 艾笛森</a:t>
                      </a:r>
                    </a:p>
                  </a:txBody>
                  <a:tcPr>
                    <a:solidFill>
                      <a:srgbClr val="FFFFFF"/>
                    </a:solidFill>
                  </a:tcPr>
                </a:tc>
                <a:tc>
                  <a:txBody>
                    <a:bodyPr/>
                    <a:lstStyle/>
                    <a:p>
                      <a:r>
                        <a:rPr sz="1100" b="0">
                          <a:solidFill>
                            <a:srgbClr val="C8423B"/>
                          </a:solidFill>
                          <a:latin typeface="Microsoft JhengHei"/>
                          <a:ea typeface="Microsoft JhengHei"/>
                        </a:rPr>
                        <a:t>+3.35%</a:t>
                      </a:r>
                    </a:p>
                  </a:txBody>
                  <a:tcPr>
                    <a:solidFill>
                      <a:srgbClr val="FFFFFF"/>
                    </a:solidFill>
                  </a:tcPr>
                </a:tc>
                <a:tc>
                  <a:txBody>
                    <a:bodyPr/>
                    <a:lstStyle/>
                    <a:p>
                      <a:r>
                        <a:rPr sz="1100" b="0">
                          <a:solidFill>
                            <a:srgbClr val="1F2328"/>
                          </a:solidFill>
                          <a:latin typeface="Microsoft JhengHei"/>
                          <a:ea typeface="Microsoft JhengHei"/>
                        </a:rPr>
                        <a:t>+18,475</a:t>
                      </a:r>
                    </a:p>
                  </a:txBody>
                  <a:tcPr>
                    <a:solidFill>
                      <a:srgbClr val="FFFFFF"/>
                    </a:solidFill>
                  </a:tcPr>
                </a:tc>
                <a:tc>
                  <a:txBody>
                    <a:bodyPr/>
                    <a:lstStyle/>
                    <a:p>
                      <a:r>
                        <a:rPr sz="1100" b="0">
                          <a:solidFill>
                            <a:srgbClr val="1F2328"/>
                          </a:solidFill>
                          <a:latin typeface="Microsoft JhengHei"/>
                          <a:ea typeface="Microsoft JhengHei"/>
                        </a:rPr>
                        <a:t>+1.38%</a:t>
                      </a:r>
                    </a:p>
                  </a:txBody>
                  <a:tcPr>
                    <a:solidFill>
                      <a:srgbClr val="FFFFFF"/>
                    </a:solidFill>
                  </a:tcPr>
                </a:tc>
                <a:tc>
                  <a:txBody>
                    <a:bodyPr/>
                    <a:lstStyle/>
                    <a:p>
                      <a:r>
                        <a:rPr sz="1100" b="0">
                          <a:solidFill>
                            <a:srgbClr val="1F2328"/>
                          </a:solidFill>
                          <a:latin typeface="Microsoft JhengHei"/>
                          <a:ea typeface="Microsoft JhengHei"/>
                        </a:rPr>
                        <a:t>+2.19%</a:t>
                      </a:r>
                    </a:p>
                  </a:txBody>
                  <a:tcPr>
                    <a:solidFill>
                      <a:srgbClr val="FFFFFF"/>
                    </a:solidFill>
                  </a:tcPr>
                </a:tc>
                <a:tc>
                  <a:txBody>
                    <a:bodyPr/>
                    <a:lstStyle/>
                    <a:p>
                      <a:r>
                        <a:rPr sz="1100" b="0">
                          <a:solidFill>
                            <a:srgbClr val="1F2328"/>
                          </a:solidFill>
                          <a:latin typeface="Microsoft JhengHei"/>
                          <a:ea typeface="Microsoft JhengHei"/>
                        </a:rPr>
                        <a:t>-0.22%</a:t>
                      </a:r>
                    </a:p>
                  </a:txBody>
                  <a:tcPr>
                    <a:solidFill>
                      <a:srgbClr val="FFFFFF"/>
                    </a:solidFill>
                  </a:tcPr>
                </a:tc>
                <a:tc>
                  <a:txBody>
                    <a:bodyPr/>
                    <a:lstStyle/>
                    <a:p>
                      <a:r>
                        <a:rPr sz="1100" b="0">
                          <a:solidFill>
                            <a:srgbClr val="1F2328"/>
                          </a:solidFill>
                          <a:latin typeface="Microsoft JhengHei"/>
                          <a:ea typeface="Microsoft JhengHei"/>
                        </a:rPr>
                        <a:t>產業因素</a:t>
                      </a:r>
                    </a:p>
                  </a:txBody>
                  <a:tcPr>
                    <a:solidFill>
                      <a:srgbClr val="FFFFFF"/>
                    </a:solidFill>
                  </a:tcPr>
                </a:tc>
              </a:tr>
              <a:tr h="365760">
                <a:tc>
                  <a:txBody>
                    <a:bodyPr/>
                    <a:lstStyle/>
                    <a:p>
                      <a:r>
                        <a:rPr sz="1100" b="0">
                          <a:solidFill>
                            <a:srgbClr val="1F2328"/>
                          </a:solidFill>
                          <a:latin typeface="Microsoft JhengHei"/>
                          <a:ea typeface="Microsoft JhengHei"/>
                        </a:rPr>
                        <a:t>1560 中砂</a:t>
                      </a:r>
                    </a:p>
                  </a:txBody>
                  <a:tcPr>
                    <a:solidFill>
                      <a:srgbClr val="F3F5F8"/>
                    </a:solidFill>
                  </a:tcPr>
                </a:tc>
                <a:tc>
                  <a:txBody>
                    <a:bodyPr/>
                    <a:lstStyle/>
                    <a:p>
                      <a:r>
                        <a:rPr sz="1100" b="0">
                          <a:solidFill>
                            <a:srgbClr val="C8423B"/>
                          </a:solidFill>
                          <a:latin typeface="Microsoft JhengHei"/>
                          <a:ea typeface="Microsoft JhengHei"/>
                        </a:rPr>
                        <a:t>+9.86%</a:t>
                      </a:r>
                    </a:p>
                  </a:txBody>
                  <a:tcPr>
                    <a:solidFill>
                      <a:srgbClr val="F3F5F8"/>
                    </a:solidFill>
                  </a:tcPr>
                </a:tc>
                <a:tc>
                  <a:txBody>
                    <a:bodyPr/>
                    <a:lstStyle/>
                    <a:p>
                      <a:r>
                        <a:rPr sz="1100" b="0">
                          <a:solidFill>
                            <a:srgbClr val="1F2328"/>
                          </a:solidFill>
                          <a:latin typeface="Microsoft JhengHei"/>
                          <a:ea typeface="Microsoft JhengHei"/>
                        </a:rPr>
                        <a:t>+89,462</a:t>
                      </a:r>
                    </a:p>
                  </a:txBody>
                  <a:tcPr>
                    <a:solidFill>
                      <a:srgbClr val="F3F5F8"/>
                    </a:solidFill>
                  </a:tcPr>
                </a:tc>
                <a:tc>
                  <a:txBody>
                    <a:bodyPr/>
                    <a:lstStyle/>
                    <a:p>
                      <a:r>
                        <a:rPr sz="1100" b="0">
                          <a:solidFill>
                            <a:srgbClr val="1F2328"/>
                          </a:solidFill>
                          <a:latin typeface="Microsoft JhengHei"/>
                          <a:ea typeface="Microsoft JhengHei"/>
                        </a:rPr>
                        <a:t>+3.04%</a:t>
                      </a:r>
                    </a:p>
                  </a:txBody>
                  <a:tcPr>
                    <a:solidFill>
                      <a:srgbClr val="F3F5F8"/>
                    </a:solidFill>
                  </a:tcPr>
                </a:tc>
                <a:tc>
                  <a:txBody>
                    <a:bodyPr/>
                    <a:lstStyle/>
                    <a:p>
                      <a:r>
                        <a:rPr sz="1100" b="0">
                          <a:solidFill>
                            <a:srgbClr val="1F2328"/>
                          </a:solidFill>
                          <a:latin typeface="Microsoft JhengHei"/>
                          <a:ea typeface="Microsoft JhengHei"/>
                        </a:rPr>
                        <a:t>+0.37%</a:t>
                      </a:r>
                    </a:p>
                  </a:txBody>
                  <a:tcPr>
                    <a:solidFill>
                      <a:srgbClr val="F3F5F8"/>
                    </a:solidFill>
                  </a:tcPr>
                </a:tc>
                <a:tc>
                  <a:txBody>
                    <a:bodyPr/>
                    <a:lstStyle/>
                    <a:p>
                      <a:r>
                        <a:rPr sz="1100" b="0">
                          <a:solidFill>
                            <a:srgbClr val="1F2328"/>
                          </a:solidFill>
                          <a:latin typeface="Microsoft JhengHei"/>
                          <a:ea typeface="Microsoft JhengHei"/>
                        </a:rPr>
                        <a:t>+6.45%</a:t>
                      </a:r>
                    </a:p>
                  </a:txBody>
                  <a:tcPr>
                    <a:solidFill>
                      <a:srgbClr val="F3F5F8"/>
                    </a:solidFill>
                  </a:tcPr>
                </a:tc>
                <a:tc>
                  <a:txBody>
                    <a:bodyPr/>
                    <a:lstStyle/>
                    <a:p>
                      <a:r>
                        <a:rPr sz="1100" b="0">
                          <a:solidFill>
                            <a:srgbClr val="1F2328"/>
                          </a:solidFill>
                          <a:latin typeface="Microsoft JhengHei"/>
                          <a:ea typeface="Microsoft JhengHei"/>
                        </a:rPr>
                        <a:t>個股特有因素</a:t>
                      </a:r>
                    </a:p>
                  </a:txBody>
                  <a:tcPr>
                    <a:solidFill>
                      <a:srgbClr val="F3F5F8"/>
                    </a:solidFill>
                  </a:tcPr>
                </a:tc>
              </a:tr>
              <a:tr h="365760">
                <a:tc>
                  <a:txBody>
                    <a:bodyPr/>
                    <a:lstStyle/>
                    <a:p>
                      <a:r>
                        <a:rPr sz="1100" b="0">
                          <a:solidFill>
                            <a:srgbClr val="1F2328"/>
                          </a:solidFill>
                          <a:latin typeface="Microsoft JhengHei"/>
                          <a:ea typeface="Microsoft JhengHei"/>
                        </a:rPr>
                        <a:t>6196 帆宣</a:t>
                      </a:r>
                    </a:p>
                  </a:txBody>
                  <a:tcPr>
                    <a:solidFill>
                      <a:srgbClr val="FFFFFF"/>
                    </a:solidFill>
                  </a:tcPr>
                </a:tc>
                <a:tc>
                  <a:txBody>
                    <a:bodyPr/>
                    <a:lstStyle/>
                    <a:p>
                      <a:r>
                        <a:rPr sz="1100" b="0">
                          <a:solidFill>
                            <a:srgbClr val="C8423B"/>
                          </a:solidFill>
                          <a:latin typeface="Microsoft JhengHei"/>
                          <a:ea typeface="Microsoft JhengHei"/>
                        </a:rPr>
                        <a:t>+1.37%</a:t>
                      </a:r>
                    </a:p>
                  </a:txBody>
                  <a:tcPr>
                    <a:solidFill>
                      <a:srgbClr val="FFFFFF"/>
                    </a:solidFill>
                  </a:tcPr>
                </a:tc>
                <a:tc>
                  <a:txBody>
                    <a:bodyPr/>
                    <a:lstStyle/>
                    <a:p>
                      <a:r>
                        <a:rPr sz="1100" b="0">
                          <a:solidFill>
                            <a:srgbClr val="1F2328"/>
                          </a:solidFill>
                          <a:latin typeface="Microsoft JhengHei"/>
                          <a:ea typeface="Microsoft JhengHei"/>
                        </a:rPr>
                        <a:t>+17,200</a:t>
                      </a:r>
                    </a:p>
                  </a:txBody>
                  <a:tcPr>
                    <a:solidFill>
                      <a:srgbClr val="FFFFFF"/>
                    </a:solidFill>
                  </a:tcPr>
                </a:tc>
                <a:tc>
                  <a:txBody>
                    <a:bodyPr/>
                    <a:lstStyle/>
                    <a:p>
                      <a:r>
                        <a:rPr sz="1100" b="0">
                          <a:solidFill>
                            <a:srgbClr val="1F2328"/>
                          </a:solidFill>
                          <a:latin typeface="Microsoft JhengHei"/>
                          <a:ea typeface="Microsoft JhengHei"/>
                        </a:rPr>
                        <a:t>+2.72%</a:t>
                      </a:r>
                    </a:p>
                  </a:txBody>
                  <a:tcPr>
                    <a:solidFill>
                      <a:srgbClr val="FFFFFF"/>
                    </a:solidFill>
                  </a:tcPr>
                </a:tc>
                <a:tc>
                  <a:txBody>
                    <a:bodyPr/>
                    <a:lstStyle/>
                    <a:p>
                      <a:r>
                        <a:rPr sz="1100" b="0">
                          <a:solidFill>
                            <a:srgbClr val="1F2328"/>
                          </a:solidFill>
                          <a:latin typeface="Microsoft JhengHei"/>
                          <a:ea typeface="Microsoft JhengHei"/>
                        </a:rPr>
                        <a:t>-0.02%</a:t>
                      </a:r>
                    </a:p>
                  </a:txBody>
                  <a:tcPr>
                    <a:solidFill>
                      <a:srgbClr val="FFFFFF"/>
                    </a:solidFill>
                  </a:tcPr>
                </a:tc>
                <a:tc>
                  <a:txBody>
                    <a:bodyPr/>
                    <a:lstStyle/>
                    <a:p>
                      <a:r>
                        <a:rPr sz="1100" b="0">
                          <a:solidFill>
                            <a:srgbClr val="1F2328"/>
                          </a:solidFill>
                          <a:latin typeface="Microsoft JhengHei"/>
                          <a:ea typeface="Microsoft JhengHei"/>
                        </a:rPr>
                        <a:t>-1.34%</a:t>
                      </a:r>
                    </a:p>
                  </a:txBody>
                  <a:tcPr>
                    <a:solidFill>
                      <a:srgbClr val="FFFFFF"/>
                    </a:solidFill>
                  </a:tcPr>
                </a:tc>
                <a:tc>
                  <a:txBody>
                    <a:bodyPr/>
                    <a:lstStyle/>
                    <a:p>
                      <a:r>
                        <a:rPr sz="1100" b="0">
                          <a:solidFill>
                            <a:srgbClr val="1F2328"/>
                          </a:solidFill>
                          <a:latin typeface="Microsoft JhengHei"/>
                          <a:ea typeface="Microsoft JhengHei"/>
                        </a:rPr>
                        <a:t>大盤因素</a:t>
                      </a:r>
                    </a:p>
                  </a:txBody>
                  <a:tcPr>
                    <a:solidFill>
                      <a:srgbClr val="FFFFFF"/>
                    </a:solidFill>
                  </a:tcPr>
                </a:tc>
              </a:tr>
              <a:tr h="365760">
                <a:tc>
                  <a:txBody>
                    <a:bodyPr/>
                    <a:lstStyle/>
                    <a:p>
                      <a:r>
                        <a:rPr sz="1100" b="0">
                          <a:solidFill>
                            <a:srgbClr val="1F2328"/>
                          </a:solidFill>
                          <a:latin typeface="Microsoft JhengHei"/>
                          <a:ea typeface="Microsoft JhengHei"/>
                        </a:rPr>
                        <a:t>6213 聯茂</a:t>
                      </a:r>
                    </a:p>
                  </a:txBody>
                  <a:tcPr>
                    <a:solidFill>
                      <a:srgbClr val="F3F5F8"/>
                    </a:solidFill>
                  </a:tcPr>
                </a:tc>
                <a:tc>
                  <a:txBody>
                    <a:bodyPr/>
                    <a:lstStyle/>
                    <a:p>
                      <a:r>
                        <a:rPr sz="1100" b="0">
                          <a:solidFill>
                            <a:srgbClr val="C8423B"/>
                          </a:solidFill>
                          <a:latin typeface="Microsoft JhengHei"/>
                          <a:ea typeface="Microsoft JhengHei"/>
                        </a:rPr>
                        <a:t>+4.29%</a:t>
                      </a:r>
                    </a:p>
                  </a:txBody>
                  <a:tcPr>
                    <a:solidFill>
                      <a:srgbClr val="F3F5F8"/>
                    </a:solidFill>
                  </a:tcPr>
                </a:tc>
                <a:tc>
                  <a:txBody>
                    <a:bodyPr/>
                    <a:lstStyle/>
                    <a:p>
                      <a:r>
                        <a:rPr sz="1100" b="0">
                          <a:solidFill>
                            <a:srgbClr val="1F2328"/>
                          </a:solidFill>
                          <a:latin typeface="Microsoft JhengHei"/>
                          <a:ea typeface="Microsoft JhengHei"/>
                        </a:rPr>
                        <a:t>+32,000</a:t>
                      </a:r>
                    </a:p>
                  </a:txBody>
                  <a:tcPr>
                    <a:solidFill>
                      <a:srgbClr val="F3F5F8"/>
                    </a:solidFill>
                  </a:tcPr>
                </a:tc>
                <a:tc>
                  <a:txBody>
                    <a:bodyPr/>
                    <a:lstStyle/>
                    <a:p>
                      <a:r>
                        <a:rPr sz="1100" b="0">
                          <a:solidFill>
                            <a:srgbClr val="1F2328"/>
                          </a:solidFill>
                          <a:latin typeface="Microsoft JhengHei"/>
                          <a:ea typeface="Microsoft JhengHei"/>
                        </a:rPr>
                        <a:t>+3.06%</a:t>
                      </a:r>
                    </a:p>
                  </a:txBody>
                  <a:tcPr>
                    <a:solidFill>
                      <a:srgbClr val="F3F5F8"/>
                    </a:solidFill>
                  </a:tcPr>
                </a:tc>
                <a:tc>
                  <a:txBody>
                    <a:bodyPr/>
                    <a:lstStyle/>
                    <a:p>
                      <a:r>
                        <a:rPr sz="1100" b="0">
                          <a:solidFill>
                            <a:srgbClr val="1F2328"/>
                          </a:solidFill>
                          <a:latin typeface="Microsoft JhengHei"/>
                          <a:ea typeface="Microsoft JhengHei"/>
                        </a:rPr>
                        <a:t>+1.50%</a:t>
                      </a:r>
                    </a:p>
                  </a:txBody>
                  <a:tcPr>
                    <a:solidFill>
                      <a:srgbClr val="F3F5F8"/>
                    </a:solidFill>
                  </a:tcPr>
                </a:tc>
                <a:tc>
                  <a:txBody>
                    <a:bodyPr/>
                    <a:lstStyle/>
                    <a:p>
                      <a:r>
                        <a:rPr sz="1100" b="0">
                          <a:solidFill>
                            <a:srgbClr val="1F2328"/>
                          </a:solidFill>
                          <a:latin typeface="Microsoft JhengHei"/>
                          <a:ea typeface="Microsoft JhengHei"/>
                        </a:rPr>
                        <a:t>-0.27%</a:t>
                      </a:r>
                    </a:p>
                  </a:txBody>
                  <a:tcPr>
                    <a:solidFill>
                      <a:srgbClr val="F3F5F8"/>
                    </a:solidFill>
                  </a:tcPr>
                </a:tc>
                <a:tc>
                  <a:txBody>
                    <a:bodyPr/>
                    <a:lstStyle/>
                    <a:p>
                      <a:r>
                        <a:rPr sz="1100" b="0">
                          <a:solidFill>
                            <a:srgbClr val="1F2328"/>
                          </a:solidFill>
                          <a:latin typeface="Microsoft JhengHei"/>
                          <a:ea typeface="Microsoft JhengHei"/>
                        </a:rPr>
                        <a:t>大盤因素</a:t>
                      </a:r>
                    </a:p>
                  </a:txBody>
                  <a:tcPr>
                    <a:solidFill>
                      <a:srgbClr val="F3F5F8"/>
                    </a:solidFill>
                  </a:tcPr>
                </a:tc>
              </a:tr>
              <a:tr h="365760">
                <a:tc>
                  <a:txBody>
                    <a:bodyPr/>
                    <a:lstStyle/>
                    <a:p>
                      <a:r>
                        <a:rPr sz="1100" b="0">
                          <a:solidFill>
                            <a:srgbClr val="1F2328"/>
                          </a:solidFill>
                          <a:latin typeface="Microsoft JhengHei"/>
                          <a:ea typeface="Microsoft JhengHei"/>
                        </a:rPr>
                        <a:t>2103 台橡</a:t>
                      </a:r>
                    </a:p>
                  </a:txBody>
                  <a:tcPr>
                    <a:solidFill>
                      <a:srgbClr val="FFFFFF"/>
                    </a:solidFill>
                  </a:tcPr>
                </a:tc>
                <a:tc>
                  <a:txBody>
                    <a:bodyPr/>
                    <a:lstStyle/>
                    <a:p>
                      <a:r>
                        <a:rPr sz="1100" b="0">
                          <a:solidFill>
                            <a:srgbClr val="2E8B57"/>
                          </a:solidFill>
                          <a:latin typeface="Microsoft JhengHei"/>
                          <a:ea typeface="Microsoft JhengHei"/>
                        </a:rPr>
                        <a:t>-1.06%</a:t>
                      </a:r>
                    </a:p>
                  </a:txBody>
                  <a:tcPr>
                    <a:solidFill>
                      <a:srgbClr val="FFFFFF"/>
                    </a:solidFill>
                  </a:tcPr>
                </a:tc>
                <a:tc>
                  <a:txBody>
                    <a:bodyPr/>
                    <a:lstStyle/>
                    <a:p>
                      <a:r>
                        <a:rPr sz="1100" b="0">
                          <a:solidFill>
                            <a:srgbClr val="1F2328"/>
                          </a:solidFill>
                          <a:latin typeface="Microsoft JhengHei"/>
                          <a:ea typeface="Microsoft JhengHei"/>
                        </a:rPr>
                        <a:t>-900</a:t>
                      </a:r>
                    </a:p>
                  </a:txBody>
                  <a:tcPr>
                    <a:solidFill>
                      <a:srgbClr val="FFFFFF"/>
                    </a:solidFill>
                  </a:tcPr>
                </a:tc>
                <a:tc>
                  <a:txBody>
                    <a:bodyPr/>
                    <a:lstStyle/>
                    <a:p>
                      <a:r>
                        <a:rPr sz="1100" b="0">
                          <a:solidFill>
                            <a:srgbClr val="1F2328"/>
                          </a:solidFill>
                          <a:latin typeface="Microsoft JhengHei"/>
                          <a:ea typeface="Microsoft JhengHei"/>
                        </a:rPr>
                        <a:t>+0.94%</a:t>
                      </a:r>
                    </a:p>
                  </a:txBody>
                  <a:tcPr>
                    <a:solidFill>
                      <a:srgbClr val="FFFFFF"/>
                    </a:solidFill>
                  </a:tcPr>
                </a:tc>
                <a:tc>
                  <a:txBody>
                    <a:bodyPr/>
                    <a:lstStyle/>
                    <a:p>
                      <a:r>
                        <a:rPr sz="1100" b="0">
                          <a:solidFill>
                            <a:srgbClr val="1F2328"/>
                          </a:solidFill>
                          <a:latin typeface="Microsoft JhengHei"/>
                          <a:ea typeface="Microsoft JhengHei"/>
                        </a:rPr>
                        <a:t>-2.90%</a:t>
                      </a:r>
                    </a:p>
                  </a:txBody>
                  <a:tcPr>
                    <a:solidFill>
                      <a:srgbClr val="FFFFFF"/>
                    </a:solidFill>
                  </a:tcPr>
                </a:tc>
                <a:tc>
                  <a:txBody>
                    <a:bodyPr/>
                    <a:lstStyle/>
                    <a:p>
                      <a:r>
                        <a:rPr sz="1100" b="0">
                          <a:solidFill>
                            <a:srgbClr val="1F2328"/>
                          </a:solidFill>
                          <a:latin typeface="Microsoft JhengHei"/>
                          <a:ea typeface="Microsoft JhengHei"/>
                        </a:rPr>
                        <a:t>+0.90%</a:t>
                      </a:r>
                    </a:p>
                  </a:txBody>
                  <a:tcPr>
                    <a:solidFill>
                      <a:srgbClr val="FFFFFF"/>
                    </a:solidFill>
                  </a:tcPr>
                </a:tc>
                <a:tc>
                  <a:txBody>
                    <a:bodyPr/>
                    <a:lstStyle/>
                    <a:p>
                      <a:r>
                        <a:rPr sz="1100" b="0">
                          <a:solidFill>
                            <a:srgbClr val="1F2328"/>
                          </a:solidFill>
                          <a:latin typeface="Microsoft JhengHei"/>
                          <a:ea typeface="Microsoft JhengHei"/>
                        </a:rPr>
                        <a:t>產業因素</a:t>
                      </a:r>
                    </a:p>
                  </a:txBody>
                  <a:tcPr>
                    <a:solidFill>
                      <a:srgbClr val="FFFFFF"/>
                    </a:solidFill>
                  </a:tcPr>
                </a:tc>
              </a:tr>
              <a:tr h="365760">
                <a:tc>
                  <a:txBody>
                    <a:bodyPr/>
                    <a:lstStyle/>
                    <a:p>
                      <a:r>
                        <a:rPr sz="1100" b="0">
                          <a:solidFill>
                            <a:srgbClr val="1F2328"/>
                          </a:solidFill>
                          <a:latin typeface="Microsoft JhengHei"/>
                          <a:ea typeface="Microsoft JhengHei"/>
                        </a:rPr>
                        <a:t>2360 致茂</a:t>
                      </a:r>
                    </a:p>
                  </a:txBody>
                  <a:tcPr>
                    <a:solidFill>
                      <a:srgbClr val="F3F5F8"/>
                    </a:solidFill>
                  </a:tcPr>
                </a:tc>
                <a:tc>
                  <a:txBody>
                    <a:bodyPr/>
                    <a:lstStyle/>
                    <a:p>
                      <a:r>
                        <a:rPr sz="1100" b="0">
                          <a:solidFill>
                            <a:srgbClr val="C8423B"/>
                          </a:solidFill>
                          <a:latin typeface="Microsoft JhengHei"/>
                          <a:ea typeface="Microsoft JhengHei"/>
                        </a:rPr>
                        <a:t>+4.09%</a:t>
                      </a:r>
                    </a:p>
                  </a:txBody>
                  <a:tcPr>
                    <a:solidFill>
                      <a:srgbClr val="F3F5F8"/>
                    </a:solidFill>
                  </a:tcPr>
                </a:tc>
                <a:tc>
                  <a:txBody>
                    <a:bodyPr/>
                    <a:lstStyle/>
                    <a:p>
                      <a:r>
                        <a:rPr sz="1100" b="0">
                          <a:solidFill>
                            <a:srgbClr val="1F2328"/>
                          </a:solidFill>
                          <a:latin typeface="Microsoft JhengHei"/>
                          <a:ea typeface="Microsoft JhengHei"/>
                        </a:rPr>
                        <a:t>+640</a:t>
                      </a:r>
                    </a:p>
                  </a:txBody>
                  <a:tcPr>
                    <a:solidFill>
                      <a:srgbClr val="F3F5F8"/>
                    </a:solidFill>
                  </a:tcPr>
                </a:tc>
                <a:tc>
                  <a:txBody>
                    <a:bodyPr/>
                    <a:lstStyle/>
                    <a:p>
                      <a:r>
                        <a:rPr sz="1100" b="0">
                          <a:solidFill>
                            <a:srgbClr val="1F2328"/>
                          </a:solidFill>
                          <a:latin typeface="Microsoft JhengHei"/>
                          <a:ea typeface="Microsoft JhengHei"/>
                        </a:rPr>
                        <a:t>+3.11%</a:t>
                      </a:r>
                    </a:p>
                  </a:txBody>
                  <a:tcPr>
                    <a:solidFill>
                      <a:srgbClr val="F3F5F8"/>
                    </a:solidFill>
                  </a:tcPr>
                </a:tc>
                <a:tc>
                  <a:txBody>
                    <a:bodyPr/>
                    <a:lstStyle/>
                    <a:p>
                      <a:r>
                        <a:rPr sz="1100" b="0">
                          <a:solidFill>
                            <a:srgbClr val="1F2328"/>
                          </a:solidFill>
                          <a:latin typeface="Microsoft JhengHei"/>
                          <a:ea typeface="Microsoft JhengHei"/>
                        </a:rPr>
                        <a:t>-0.30%</a:t>
                      </a:r>
                    </a:p>
                  </a:txBody>
                  <a:tcPr>
                    <a:solidFill>
                      <a:srgbClr val="F3F5F8"/>
                    </a:solidFill>
                  </a:tcPr>
                </a:tc>
                <a:tc>
                  <a:txBody>
                    <a:bodyPr/>
                    <a:lstStyle/>
                    <a:p>
                      <a:r>
                        <a:rPr sz="1100" b="0">
                          <a:solidFill>
                            <a:srgbClr val="1F2328"/>
                          </a:solidFill>
                          <a:latin typeface="Microsoft JhengHei"/>
                          <a:ea typeface="Microsoft JhengHei"/>
                        </a:rPr>
                        <a:t>+1.28%</a:t>
                      </a:r>
                    </a:p>
                  </a:txBody>
                  <a:tcPr>
                    <a:solidFill>
                      <a:srgbClr val="F3F5F8"/>
                    </a:solidFill>
                  </a:tcPr>
                </a:tc>
                <a:tc>
                  <a:txBody>
                    <a:bodyPr/>
                    <a:lstStyle/>
                    <a:p>
                      <a:r>
                        <a:rPr sz="1100" b="0">
                          <a:solidFill>
                            <a:srgbClr val="1F2328"/>
                          </a:solidFill>
                          <a:latin typeface="Microsoft JhengHei"/>
                          <a:ea typeface="Microsoft JhengHei"/>
                        </a:rPr>
                        <a:t>大盤因素</a:t>
                      </a:r>
                    </a:p>
                  </a:txBody>
                  <a:tcPr>
                    <a:solidFill>
                      <a:srgbClr val="F3F5F8"/>
                    </a:solidFill>
                  </a:tcPr>
                </a:tc>
              </a:tr>
              <a:tr h="365760">
                <a:tc>
                  <a:txBody>
                    <a:bodyPr/>
                    <a:lstStyle/>
                    <a:p>
                      <a:r>
                        <a:rPr sz="1100" b="0">
                          <a:solidFill>
                            <a:srgbClr val="1F2328"/>
                          </a:solidFill>
                          <a:latin typeface="Microsoft JhengHei"/>
                          <a:ea typeface="Microsoft JhengHei"/>
                        </a:rPr>
                        <a:t>6182 合晶</a:t>
                      </a:r>
                    </a:p>
                  </a:txBody>
                  <a:tcPr>
                    <a:solidFill>
                      <a:srgbClr val="FFFFFF"/>
                    </a:solidFill>
                  </a:tcPr>
                </a:tc>
                <a:tc>
                  <a:txBody>
                    <a:bodyPr/>
                    <a:lstStyle/>
                    <a:p>
                      <a:r>
                        <a:rPr sz="1100" b="0">
                          <a:solidFill>
                            <a:srgbClr val="C8423B"/>
                          </a:solidFill>
                          <a:latin typeface="Microsoft JhengHei"/>
                          <a:ea typeface="Microsoft JhengHei"/>
                        </a:rPr>
                        <a:t>+2.94%</a:t>
                      </a:r>
                    </a:p>
                  </a:txBody>
                  <a:tcPr>
                    <a:solidFill>
                      <a:srgbClr val="FFFFFF"/>
                    </a:solidFill>
                  </a:tcPr>
                </a:tc>
                <a:tc>
                  <a:txBody>
                    <a:bodyPr/>
                    <a:lstStyle/>
                    <a:p>
                      <a:r>
                        <a:rPr sz="1100" b="0">
                          <a:solidFill>
                            <a:srgbClr val="1F2328"/>
                          </a:solidFill>
                          <a:latin typeface="Microsoft JhengHei"/>
                          <a:ea typeface="Microsoft JhengHei"/>
                        </a:rPr>
                        <a:t>+3,000</a:t>
                      </a:r>
                    </a:p>
                  </a:txBody>
                  <a:tcPr>
                    <a:solidFill>
                      <a:srgbClr val="FFFFFF"/>
                    </a:solidFill>
                  </a:tcPr>
                </a:tc>
                <a:tc>
                  <a:txBody>
                    <a:bodyPr/>
                    <a:lstStyle/>
                    <a:p>
                      <a:r>
                        <a:rPr sz="1100" b="0">
                          <a:solidFill>
                            <a:srgbClr val="1F2328"/>
                          </a:solidFill>
                          <a:latin typeface="Microsoft JhengHei"/>
                          <a:ea typeface="Microsoft JhengHei"/>
                        </a:rPr>
                        <a:t>+3.66%</a:t>
                      </a:r>
                    </a:p>
                  </a:txBody>
                  <a:tcPr>
                    <a:solidFill>
                      <a:srgbClr val="FFFFFF"/>
                    </a:solidFill>
                  </a:tcPr>
                </a:tc>
                <a:tc>
                  <a:txBody>
                    <a:bodyPr/>
                    <a:lstStyle/>
                    <a:p>
                      <a:r>
                        <a:rPr sz="1100" b="0">
                          <a:solidFill>
                            <a:srgbClr val="1F2328"/>
                          </a:solidFill>
                          <a:latin typeface="Microsoft JhengHei"/>
                          <a:ea typeface="Microsoft JhengHei"/>
                        </a:rPr>
                        <a:t>+1.66%</a:t>
                      </a:r>
                    </a:p>
                  </a:txBody>
                  <a:tcPr>
                    <a:solidFill>
                      <a:srgbClr val="FFFFFF"/>
                    </a:solidFill>
                  </a:tcPr>
                </a:tc>
                <a:tc>
                  <a:txBody>
                    <a:bodyPr/>
                    <a:lstStyle/>
                    <a:p>
                      <a:r>
                        <a:rPr sz="1100" b="0">
                          <a:solidFill>
                            <a:srgbClr val="1F2328"/>
                          </a:solidFill>
                          <a:latin typeface="Microsoft JhengHei"/>
                          <a:ea typeface="Microsoft JhengHei"/>
                        </a:rPr>
                        <a:t>-2.38%</a:t>
                      </a:r>
                    </a:p>
                  </a:txBody>
                  <a:tcPr>
                    <a:solidFill>
                      <a:srgbClr val="FFFFFF"/>
                    </a:solidFill>
                  </a:tcPr>
                </a:tc>
                <a:tc>
                  <a:txBody>
                    <a:bodyPr/>
                    <a:lstStyle/>
                    <a:p>
                      <a:r>
                        <a:rPr sz="1100" b="0">
                          <a:solidFill>
                            <a:srgbClr val="1F2328"/>
                          </a:solidFill>
                          <a:latin typeface="Microsoft JhengHei"/>
                          <a:ea typeface="Microsoft JhengHei"/>
                        </a:rPr>
                        <a:t>大盤因素</a:t>
                      </a:r>
                    </a:p>
                  </a:txBody>
                  <a:tcPr>
                    <a:solidFill>
                      <a:srgbClr val="FFFFFF"/>
                    </a:solidFill>
                  </a:tcPr>
                </a:tc>
              </a:tr>
              <a:tr h="365760">
                <a:tc>
                  <a:txBody>
                    <a:bodyPr/>
                    <a:lstStyle/>
                    <a:p>
                      <a:r>
                        <a:rPr sz="1100" b="0">
                          <a:solidFill>
                            <a:srgbClr val="1F2328"/>
                          </a:solidFill>
                          <a:latin typeface="Microsoft JhengHei"/>
                          <a:ea typeface="Microsoft JhengHei"/>
                        </a:rPr>
                        <a:t>3037 欣興</a:t>
                      </a:r>
                    </a:p>
                  </a:txBody>
                  <a:tcPr>
                    <a:solidFill>
                      <a:srgbClr val="F3F5F8"/>
                    </a:solidFill>
                  </a:tcPr>
                </a:tc>
                <a:tc>
                  <a:txBody>
                    <a:bodyPr/>
                    <a:lstStyle/>
                    <a:p>
                      <a:r>
                        <a:rPr sz="1100" b="0">
                          <a:solidFill>
                            <a:srgbClr val="C8423B"/>
                          </a:solidFill>
                          <a:latin typeface="Microsoft JhengHei"/>
                          <a:ea typeface="Microsoft JhengHei"/>
                        </a:rPr>
                        <a:t>+3.77%</a:t>
                      </a:r>
                    </a:p>
                  </a:txBody>
                  <a:tcPr>
                    <a:solidFill>
                      <a:srgbClr val="F3F5F8"/>
                    </a:solidFill>
                  </a:tcPr>
                </a:tc>
                <a:tc>
                  <a:txBody>
                    <a:bodyPr/>
                    <a:lstStyle/>
                    <a:p>
                      <a:r>
                        <a:rPr sz="1100" b="0">
                          <a:solidFill>
                            <a:srgbClr val="1F2328"/>
                          </a:solidFill>
                          <a:latin typeface="Microsoft JhengHei"/>
                          <a:ea typeface="Microsoft JhengHei"/>
                        </a:rPr>
                        <a:t>+22,800</a:t>
                      </a:r>
                    </a:p>
                  </a:txBody>
                  <a:tcPr>
                    <a:solidFill>
                      <a:srgbClr val="F3F5F8"/>
                    </a:solidFill>
                  </a:tcPr>
                </a:tc>
                <a:tc>
                  <a:txBody>
                    <a:bodyPr/>
                    <a:lstStyle/>
                    <a:p>
                      <a:r>
                        <a:rPr sz="1100" b="0">
                          <a:solidFill>
                            <a:srgbClr val="1F2328"/>
                          </a:solidFill>
                          <a:latin typeface="Microsoft JhengHei"/>
                          <a:ea typeface="Microsoft JhengHei"/>
                        </a:rPr>
                        <a:t>+3.62%</a:t>
                      </a:r>
                    </a:p>
                  </a:txBody>
                  <a:tcPr>
                    <a:solidFill>
                      <a:srgbClr val="F3F5F8"/>
                    </a:solidFill>
                  </a:tcPr>
                </a:tc>
                <a:tc>
                  <a:txBody>
                    <a:bodyPr/>
                    <a:lstStyle/>
                    <a:p>
                      <a:r>
                        <a:rPr sz="1100" b="0">
                          <a:solidFill>
                            <a:srgbClr val="1F2328"/>
                          </a:solidFill>
                          <a:latin typeface="Microsoft JhengHei"/>
                          <a:ea typeface="Microsoft JhengHei"/>
                        </a:rPr>
                        <a:t>+1.50%</a:t>
                      </a:r>
                    </a:p>
                  </a:txBody>
                  <a:tcPr>
                    <a:solidFill>
                      <a:srgbClr val="F3F5F8"/>
                    </a:solidFill>
                  </a:tcPr>
                </a:tc>
                <a:tc>
                  <a:txBody>
                    <a:bodyPr/>
                    <a:lstStyle/>
                    <a:p>
                      <a:r>
                        <a:rPr sz="1100" b="0">
                          <a:solidFill>
                            <a:srgbClr val="1F2328"/>
                          </a:solidFill>
                          <a:latin typeface="Microsoft JhengHei"/>
                          <a:ea typeface="Microsoft JhengHei"/>
                        </a:rPr>
                        <a:t>-1.35%</a:t>
                      </a:r>
                    </a:p>
                  </a:txBody>
                  <a:tcPr>
                    <a:solidFill>
                      <a:srgbClr val="F3F5F8"/>
                    </a:solidFill>
                  </a:tcPr>
                </a:tc>
                <a:tc>
                  <a:txBody>
                    <a:bodyPr/>
                    <a:lstStyle/>
                    <a:p>
                      <a:r>
                        <a:rPr sz="1100" b="0">
                          <a:solidFill>
                            <a:srgbClr val="1F2328"/>
                          </a:solidFill>
                          <a:latin typeface="Microsoft JhengHei"/>
                          <a:ea typeface="Microsoft JhengHei"/>
                        </a:rPr>
                        <a:t>大盤因素</a:t>
                      </a:r>
                    </a:p>
                  </a:txBody>
                  <a:tcPr>
                    <a:solidFill>
                      <a:srgbClr val="F3F5F8"/>
                    </a:solidFill>
                  </a:tcPr>
                </a:tc>
              </a:tr>
              <a:tr h="365760">
                <a:tc>
                  <a:txBody>
                    <a:bodyPr/>
                    <a:lstStyle/>
                    <a:p>
                      <a:r>
                        <a:rPr sz="1100" b="0">
                          <a:solidFill>
                            <a:srgbClr val="1F2328"/>
                          </a:solidFill>
                          <a:latin typeface="Microsoft JhengHei"/>
                          <a:ea typeface="Microsoft JhengHei"/>
                        </a:rPr>
                        <a:t>2885 元大金</a:t>
                      </a:r>
                    </a:p>
                  </a:txBody>
                  <a:tcPr>
                    <a:solidFill>
                      <a:srgbClr val="FFFFFF"/>
                    </a:solidFill>
                  </a:tcPr>
                </a:tc>
                <a:tc>
                  <a:txBody>
                    <a:bodyPr/>
                    <a:lstStyle/>
                    <a:p>
                      <a:r>
                        <a:rPr sz="1100" b="0">
                          <a:solidFill>
                            <a:srgbClr val="2E8B57"/>
                          </a:solidFill>
                          <a:latin typeface="Microsoft JhengHei"/>
                          <a:ea typeface="Microsoft JhengHei"/>
                        </a:rPr>
                        <a:t>-0.27%</a:t>
                      </a:r>
                    </a:p>
                  </a:txBody>
                  <a:tcPr>
                    <a:solidFill>
                      <a:srgbClr val="FFFFFF"/>
                    </a:solidFill>
                  </a:tcPr>
                </a:tc>
                <a:tc>
                  <a:txBody>
                    <a:bodyPr/>
                    <a:lstStyle/>
                    <a:p>
                      <a:r>
                        <a:rPr sz="1100" b="0">
                          <a:solidFill>
                            <a:srgbClr val="1F2328"/>
                          </a:solidFill>
                          <a:latin typeface="Microsoft JhengHei"/>
                          <a:ea typeface="Microsoft JhengHei"/>
                        </a:rPr>
                        <a:t>-200</a:t>
                      </a:r>
                    </a:p>
                  </a:txBody>
                  <a:tcPr>
                    <a:solidFill>
                      <a:srgbClr val="FFFFFF"/>
                    </a:solidFill>
                  </a:tcPr>
                </a:tc>
                <a:tc>
                  <a:txBody>
                    <a:bodyPr/>
                    <a:lstStyle/>
                    <a:p>
                      <a:r>
                        <a:rPr sz="1100" b="0">
                          <a:solidFill>
                            <a:srgbClr val="1F2328"/>
                          </a:solidFill>
                          <a:latin typeface="Microsoft JhengHei"/>
                          <a:ea typeface="Microsoft JhengHei"/>
                        </a:rPr>
                        <a:t>+1.09%</a:t>
                      </a:r>
                    </a:p>
                  </a:txBody>
                  <a:tcPr>
                    <a:solidFill>
                      <a:srgbClr val="FFFFFF"/>
                    </a:solidFill>
                  </a:tcPr>
                </a:tc>
                <a:tc>
                  <a:txBody>
                    <a:bodyPr/>
                    <a:lstStyle/>
                    <a:p>
                      <a:r>
                        <a:rPr sz="1100" b="0">
                          <a:solidFill>
                            <a:srgbClr val="1F2328"/>
                          </a:solidFill>
                          <a:latin typeface="Microsoft JhengHei"/>
                          <a:ea typeface="Microsoft JhengHei"/>
                        </a:rPr>
                        <a:t>-2.66%</a:t>
                      </a:r>
                    </a:p>
                  </a:txBody>
                  <a:tcPr>
                    <a:solidFill>
                      <a:srgbClr val="FFFFFF"/>
                    </a:solidFill>
                  </a:tcPr>
                </a:tc>
                <a:tc>
                  <a:txBody>
                    <a:bodyPr/>
                    <a:lstStyle/>
                    <a:p>
                      <a:r>
                        <a:rPr sz="1100" b="0">
                          <a:solidFill>
                            <a:srgbClr val="1F2328"/>
                          </a:solidFill>
                          <a:latin typeface="Microsoft JhengHei"/>
                          <a:ea typeface="Microsoft JhengHei"/>
                        </a:rPr>
                        <a:t>+1.29%</a:t>
                      </a:r>
                    </a:p>
                  </a:txBody>
                  <a:tcPr>
                    <a:solidFill>
                      <a:srgbClr val="FFFFFF"/>
                    </a:solidFill>
                  </a:tcPr>
                </a:tc>
                <a:tc>
                  <a:txBody>
                    <a:bodyPr/>
                    <a:lstStyle/>
                    <a:p>
                      <a:r>
                        <a:rPr sz="1100" b="0">
                          <a:solidFill>
                            <a:srgbClr val="1F2328"/>
                          </a:solidFill>
                          <a:latin typeface="Microsoft JhengHei"/>
                          <a:ea typeface="Microsoft JhengHei"/>
                        </a:rPr>
                        <a:t>產業因素</a:t>
                      </a:r>
                    </a:p>
                  </a:txBody>
                  <a:tcPr>
                    <a:solidFill>
                      <a:srgbClr val="FFFFFF"/>
                    </a:solidFill>
                  </a:tcPr>
                </a:tc>
              </a:tr>
            </a:tbl>
          </a:graphicData>
        </a:graphic>
      </p:graphicFrame>
      <p:sp>
        <p:nvSpPr>
          <p:cNvPr id="6" name="TextBox 5"/>
          <p:cNvSpPr txBox="1"/>
          <p:nvPr/>
        </p:nvSpPr>
        <p:spPr>
          <a:xfrm>
            <a:off x="594360" y="6949440"/>
            <a:ext cx="10972800" cy="1828800"/>
          </a:xfrm>
          <a:prstGeom prst="rect">
            <a:avLst/>
          </a:prstGeom>
          <a:noFill/>
        </p:spPr>
        <p:txBody>
          <a:bodyPr wrap="square">
            <a:spAutoFit/>
          </a:bodyPr>
          <a:lstStyle/>
          <a:p>
            <a:pPr>
              <a:spcAft>
                <a:spcPts val="400"/>
              </a:spcAft>
            </a:pPr>
            <a:r>
              <a:rPr sz="1000" b="0">
                <a:solidFill>
                  <a:srgbClr val="1F2328"/>
                </a:solidFill>
                <a:latin typeface="Microsoft JhengHei"/>
                <a:ea typeface="Microsoft JhengHei"/>
              </a:rPr>
              <a:t>• 2026-10-28 加權指數 +2.04%。5880 合庫金 今日下跌 -1.22%（-8,400 元），主因為「產業因素」（-2.51%）；2889 國票金 今日上漲 +0.29%（+2,021 元），主因為「個股特有因素」（+2.85%）；2845 遠東銀 今日下跌 -1.87%（-9,018 元），主因為「產業因素」（-2.51%）；2915 潤泰全 今日下跌 -1.04%（-4,304 元），主因為「個股特有因素」（-1.44%）；3189 景碩 今日上漲 +9.99%（+154,066 元），主因為「個股特有因素」（+4.43%）；3591 艾笛森 今日上漲 +3.35%（+18,475 元），主因為「產業因素」（+2.19%）；1560 中砂 今日上漲 +9.86%（+89,462 元），主因為「個股特有因素」（+6.45%）；6196 帆宣 今日上漲 +1.37%（+17,200 元），主因為「大盤因素」（+2.72%）；6213 聯茂 今日上漲 +4.29%（+32,000 元），主因為「大盤因素」（+3.06%）；2103 台橡 今日下跌 -1.06%（-900 元），主因為「產業因素」（-2.90%）；2360 致茂 今日上漲 +4.09%（+640 元），主因為「大盤因素」（+3.11%）；6182 合晶 今日上漲 +2.94%（+3,000 元），主因為「大盤因素」（+3.66%）；3037 欣興 今日上漲 +3.77%（+22,800 元），主因為「大盤因素」（+3.62%）；2885 元大金 今日下跌 -0.27%（-200 元），主因為「產業因素」（-2.66%）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產業強弱</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12</a:t>
            </a:r>
          </a:p>
        </p:txBody>
      </p:sp>
      <p:pic>
        <p:nvPicPr>
          <p:cNvPr id="5" name="Picture 4" descr="2026-10-29_盤前報告_sector.png"/>
          <p:cNvPicPr>
            <a:picLocks noChangeAspect="1"/>
          </p:cNvPicPr>
          <p:nvPr/>
        </p:nvPicPr>
        <p:blipFill>
          <a:blip r:embed="rId2"/>
          <a:stretch>
            <a:fillRect/>
          </a:stretch>
        </p:blipFill>
        <p:spPr>
          <a:xfrm>
            <a:off x="2343619" y="1097280"/>
            <a:ext cx="7504457" cy="52120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虧損如何補回</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13</a:t>
            </a:r>
          </a:p>
        </p:txBody>
      </p:sp>
      <p:sp>
        <p:nvSpPr>
          <p:cNvPr id="5" name="Rectangle 4"/>
          <p:cNvSpPr/>
          <p:nvPr/>
        </p:nvSpPr>
        <p:spPr>
          <a:xfrm>
            <a:off x="457200" y="1097280"/>
            <a:ext cx="11247120" cy="17373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10972800" cy="1554480"/>
          </a:xfrm>
          <a:prstGeom prst="rect">
            <a:avLst/>
          </a:prstGeom>
          <a:noFill/>
        </p:spPr>
        <p:txBody>
          <a:bodyPr wrap="square">
            <a:spAutoFit/>
          </a:bodyPr>
          <a:lstStyle/>
          <a:p>
            <a:pPr>
              <a:spcAft>
                <a:spcPts val="400"/>
              </a:spcAft>
            </a:pPr>
            <a:r>
              <a:rPr sz="900" b="0">
                <a:solidFill>
                  <a:srgbClr val="1F2328"/>
                </a:solidFill>
                <a:latin typeface="Microsoft JhengHei"/>
                <a:ea typeface="Microsoft JhengHei"/>
              </a:rPr>
              <a:t>• 累積損益 -1,211,484 元（-12.11%），已實現 -977,655 元；回到初始資金需上漲 13.78%；只有正報酬才列入排名，補回虧損是第一優先；現有持股依模型加權的一個月預期報酬 +5.40%（約 +474,720 元）；進攻籃最佳替換候選：8215 明基材，一個月預期報酬 +13.11%，創新高機率 52.8%；穩健籃最佳替換候選：00731 復華富時高息低波，一個月預期報酬 +4.40%，收正報酬機率 77.3%。2845 遠東銀：獲利換股（已獲利 +6,526 元（+1.39%）先入袋；這檔一個月預期只剩 +1.01%，轉買 00731 復華富時高息低波（預期 +4.40%）扣除換股成本後多 2.80%（門檻 1.0%），且收正報酬機率不低於原標的）；2915 潤泰全：換股（00731 復華富時高息低波 扣除換股成本後的預期報酬比續抱高 1.97%（門檻 1.0%），且收正報酬機率不低於原標的 → 換股補回虧損較快；回收資金依綜合分數配置到買進候選，各檔仍受單一標的與產業上限約束）；2889 國票金：獲利換股（已獲利 +42,867 元（+6.61%）先入袋；這檔一個月預期只剩 +2.47%，轉買 00731 復華富時高息低波（預期 +4.40%）扣除換股成本後多 1.34%（門檻 1.0%），且收正報酬機率不低於原標的）；2360 致茂：停損換股（收盤 2035.0 已跌破停損價 2069.91，依紀律出場；資金轉往評分最高的候選標的）；5880 合庫金：獲利換股（已獲利 +55,505 元（+8.85%）先入袋；這檔一個月預期只剩 +2.64%，轉買 00731 復華富時高息低波（預期 +4.40%）扣除換股成本後多 1.17%（門檻 1.0%），且收正報酬機率不低於原標的）；2885 元大金：續抱（買進第 6 個交易日，未滿 10 個交易日不換股、不因分數小幅轉弱賣出（模型排名每天都會小幅變動，來回換股要付約 0.58% 成本）；跌破停損 67.62 才出場）；1560 中砂：停損換股（收盤 914.0 已跌破停損價 936.69，依紀律出場；資金轉往評分最高的候選標的）；6196 帆宣：停損換股（收盤 592.0 已跌破停損價 599.23，依紀律出場；資金轉往評分最高的候選標的）；2103 台橡：換股（8215 明基材 扣除換股成本後的預期報酬比續抱高 8.88%（門檻 1.0%），且創新高機率不低於原標的 → 換股補回虧損較快；回收資金依綜合分數配置到買進候選，各檔仍受單一標的與產業上限約束）；3037 欣興：換股（8215 明基材 扣除換股成本後的預期報酬比續抱高 7.94%（門檻 1.0%），且創新高機率不低於原標的 → 換股補回虧損較快；回收資金依綜合分數配置到買進候選，各檔仍受單一標的與產業上限約束）；6182 合晶：換股（8215 明基材 扣除換股成本後的預期報酬比續抱高 7.91%（門檻 1.0%），且創新高機率不低於原標的 → 換股補回虧損較快；回收資金依綜合分數配置到買進候選，各檔仍受單一標的與產業上限約束）；3189 景碩：續抱（模型預期仍為正，未觸及停損，換股的預期效益不足以支付換股成本）；6213 聯茂：續抱並可加碼（模型排名仍在全市場前 8%、股價在月線之上、虧損未擴大，權重 8.9% 仍低於上限，可逢回加碼攤低成本）；3591 艾笛森：續抱（模型預期仍為正，未觸及停損，換股的預期效益不足以支付換股成本）</a:t>
            </a:r>
          </a:p>
        </p:txBody>
      </p:sp>
      <p:sp>
        <p:nvSpPr>
          <p:cNvPr id="7" name="TextBox 6"/>
          <p:cNvSpPr txBox="1"/>
          <p:nvPr/>
        </p:nvSpPr>
        <p:spPr>
          <a:xfrm>
            <a:off x="594360" y="3108960"/>
            <a:ext cx="10972800" cy="3108960"/>
          </a:xfrm>
          <a:prstGeom prst="rect">
            <a:avLst/>
          </a:prstGeom>
          <a:noFill/>
        </p:spPr>
        <p:txBody>
          <a:bodyPr wrap="square">
            <a:spAutoFit/>
          </a:bodyPr>
          <a:lstStyle/>
          <a:p>
            <a:pPr>
              <a:spcAft>
                <a:spcPts val="400"/>
              </a:spcAft>
            </a:pPr>
            <a:r>
              <a:rPr sz="900" b="0">
                <a:solidFill>
                  <a:srgbClr val="1F2328"/>
                </a:solidFill>
                <a:latin typeface="Microsoft JhengHei"/>
                <a:ea typeface="Microsoft JhengHei"/>
              </a:rPr>
              <a:t>• 累積損益 -1,211,484 元（-12.11%），已實現 -977,655 元</a:t>
            </a:r>
          </a:p>
          <a:p>
            <a:pPr>
              <a:spcAft>
                <a:spcPts val="400"/>
              </a:spcAft>
            </a:pPr>
            <a:r>
              <a:rPr sz="900" b="0">
                <a:solidFill>
                  <a:srgbClr val="1F2328"/>
                </a:solidFill>
                <a:latin typeface="Microsoft JhengHei"/>
                <a:ea typeface="Microsoft JhengHei"/>
              </a:rPr>
              <a:t>• 回到初始資金需上漲 13.78%；只有正報酬才列入排名，補回虧損是第一優先</a:t>
            </a:r>
          </a:p>
          <a:p>
            <a:pPr>
              <a:spcAft>
                <a:spcPts val="400"/>
              </a:spcAft>
            </a:pPr>
            <a:r>
              <a:rPr sz="900" b="0">
                <a:solidFill>
                  <a:srgbClr val="1F2328"/>
                </a:solidFill>
                <a:latin typeface="Microsoft JhengHei"/>
                <a:ea typeface="Microsoft JhengHei"/>
              </a:rPr>
              <a:t>• 現有持股依模型加權的一個月預期報酬 +5.40%（約 +474,720 元）</a:t>
            </a:r>
          </a:p>
          <a:p>
            <a:pPr>
              <a:spcAft>
                <a:spcPts val="400"/>
              </a:spcAft>
            </a:pPr>
            <a:r>
              <a:rPr sz="900" b="0">
                <a:solidFill>
                  <a:srgbClr val="1F2328"/>
                </a:solidFill>
                <a:latin typeface="Microsoft JhengHei"/>
                <a:ea typeface="Microsoft JhengHei"/>
              </a:rPr>
              <a:t>• 進攻籃最佳替換候選：8215 明基材，一個月預期報酬 +13.11%，創新高機率 52.8%</a:t>
            </a:r>
          </a:p>
          <a:p>
            <a:pPr>
              <a:spcAft>
                <a:spcPts val="400"/>
              </a:spcAft>
            </a:pPr>
            <a:r>
              <a:rPr sz="900" b="0">
                <a:solidFill>
                  <a:srgbClr val="1F2328"/>
                </a:solidFill>
                <a:latin typeface="Microsoft JhengHei"/>
                <a:ea typeface="Microsoft JhengHei"/>
              </a:rPr>
              <a:t>• 穩健籃最佳替換候選：00731 復華富時高息低波，一個月預期報酬 +4.40%，收正報酬機率 77.3%</a:t>
            </a:r>
          </a:p>
          <a:p>
            <a:pPr>
              <a:spcAft>
                <a:spcPts val="400"/>
              </a:spcAft>
            </a:pPr>
            <a:r>
              <a:rPr sz="900" b="0">
                <a:solidFill>
                  <a:srgbClr val="1F2328"/>
                </a:solidFill>
                <a:latin typeface="Microsoft JhengHei"/>
                <a:ea typeface="Microsoft JhengHei"/>
              </a:rPr>
              <a:t>【獲利換股】2845 遠東銀（+6,526 元）：已獲利 +6,526 元（+1.39%）先入袋；這檔一個月預期只剩 +1.01%，轉買 00731 復華富時高息低波（預期 +4.40%）扣除換股成本後多 2.80%（門檻 1.0%），且收正報酬機率不低於原標的</a:t>
            </a:r>
          </a:p>
          <a:p>
            <a:pPr>
              <a:spcAft>
                <a:spcPts val="400"/>
              </a:spcAft>
            </a:pPr>
            <a:r>
              <a:rPr sz="900" b="0">
                <a:solidFill>
                  <a:srgbClr val="1F2328"/>
                </a:solidFill>
                <a:latin typeface="Microsoft JhengHei"/>
                <a:ea typeface="Microsoft JhengHei"/>
              </a:rPr>
              <a:t>【換股】2915 潤泰全（-2,453 元）：00731 復華富時高息低波 扣除換股成本後的預期報酬比續抱高 1.97%（門檻 1.0%），且收正報酬機率不低於原標的 → 換股補回虧損較快；回收資金依綜合分數配置到買進候選，各檔仍受單一標的與產業上限約束</a:t>
            </a:r>
          </a:p>
          <a:p>
            <a:pPr>
              <a:spcAft>
                <a:spcPts val="400"/>
              </a:spcAft>
            </a:pPr>
            <a:r>
              <a:rPr sz="900" b="0">
                <a:solidFill>
                  <a:srgbClr val="1F2328"/>
                </a:solidFill>
                <a:latin typeface="Microsoft JhengHei"/>
                <a:ea typeface="Microsoft JhengHei"/>
              </a:rPr>
              <a:t>【獲利換股】2889 國票金（+42,867 元）：已獲利 +42,867 元（+6.61%）先入袋；這檔一個月預期只剩 +2.47%，轉買 00731 復華富時高息低波（預期 +4.40%）扣除換股成本後多 1.34%（門檻 1.0%），且收正報酬機率不低於原標的</a:t>
            </a:r>
          </a:p>
          <a:p>
            <a:pPr>
              <a:spcAft>
                <a:spcPts val="400"/>
              </a:spcAft>
            </a:pPr>
            <a:r>
              <a:rPr sz="900" b="0">
                <a:solidFill>
                  <a:srgbClr val="1F2328"/>
                </a:solidFill>
                <a:latin typeface="Microsoft JhengHei"/>
                <a:ea typeface="Microsoft JhengHei"/>
              </a:rPr>
              <a:t>【停損換股】2360 致茂（-2,645 元）：收盤 2035.0 已跌破停損價 2069.91，依紀律出場；資金轉往評分最高的候選標的</a:t>
            </a:r>
          </a:p>
          <a:p>
            <a:pPr>
              <a:spcAft>
                <a:spcPts val="400"/>
              </a:spcAft>
            </a:pPr>
            <a:r>
              <a:rPr sz="900" b="0">
                <a:solidFill>
                  <a:srgbClr val="1F2328"/>
                </a:solidFill>
                <a:latin typeface="Microsoft JhengHei"/>
                <a:ea typeface="Microsoft JhengHei"/>
              </a:rPr>
              <a:t>【獲利換股】5880 合庫金（+55,505 元）：已獲利 +55,505 元（+8.85%）先入袋；這檔一個月預期只剩 +2.64%，轉買 00731 復華富時高息低波（預期 +4.40%）扣除換股成本後多 1.17%（門檻 1.0%），且收正報酬機率不低於原標的</a:t>
            </a:r>
          </a:p>
          <a:p>
            <a:pPr>
              <a:spcAft>
                <a:spcPts val="400"/>
              </a:spcAft>
            </a:pPr>
            <a:r>
              <a:rPr sz="900" b="0">
                <a:solidFill>
                  <a:srgbClr val="1F2328"/>
                </a:solidFill>
                <a:latin typeface="Microsoft JhengHei"/>
                <a:ea typeface="Microsoft JhengHei"/>
              </a:rPr>
              <a:t>【續抱】2885 元大金（+1,898 元）：買進第 6 個交易日，未滿 10 個交易日不換股、不因分數小幅轉弱賣出（模型排名每天都會小幅變動，來回換股要付約 0.58% 成本）；跌破停損 67.62 才出場</a:t>
            </a:r>
          </a:p>
          <a:p>
            <a:pPr>
              <a:spcAft>
                <a:spcPts val="400"/>
              </a:spcAft>
            </a:pPr>
            <a:r>
              <a:rPr sz="900" b="0">
                <a:solidFill>
                  <a:srgbClr val="1F2328"/>
                </a:solidFill>
                <a:latin typeface="Microsoft JhengHei"/>
                <a:ea typeface="Microsoft JhengHei"/>
              </a:rPr>
              <a:t>【停損換股】1560 中砂（-113,273 元）：收盤 914.0 已跌破停損價 936.69，依紀律出場；資金轉往評分最高的候選標的</a:t>
            </a:r>
          </a:p>
          <a:p>
            <a:pPr>
              <a:spcAft>
                <a:spcPts val="400"/>
              </a:spcAft>
            </a:pPr>
            <a:r>
              <a:rPr sz="900" b="0">
                <a:solidFill>
                  <a:srgbClr val="1F2328"/>
                </a:solidFill>
                <a:latin typeface="Microsoft JhengHei"/>
                <a:ea typeface="Microsoft JhengHei"/>
              </a:rPr>
              <a:t>【停損換股】6196 帆宣（-91,962 元）：收盤 592.0 已跌破停損價 599.23，依紀律出場；資金轉往評分最高的候選標的</a:t>
            </a:r>
          </a:p>
          <a:p>
            <a:pPr>
              <a:spcAft>
                <a:spcPts val="400"/>
              </a:spcAft>
            </a:pPr>
            <a:r>
              <a:rPr sz="900" b="0">
                <a:solidFill>
                  <a:srgbClr val="1F2328"/>
                </a:solidFill>
                <a:latin typeface="Microsoft JhengHei"/>
                <a:ea typeface="Microsoft JhengHei"/>
              </a:rPr>
              <a:t>【換股】2103 台橡（-4,777 元）：8215 明基材 扣除換股成本後的預期報酬比續抱高 8.88%（門檻 1.0%），且創新高機率不低於原標的 → 換股補回虧損較快；回收資金依綜合分數配置到買進候選，各檔仍受單一標的與產業上限約束</a:t>
            </a:r>
          </a:p>
          <a:p>
            <a:pPr>
              <a:spcAft>
                <a:spcPts val="400"/>
              </a:spcAft>
            </a:pPr>
            <a:r>
              <a:rPr sz="900" b="0">
                <a:solidFill>
                  <a:srgbClr val="1F2328"/>
                </a:solidFill>
                <a:latin typeface="Microsoft JhengHei"/>
                <a:ea typeface="Microsoft JhengHei"/>
              </a:rPr>
              <a:t>【換股】3037 欣興（-46,560 元）：8215 明基材 扣除換股成本後的預期報酬比續抱高 7.94%（門檻 1.0%），且創新高機率不低於原標的 → 換股補回虧損較快；回收資金依綜合分數配置到買進候選，各檔仍受單一標的與產業上限約束</a:t>
            </a:r>
          </a:p>
          <a:p>
            <a:pPr>
              <a:spcAft>
                <a:spcPts val="400"/>
              </a:spcAft>
            </a:pPr>
            <a:r>
              <a:rPr sz="900" b="0">
                <a:solidFill>
                  <a:srgbClr val="1F2328"/>
                </a:solidFill>
                <a:latin typeface="Microsoft JhengHei"/>
                <a:ea typeface="Microsoft JhengHei"/>
              </a:rPr>
              <a:t>【換股】6182 合晶（-10,665 元）：8215 明基材 扣除換股成本後的預期報酬比續抱高 7.91%（門檻 1.0%），且創新高機率不低於原標的 → 換股補回虧損較快；回收資金依綜合分數配置到買進候選，各檔仍受單一標的與產業上限約束</a:t>
            </a:r>
          </a:p>
          <a:p>
            <a:pPr>
              <a:spcAft>
                <a:spcPts val="400"/>
              </a:spcAft>
            </a:pPr>
            <a:r>
              <a:rPr sz="900" b="0">
                <a:solidFill>
                  <a:srgbClr val="1F2328"/>
                </a:solidFill>
                <a:latin typeface="Microsoft JhengHei"/>
                <a:ea typeface="Microsoft JhengHei"/>
              </a:rPr>
              <a:t>【續抱】3189 景碩（-80,743 元）：模型預期仍為正，未觸及停損，換股的預期效益不足以支付換股成本</a:t>
            </a:r>
          </a:p>
          <a:p>
            <a:pPr>
              <a:spcAft>
                <a:spcPts val="400"/>
              </a:spcAft>
            </a:pPr>
            <a:r>
              <a:rPr sz="900" b="0">
                <a:solidFill>
                  <a:srgbClr val="1F2328"/>
                </a:solidFill>
                <a:latin typeface="Microsoft JhengHei"/>
                <a:ea typeface="Microsoft JhengHei"/>
              </a:rPr>
              <a:t>【續抱並可加碼】6213 聯茂（+50,965 元）：模型排名仍在全市場前 8%、股價在月線之上、虧損未擴大，權重 8.9% 仍低於上限，可逢回加碼攤低成本</a:t>
            </a:r>
          </a:p>
          <a:p>
            <a:pPr>
              <a:spcAft>
                <a:spcPts val="400"/>
              </a:spcAft>
            </a:pPr>
            <a:r>
              <a:rPr sz="900" b="0">
                <a:solidFill>
                  <a:srgbClr val="1F2328"/>
                </a:solidFill>
                <a:latin typeface="Microsoft JhengHei"/>
                <a:ea typeface="Microsoft JhengHei"/>
              </a:rPr>
              <a:t>【續抱】3591 艾笛森（-37,413 元）：模型預期仍為正，未觸及停損，換股的預期效益不足以支付換股成本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國際大事對持股的影響</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14</a:t>
            </a:r>
          </a:p>
        </p:txBody>
      </p:sp>
      <p:sp>
        <p:nvSpPr>
          <p:cNvPr id="5" name="Rectangle 4"/>
          <p:cNvSpPr/>
          <p:nvPr/>
        </p:nvSpPr>
        <p:spPr>
          <a:xfrm>
            <a:off x="457200" y="1097280"/>
            <a:ext cx="11247120" cy="155448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10972800" cy="1371600"/>
          </a:xfrm>
          <a:prstGeom prst="rect">
            <a:avLst/>
          </a:prstGeom>
          <a:noFill/>
        </p:spPr>
        <p:txBody>
          <a:bodyPr wrap="square">
            <a:spAutoFit/>
          </a:bodyPr>
          <a:lstStyle/>
          <a:p>
            <a:pPr>
              <a:spcAft>
                <a:spcPts val="400"/>
              </a:spcAft>
            </a:pPr>
            <a:r>
              <a:rPr sz="1000" b="0">
                <a:solidFill>
                  <a:srgbClr val="1F2328"/>
                </a:solidFill>
                <a:latin typeface="Microsoft JhengHei"/>
                <a:ea typeface="Microsoft JhengHei"/>
              </a:rPr>
              <a:t>• 聯準會維持利率不變，但市場預期12月升息機率高 → 美國10年債殖利率上升，持股合計預估影響 -956 元（總資產 -0.01%）；AI算力需求推升顯卡價格與記憶體漲價，帶動科技股與相關產業營收成長 → 費城半導體上升，持股合計預估影響 +87,599 元（總資產 +1.00%）；中東戰事加劇市場疑慮，推升國際油價 → 西德州原油上升，持股合計預估影響 -20,020 元（總資產 -0.23%）；專家估中國GDP零成長，消費與投資雙凍 → 中國大型股ETF下降，持股合計預估影響 -14,309 元（總資產 -0.16%）；聯準會維持利率不變，美元走貶 → 美元兌台幣下降，持股合計預估影響 +12,044 元（總資產 +0.14%）；美國司法部質詢輝達收購Hugging Face案，關注AI市場競爭 → 費城半導體下降，持股合計預估影響 -87,599 元（總資產 -1.00%）；中東戰事加劇市場疑慮，推升全球地緣政治風險 → VIX恐慌指數上升，持股合計預估影響 -74,012 元（總資產 -0.84%）；川普稱進口機器人威脅國安，暫不課關稅先展開談判 → VIX恐慌指數上升，持股合計預估影響 -74,012 元（總資產 -0.84%）</a:t>
            </a:r>
          </a:p>
        </p:txBody>
      </p:sp>
      <p:sp>
        <p:nvSpPr>
          <p:cNvPr id="7" name="TextBox 6"/>
          <p:cNvSpPr txBox="1"/>
          <p:nvPr/>
        </p:nvSpPr>
        <p:spPr>
          <a:xfrm>
            <a:off x="594360" y="2926080"/>
            <a:ext cx="10972800" cy="3291840"/>
          </a:xfrm>
          <a:prstGeom prst="rect">
            <a:avLst/>
          </a:prstGeom>
          <a:noFill/>
        </p:spPr>
        <p:txBody>
          <a:bodyPr wrap="square">
            <a:spAutoFit/>
          </a:bodyPr>
          <a:lstStyle/>
          <a:p>
            <a:pPr>
              <a:spcAft>
                <a:spcPts val="400"/>
              </a:spcAft>
            </a:pPr>
            <a:r>
              <a:rPr sz="1200" b="0">
                <a:solidFill>
                  <a:srgbClr val="1F2328"/>
                </a:solidFill>
                <a:latin typeface="Microsoft JhengHei"/>
                <a:ea typeface="Microsoft JhengHei"/>
              </a:rPr>
              <a:t>• 聯準會維持利率不變，但市場預期12月升息機率高 → 美國10年債殖利率↑：預估 -956 元（-0.01%）</a:t>
            </a:r>
          </a:p>
          <a:p>
            <a:pPr>
              <a:spcAft>
                <a:spcPts val="400"/>
              </a:spcAft>
            </a:pPr>
            <a:r>
              <a:rPr sz="1200" b="0">
                <a:solidFill>
                  <a:srgbClr val="1F2328"/>
                </a:solidFill>
                <a:latin typeface="Microsoft JhengHei"/>
                <a:ea typeface="Microsoft JhengHei"/>
              </a:rPr>
              <a:t>• AI算力需求推升顯卡價格與記憶體漲價，帶動科技股與相關產業營收成長 → 費城半導體↑：預估 +87,599 元（+1.00%）</a:t>
            </a:r>
          </a:p>
          <a:p>
            <a:pPr>
              <a:spcAft>
                <a:spcPts val="400"/>
              </a:spcAft>
            </a:pPr>
            <a:r>
              <a:rPr sz="1200" b="0">
                <a:solidFill>
                  <a:srgbClr val="1F2328"/>
                </a:solidFill>
                <a:latin typeface="Microsoft JhengHei"/>
                <a:ea typeface="Microsoft JhengHei"/>
              </a:rPr>
              <a:t>• 中東戰事加劇市場疑慮，推升國際油價 → 西德州原油↑：預估 -20,020 元（-0.23%）</a:t>
            </a:r>
          </a:p>
          <a:p>
            <a:pPr>
              <a:spcAft>
                <a:spcPts val="400"/>
              </a:spcAft>
            </a:pPr>
            <a:r>
              <a:rPr sz="1200" b="0">
                <a:solidFill>
                  <a:srgbClr val="1F2328"/>
                </a:solidFill>
                <a:latin typeface="Microsoft JhengHei"/>
                <a:ea typeface="Microsoft JhengHei"/>
              </a:rPr>
              <a:t>• 專家估中國GDP零成長，消費與投資雙凍 → 中國大型股ETF↓：預估 -14,309 元（-0.16%）</a:t>
            </a:r>
          </a:p>
          <a:p>
            <a:pPr>
              <a:spcAft>
                <a:spcPts val="400"/>
              </a:spcAft>
            </a:pPr>
            <a:r>
              <a:rPr sz="1200" b="0">
                <a:solidFill>
                  <a:srgbClr val="1F2328"/>
                </a:solidFill>
                <a:latin typeface="Microsoft JhengHei"/>
                <a:ea typeface="Microsoft JhengHei"/>
              </a:rPr>
              <a:t>• 聯準會維持利率不變，美元走貶 → 美元兌台幣↓：預估 +12,044 元（+0.14%）</a:t>
            </a:r>
          </a:p>
          <a:p>
            <a:pPr>
              <a:spcAft>
                <a:spcPts val="400"/>
              </a:spcAft>
            </a:pPr>
            <a:r>
              <a:rPr sz="1200" b="0">
                <a:solidFill>
                  <a:srgbClr val="1F2328"/>
                </a:solidFill>
                <a:latin typeface="Microsoft JhengHei"/>
                <a:ea typeface="Microsoft JhengHei"/>
              </a:rPr>
              <a:t>• 美國司法部質詢輝達收購Hugging Face案，關注AI市場競爭 → 費城半導體↓：預估 -87,599 元（-1.00%）</a:t>
            </a:r>
          </a:p>
          <a:p>
            <a:pPr>
              <a:spcAft>
                <a:spcPts val="400"/>
              </a:spcAft>
            </a:pPr>
            <a:r>
              <a:rPr sz="1200" b="0">
                <a:solidFill>
                  <a:srgbClr val="1F2328"/>
                </a:solidFill>
                <a:latin typeface="Microsoft JhengHei"/>
                <a:ea typeface="Microsoft JhengHei"/>
              </a:rPr>
              <a:t>• 中東戰事加劇市場疑慮，推升全球地緣政治風險 → VIX恐慌指數↑：預估 -74,012 元（-0.84%）</a:t>
            </a:r>
          </a:p>
          <a:p>
            <a:pPr>
              <a:spcAft>
                <a:spcPts val="400"/>
              </a:spcAft>
            </a:pPr>
            <a:r>
              <a:rPr sz="1200" b="0">
                <a:solidFill>
                  <a:srgbClr val="1F2328"/>
                </a:solidFill>
                <a:latin typeface="Microsoft JhengHei"/>
                <a:ea typeface="Microsoft JhengHei"/>
              </a:rPr>
              <a:t>• 川普稱進口機器人威脅國安，暫不課關稅先展開談判 → VIX恐慌指數↑：預估 -74,012 元（-0.84%）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國際事件：聯準會維持利率不變，但市場預期12月升息機率高</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15</a:t>
            </a:r>
          </a:p>
        </p:txBody>
      </p:sp>
      <p:graphicFrame>
        <p:nvGraphicFramePr>
          <p:cNvPr id="5" name="Table 4"/>
          <p:cNvGraphicFramePr>
            <a:graphicFrameLocks noGrp="1"/>
          </p:cNvGraphicFramePr>
          <p:nvPr/>
        </p:nvGraphicFramePr>
        <p:xfrm>
          <a:off x="457200" y="1188720"/>
          <a:ext cx="11247117" cy="5486400"/>
        </p:xfrm>
        <a:graphic>
          <a:graphicData uri="http://schemas.openxmlformats.org/drawingml/2006/table">
            <a:tbl>
              <a:tblPr firstRow="1" bandRow="1">
                <a:tableStyleId>{5C22544A-7EE6-4342-B048-85BDC9FD1C3A}</a:tableStyleId>
              </a:tblPr>
              <a:tblGrid>
                <a:gridCol w="2205317"/>
                <a:gridCol w="1102658"/>
                <a:gridCol w="1102658"/>
                <a:gridCol w="1323190"/>
                <a:gridCol w="5513294"/>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敏感度β</a:t>
                      </a:r>
                    </a:p>
                  </a:txBody>
                  <a:tcPr>
                    <a:solidFill>
                      <a:srgbClr val="1F3A5F"/>
                    </a:solidFill>
                  </a:tcPr>
                </a:tc>
                <a:tc>
                  <a:txBody>
                    <a:bodyPr/>
                    <a:lstStyle/>
                    <a:p>
                      <a:r>
                        <a:rPr sz="1100" b="1">
                          <a:solidFill>
                            <a:srgbClr val="FFFFFF"/>
                          </a:solidFill>
                          <a:latin typeface="Microsoft JhengHei"/>
                          <a:ea typeface="Microsoft JhengHei"/>
                        </a:rPr>
                        <a:t>預估影響</a:t>
                      </a:r>
                    </a:p>
                  </a:txBody>
                  <a:tcPr>
                    <a:solidFill>
                      <a:srgbClr val="1F3A5F"/>
                    </a:solidFill>
                  </a:tcPr>
                </a:tc>
                <a:tc>
                  <a:txBody>
                    <a:bodyPr/>
                    <a:lstStyle/>
                    <a:p>
                      <a:r>
                        <a:rPr sz="1100" b="1">
                          <a:solidFill>
                            <a:srgbClr val="FFFFFF"/>
                          </a:solidFill>
                          <a:latin typeface="Microsoft JhengHei"/>
                          <a:ea typeface="Microsoft JhengHei"/>
                        </a:rPr>
                        <a:t>金額(元)</a:t>
                      </a:r>
                    </a:p>
                  </a:txBody>
                  <a:tcPr>
                    <a:solidFill>
                      <a:srgbClr val="1F3A5F"/>
                    </a:solidFill>
                  </a:tcPr>
                </a:tc>
                <a:tc>
                  <a:txBody>
                    <a:bodyPr/>
                    <a:lstStyle/>
                    <a:p>
                      <a:r>
                        <a:rPr sz="1100" b="1">
                          <a:solidFill>
                            <a:srgbClr val="FFFFFF"/>
                          </a:solidFill>
                          <a:latin typeface="Microsoft JhengHei"/>
                          <a:ea typeface="Microsoft JhengHei"/>
                        </a:rPr>
                        <a:t>後續決策</a:t>
                      </a:r>
                    </a:p>
                  </a:txBody>
                  <a:tcPr>
                    <a:solidFill>
                      <a:srgbClr val="1F3A5F"/>
                    </a:solidFill>
                  </a:tcPr>
                </a:tc>
              </a:tr>
              <a:tr h="365760">
                <a:tc>
                  <a:txBody>
                    <a:bodyPr/>
                    <a:lstStyle/>
                    <a:p>
                      <a:r>
                        <a:rPr sz="1100" b="0">
                          <a:solidFill>
                            <a:srgbClr val="1F2328"/>
                          </a:solidFill>
                          <a:latin typeface="Microsoft JhengHei"/>
                          <a:ea typeface="Microsoft JhengHei"/>
                        </a:rPr>
                        <a:t>5880 合庫金</a:t>
                      </a:r>
                    </a:p>
                  </a:txBody>
                  <a:tcPr>
                    <a:solidFill>
                      <a:srgbClr val="F3F5F8"/>
                    </a:solidFill>
                  </a:tcPr>
                </a:tc>
                <a:tc>
                  <a:txBody>
                    <a:bodyPr/>
                    <a:lstStyle/>
                    <a:p>
                      <a:r>
                        <a:rPr sz="1100" b="0">
                          <a:solidFill>
                            <a:srgbClr val="1F2328"/>
                          </a:solidFill>
                          <a:latin typeface="Microsoft JhengHei"/>
                          <a:ea typeface="Microsoft JhengHei"/>
                        </a:rPr>
                        <a:t>-0.0349</a:t>
                      </a:r>
                    </a:p>
                  </a:txBody>
                  <a:tcPr>
                    <a:solidFill>
                      <a:srgbClr val="F3F5F8"/>
                    </a:solidFill>
                  </a:tcPr>
                </a:tc>
                <a:tc>
                  <a:txBody>
                    <a:bodyPr/>
                    <a:lstStyle/>
                    <a:p>
                      <a:r>
                        <a:rPr sz="1100" b="0">
                          <a:solidFill>
                            <a:srgbClr val="2E8B57"/>
                          </a:solidFill>
                          <a:latin typeface="Microsoft JhengHei"/>
                          <a:ea typeface="Microsoft JhengHei"/>
                        </a:rPr>
                        <a:t>-0.14%</a:t>
                      </a:r>
                    </a:p>
                  </a:txBody>
                  <a:tcPr>
                    <a:solidFill>
                      <a:srgbClr val="F3F5F8"/>
                    </a:solidFill>
                  </a:tcPr>
                </a:tc>
                <a:tc>
                  <a:txBody>
                    <a:bodyPr/>
                    <a:lstStyle/>
                    <a:p>
                      <a:r>
                        <a:rPr sz="1100" b="0">
                          <a:solidFill>
                            <a:srgbClr val="1F2328"/>
                          </a:solidFill>
                          <a:latin typeface="Microsoft JhengHei"/>
                          <a:ea typeface="Microsoft JhengHei"/>
                        </a:rPr>
                        <a:t>-956</a:t>
                      </a:r>
                    </a:p>
                  </a:txBody>
                  <a:tcPr>
                    <a:solidFill>
                      <a:srgbClr val="F3F5F8"/>
                    </a:solidFill>
                  </a:tcPr>
                </a:tc>
                <a:tc>
                  <a:txBody>
                    <a:bodyPr/>
                    <a:lstStyle/>
                    <a:p>
                      <a:r>
                        <a:rPr sz="1100" b="0">
                          <a:solidFill>
                            <a:srgbClr val="1F2328"/>
                          </a:solidFill>
                          <a:latin typeface="Microsoft JhengHei"/>
                          <a:ea typeface="Microsoft JhengHei"/>
                        </a:rPr>
                        <a:t>影響有限，維持原決策</a:t>
                      </a:r>
                    </a:p>
                  </a:txBody>
                  <a:tcPr>
                    <a:solidFill>
                      <a:srgbClr val="F3F5F8"/>
                    </a:solidFill>
                  </a:tcPr>
                </a:tc>
              </a:tr>
              <a:tr h="365760">
                <a:tc>
                  <a:txBody>
                    <a:bodyPr/>
                    <a:lstStyle/>
                    <a:p>
                      <a:r>
                        <a:rPr sz="1100" b="0">
                          <a:solidFill>
                            <a:srgbClr val="1F2328"/>
                          </a:solidFill>
                          <a:latin typeface="Microsoft JhengHei"/>
                          <a:ea typeface="Microsoft JhengHei"/>
                        </a:rPr>
                        <a:t>2889 國票金</a:t>
                      </a:r>
                    </a:p>
                  </a:txBody>
                  <a:tcPr>
                    <a:solidFill>
                      <a:srgbClr val="FFFFFF"/>
                    </a:solidFill>
                  </a:tcPr>
                </a:tc>
                <a:tc>
                  <a:txBody>
                    <a:bodyPr/>
                    <a:lstStyle/>
                    <a:p>
                      <a:r>
                        <a:rPr sz="1100" b="0">
                          <a:solidFill>
                            <a:srgbClr val="1F2328"/>
                          </a:solidFill>
                          <a:latin typeface="Microsoft JhengHei"/>
                          <a:ea typeface="Microsoft JhengHei"/>
                        </a:rPr>
                        <a:t>-0.0136</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-0.04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2845 遠東銀</a:t>
                      </a:r>
                    </a:p>
                  </a:txBody>
                  <a:tcPr>
                    <a:solidFill>
                      <a:srgbClr val="F3F5F8"/>
                    </a:solidFill>
                  </a:tcPr>
                </a:tc>
                <a:tc>
                  <a:txBody>
                    <a:bodyPr/>
                    <a:lstStyle/>
                    <a:p>
                      <a:r>
                        <a:rPr sz="1100" b="0">
                          <a:solidFill>
                            <a:srgbClr val="1F2328"/>
                          </a:solidFill>
                          <a:latin typeface="Microsoft JhengHei"/>
                          <a:ea typeface="Microsoft JhengHei"/>
                        </a:rPr>
                        <a:t>-0.0022</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-0.01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2915 潤泰全</a:t>
                      </a:r>
                    </a:p>
                  </a:txBody>
                  <a:tcPr>
                    <a:solidFill>
                      <a:srgbClr val="FFFFFF"/>
                    </a:solidFill>
                  </a:tcPr>
                </a:tc>
                <a:tc>
                  <a:txBody>
                    <a:bodyPr/>
                    <a:lstStyle/>
                    <a:p>
                      <a:r>
                        <a:rPr sz="1100" b="0">
                          <a:solidFill>
                            <a:srgbClr val="1F2328"/>
                          </a:solidFill>
                          <a:latin typeface="Microsoft JhengHei"/>
                          <a:ea typeface="Microsoft JhengHei"/>
                        </a:rPr>
                        <a:t>-0.0429</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-0.12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3189 景碩</a:t>
                      </a:r>
                    </a:p>
                  </a:txBody>
                  <a:tcPr>
                    <a:solidFill>
                      <a:srgbClr val="F3F5F8"/>
                    </a:solidFill>
                  </a:tcPr>
                </a:tc>
                <a:tc>
                  <a:txBody>
                    <a:bodyPr/>
                    <a:lstStyle/>
                    <a:p>
                      <a:r>
                        <a:rPr sz="1100" b="0">
                          <a:solidFill>
                            <a:srgbClr val="1F2328"/>
                          </a:solidFill>
                          <a:latin typeface="Microsoft JhengHei"/>
                          <a:ea typeface="Microsoft JhengHei"/>
                        </a:rPr>
                        <a:t>-0.0694</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-0.05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3591 艾笛森</a:t>
                      </a:r>
                    </a:p>
                  </a:txBody>
                  <a:tcPr>
                    <a:solidFill>
                      <a:srgbClr val="FFFFFF"/>
                    </a:solidFill>
                  </a:tcPr>
                </a:tc>
                <a:tc>
                  <a:txBody>
                    <a:bodyPr/>
                    <a:lstStyle/>
                    <a:p>
                      <a:r>
                        <a:rPr sz="1100" b="0">
                          <a:solidFill>
                            <a:srgbClr val="1F2328"/>
                          </a:solidFill>
                          <a:latin typeface="Microsoft JhengHei"/>
                          <a:ea typeface="Microsoft JhengHei"/>
                        </a:rPr>
                        <a:t>-0.0143</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-0.02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1560 中砂</a:t>
                      </a:r>
                    </a:p>
                  </a:txBody>
                  <a:tcPr>
                    <a:solidFill>
                      <a:srgbClr val="F3F5F8"/>
                    </a:solidFill>
                  </a:tcPr>
                </a:tc>
                <a:tc>
                  <a:txBody>
                    <a:bodyPr/>
                    <a:lstStyle/>
                    <a:p>
                      <a:r>
                        <a:rPr sz="1100" b="0">
                          <a:solidFill>
                            <a:srgbClr val="1F2328"/>
                          </a:solidFill>
                          <a:latin typeface="Microsoft JhengHei"/>
                          <a:ea typeface="Microsoft JhengHei"/>
                        </a:rPr>
                        <a:t>-0.0056</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-0.01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6196 帆宣</a:t>
                      </a:r>
                    </a:p>
                  </a:txBody>
                  <a:tcPr>
                    <a:solidFill>
                      <a:srgbClr val="FFFFFF"/>
                    </a:solidFill>
                  </a:tcPr>
                </a:tc>
                <a:tc>
                  <a:txBody>
                    <a:bodyPr/>
                    <a:lstStyle/>
                    <a:p>
                      <a:r>
                        <a:rPr sz="1100" b="0">
                          <a:solidFill>
                            <a:srgbClr val="1F2328"/>
                          </a:solidFill>
                          <a:latin typeface="Microsoft JhengHei"/>
                          <a:ea typeface="Microsoft JhengHei"/>
                        </a:rPr>
                        <a:t>-0.0908</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-0.11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6213 聯茂</a:t>
                      </a:r>
                    </a:p>
                  </a:txBody>
                  <a:tcPr>
                    <a:solidFill>
                      <a:srgbClr val="F3F5F8"/>
                    </a:solidFill>
                  </a:tcPr>
                </a:tc>
                <a:tc>
                  <a:txBody>
                    <a:bodyPr/>
                    <a:lstStyle/>
                    <a:p>
                      <a:r>
                        <a:rPr sz="1100" b="0">
                          <a:solidFill>
                            <a:srgbClr val="1F2328"/>
                          </a:solidFill>
                          <a:latin typeface="Microsoft JhengHei"/>
                          <a:ea typeface="Microsoft JhengHei"/>
                        </a:rPr>
                        <a:t>-0.0828</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-0.07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2103 台橡</a:t>
                      </a:r>
                    </a:p>
                  </a:txBody>
                  <a:tcPr>
                    <a:solidFill>
                      <a:srgbClr val="FFFFFF"/>
                    </a:solidFill>
                  </a:tcPr>
                </a:tc>
                <a:tc>
                  <a:txBody>
                    <a:bodyPr/>
                    <a:lstStyle/>
                    <a:p>
                      <a:r>
                        <a:rPr sz="1100" b="0">
                          <a:solidFill>
                            <a:srgbClr val="1F2328"/>
                          </a:solidFill>
                          <a:latin typeface="Microsoft JhengHei"/>
                          <a:ea typeface="Microsoft JhengHei"/>
                        </a:rPr>
                        <a:t>0.0642</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+0.09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2360 致茂</a:t>
                      </a:r>
                    </a:p>
                  </a:txBody>
                  <a:tcPr>
                    <a:solidFill>
                      <a:srgbClr val="F3F5F8"/>
                    </a:solidFill>
                  </a:tcPr>
                </a:tc>
                <a:tc>
                  <a:txBody>
                    <a:bodyPr/>
                    <a:lstStyle/>
                    <a:p>
                      <a:r>
                        <a:rPr sz="1100" b="0">
                          <a:solidFill>
                            <a:srgbClr val="1F2328"/>
                          </a:solidFill>
                          <a:latin typeface="Microsoft JhengHei"/>
                          <a:ea typeface="Microsoft JhengHei"/>
                        </a:rPr>
                        <a:t>-0.0948</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-0.09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6182 合晶</a:t>
                      </a:r>
                    </a:p>
                  </a:txBody>
                  <a:tcPr>
                    <a:solidFill>
                      <a:srgbClr val="FFFFFF"/>
                    </a:solidFill>
                  </a:tcPr>
                </a:tc>
                <a:tc>
                  <a:txBody>
                    <a:bodyPr/>
                    <a:lstStyle/>
                    <a:p>
                      <a:r>
                        <a:rPr sz="1100" b="0">
                          <a:solidFill>
                            <a:srgbClr val="1F2328"/>
                          </a:solidFill>
                          <a:latin typeface="Microsoft JhengHei"/>
                          <a:ea typeface="Microsoft JhengHei"/>
                        </a:rPr>
                        <a:t>-0.1374</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-0.11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3037 欣興</a:t>
                      </a:r>
                    </a:p>
                  </a:txBody>
                  <a:tcPr>
                    <a:solidFill>
                      <a:srgbClr val="F3F5F8"/>
                    </a:solidFill>
                  </a:tcPr>
                </a:tc>
                <a:tc>
                  <a:txBody>
                    <a:bodyPr/>
                    <a:lstStyle/>
                    <a:p>
                      <a:r>
                        <a:rPr sz="1100" b="0">
                          <a:solidFill>
                            <a:srgbClr val="1F2328"/>
                          </a:solidFill>
                          <a:latin typeface="Microsoft JhengHei"/>
                          <a:ea typeface="Microsoft JhengHei"/>
                        </a:rPr>
                        <a:t>-0.0334</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-0.03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2885 元大金</a:t>
                      </a:r>
                    </a:p>
                  </a:txBody>
                  <a:tcPr>
                    <a:solidFill>
                      <a:srgbClr val="FFFFFF"/>
                    </a:solidFill>
                  </a:tcPr>
                </a:tc>
                <a:tc>
                  <a:txBody>
                    <a:bodyPr/>
                    <a:lstStyle/>
                    <a:p>
                      <a:r>
                        <a:rPr sz="1100" b="0">
                          <a:solidFill>
                            <a:srgbClr val="1F2328"/>
                          </a:solidFill>
                          <a:latin typeface="Microsoft JhengHei"/>
                          <a:ea typeface="Microsoft JhengHei"/>
                        </a:rPr>
                        <a:t>-0.0447</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-0.10 未達統計顯著（|r| &lt; 0.125），不列入影響</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國際事件：AI算力需求推升顯卡價格與記憶體漲價，帶動科技股與相關產</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16</a:t>
            </a:r>
          </a:p>
        </p:txBody>
      </p:sp>
      <p:graphicFrame>
        <p:nvGraphicFramePr>
          <p:cNvPr id="5" name="Table 4"/>
          <p:cNvGraphicFramePr>
            <a:graphicFrameLocks noGrp="1"/>
          </p:cNvGraphicFramePr>
          <p:nvPr/>
        </p:nvGraphicFramePr>
        <p:xfrm>
          <a:off x="457200" y="1188720"/>
          <a:ext cx="11247117" cy="5486400"/>
        </p:xfrm>
        <a:graphic>
          <a:graphicData uri="http://schemas.openxmlformats.org/drawingml/2006/table">
            <a:tbl>
              <a:tblPr firstRow="1" bandRow="1">
                <a:tableStyleId>{5C22544A-7EE6-4342-B048-85BDC9FD1C3A}</a:tableStyleId>
              </a:tblPr>
              <a:tblGrid>
                <a:gridCol w="2205317"/>
                <a:gridCol w="1102658"/>
                <a:gridCol w="1102658"/>
                <a:gridCol w="1323190"/>
                <a:gridCol w="5513294"/>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敏感度β</a:t>
                      </a:r>
                    </a:p>
                  </a:txBody>
                  <a:tcPr>
                    <a:solidFill>
                      <a:srgbClr val="1F3A5F"/>
                    </a:solidFill>
                  </a:tcPr>
                </a:tc>
                <a:tc>
                  <a:txBody>
                    <a:bodyPr/>
                    <a:lstStyle/>
                    <a:p>
                      <a:r>
                        <a:rPr sz="1100" b="1">
                          <a:solidFill>
                            <a:srgbClr val="FFFFFF"/>
                          </a:solidFill>
                          <a:latin typeface="Microsoft JhengHei"/>
                          <a:ea typeface="Microsoft JhengHei"/>
                        </a:rPr>
                        <a:t>預估影響</a:t>
                      </a:r>
                    </a:p>
                  </a:txBody>
                  <a:tcPr>
                    <a:solidFill>
                      <a:srgbClr val="1F3A5F"/>
                    </a:solidFill>
                  </a:tcPr>
                </a:tc>
                <a:tc>
                  <a:txBody>
                    <a:bodyPr/>
                    <a:lstStyle/>
                    <a:p>
                      <a:r>
                        <a:rPr sz="1100" b="1">
                          <a:solidFill>
                            <a:srgbClr val="FFFFFF"/>
                          </a:solidFill>
                          <a:latin typeface="Microsoft JhengHei"/>
                          <a:ea typeface="Microsoft JhengHei"/>
                        </a:rPr>
                        <a:t>金額(元)</a:t>
                      </a:r>
                    </a:p>
                  </a:txBody>
                  <a:tcPr>
                    <a:solidFill>
                      <a:srgbClr val="1F3A5F"/>
                    </a:solidFill>
                  </a:tcPr>
                </a:tc>
                <a:tc>
                  <a:txBody>
                    <a:bodyPr/>
                    <a:lstStyle/>
                    <a:p>
                      <a:r>
                        <a:rPr sz="1100" b="1">
                          <a:solidFill>
                            <a:srgbClr val="FFFFFF"/>
                          </a:solidFill>
                          <a:latin typeface="Microsoft JhengHei"/>
                          <a:ea typeface="Microsoft JhengHei"/>
                        </a:rPr>
                        <a:t>後續決策</a:t>
                      </a:r>
                    </a:p>
                  </a:txBody>
                  <a:tcPr>
                    <a:solidFill>
                      <a:srgbClr val="1F3A5F"/>
                    </a:solidFill>
                  </a:tcPr>
                </a:tc>
              </a:tr>
              <a:tr h="365760">
                <a:tc>
                  <a:txBody>
                    <a:bodyPr/>
                    <a:lstStyle/>
                    <a:p>
                      <a:r>
                        <a:rPr sz="1100" b="0">
                          <a:solidFill>
                            <a:srgbClr val="1F2328"/>
                          </a:solidFill>
                          <a:latin typeface="Microsoft JhengHei"/>
                          <a:ea typeface="Microsoft JhengHei"/>
                        </a:rPr>
                        <a:t>5880 合庫金</a:t>
                      </a:r>
                    </a:p>
                  </a:txBody>
                  <a:tcPr>
                    <a:solidFill>
                      <a:srgbClr val="F3F5F8"/>
                    </a:solidFill>
                  </a:tcPr>
                </a:tc>
                <a:tc>
                  <a:txBody>
                    <a:bodyPr/>
                    <a:lstStyle/>
                    <a:p>
                      <a:r>
                        <a:rPr sz="1100" b="0">
                          <a:solidFill>
                            <a:srgbClr val="1F2328"/>
                          </a:solidFill>
                          <a:latin typeface="Microsoft JhengHei"/>
                          <a:ea typeface="Microsoft JhengHei"/>
                        </a:rPr>
                        <a:t>0.0366</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+0.11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2889 國票金</a:t>
                      </a:r>
                    </a:p>
                  </a:txBody>
                  <a:tcPr>
                    <a:solidFill>
                      <a:srgbClr val="FFFFFF"/>
                    </a:solidFill>
                  </a:tcPr>
                </a:tc>
                <a:tc>
                  <a:txBody>
                    <a:bodyPr/>
                    <a:lstStyle/>
                    <a:p>
                      <a:r>
                        <a:rPr sz="1100" b="0">
                          <a:solidFill>
                            <a:srgbClr val="1F2328"/>
                          </a:solidFill>
                          <a:latin typeface="Microsoft JhengHei"/>
                          <a:ea typeface="Microsoft JhengHei"/>
                        </a:rPr>
                        <a:t>0.0649</a:t>
                      </a:r>
                    </a:p>
                  </a:txBody>
                  <a:tcPr>
                    <a:solidFill>
                      <a:srgbClr val="FFFFFF"/>
                    </a:solidFill>
                  </a:tcPr>
                </a:tc>
                <a:tc>
                  <a:txBody>
                    <a:bodyPr/>
                    <a:lstStyle/>
                    <a:p>
                      <a:r>
                        <a:rPr sz="1100" b="0">
                          <a:solidFill>
                            <a:srgbClr val="C8423B"/>
                          </a:solidFill>
                          <a:latin typeface="Microsoft JhengHei"/>
                          <a:ea typeface="Microsoft JhengHei"/>
                        </a:rPr>
                        <a:t>+0.19%</a:t>
                      </a:r>
                    </a:p>
                  </a:txBody>
                  <a:tcPr>
                    <a:solidFill>
                      <a:srgbClr val="FFFFFF"/>
                    </a:solidFill>
                  </a:tcPr>
                </a:tc>
                <a:tc>
                  <a:txBody>
                    <a:bodyPr/>
                    <a:lstStyle/>
                    <a:p>
                      <a:r>
                        <a:rPr sz="1100" b="0">
                          <a:solidFill>
                            <a:srgbClr val="1F2328"/>
                          </a:solidFill>
                          <a:latin typeface="Microsoft JhengHei"/>
                          <a:ea typeface="Microsoft JhengHei"/>
                        </a:rPr>
                        <a:t>+1,313</a:t>
                      </a:r>
                    </a:p>
                  </a:txBody>
                  <a:tcPr>
                    <a:solidFill>
                      <a:srgbClr val="FFFFFF"/>
                    </a:solidFill>
                  </a:tcPr>
                </a:tc>
                <a:tc>
                  <a:txBody>
                    <a:bodyPr/>
                    <a:lstStyle/>
                    <a:p>
                      <a:r>
                        <a:rPr sz="1100" b="0">
                          <a:solidFill>
                            <a:srgbClr val="1F2328"/>
                          </a:solidFill>
                          <a:latin typeface="Microsoft JhengHei"/>
                          <a:ea typeface="Microsoft JhengHei"/>
                        </a:rPr>
                        <a:t>影響有限，維持原決策</a:t>
                      </a:r>
                    </a:p>
                  </a:txBody>
                  <a:tcPr>
                    <a:solidFill>
                      <a:srgbClr val="FFFFFF"/>
                    </a:solidFill>
                  </a:tcPr>
                </a:tc>
              </a:tr>
              <a:tr h="365760">
                <a:tc>
                  <a:txBody>
                    <a:bodyPr/>
                    <a:lstStyle/>
                    <a:p>
                      <a:r>
                        <a:rPr sz="1100" b="0">
                          <a:solidFill>
                            <a:srgbClr val="1F2328"/>
                          </a:solidFill>
                          <a:latin typeface="Microsoft JhengHei"/>
                          <a:ea typeface="Microsoft JhengHei"/>
                        </a:rPr>
                        <a:t>2845 遠東銀</a:t>
                      </a:r>
                    </a:p>
                  </a:txBody>
                  <a:tcPr>
                    <a:solidFill>
                      <a:srgbClr val="F3F5F8"/>
                    </a:solidFill>
                  </a:tcPr>
                </a:tc>
                <a:tc>
                  <a:txBody>
                    <a:bodyPr/>
                    <a:lstStyle/>
                    <a:p>
                      <a:r>
                        <a:rPr sz="1100" b="0">
                          <a:solidFill>
                            <a:srgbClr val="1F2328"/>
                          </a:solidFill>
                          <a:latin typeface="Microsoft JhengHei"/>
                          <a:ea typeface="Microsoft JhengHei"/>
                        </a:rPr>
                        <a:t>0.0333</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+0.10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2915 潤泰全</a:t>
                      </a:r>
                    </a:p>
                  </a:txBody>
                  <a:tcPr>
                    <a:solidFill>
                      <a:srgbClr val="FFFFFF"/>
                    </a:solidFill>
                  </a:tcPr>
                </a:tc>
                <a:tc>
                  <a:txBody>
                    <a:bodyPr/>
                    <a:lstStyle/>
                    <a:p>
                      <a:r>
                        <a:rPr sz="1100" b="0">
                          <a:solidFill>
                            <a:srgbClr val="1F2328"/>
                          </a:solidFill>
                          <a:latin typeface="Microsoft JhengHei"/>
                          <a:ea typeface="Microsoft JhengHei"/>
                        </a:rPr>
                        <a:t>0.0663</a:t>
                      </a:r>
                    </a:p>
                  </a:txBody>
                  <a:tcPr>
                    <a:solidFill>
                      <a:srgbClr val="FFFFFF"/>
                    </a:solidFill>
                  </a:tcPr>
                </a:tc>
                <a:tc>
                  <a:txBody>
                    <a:bodyPr/>
                    <a:lstStyle/>
                    <a:p>
                      <a:r>
                        <a:rPr sz="1100" b="0">
                          <a:solidFill>
                            <a:srgbClr val="C8423B"/>
                          </a:solidFill>
                          <a:latin typeface="Microsoft JhengHei"/>
                          <a:ea typeface="Microsoft JhengHei"/>
                        </a:rPr>
                        <a:t>+0.19%</a:t>
                      </a:r>
                    </a:p>
                  </a:txBody>
                  <a:tcPr>
                    <a:solidFill>
                      <a:srgbClr val="FFFFFF"/>
                    </a:solidFill>
                  </a:tcPr>
                </a:tc>
                <a:tc>
                  <a:txBody>
                    <a:bodyPr/>
                    <a:lstStyle/>
                    <a:p>
                      <a:r>
                        <a:rPr sz="1100" b="0">
                          <a:solidFill>
                            <a:srgbClr val="1F2328"/>
                          </a:solidFill>
                          <a:latin typeface="Microsoft JhengHei"/>
                          <a:ea typeface="Microsoft JhengHei"/>
                        </a:rPr>
                        <a:t>+780</a:t>
                      </a:r>
                    </a:p>
                  </a:txBody>
                  <a:tcPr>
                    <a:solidFill>
                      <a:srgbClr val="FFFFFF"/>
                    </a:solidFill>
                  </a:tcPr>
                </a:tc>
                <a:tc>
                  <a:txBody>
                    <a:bodyPr/>
                    <a:lstStyle/>
                    <a:p>
                      <a:r>
                        <a:rPr sz="1100" b="0">
                          <a:solidFill>
                            <a:srgbClr val="1F2328"/>
                          </a:solidFill>
                          <a:latin typeface="Microsoft JhengHei"/>
                          <a:ea typeface="Microsoft JhengHei"/>
                        </a:rPr>
                        <a:t>影響有限，維持原決策</a:t>
                      </a:r>
                    </a:p>
                  </a:txBody>
                  <a:tcPr>
                    <a:solidFill>
                      <a:srgbClr val="FFFFFF"/>
                    </a:solidFill>
                  </a:tcPr>
                </a:tc>
              </a:tr>
              <a:tr h="365760">
                <a:tc>
                  <a:txBody>
                    <a:bodyPr/>
                    <a:lstStyle/>
                    <a:p>
                      <a:r>
                        <a:rPr sz="1100" b="0">
                          <a:solidFill>
                            <a:srgbClr val="1F2328"/>
                          </a:solidFill>
                          <a:latin typeface="Microsoft JhengHei"/>
                          <a:ea typeface="Microsoft JhengHei"/>
                        </a:rPr>
                        <a:t>3189 景碩</a:t>
                      </a:r>
                    </a:p>
                  </a:txBody>
                  <a:tcPr>
                    <a:solidFill>
                      <a:srgbClr val="F3F5F8"/>
                    </a:solidFill>
                  </a:tcPr>
                </a:tc>
                <a:tc>
                  <a:txBody>
                    <a:bodyPr/>
                    <a:lstStyle/>
                    <a:p>
                      <a:r>
                        <a:rPr sz="1100" b="0">
                          <a:solidFill>
                            <a:srgbClr val="1F2328"/>
                          </a:solidFill>
                          <a:latin typeface="Microsoft JhengHei"/>
                          <a:ea typeface="Microsoft JhengHei"/>
                        </a:rPr>
                        <a:t>0.5488</a:t>
                      </a:r>
                    </a:p>
                  </a:txBody>
                  <a:tcPr>
                    <a:solidFill>
                      <a:srgbClr val="F3F5F8"/>
                    </a:solidFill>
                  </a:tcPr>
                </a:tc>
                <a:tc>
                  <a:txBody>
                    <a:bodyPr/>
                    <a:lstStyle/>
                    <a:p>
                      <a:r>
                        <a:rPr sz="1100" b="0">
                          <a:solidFill>
                            <a:srgbClr val="C8423B"/>
                          </a:solidFill>
                          <a:latin typeface="Microsoft JhengHei"/>
                          <a:ea typeface="Microsoft JhengHei"/>
                        </a:rPr>
                        <a:t>+1.57%</a:t>
                      </a:r>
                    </a:p>
                  </a:txBody>
                  <a:tcPr>
                    <a:solidFill>
                      <a:srgbClr val="F3F5F8"/>
                    </a:solidFill>
                  </a:tcPr>
                </a:tc>
                <a:tc>
                  <a:txBody>
                    <a:bodyPr/>
                    <a:lstStyle/>
                    <a:p>
                      <a:r>
                        <a:rPr sz="1100" b="0">
                          <a:solidFill>
                            <a:srgbClr val="1F2328"/>
                          </a:solidFill>
                          <a:latin typeface="Microsoft JhengHei"/>
                          <a:ea typeface="Microsoft JhengHei"/>
                        </a:rPr>
                        <a:t>+26,633</a:t>
                      </a:r>
                    </a:p>
                  </a:txBody>
                  <a:tcPr>
                    <a:solidFill>
                      <a:srgbClr val="F3F5F8"/>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3F5F8"/>
                    </a:solidFill>
                  </a:tcPr>
                </a:tc>
              </a:tr>
              <a:tr h="365760">
                <a:tc>
                  <a:txBody>
                    <a:bodyPr/>
                    <a:lstStyle/>
                    <a:p>
                      <a:r>
                        <a:rPr sz="1100" b="0">
                          <a:solidFill>
                            <a:srgbClr val="1F2328"/>
                          </a:solidFill>
                          <a:latin typeface="Microsoft JhengHei"/>
                          <a:ea typeface="Microsoft JhengHei"/>
                        </a:rPr>
                        <a:t>3591 艾笛森</a:t>
                      </a:r>
                    </a:p>
                  </a:txBody>
                  <a:tcPr>
                    <a:solidFill>
                      <a:srgbClr val="FFFFFF"/>
                    </a:solidFill>
                  </a:tcPr>
                </a:tc>
                <a:tc>
                  <a:txBody>
                    <a:bodyPr/>
                    <a:lstStyle/>
                    <a:p>
                      <a:r>
                        <a:rPr sz="1100" b="0">
                          <a:solidFill>
                            <a:srgbClr val="1F2328"/>
                          </a:solidFill>
                          <a:latin typeface="Microsoft JhengHei"/>
                          <a:ea typeface="Microsoft JhengHei"/>
                        </a:rPr>
                        <a:t>0.1757</a:t>
                      </a:r>
                    </a:p>
                  </a:txBody>
                  <a:tcPr>
                    <a:solidFill>
                      <a:srgbClr val="FFFFFF"/>
                    </a:solidFill>
                  </a:tcPr>
                </a:tc>
                <a:tc>
                  <a:txBody>
                    <a:bodyPr/>
                    <a:lstStyle/>
                    <a:p>
                      <a:r>
                        <a:rPr sz="1100" b="0">
                          <a:solidFill>
                            <a:srgbClr val="C8423B"/>
                          </a:solidFill>
                          <a:latin typeface="Microsoft JhengHei"/>
                          <a:ea typeface="Microsoft JhengHei"/>
                        </a:rPr>
                        <a:t>+0.51%</a:t>
                      </a:r>
                    </a:p>
                  </a:txBody>
                  <a:tcPr>
                    <a:solidFill>
                      <a:srgbClr val="FFFFFF"/>
                    </a:solidFill>
                  </a:tcPr>
                </a:tc>
                <a:tc>
                  <a:txBody>
                    <a:bodyPr/>
                    <a:lstStyle/>
                    <a:p>
                      <a:r>
                        <a:rPr sz="1100" b="0">
                          <a:solidFill>
                            <a:srgbClr val="1F2328"/>
                          </a:solidFill>
                          <a:latin typeface="Microsoft JhengHei"/>
                          <a:ea typeface="Microsoft JhengHei"/>
                        </a:rPr>
                        <a:t>+2,811</a:t>
                      </a:r>
                    </a:p>
                  </a:txBody>
                  <a:tcPr>
                    <a:solidFill>
                      <a:srgbClr val="FFFFFF"/>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FFFFF"/>
                    </a:solidFill>
                  </a:tcPr>
                </a:tc>
              </a:tr>
              <a:tr h="365760">
                <a:tc>
                  <a:txBody>
                    <a:bodyPr/>
                    <a:lstStyle/>
                    <a:p>
                      <a:r>
                        <a:rPr sz="1100" b="0">
                          <a:solidFill>
                            <a:srgbClr val="1F2328"/>
                          </a:solidFill>
                          <a:latin typeface="Microsoft JhengHei"/>
                          <a:ea typeface="Microsoft JhengHei"/>
                        </a:rPr>
                        <a:t>1560 中砂</a:t>
                      </a:r>
                    </a:p>
                  </a:txBody>
                  <a:tcPr>
                    <a:solidFill>
                      <a:srgbClr val="F3F5F8"/>
                    </a:solidFill>
                  </a:tcPr>
                </a:tc>
                <a:tc>
                  <a:txBody>
                    <a:bodyPr/>
                    <a:lstStyle/>
                    <a:p>
                      <a:r>
                        <a:rPr sz="1100" b="0">
                          <a:solidFill>
                            <a:srgbClr val="1F2328"/>
                          </a:solidFill>
                          <a:latin typeface="Microsoft JhengHei"/>
                          <a:ea typeface="Microsoft JhengHei"/>
                        </a:rPr>
                        <a:t>0.4423</a:t>
                      </a:r>
                    </a:p>
                  </a:txBody>
                  <a:tcPr>
                    <a:solidFill>
                      <a:srgbClr val="F3F5F8"/>
                    </a:solidFill>
                  </a:tcPr>
                </a:tc>
                <a:tc>
                  <a:txBody>
                    <a:bodyPr/>
                    <a:lstStyle/>
                    <a:p>
                      <a:r>
                        <a:rPr sz="1100" b="0">
                          <a:solidFill>
                            <a:srgbClr val="C8423B"/>
                          </a:solidFill>
                          <a:latin typeface="Microsoft JhengHei"/>
                          <a:ea typeface="Microsoft JhengHei"/>
                        </a:rPr>
                        <a:t>+1.26%</a:t>
                      </a:r>
                    </a:p>
                  </a:txBody>
                  <a:tcPr>
                    <a:solidFill>
                      <a:srgbClr val="F3F5F8"/>
                    </a:solidFill>
                  </a:tcPr>
                </a:tc>
                <a:tc>
                  <a:txBody>
                    <a:bodyPr/>
                    <a:lstStyle/>
                    <a:p>
                      <a:r>
                        <a:rPr sz="1100" b="0">
                          <a:solidFill>
                            <a:srgbClr val="1F2328"/>
                          </a:solidFill>
                          <a:latin typeface="Microsoft JhengHei"/>
                          <a:ea typeface="Microsoft JhengHei"/>
                        </a:rPr>
                        <a:t>+12,564</a:t>
                      </a:r>
                    </a:p>
                  </a:txBody>
                  <a:tcPr>
                    <a:solidFill>
                      <a:srgbClr val="F3F5F8"/>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3F5F8"/>
                    </a:solidFill>
                  </a:tcPr>
                </a:tc>
              </a:tr>
              <a:tr h="365760">
                <a:tc>
                  <a:txBody>
                    <a:bodyPr/>
                    <a:lstStyle/>
                    <a:p>
                      <a:r>
                        <a:rPr sz="1100" b="0">
                          <a:solidFill>
                            <a:srgbClr val="1F2328"/>
                          </a:solidFill>
                          <a:latin typeface="Microsoft JhengHei"/>
                          <a:ea typeface="Microsoft JhengHei"/>
                        </a:rPr>
                        <a:t>6196 帆宣</a:t>
                      </a:r>
                    </a:p>
                  </a:txBody>
                  <a:tcPr>
                    <a:solidFill>
                      <a:srgbClr val="FFFFFF"/>
                    </a:solidFill>
                  </a:tcPr>
                </a:tc>
                <a:tc>
                  <a:txBody>
                    <a:bodyPr/>
                    <a:lstStyle/>
                    <a:p>
                      <a:r>
                        <a:rPr sz="1100" b="0">
                          <a:solidFill>
                            <a:srgbClr val="1F2328"/>
                          </a:solidFill>
                          <a:latin typeface="Microsoft JhengHei"/>
                          <a:ea typeface="Microsoft JhengHei"/>
                        </a:rPr>
                        <a:t>0.4824</a:t>
                      </a:r>
                    </a:p>
                  </a:txBody>
                  <a:tcPr>
                    <a:solidFill>
                      <a:srgbClr val="FFFFFF"/>
                    </a:solidFill>
                  </a:tcPr>
                </a:tc>
                <a:tc>
                  <a:txBody>
                    <a:bodyPr/>
                    <a:lstStyle/>
                    <a:p>
                      <a:r>
                        <a:rPr sz="1100" b="0">
                          <a:solidFill>
                            <a:srgbClr val="C8423B"/>
                          </a:solidFill>
                          <a:latin typeface="Microsoft JhengHei"/>
                          <a:ea typeface="Microsoft JhengHei"/>
                        </a:rPr>
                        <a:t>+1.38%</a:t>
                      </a:r>
                    </a:p>
                  </a:txBody>
                  <a:tcPr>
                    <a:solidFill>
                      <a:srgbClr val="FFFFFF"/>
                    </a:solidFill>
                  </a:tcPr>
                </a:tc>
                <a:tc>
                  <a:txBody>
                    <a:bodyPr/>
                    <a:lstStyle/>
                    <a:p>
                      <a:r>
                        <a:rPr sz="1100" b="0">
                          <a:solidFill>
                            <a:srgbClr val="1F2328"/>
                          </a:solidFill>
                          <a:latin typeface="Microsoft JhengHei"/>
                          <a:ea typeface="Microsoft JhengHei"/>
                        </a:rPr>
                        <a:t>+17,565</a:t>
                      </a:r>
                    </a:p>
                  </a:txBody>
                  <a:tcPr>
                    <a:solidFill>
                      <a:srgbClr val="FFFFFF"/>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FFFFF"/>
                    </a:solidFill>
                  </a:tcPr>
                </a:tc>
              </a:tr>
              <a:tr h="365760">
                <a:tc>
                  <a:txBody>
                    <a:bodyPr/>
                    <a:lstStyle/>
                    <a:p>
                      <a:r>
                        <a:rPr sz="1100" b="0">
                          <a:solidFill>
                            <a:srgbClr val="1F2328"/>
                          </a:solidFill>
                          <a:latin typeface="Microsoft JhengHei"/>
                          <a:ea typeface="Microsoft JhengHei"/>
                        </a:rPr>
                        <a:t>6213 聯茂</a:t>
                      </a:r>
                    </a:p>
                  </a:txBody>
                  <a:tcPr>
                    <a:solidFill>
                      <a:srgbClr val="F3F5F8"/>
                    </a:solidFill>
                  </a:tcPr>
                </a:tc>
                <a:tc>
                  <a:txBody>
                    <a:bodyPr/>
                    <a:lstStyle/>
                    <a:p>
                      <a:r>
                        <a:rPr sz="1100" b="0">
                          <a:solidFill>
                            <a:srgbClr val="1F2328"/>
                          </a:solidFill>
                          <a:latin typeface="Microsoft JhengHei"/>
                          <a:ea typeface="Microsoft JhengHei"/>
                        </a:rPr>
                        <a:t>0.4325</a:t>
                      </a:r>
                    </a:p>
                  </a:txBody>
                  <a:tcPr>
                    <a:solidFill>
                      <a:srgbClr val="F3F5F8"/>
                    </a:solidFill>
                  </a:tcPr>
                </a:tc>
                <a:tc>
                  <a:txBody>
                    <a:bodyPr/>
                    <a:lstStyle/>
                    <a:p>
                      <a:r>
                        <a:rPr sz="1100" b="0">
                          <a:solidFill>
                            <a:srgbClr val="C8423B"/>
                          </a:solidFill>
                          <a:latin typeface="Microsoft JhengHei"/>
                          <a:ea typeface="Microsoft JhengHei"/>
                        </a:rPr>
                        <a:t>+1.23%</a:t>
                      </a:r>
                    </a:p>
                  </a:txBody>
                  <a:tcPr>
                    <a:solidFill>
                      <a:srgbClr val="F3F5F8"/>
                    </a:solidFill>
                  </a:tcPr>
                </a:tc>
                <a:tc>
                  <a:txBody>
                    <a:bodyPr/>
                    <a:lstStyle/>
                    <a:p>
                      <a:r>
                        <a:rPr sz="1100" b="0">
                          <a:solidFill>
                            <a:srgbClr val="1F2328"/>
                          </a:solidFill>
                          <a:latin typeface="Microsoft JhengHei"/>
                          <a:ea typeface="Microsoft JhengHei"/>
                        </a:rPr>
                        <a:t>+9,569</a:t>
                      </a:r>
                    </a:p>
                  </a:txBody>
                  <a:tcPr>
                    <a:solidFill>
                      <a:srgbClr val="F3F5F8"/>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3F5F8"/>
                    </a:solidFill>
                  </a:tcPr>
                </a:tc>
              </a:tr>
              <a:tr h="365760">
                <a:tc>
                  <a:txBody>
                    <a:bodyPr/>
                    <a:lstStyle/>
                    <a:p>
                      <a:r>
                        <a:rPr sz="1100" b="0">
                          <a:solidFill>
                            <a:srgbClr val="1F2328"/>
                          </a:solidFill>
                          <a:latin typeface="Microsoft JhengHei"/>
                          <a:ea typeface="Microsoft JhengHei"/>
                        </a:rPr>
                        <a:t>2103 台橡</a:t>
                      </a:r>
                    </a:p>
                  </a:txBody>
                  <a:tcPr>
                    <a:solidFill>
                      <a:srgbClr val="FFFFFF"/>
                    </a:solidFill>
                  </a:tcPr>
                </a:tc>
                <a:tc>
                  <a:txBody>
                    <a:bodyPr/>
                    <a:lstStyle/>
                    <a:p>
                      <a:r>
                        <a:rPr sz="1100" b="0">
                          <a:solidFill>
                            <a:srgbClr val="1F2328"/>
                          </a:solidFill>
                          <a:latin typeface="Microsoft JhengHei"/>
                          <a:ea typeface="Microsoft JhengHei"/>
                        </a:rPr>
                        <a:t>0.1302</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+0.12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2360 致茂</a:t>
                      </a:r>
                    </a:p>
                  </a:txBody>
                  <a:tcPr>
                    <a:solidFill>
                      <a:srgbClr val="F3F5F8"/>
                    </a:solidFill>
                  </a:tcPr>
                </a:tc>
                <a:tc>
                  <a:txBody>
                    <a:bodyPr/>
                    <a:lstStyle/>
                    <a:p>
                      <a:r>
                        <a:rPr sz="1100" b="0">
                          <a:solidFill>
                            <a:srgbClr val="1F2328"/>
                          </a:solidFill>
                          <a:latin typeface="Microsoft JhengHei"/>
                          <a:ea typeface="Microsoft JhengHei"/>
                        </a:rPr>
                        <a:t>0.6516</a:t>
                      </a:r>
                    </a:p>
                  </a:txBody>
                  <a:tcPr>
                    <a:solidFill>
                      <a:srgbClr val="F3F5F8"/>
                    </a:solidFill>
                  </a:tcPr>
                </a:tc>
                <a:tc>
                  <a:txBody>
                    <a:bodyPr/>
                    <a:lstStyle/>
                    <a:p>
                      <a:r>
                        <a:rPr sz="1100" b="0">
                          <a:solidFill>
                            <a:srgbClr val="C8423B"/>
                          </a:solidFill>
                          <a:latin typeface="Microsoft JhengHei"/>
                          <a:ea typeface="Microsoft JhengHei"/>
                        </a:rPr>
                        <a:t>+1.86%</a:t>
                      </a:r>
                    </a:p>
                  </a:txBody>
                  <a:tcPr>
                    <a:solidFill>
                      <a:srgbClr val="F3F5F8"/>
                    </a:solidFill>
                  </a:tcPr>
                </a:tc>
                <a:tc>
                  <a:txBody>
                    <a:bodyPr/>
                    <a:lstStyle/>
                    <a:p>
                      <a:r>
                        <a:rPr sz="1100" b="0">
                          <a:solidFill>
                            <a:srgbClr val="1F2328"/>
                          </a:solidFill>
                          <a:latin typeface="Microsoft JhengHei"/>
                          <a:ea typeface="Microsoft JhengHei"/>
                        </a:rPr>
                        <a:t>+303</a:t>
                      </a:r>
                    </a:p>
                  </a:txBody>
                  <a:tcPr>
                    <a:solidFill>
                      <a:srgbClr val="F3F5F8"/>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3F5F8"/>
                    </a:solidFill>
                  </a:tcPr>
                </a:tc>
              </a:tr>
              <a:tr h="365760">
                <a:tc>
                  <a:txBody>
                    <a:bodyPr/>
                    <a:lstStyle/>
                    <a:p>
                      <a:r>
                        <a:rPr sz="1100" b="0">
                          <a:solidFill>
                            <a:srgbClr val="1F2328"/>
                          </a:solidFill>
                          <a:latin typeface="Microsoft JhengHei"/>
                          <a:ea typeface="Microsoft JhengHei"/>
                        </a:rPr>
                        <a:t>6182 合晶</a:t>
                      </a:r>
                    </a:p>
                  </a:txBody>
                  <a:tcPr>
                    <a:solidFill>
                      <a:srgbClr val="FFFFFF"/>
                    </a:solidFill>
                  </a:tcPr>
                </a:tc>
                <a:tc>
                  <a:txBody>
                    <a:bodyPr/>
                    <a:lstStyle/>
                    <a:p>
                      <a:r>
                        <a:rPr sz="1100" b="0">
                          <a:solidFill>
                            <a:srgbClr val="1F2328"/>
                          </a:solidFill>
                          <a:latin typeface="Microsoft JhengHei"/>
                          <a:ea typeface="Microsoft JhengHei"/>
                        </a:rPr>
                        <a:t>0.5743</a:t>
                      </a:r>
                    </a:p>
                  </a:txBody>
                  <a:tcPr>
                    <a:solidFill>
                      <a:srgbClr val="FFFFFF"/>
                    </a:solidFill>
                  </a:tcPr>
                </a:tc>
                <a:tc>
                  <a:txBody>
                    <a:bodyPr/>
                    <a:lstStyle/>
                    <a:p>
                      <a:r>
                        <a:rPr sz="1100" b="0">
                          <a:solidFill>
                            <a:srgbClr val="C8423B"/>
                          </a:solidFill>
                          <a:latin typeface="Microsoft JhengHei"/>
                          <a:ea typeface="Microsoft JhengHei"/>
                        </a:rPr>
                        <a:t>+1.64%</a:t>
                      </a:r>
                    </a:p>
                  </a:txBody>
                  <a:tcPr>
                    <a:solidFill>
                      <a:srgbClr val="FFFFFF"/>
                    </a:solidFill>
                  </a:tcPr>
                </a:tc>
                <a:tc>
                  <a:txBody>
                    <a:bodyPr/>
                    <a:lstStyle/>
                    <a:p>
                      <a:r>
                        <a:rPr sz="1100" b="0">
                          <a:solidFill>
                            <a:srgbClr val="1F2328"/>
                          </a:solidFill>
                          <a:latin typeface="Microsoft JhengHei"/>
                          <a:ea typeface="Microsoft JhengHei"/>
                        </a:rPr>
                        <a:t>+1,722</a:t>
                      </a:r>
                    </a:p>
                  </a:txBody>
                  <a:tcPr>
                    <a:solidFill>
                      <a:srgbClr val="FFFFFF"/>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FFFFF"/>
                    </a:solidFill>
                  </a:tcPr>
                </a:tc>
              </a:tr>
              <a:tr h="365760">
                <a:tc>
                  <a:txBody>
                    <a:bodyPr/>
                    <a:lstStyle/>
                    <a:p>
                      <a:r>
                        <a:rPr sz="1100" b="0">
                          <a:solidFill>
                            <a:srgbClr val="1F2328"/>
                          </a:solidFill>
                          <a:latin typeface="Microsoft JhengHei"/>
                          <a:ea typeface="Microsoft JhengHei"/>
                        </a:rPr>
                        <a:t>3037 欣興</a:t>
                      </a:r>
                    </a:p>
                  </a:txBody>
                  <a:tcPr>
                    <a:solidFill>
                      <a:srgbClr val="F3F5F8"/>
                    </a:solidFill>
                  </a:tcPr>
                </a:tc>
                <a:tc>
                  <a:txBody>
                    <a:bodyPr/>
                    <a:lstStyle/>
                    <a:p>
                      <a:r>
                        <a:rPr sz="1100" b="0">
                          <a:solidFill>
                            <a:srgbClr val="1F2328"/>
                          </a:solidFill>
                          <a:latin typeface="Microsoft JhengHei"/>
                          <a:ea typeface="Microsoft JhengHei"/>
                        </a:rPr>
                        <a:t>0.7748</a:t>
                      </a:r>
                    </a:p>
                  </a:txBody>
                  <a:tcPr>
                    <a:solidFill>
                      <a:srgbClr val="F3F5F8"/>
                    </a:solidFill>
                  </a:tcPr>
                </a:tc>
                <a:tc>
                  <a:txBody>
                    <a:bodyPr/>
                    <a:lstStyle/>
                    <a:p>
                      <a:r>
                        <a:rPr sz="1100" b="0">
                          <a:solidFill>
                            <a:srgbClr val="C8423B"/>
                          </a:solidFill>
                          <a:latin typeface="Microsoft JhengHei"/>
                          <a:ea typeface="Microsoft JhengHei"/>
                        </a:rPr>
                        <a:t>+2.21%</a:t>
                      </a:r>
                    </a:p>
                  </a:txBody>
                  <a:tcPr>
                    <a:solidFill>
                      <a:srgbClr val="F3F5F8"/>
                    </a:solidFill>
                  </a:tcPr>
                </a:tc>
                <a:tc>
                  <a:txBody>
                    <a:bodyPr/>
                    <a:lstStyle/>
                    <a:p>
                      <a:r>
                        <a:rPr sz="1100" b="0">
                          <a:solidFill>
                            <a:srgbClr val="1F2328"/>
                          </a:solidFill>
                          <a:latin typeface="Microsoft JhengHei"/>
                          <a:ea typeface="Microsoft JhengHei"/>
                        </a:rPr>
                        <a:t>+13,857</a:t>
                      </a:r>
                    </a:p>
                  </a:txBody>
                  <a:tcPr>
                    <a:solidFill>
                      <a:srgbClr val="F3F5F8"/>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3F5F8"/>
                    </a:solidFill>
                  </a:tcPr>
                </a:tc>
              </a:tr>
              <a:tr h="365760">
                <a:tc>
                  <a:txBody>
                    <a:bodyPr/>
                    <a:lstStyle/>
                    <a:p>
                      <a:r>
                        <a:rPr sz="1100" b="0">
                          <a:solidFill>
                            <a:srgbClr val="1F2328"/>
                          </a:solidFill>
                          <a:latin typeface="Microsoft JhengHei"/>
                          <a:ea typeface="Microsoft JhengHei"/>
                        </a:rPr>
                        <a:t>2885 元大金</a:t>
                      </a:r>
                    </a:p>
                  </a:txBody>
                  <a:tcPr>
                    <a:solidFill>
                      <a:srgbClr val="FFFFFF"/>
                    </a:solidFill>
                  </a:tcPr>
                </a:tc>
                <a:tc>
                  <a:txBody>
                    <a:bodyPr/>
                    <a:lstStyle/>
                    <a:p>
                      <a:r>
                        <a:rPr sz="1100" b="0">
                          <a:solidFill>
                            <a:srgbClr val="1F2328"/>
                          </a:solidFill>
                          <a:latin typeface="Microsoft JhengHei"/>
                          <a:ea typeface="Microsoft JhengHei"/>
                        </a:rPr>
                        <a:t>0.2309</a:t>
                      </a:r>
                    </a:p>
                  </a:txBody>
                  <a:tcPr>
                    <a:solidFill>
                      <a:srgbClr val="FFFFFF"/>
                    </a:solidFill>
                  </a:tcPr>
                </a:tc>
                <a:tc>
                  <a:txBody>
                    <a:bodyPr/>
                    <a:lstStyle/>
                    <a:p>
                      <a:r>
                        <a:rPr sz="1100" b="0">
                          <a:solidFill>
                            <a:srgbClr val="C8423B"/>
                          </a:solidFill>
                          <a:latin typeface="Microsoft JhengHei"/>
                          <a:ea typeface="Microsoft JhengHei"/>
                        </a:rPr>
                        <a:t>+0.66%</a:t>
                      </a:r>
                    </a:p>
                  </a:txBody>
                  <a:tcPr>
                    <a:solidFill>
                      <a:srgbClr val="FFFFFF"/>
                    </a:solidFill>
                  </a:tcPr>
                </a:tc>
                <a:tc>
                  <a:txBody>
                    <a:bodyPr/>
                    <a:lstStyle/>
                    <a:p>
                      <a:r>
                        <a:rPr sz="1100" b="0">
                          <a:solidFill>
                            <a:srgbClr val="1F2328"/>
                          </a:solidFill>
                          <a:latin typeface="Microsoft JhengHei"/>
                          <a:ea typeface="Microsoft JhengHei"/>
                        </a:rPr>
                        <a:t>+482</a:t>
                      </a:r>
                    </a:p>
                  </a:txBody>
                  <a:tcPr>
                    <a:solidFill>
                      <a:srgbClr val="FFFFFF"/>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國際事件：中東戰事加劇市場疑慮，推升國際油價</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17</a:t>
            </a:r>
          </a:p>
        </p:txBody>
      </p:sp>
      <p:graphicFrame>
        <p:nvGraphicFramePr>
          <p:cNvPr id="5" name="Table 4"/>
          <p:cNvGraphicFramePr>
            <a:graphicFrameLocks noGrp="1"/>
          </p:cNvGraphicFramePr>
          <p:nvPr/>
        </p:nvGraphicFramePr>
        <p:xfrm>
          <a:off x="457200" y="1188720"/>
          <a:ext cx="11247117" cy="5486400"/>
        </p:xfrm>
        <a:graphic>
          <a:graphicData uri="http://schemas.openxmlformats.org/drawingml/2006/table">
            <a:tbl>
              <a:tblPr firstRow="1" bandRow="1">
                <a:tableStyleId>{5C22544A-7EE6-4342-B048-85BDC9FD1C3A}</a:tableStyleId>
              </a:tblPr>
              <a:tblGrid>
                <a:gridCol w="2205317"/>
                <a:gridCol w="1102658"/>
                <a:gridCol w="1102658"/>
                <a:gridCol w="1323190"/>
                <a:gridCol w="5513294"/>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敏感度β</a:t>
                      </a:r>
                    </a:p>
                  </a:txBody>
                  <a:tcPr>
                    <a:solidFill>
                      <a:srgbClr val="1F3A5F"/>
                    </a:solidFill>
                  </a:tcPr>
                </a:tc>
                <a:tc>
                  <a:txBody>
                    <a:bodyPr/>
                    <a:lstStyle/>
                    <a:p>
                      <a:r>
                        <a:rPr sz="1100" b="1">
                          <a:solidFill>
                            <a:srgbClr val="FFFFFF"/>
                          </a:solidFill>
                          <a:latin typeface="Microsoft JhengHei"/>
                          <a:ea typeface="Microsoft JhengHei"/>
                        </a:rPr>
                        <a:t>預估影響</a:t>
                      </a:r>
                    </a:p>
                  </a:txBody>
                  <a:tcPr>
                    <a:solidFill>
                      <a:srgbClr val="1F3A5F"/>
                    </a:solidFill>
                  </a:tcPr>
                </a:tc>
                <a:tc>
                  <a:txBody>
                    <a:bodyPr/>
                    <a:lstStyle/>
                    <a:p>
                      <a:r>
                        <a:rPr sz="1100" b="1">
                          <a:solidFill>
                            <a:srgbClr val="FFFFFF"/>
                          </a:solidFill>
                          <a:latin typeface="Microsoft JhengHei"/>
                          <a:ea typeface="Microsoft JhengHei"/>
                        </a:rPr>
                        <a:t>金額(元)</a:t>
                      </a:r>
                    </a:p>
                  </a:txBody>
                  <a:tcPr>
                    <a:solidFill>
                      <a:srgbClr val="1F3A5F"/>
                    </a:solidFill>
                  </a:tcPr>
                </a:tc>
                <a:tc>
                  <a:txBody>
                    <a:bodyPr/>
                    <a:lstStyle/>
                    <a:p>
                      <a:r>
                        <a:rPr sz="1100" b="1">
                          <a:solidFill>
                            <a:srgbClr val="FFFFFF"/>
                          </a:solidFill>
                          <a:latin typeface="Microsoft JhengHei"/>
                          <a:ea typeface="Microsoft JhengHei"/>
                        </a:rPr>
                        <a:t>後續決策</a:t>
                      </a:r>
                    </a:p>
                  </a:txBody>
                  <a:tcPr>
                    <a:solidFill>
                      <a:srgbClr val="1F3A5F"/>
                    </a:solidFill>
                  </a:tcPr>
                </a:tc>
              </a:tr>
              <a:tr h="365760">
                <a:tc>
                  <a:txBody>
                    <a:bodyPr/>
                    <a:lstStyle/>
                    <a:p>
                      <a:r>
                        <a:rPr sz="1100" b="0">
                          <a:solidFill>
                            <a:srgbClr val="1F2328"/>
                          </a:solidFill>
                          <a:latin typeface="Microsoft JhengHei"/>
                          <a:ea typeface="Microsoft JhengHei"/>
                        </a:rPr>
                        <a:t>5880 合庫金</a:t>
                      </a:r>
                    </a:p>
                  </a:txBody>
                  <a:tcPr>
                    <a:solidFill>
                      <a:srgbClr val="F3F5F8"/>
                    </a:solidFill>
                  </a:tcPr>
                </a:tc>
                <a:tc>
                  <a:txBody>
                    <a:bodyPr/>
                    <a:lstStyle/>
                    <a:p>
                      <a:r>
                        <a:rPr sz="1100" b="0">
                          <a:solidFill>
                            <a:srgbClr val="1F2328"/>
                          </a:solidFill>
                          <a:latin typeface="Microsoft JhengHei"/>
                          <a:ea typeface="Microsoft JhengHei"/>
                        </a:rPr>
                        <a:t>-0.0225</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-0.08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2889 國票金</a:t>
                      </a:r>
                    </a:p>
                  </a:txBody>
                  <a:tcPr>
                    <a:solidFill>
                      <a:srgbClr val="FFFFFF"/>
                    </a:solidFill>
                  </a:tcPr>
                </a:tc>
                <a:tc>
                  <a:txBody>
                    <a:bodyPr/>
                    <a:lstStyle/>
                    <a:p>
                      <a:r>
                        <a:rPr sz="1100" b="0">
                          <a:solidFill>
                            <a:srgbClr val="1F2328"/>
                          </a:solidFill>
                          <a:latin typeface="Microsoft JhengHei"/>
                          <a:ea typeface="Microsoft JhengHei"/>
                        </a:rPr>
                        <a:t>-0.0201</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-0.05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2845 遠東銀</a:t>
                      </a:r>
                    </a:p>
                  </a:txBody>
                  <a:tcPr>
                    <a:solidFill>
                      <a:srgbClr val="F3F5F8"/>
                    </a:solidFill>
                  </a:tcPr>
                </a:tc>
                <a:tc>
                  <a:txBody>
                    <a:bodyPr/>
                    <a:lstStyle/>
                    <a:p>
                      <a:r>
                        <a:rPr sz="1100" b="0">
                          <a:solidFill>
                            <a:srgbClr val="1F2328"/>
                          </a:solidFill>
                          <a:latin typeface="Microsoft JhengHei"/>
                          <a:ea typeface="Microsoft JhengHei"/>
                        </a:rPr>
                        <a:t>-0.0224</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-0.08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2915 潤泰全</a:t>
                      </a:r>
                    </a:p>
                  </a:txBody>
                  <a:tcPr>
                    <a:solidFill>
                      <a:srgbClr val="FFFFFF"/>
                    </a:solidFill>
                  </a:tcPr>
                </a:tc>
                <a:tc>
                  <a:txBody>
                    <a:bodyPr/>
                    <a:lstStyle/>
                    <a:p>
                      <a:r>
                        <a:rPr sz="1100" b="0">
                          <a:solidFill>
                            <a:srgbClr val="1F2328"/>
                          </a:solidFill>
                          <a:latin typeface="Microsoft JhengHei"/>
                          <a:ea typeface="Microsoft JhengHei"/>
                        </a:rPr>
                        <a:t>-0.0099</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-0.02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3189 景碩</a:t>
                      </a:r>
                    </a:p>
                  </a:txBody>
                  <a:tcPr>
                    <a:solidFill>
                      <a:srgbClr val="F3F5F8"/>
                    </a:solidFill>
                  </a:tcPr>
                </a:tc>
                <a:tc>
                  <a:txBody>
                    <a:bodyPr/>
                    <a:lstStyle/>
                    <a:p>
                      <a:r>
                        <a:rPr sz="1100" b="0">
                          <a:solidFill>
                            <a:srgbClr val="1F2328"/>
                          </a:solidFill>
                          <a:latin typeface="Microsoft JhengHei"/>
                          <a:ea typeface="Microsoft JhengHei"/>
                        </a:rPr>
                        <a:t>-0.1133</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-0.07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3591 艾笛森</a:t>
                      </a:r>
                    </a:p>
                  </a:txBody>
                  <a:tcPr>
                    <a:solidFill>
                      <a:srgbClr val="FFFFFF"/>
                    </a:solidFill>
                  </a:tcPr>
                </a:tc>
                <a:tc>
                  <a:txBody>
                    <a:bodyPr/>
                    <a:lstStyle/>
                    <a:p>
                      <a:r>
                        <a:rPr sz="1100" b="0">
                          <a:solidFill>
                            <a:srgbClr val="1F2328"/>
                          </a:solidFill>
                          <a:latin typeface="Microsoft JhengHei"/>
                          <a:ea typeface="Microsoft JhengHei"/>
                        </a:rPr>
                        <a:t>-0.1487</a:t>
                      </a:r>
                    </a:p>
                  </a:txBody>
                  <a:tcPr>
                    <a:solidFill>
                      <a:srgbClr val="FFFFFF"/>
                    </a:solidFill>
                  </a:tcPr>
                </a:tc>
                <a:tc>
                  <a:txBody>
                    <a:bodyPr/>
                    <a:lstStyle/>
                    <a:p>
                      <a:r>
                        <a:rPr sz="1100" b="0">
                          <a:solidFill>
                            <a:srgbClr val="2E8B57"/>
                          </a:solidFill>
                          <a:latin typeface="Microsoft JhengHei"/>
                          <a:ea typeface="Microsoft JhengHei"/>
                        </a:rPr>
                        <a:t>-0.50%</a:t>
                      </a:r>
                    </a:p>
                  </a:txBody>
                  <a:tcPr>
                    <a:solidFill>
                      <a:srgbClr val="FFFFFF"/>
                    </a:solidFill>
                  </a:tcPr>
                </a:tc>
                <a:tc>
                  <a:txBody>
                    <a:bodyPr/>
                    <a:lstStyle/>
                    <a:p>
                      <a:r>
                        <a:rPr sz="1100" b="0">
                          <a:solidFill>
                            <a:srgbClr val="1F2328"/>
                          </a:solidFill>
                          <a:latin typeface="Microsoft JhengHei"/>
                          <a:ea typeface="Microsoft JhengHei"/>
                        </a:rPr>
                        <a:t>-2,756</a:t>
                      </a:r>
                    </a:p>
                  </a:txBody>
                  <a:tcPr>
                    <a:solidFill>
                      <a:srgbClr val="FFFFFF"/>
                    </a:solidFill>
                  </a:tcPr>
                </a:tc>
                <a:tc>
                  <a:txBody>
                    <a:bodyPr/>
                    <a:lstStyle/>
                    <a:p>
                      <a:r>
                        <a:rPr sz="1100" b="0">
                          <a:solidFill>
                            <a:srgbClr val="1F2328"/>
                          </a:solidFill>
                          <a:latin typeface="Microsoft JhengHei"/>
                          <a:ea typeface="Microsoft JhengHei"/>
                        </a:rPr>
                        <a:t>輕度不利：列入觀察，暫不調整部位</a:t>
                      </a:r>
                    </a:p>
                  </a:txBody>
                  <a:tcPr>
                    <a:solidFill>
                      <a:srgbClr val="FFFFFF"/>
                    </a:solidFill>
                  </a:tcPr>
                </a:tc>
              </a:tr>
              <a:tr h="365760">
                <a:tc>
                  <a:txBody>
                    <a:bodyPr/>
                    <a:lstStyle/>
                    <a:p>
                      <a:r>
                        <a:rPr sz="1100" b="0">
                          <a:solidFill>
                            <a:srgbClr val="1F2328"/>
                          </a:solidFill>
                          <a:latin typeface="Microsoft JhengHei"/>
                          <a:ea typeface="Microsoft JhengHei"/>
                        </a:rPr>
                        <a:t>1560 中砂</a:t>
                      </a:r>
                    </a:p>
                  </a:txBody>
                  <a:tcPr>
                    <a:solidFill>
                      <a:srgbClr val="F3F5F8"/>
                    </a:solidFill>
                  </a:tcPr>
                </a:tc>
                <a:tc>
                  <a:txBody>
                    <a:bodyPr/>
                    <a:lstStyle/>
                    <a:p>
                      <a:r>
                        <a:rPr sz="1100" b="0">
                          <a:solidFill>
                            <a:srgbClr val="1F2328"/>
                          </a:solidFill>
                          <a:latin typeface="Microsoft JhengHei"/>
                          <a:ea typeface="Microsoft JhengHei"/>
                        </a:rPr>
                        <a:t>-0.1189</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-0.11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6196 帆宣</a:t>
                      </a:r>
                    </a:p>
                  </a:txBody>
                  <a:tcPr>
                    <a:solidFill>
                      <a:srgbClr val="FFFFFF"/>
                    </a:solidFill>
                  </a:tcPr>
                </a:tc>
                <a:tc>
                  <a:txBody>
                    <a:bodyPr/>
                    <a:lstStyle/>
                    <a:p>
                      <a:r>
                        <a:rPr sz="1100" b="0">
                          <a:solidFill>
                            <a:srgbClr val="1F2328"/>
                          </a:solidFill>
                          <a:latin typeface="Microsoft JhengHei"/>
                          <a:ea typeface="Microsoft JhengHei"/>
                        </a:rPr>
                        <a:t>-0.2392</a:t>
                      </a:r>
                    </a:p>
                  </a:txBody>
                  <a:tcPr>
                    <a:solidFill>
                      <a:srgbClr val="FFFFFF"/>
                    </a:solidFill>
                  </a:tcPr>
                </a:tc>
                <a:tc>
                  <a:txBody>
                    <a:bodyPr/>
                    <a:lstStyle/>
                    <a:p>
                      <a:r>
                        <a:rPr sz="1100" b="0">
                          <a:solidFill>
                            <a:srgbClr val="2E8B57"/>
                          </a:solidFill>
                          <a:latin typeface="Microsoft JhengHei"/>
                          <a:ea typeface="Microsoft JhengHei"/>
                        </a:rPr>
                        <a:t>-0.82%</a:t>
                      </a:r>
                    </a:p>
                  </a:txBody>
                  <a:tcPr>
                    <a:solidFill>
                      <a:srgbClr val="FFFFFF"/>
                    </a:solidFill>
                  </a:tcPr>
                </a:tc>
                <a:tc>
                  <a:txBody>
                    <a:bodyPr/>
                    <a:lstStyle/>
                    <a:p>
                      <a:r>
                        <a:rPr sz="1100" b="0">
                          <a:solidFill>
                            <a:srgbClr val="1F2328"/>
                          </a:solidFill>
                          <a:latin typeface="Microsoft JhengHei"/>
                          <a:ea typeface="Microsoft JhengHei"/>
                        </a:rPr>
                        <a:t>-10,437</a:t>
                      </a:r>
                    </a:p>
                  </a:txBody>
                  <a:tcPr>
                    <a:solidFill>
                      <a:srgbClr val="FFFFFF"/>
                    </a:solidFill>
                  </a:tcPr>
                </a:tc>
                <a:tc>
                  <a:txBody>
                    <a:bodyPr/>
                    <a:lstStyle/>
                    <a:p>
                      <a:r>
                        <a:rPr sz="1100" b="0">
                          <a:solidFill>
                            <a:srgbClr val="1F2328"/>
                          </a:solidFill>
                          <a:latin typeface="Microsoft JhengHei"/>
                          <a:ea typeface="Microsoft JhengHei"/>
                        </a:rPr>
                        <a:t>輕度不利：列入觀察，暫不調整部位</a:t>
                      </a:r>
                    </a:p>
                  </a:txBody>
                  <a:tcPr>
                    <a:solidFill>
                      <a:srgbClr val="FFFFFF"/>
                    </a:solidFill>
                  </a:tcPr>
                </a:tc>
              </a:tr>
              <a:tr h="365760">
                <a:tc>
                  <a:txBody>
                    <a:bodyPr/>
                    <a:lstStyle/>
                    <a:p>
                      <a:r>
                        <a:rPr sz="1100" b="0">
                          <a:solidFill>
                            <a:srgbClr val="1F2328"/>
                          </a:solidFill>
                          <a:latin typeface="Microsoft JhengHei"/>
                          <a:ea typeface="Microsoft JhengHei"/>
                        </a:rPr>
                        <a:t>6213 聯茂</a:t>
                      </a:r>
                    </a:p>
                  </a:txBody>
                  <a:tcPr>
                    <a:solidFill>
                      <a:srgbClr val="F3F5F8"/>
                    </a:solidFill>
                  </a:tcPr>
                </a:tc>
                <a:tc>
                  <a:txBody>
                    <a:bodyPr/>
                    <a:lstStyle/>
                    <a:p>
                      <a:r>
                        <a:rPr sz="1100" b="0">
                          <a:solidFill>
                            <a:srgbClr val="1F2328"/>
                          </a:solidFill>
                          <a:latin typeface="Microsoft JhengHei"/>
                          <a:ea typeface="Microsoft JhengHei"/>
                        </a:rPr>
                        <a:t>-0.2262</a:t>
                      </a:r>
                    </a:p>
                  </a:txBody>
                  <a:tcPr>
                    <a:solidFill>
                      <a:srgbClr val="F3F5F8"/>
                    </a:solidFill>
                  </a:tcPr>
                </a:tc>
                <a:tc>
                  <a:txBody>
                    <a:bodyPr/>
                    <a:lstStyle/>
                    <a:p>
                      <a:r>
                        <a:rPr sz="1100" b="0">
                          <a:solidFill>
                            <a:srgbClr val="2E8B57"/>
                          </a:solidFill>
                          <a:latin typeface="Microsoft JhengHei"/>
                          <a:ea typeface="Microsoft JhengHei"/>
                        </a:rPr>
                        <a:t>-0.78%</a:t>
                      </a:r>
                    </a:p>
                  </a:txBody>
                  <a:tcPr>
                    <a:solidFill>
                      <a:srgbClr val="F3F5F8"/>
                    </a:solidFill>
                  </a:tcPr>
                </a:tc>
                <a:tc>
                  <a:txBody>
                    <a:bodyPr/>
                    <a:lstStyle/>
                    <a:p>
                      <a:r>
                        <a:rPr sz="1100" b="0">
                          <a:solidFill>
                            <a:srgbClr val="1F2328"/>
                          </a:solidFill>
                          <a:latin typeface="Microsoft JhengHei"/>
                          <a:ea typeface="Microsoft JhengHei"/>
                        </a:rPr>
                        <a:t>-6,068</a:t>
                      </a:r>
                    </a:p>
                  </a:txBody>
                  <a:tcPr>
                    <a:solidFill>
                      <a:srgbClr val="F3F5F8"/>
                    </a:solidFill>
                  </a:tcPr>
                </a:tc>
                <a:tc>
                  <a:txBody>
                    <a:bodyPr/>
                    <a:lstStyle/>
                    <a:p>
                      <a:r>
                        <a:rPr sz="1100" b="0">
                          <a:solidFill>
                            <a:srgbClr val="1F2328"/>
                          </a:solidFill>
                          <a:latin typeface="Microsoft JhengHei"/>
                          <a:ea typeface="Microsoft JhengHei"/>
                        </a:rPr>
                        <a:t>輕度不利：列入觀察，暫不調整部位</a:t>
                      </a:r>
                    </a:p>
                  </a:txBody>
                  <a:tcPr>
                    <a:solidFill>
                      <a:srgbClr val="F3F5F8"/>
                    </a:solidFill>
                  </a:tcPr>
                </a:tc>
              </a:tr>
              <a:tr h="365760">
                <a:tc>
                  <a:txBody>
                    <a:bodyPr/>
                    <a:lstStyle/>
                    <a:p>
                      <a:r>
                        <a:rPr sz="1100" b="0">
                          <a:solidFill>
                            <a:srgbClr val="1F2328"/>
                          </a:solidFill>
                          <a:latin typeface="Microsoft JhengHei"/>
                          <a:ea typeface="Microsoft JhengHei"/>
                        </a:rPr>
                        <a:t>2103 台橡</a:t>
                      </a:r>
                    </a:p>
                  </a:txBody>
                  <a:tcPr>
                    <a:solidFill>
                      <a:srgbClr val="FFFFFF"/>
                    </a:solidFill>
                  </a:tcPr>
                </a:tc>
                <a:tc>
                  <a:txBody>
                    <a:bodyPr/>
                    <a:lstStyle/>
                    <a:p>
                      <a:r>
                        <a:rPr sz="1100" b="0">
                          <a:solidFill>
                            <a:srgbClr val="1F2328"/>
                          </a:solidFill>
                          <a:latin typeface="Microsoft JhengHei"/>
                          <a:ea typeface="Microsoft JhengHei"/>
                        </a:rPr>
                        <a:t>0.1262</a:t>
                      </a:r>
                    </a:p>
                  </a:txBody>
                  <a:tcPr>
                    <a:solidFill>
                      <a:srgbClr val="FFFFFF"/>
                    </a:solidFill>
                  </a:tcPr>
                </a:tc>
                <a:tc>
                  <a:txBody>
                    <a:bodyPr/>
                    <a:lstStyle/>
                    <a:p>
                      <a:r>
                        <a:rPr sz="1100" b="0">
                          <a:solidFill>
                            <a:srgbClr val="C8423B"/>
                          </a:solidFill>
                          <a:latin typeface="Microsoft JhengHei"/>
                          <a:ea typeface="Microsoft JhengHei"/>
                        </a:rPr>
                        <a:t>+0.43%</a:t>
                      </a:r>
                    </a:p>
                  </a:txBody>
                  <a:tcPr>
                    <a:solidFill>
                      <a:srgbClr val="FFFFFF"/>
                    </a:solidFill>
                  </a:tcPr>
                </a:tc>
                <a:tc>
                  <a:txBody>
                    <a:bodyPr/>
                    <a:lstStyle/>
                    <a:p>
                      <a:r>
                        <a:rPr sz="1100" b="0">
                          <a:solidFill>
                            <a:srgbClr val="1F2328"/>
                          </a:solidFill>
                          <a:latin typeface="Microsoft JhengHei"/>
                          <a:ea typeface="Microsoft JhengHei"/>
                        </a:rPr>
                        <a:t>+361</a:t>
                      </a:r>
                    </a:p>
                  </a:txBody>
                  <a:tcPr>
                    <a:solidFill>
                      <a:srgbClr val="FFFFFF"/>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FFFFF"/>
                    </a:solidFill>
                  </a:tcPr>
                </a:tc>
              </a:tr>
              <a:tr h="365760">
                <a:tc>
                  <a:txBody>
                    <a:bodyPr/>
                    <a:lstStyle/>
                    <a:p>
                      <a:r>
                        <a:rPr sz="1100" b="0">
                          <a:solidFill>
                            <a:srgbClr val="1F2328"/>
                          </a:solidFill>
                          <a:latin typeface="Microsoft JhengHei"/>
                          <a:ea typeface="Microsoft JhengHei"/>
                        </a:rPr>
                        <a:t>2360 致茂</a:t>
                      </a:r>
                    </a:p>
                  </a:txBody>
                  <a:tcPr>
                    <a:solidFill>
                      <a:srgbClr val="F3F5F8"/>
                    </a:solidFill>
                  </a:tcPr>
                </a:tc>
                <a:tc>
                  <a:txBody>
                    <a:bodyPr/>
                    <a:lstStyle/>
                    <a:p>
                      <a:r>
                        <a:rPr sz="1100" b="0">
                          <a:solidFill>
                            <a:srgbClr val="1F2328"/>
                          </a:solidFill>
                          <a:latin typeface="Microsoft JhengHei"/>
                          <a:ea typeface="Microsoft JhengHei"/>
                        </a:rPr>
                        <a:t>-0.162</a:t>
                      </a:r>
                    </a:p>
                  </a:txBody>
                  <a:tcPr>
                    <a:solidFill>
                      <a:srgbClr val="F3F5F8"/>
                    </a:solidFill>
                  </a:tcPr>
                </a:tc>
                <a:tc>
                  <a:txBody>
                    <a:bodyPr/>
                    <a:lstStyle/>
                    <a:p>
                      <a:r>
                        <a:rPr sz="1100" b="0">
                          <a:solidFill>
                            <a:srgbClr val="2E8B57"/>
                          </a:solidFill>
                          <a:latin typeface="Microsoft JhengHei"/>
                          <a:ea typeface="Microsoft JhengHei"/>
                        </a:rPr>
                        <a:t>-0.55%</a:t>
                      </a:r>
                    </a:p>
                  </a:txBody>
                  <a:tcPr>
                    <a:solidFill>
                      <a:srgbClr val="F3F5F8"/>
                    </a:solidFill>
                  </a:tcPr>
                </a:tc>
                <a:tc>
                  <a:txBody>
                    <a:bodyPr/>
                    <a:lstStyle/>
                    <a:p>
                      <a:r>
                        <a:rPr sz="1100" b="0">
                          <a:solidFill>
                            <a:srgbClr val="1F2328"/>
                          </a:solidFill>
                          <a:latin typeface="Microsoft JhengHei"/>
                          <a:ea typeface="Microsoft JhengHei"/>
                        </a:rPr>
                        <a:t>-90</a:t>
                      </a:r>
                    </a:p>
                  </a:txBody>
                  <a:tcPr>
                    <a:solidFill>
                      <a:srgbClr val="F3F5F8"/>
                    </a:solidFill>
                  </a:tcPr>
                </a:tc>
                <a:tc>
                  <a:txBody>
                    <a:bodyPr/>
                    <a:lstStyle/>
                    <a:p>
                      <a:r>
                        <a:rPr sz="1100" b="0">
                          <a:solidFill>
                            <a:srgbClr val="1F2328"/>
                          </a:solidFill>
                          <a:latin typeface="Microsoft JhengHei"/>
                          <a:ea typeface="Microsoft JhengHei"/>
                        </a:rPr>
                        <a:t>輕度不利：列入觀察，暫不調整部位</a:t>
                      </a:r>
                    </a:p>
                  </a:txBody>
                  <a:tcPr>
                    <a:solidFill>
                      <a:srgbClr val="F3F5F8"/>
                    </a:solidFill>
                  </a:tcPr>
                </a:tc>
              </a:tr>
              <a:tr h="365760">
                <a:tc>
                  <a:txBody>
                    <a:bodyPr/>
                    <a:lstStyle/>
                    <a:p>
                      <a:r>
                        <a:rPr sz="1100" b="0">
                          <a:solidFill>
                            <a:srgbClr val="1F2328"/>
                          </a:solidFill>
                          <a:latin typeface="Microsoft JhengHei"/>
                          <a:ea typeface="Microsoft JhengHei"/>
                        </a:rPr>
                        <a:t>6182 合晶</a:t>
                      </a:r>
                    </a:p>
                  </a:txBody>
                  <a:tcPr>
                    <a:solidFill>
                      <a:srgbClr val="FFFFFF"/>
                    </a:solidFill>
                  </a:tcPr>
                </a:tc>
                <a:tc>
                  <a:txBody>
                    <a:bodyPr/>
                    <a:lstStyle/>
                    <a:p>
                      <a:r>
                        <a:rPr sz="1100" b="0">
                          <a:solidFill>
                            <a:srgbClr val="1F2328"/>
                          </a:solidFill>
                          <a:latin typeface="Microsoft JhengHei"/>
                          <a:ea typeface="Microsoft JhengHei"/>
                        </a:rPr>
                        <a:t>-0.2346</a:t>
                      </a:r>
                    </a:p>
                  </a:txBody>
                  <a:tcPr>
                    <a:solidFill>
                      <a:srgbClr val="FFFFFF"/>
                    </a:solidFill>
                  </a:tcPr>
                </a:tc>
                <a:tc>
                  <a:txBody>
                    <a:bodyPr/>
                    <a:lstStyle/>
                    <a:p>
                      <a:r>
                        <a:rPr sz="1100" b="0">
                          <a:solidFill>
                            <a:srgbClr val="2E8B57"/>
                          </a:solidFill>
                          <a:latin typeface="Microsoft JhengHei"/>
                          <a:ea typeface="Microsoft JhengHei"/>
                        </a:rPr>
                        <a:t>-0.80%</a:t>
                      </a:r>
                    </a:p>
                  </a:txBody>
                  <a:tcPr>
                    <a:solidFill>
                      <a:srgbClr val="FFFFFF"/>
                    </a:solidFill>
                  </a:tcPr>
                </a:tc>
                <a:tc>
                  <a:txBody>
                    <a:bodyPr/>
                    <a:lstStyle/>
                    <a:p>
                      <a:r>
                        <a:rPr sz="1100" b="0">
                          <a:solidFill>
                            <a:srgbClr val="1F2328"/>
                          </a:solidFill>
                          <a:latin typeface="Microsoft JhengHei"/>
                          <a:ea typeface="Microsoft JhengHei"/>
                        </a:rPr>
                        <a:t>-840</a:t>
                      </a:r>
                    </a:p>
                  </a:txBody>
                  <a:tcPr>
                    <a:solidFill>
                      <a:srgbClr val="FFFFFF"/>
                    </a:solidFill>
                  </a:tcPr>
                </a:tc>
                <a:tc>
                  <a:txBody>
                    <a:bodyPr/>
                    <a:lstStyle/>
                    <a:p>
                      <a:r>
                        <a:rPr sz="1100" b="0">
                          <a:solidFill>
                            <a:srgbClr val="1F2328"/>
                          </a:solidFill>
                          <a:latin typeface="Microsoft JhengHei"/>
                          <a:ea typeface="Microsoft JhengHei"/>
                        </a:rPr>
                        <a:t>輕度不利：列入觀察，暫不調整部位</a:t>
                      </a:r>
                    </a:p>
                  </a:txBody>
                  <a:tcPr>
                    <a:solidFill>
                      <a:srgbClr val="FFFFFF"/>
                    </a:solidFill>
                  </a:tcPr>
                </a:tc>
              </a:tr>
              <a:tr h="365760">
                <a:tc>
                  <a:txBody>
                    <a:bodyPr/>
                    <a:lstStyle/>
                    <a:p>
                      <a:r>
                        <a:rPr sz="1100" b="0">
                          <a:solidFill>
                            <a:srgbClr val="1F2328"/>
                          </a:solidFill>
                          <a:latin typeface="Microsoft JhengHei"/>
                          <a:ea typeface="Microsoft JhengHei"/>
                        </a:rPr>
                        <a:t>3037 欣興</a:t>
                      </a:r>
                    </a:p>
                  </a:txBody>
                  <a:tcPr>
                    <a:solidFill>
                      <a:srgbClr val="F3F5F8"/>
                    </a:solidFill>
                  </a:tcPr>
                </a:tc>
                <a:tc>
                  <a:txBody>
                    <a:bodyPr/>
                    <a:lstStyle/>
                    <a:p>
                      <a:r>
                        <a:rPr sz="1100" b="0">
                          <a:solidFill>
                            <a:srgbClr val="1F2328"/>
                          </a:solidFill>
                          <a:latin typeface="Microsoft JhengHei"/>
                          <a:ea typeface="Microsoft JhengHei"/>
                        </a:rPr>
                        <a:t>-0.1417</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-0.10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2885 元大金</a:t>
                      </a:r>
                    </a:p>
                  </a:txBody>
                  <a:tcPr>
                    <a:solidFill>
                      <a:srgbClr val="FFFFFF"/>
                    </a:solidFill>
                  </a:tcPr>
                </a:tc>
                <a:tc>
                  <a:txBody>
                    <a:bodyPr/>
                    <a:lstStyle/>
                    <a:p>
                      <a:r>
                        <a:rPr sz="1100" b="0">
                          <a:solidFill>
                            <a:srgbClr val="1F2328"/>
                          </a:solidFill>
                          <a:latin typeface="Microsoft JhengHei"/>
                          <a:ea typeface="Microsoft JhengHei"/>
                        </a:rPr>
                        <a:t>-0.0752</a:t>
                      </a:r>
                    </a:p>
                  </a:txBody>
                  <a:tcPr>
                    <a:solidFill>
                      <a:srgbClr val="FFFFFF"/>
                    </a:solidFill>
                  </a:tcPr>
                </a:tc>
                <a:tc>
                  <a:txBody>
                    <a:bodyPr/>
                    <a:lstStyle/>
                    <a:p>
                      <a:r>
                        <a:rPr sz="1100" b="0">
                          <a:solidFill>
                            <a:srgbClr val="2E8B57"/>
                          </a:solidFill>
                          <a:latin typeface="Microsoft JhengHei"/>
                          <a:ea typeface="Microsoft JhengHei"/>
                        </a:rPr>
                        <a:t>-0.26%</a:t>
                      </a:r>
                    </a:p>
                  </a:txBody>
                  <a:tcPr>
                    <a:solidFill>
                      <a:srgbClr val="FFFFFF"/>
                    </a:solidFill>
                  </a:tcPr>
                </a:tc>
                <a:tc>
                  <a:txBody>
                    <a:bodyPr/>
                    <a:lstStyle/>
                    <a:p>
                      <a:r>
                        <a:rPr sz="1100" b="0">
                          <a:solidFill>
                            <a:srgbClr val="1F2328"/>
                          </a:solidFill>
                          <a:latin typeface="Microsoft JhengHei"/>
                          <a:ea typeface="Microsoft JhengHei"/>
                        </a:rPr>
                        <a:t>-190</a:t>
                      </a:r>
                    </a:p>
                  </a:txBody>
                  <a:tcPr>
                    <a:solidFill>
                      <a:srgbClr val="FFFFFF"/>
                    </a:solidFill>
                  </a:tcPr>
                </a:tc>
                <a:tc>
                  <a:txBody>
                    <a:bodyPr/>
                    <a:lstStyle/>
                    <a:p>
                      <a:r>
                        <a:rPr sz="1100" b="0">
                          <a:solidFill>
                            <a:srgbClr val="1F2328"/>
                          </a:solidFill>
                          <a:latin typeface="Microsoft JhengHei"/>
                          <a:ea typeface="Microsoft JhengHei"/>
                        </a:rPr>
                        <a:t>影響有限，維持原決策</a:t>
                      </a:r>
                    </a:p>
                  </a:txBody>
                  <a:tcP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全市場一個月創新高潛力</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18</a:t>
            </a:r>
          </a:p>
        </p:txBody>
      </p:sp>
      <p:pic>
        <p:nvPicPr>
          <p:cNvPr id="5" name="Picture 4" descr="2026-10-29_盤前報告_top.png"/>
          <p:cNvPicPr>
            <a:picLocks noChangeAspect="1"/>
          </p:cNvPicPr>
          <p:nvPr/>
        </p:nvPicPr>
        <p:blipFill>
          <a:blip r:embed="rId2"/>
          <a:stretch>
            <a:fillRect/>
          </a:stretch>
        </p:blipFill>
        <p:spPr>
          <a:xfrm>
            <a:off x="365760" y="1097280"/>
            <a:ext cx="6317673" cy="5212080"/>
          </a:xfrm>
          <a:prstGeom prst="rect">
            <a:avLst/>
          </a:prstGeom>
        </p:spPr>
      </p:pic>
      <p:sp>
        <p:nvSpPr>
          <p:cNvPr id="6" name="Rectangle 5"/>
          <p:cNvSpPr/>
          <p:nvPr/>
        </p:nvSpPr>
        <p:spPr>
          <a:xfrm>
            <a:off x="8138160" y="1188720"/>
            <a:ext cx="3657600" cy="50292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1280160"/>
            <a:ext cx="3383280" cy="484632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掃描 710 檔上市櫃股票與 ETF</a:t>
            </a:r>
          </a:p>
          <a:p>
            <a:pPr>
              <a:spcAft>
                <a:spcPts val="400"/>
              </a:spcAft>
            </a:pPr>
            <a:r>
              <a:rPr sz="1300" b="0">
                <a:solidFill>
                  <a:srgbClr val="1F2328"/>
                </a:solidFill>
                <a:latin typeface="Microsoft JhengHei"/>
                <a:ea typeface="Microsoft JhengHei"/>
              </a:rPr>
              <a:t>• 全市場基準創新高率 18.0%</a:t>
            </a:r>
          </a:p>
          <a:p>
            <a:pPr>
              <a:spcAft>
                <a:spcPts val="400"/>
              </a:spcAft>
            </a:pPr>
            <a:r>
              <a:rPr sz="1300" b="0">
                <a:solidFill>
                  <a:srgbClr val="1F2328"/>
                </a:solidFill>
                <a:latin typeface="Microsoft JhengHei"/>
                <a:ea typeface="Microsoft JhengHei"/>
              </a:rPr>
              <a:t>• 模型：梯度提升樹，滾動時間外驗證</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美股隔夜表現</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19</a:t>
            </a:r>
          </a:p>
        </p:txBody>
      </p:sp>
      <p:pic>
        <p:nvPicPr>
          <p:cNvPr id="5" name="Picture 4" descr="2026-10-29_盤前報告_us.png"/>
          <p:cNvPicPr>
            <a:picLocks noChangeAspect="1"/>
          </p:cNvPicPr>
          <p:nvPr/>
        </p:nvPicPr>
        <p:blipFill>
          <a:blip r:embed="rId2"/>
          <a:stretch>
            <a:fillRect/>
          </a:stretch>
        </p:blipFill>
        <p:spPr>
          <a:xfrm>
            <a:off x="4178760" y="1097280"/>
            <a:ext cx="3834174" cy="52120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台股開盤預測（美股 → 台股）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20</a:t>
            </a:r>
          </a:p>
        </p:txBody>
      </p:sp>
      <p:pic>
        <p:nvPicPr>
          <p:cNvPr id="5" name="Picture 4" descr="2026-10-29_盤前報告_pred.png"/>
          <p:cNvPicPr>
            <a:picLocks noChangeAspect="1"/>
          </p:cNvPicPr>
          <p:nvPr/>
        </p:nvPicPr>
        <p:blipFill>
          <a:blip r:embed="rId2"/>
          <a:stretch>
            <a:fillRect/>
          </a:stretch>
        </p:blipFill>
        <p:spPr>
          <a:xfrm>
            <a:off x="365760" y="1097280"/>
            <a:ext cx="1312247" cy="5212080"/>
          </a:xfrm>
          <a:prstGeom prst="rect">
            <a:avLst/>
          </a:prstGeom>
        </p:spPr>
      </p:pic>
      <p:sp>
        <p:nvSpPr>
          <p:cNvPr id="6" name="Rectangle 5"/>
          <p:cNvSpPr/>
          <p:nvPr/>
        </p:nvSpPr>
        <p:spPr>
          <a:xfrm>
            <a:off x="8138160" y="1188720"/>
            <a:ext cx="3657600" cy="50292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1280160"/>
            <a:ext cx="3383280" cy="484632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Ridge 迴歸：費半、那指期、台積電 ADR、VIX、匯率、產業對應美股</a:t>
            </a:r>
          </a:p>
          <a:p>
            <a:pPr>
              <a:spcAft>
                <a:spcPts val="400"/>
              </a:spcAft>
            </a:pPr>
            <a:r>
              <a:rPr sz="1300" b="0">
                <a:solidFill>
                  <a:srgbClr val="1F2328"/>
                </a:solidFill>
                <a:latin typeface="Microsoft JhengHei"/>
                <a:ea typeface="Microsoft JhengHei"/>
              </a:rPr>
              <a:t>• 命中率＝樣本外方向命中率</a:t>
            </a:r>
          </a:p>
          <a:p>
            <a:pPr>
              <a:spcAft>
                <a:spcPts val="400"/>
              </a:spcAft>
            </a:pPr>
            <a:r>
              <a:rPr sz="1300" b="0">
                <a:solidFill>
                  <a:srgbClr val="1F2328"/>
                </a:solidFill>
                <a:latin typeface="Microsoft JhengHei"/>
                <a:ea typeface="Microsoft JhengHei"/>
              </a:rPr>
              <a:t>• 低於 55% 或不如基準者降權</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交易建議總表</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21</a:t>
            </a:r>
          </a:p>
        </p:txBody>
      </p:sp>
      <p:graphicFrame>
        <p:nvGraphicFramePr>
          <p:cNvPr id="5" name="Table 4"/>
          <p:cNvGraphicFramePr>
            <a:graphicFrameLocks noGrp="1"/>
          </p:cNvGraphicFramePr>
          <p:nvPr/>
        </p:nvGraphicFramePr>
        <p:xfrm>
          <a:off x="457200" y="1188720"/>
          <a:ext cx="11247116" cy="5486400"/>
        </p:xfrm>
        <a:graphic>
          <a:graphicData uri="http://schemas.openxmlformats.org/drawingml/2006/table">
            <a:tbl>
              <a:tblPr firstRow="1" bandRow="1">
                <a:tableStyleId>{5C22544A-7EE6-4342-B048-85BDC9FD1C3A}</a:tableStyleId>
              </a:tblPr>
              <a:tblGrid>
                <a:gridCol w="1102658"/>
                <a:gridCol w="2646381"/>
                <a:gridCol w="1764254"/>
                <a:gridCol w="1323190"/>
                <a:gridCol w="1323190"/>
                <a:gridCol w="1984785"/>
                <a:gridCol w="1102658"/>
              </a:tblGrid>
              <a:tr h="365760">
                <a:tc>
                  <a:txBody>
                    <a:bodyPr/>
                    <a:lstStyle/>
                    <a:p>
                      <a:r>
                        <a:rPr sz="1200" b="1">
                          <a:solidFill>
                            <a:srgbClr val="FFFFFF"/>
                          </a:solidFill>
                          <a:latin typeface="Microsoft JhengHei"/>
                          <a:ea typeface="Microsoft JhengHei"/>
                        </a:rPr>
                        <a:t>動作</a:t>
                      </a:r>
                    </a:p>
                  </a:txBody>
                  <a:tcPr>
                    <a:solidFill>
                      <a:srgbClr val="1F3A5F"/>
                    </a:solidFill>
                  </a:tcPr>
                </a:tc>
                <a:tc>
                  <a:txBody>
                    <a:bodyPr/>
                    <a:lstStyle/>
                    <a:p>
                      <a:r>
                        <a:rPr sz="1200" b="1">
                          <a:solidFill>
                            <a:srgbClr val="FFFFFF"/>
                          </a:solidFill>
                          <a:latin typeface="Microsoft JhengHei"/>
                          <a:ea typeface="Microsoft JhengHei"/>
                        </a:rPr>
                        <a:t>標的</a:t>
                      </a:r>
                    </a:p>
                  </a:txBody>
                  <a:tcPr>
                    <a:solidFill>
                      <a:srgbClr val="1F3A5F"/>
                    </a:solidFill>
                  </a:tcPr>
                </a:tc>
                <a:tc>
                  <a:txBody>
                    <a:bodyPr/>
                    <a:lstStyle/>
                    <a:p>
                      <a:r>
                        <a:rPr sz="1200" b="1">
                          <a:solidFill>
                            <a:srgbClr val="FFFFFF"/>
                          </a:solidFill>
                          <a:latin typeface="Microsoft JhengHei"/>
                          <a:ea typeface="Microsoft JhengHei"/>
                        </a:rPr>
                        <a:t>數量</a:t>
                      </a:r>
                    </a:p>
                  </a:txBody>
                  <a:tcPr>
                    <a:solidFill>
                      <a:srgbClr val="1F3A5F"/>
                    </a:solidFill>
                  </a:tcPr>
                </a:tc>
                <a:tc>
                  <a:txBody>
                    <a:bodyPr/>
                    <a:lstStyle/>
                    <a:p>
                      <a:r>
                        <a:rPr sz="1200" b="1">
                          <a:solidFill>
                            <a:srgbClr val="FFFFFF"/>
                          </a:solidFill>
                          <a:latin typeface="Microsoft JhengHei"/>
                          <a:ea typeface="Microsoft JhengHei"/>
                        </a:rPr>
                        <a:t>限價</a:t>
                      </a:r>
                    </a:p>
                  </a:txBody>
                  <a:tcPr>
                    <a:solidFill>
                      <a:srgbClr val="1F3A5F"/>
                    </a:solidFill>
                  </a:tcPr>
                </a:tc>
                <a:tc>
                  <a:txBody>
                    <a:bodyPr/>
                    <a:lstStyle/>
                    <a:p>
                      <a:r>
                        <a:rPr sz="1200" b="1">
                          <a:solidFill>
                            <a:srgbClr val="FFFFFF"/>
                          </a:solidFill>
                          <a:latin typeface="Microsoft JhengHei"/>
                          <a:ea typeface="Microsoft JhengHei"/>
                        </a:rPr>
                        <a:t>停損</a:t>
                      </a:r>
                    </a:p>
                  </a:txBody>
                  <a:tcPr>
                    <a:solidFill>
                      <a:srgbClr val="1F3A5F"/>
                    </a:solidFill>
                  </a:tcPr>
                </a:tc>
                <a:tc>
                  <a:txBody>
                    <a:bodyPr/>
                    <a:lstStyle/>
                    <a:p>
                      <a:r>
                        <a:rPr sz="1200" b="1">
                          <a:solidFill>
                            <a:srgbClr val="FFFFFF"/>
                          </a:solidFill>
                          <a:latin typeface="Microsoft JhengHei"/>
                          <a:ea typeface="Microsoft JhengHei"/>
                        </a:rPr>
                        <a:t>金額</a:t>
                      </a:r>
                    </a:p>
                  </a:txBody>
                  <a:tcPr>
                    <a:solidFill>
                      <a:srgbClr val="1F3A5F"/>
                    </a:solidFill>
                  </a:tcPr>
                </a:tc>
                <a:tc>
                  <a:txBody>
                    <a:bodyPr/>
                    <a:lstStyle/>
                    <a:p>
                      <a:r>
                        <a:rPr sz="1200" b="1">
                          <a:solidFill>
                            <a:srgbClr val="FFFFFF"/>
                          </a:solidFill>
                          <a:latin typeface="Microsoft JhengHei"/>
                          <a:ea typeface="Microsoft JhengHei"/>
                        </a:rPr>
                        <a:t>權重</a:t>
                      </a:r>
                    </a:p>
                  </a:txBody>
                  <a:tcPr>
                    <a:solidFill>
                      <a:srgbClr val="1F3A5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穩健｜5880 合庫金</a:t>
                      </a:r>
                    </a:p>
                  </a:txBody>
                  <a:tcPr>
                    <a:solidFill>
                      <a:srgbClr val="F3F5F8"/>
                    </a:solidFill>
                  </a:tcPr>
                </a:tc>
                <a:tc>
                  <a:txBody>
                    <a:bodyPr/>
                    <a:lstStyle/>
                    <a:p>
                      <a:r>
                        <a:rPr sz="1200" b="0">
                          <a:solidFill>
                            <a:srgbClr val="1F2328"/>
                          </a:solidFill>
                          <a:latin typeface="Microsoft JhengHei"/>
                          <a:ea typeface="Microsoft JhengHei"/>
                        </a:rPr>
                        <a:t>24 張</a:t>
                      </a:r>
                    </a:p>
                  </a:txBody>
                  <a:tcPr>
                    <a:solidFill>
                      <a:srgbClr val="F3F5F8"/>
                    </a:solidFill>
                  </a:tcPr>
                </a:tc>
                <a:tc>
                  <a:txBody>
                    <a:bodyPr/>
                    <a:lstStyle/>
                    <a:p>
                      <a:r>
                        <a:rPr sz="1200" b="0">
                          <a:solidFill>
                            <a:srgbClr val="1F2328"/>
                          </a:solidFill>
                          <a:latin typeface="Microsoft JhengHei"/>
                          <a:ea typeface="Microsoft JhengHei"/>
                        </a:rPr>
                        <a:t>28.15</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682,800</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穩健｜2889 國票金</a:t>
                      </a:r>
                    </a:p>
                  </a:txBody>
                  <a:tcPr>
                    <a:solidFill>
                      <a:srgbClr val="FFFFFF"/>
                    </a:solidFill>
                  </a:tcPr>
                </a:tc>
                <a:tc>
                  <a:txBody>
                    <a:bodyPr/>
                    <a:lstStyle/>
                    <a:p>
                      <a:r>
                        <a:rPr sz="1200" b="0">
                          <a:solidFill>
                            <a:srgbClr val="1F2328"/>
                          </a:solidFill>
                          <a:latin typeface="Microsoft JhengHei"/>
                          <a:ea typeface="Microsoft JhengHei"/>
                        </a:rPr>
                        <a:t>40 張+416股</a:t>
                      </a:r>
                    </a:p>
                  </a:txBody>
                  <a:tcPr>
                    <a:solidFill>
                      <a:srgbClr val="FFFFFF"/>
                    </a:solidFill>
                  </a:tcPr>
                </a:tc>
                <a:tc>
                  <a:txBody>
                    <a:bodyPr/>
                    <a:lstStyle/>
                    <a:p>
                      <a:r>
                        <a:rPr sz="1200" b="0">
                          <a:solidFill>
                            <a:srgbClr val="1F2328"/>
                          </a:solidFill>
                          <a:latin typeface="Microsoft JhengHei"/>
                          <a:ea typeface="Microsoft JhengHei"/>
                        </a:rPr>
                        <a:t>16.9</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691,114</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穩健｜2845 遠東銀</a:t>
                      </a:r>
                    </a:p>
                  </a:txBody>
                  <a:tcPr>
                    <a:solidFill>
                      <a:srgbClr val="F3F5F8"/>
                    </a:solidFill>
                  </a:tcPr>
                </a:tc>
                <a:tc>
                  <a:txBody>
                    <a:bodyPr/>
                    <a:lstStyle/>
                    <a:p>
                      <a:r>
                        <a:rPr sz="1200" b="0">
                          <a:solidFill>
                            <a:srgbClr val="1F2328"/>
                          </a:solidFill>
                          <a:latin typeface="Microsoft JhengHei"/>
                          <a:ea typeface="Microsoft JhengHei"/>
                        </a:rPr>
                        <a:t>36 張+71股</a:t>
                      </a:r>
                    </a:p>
                  </a:txBody>
                  <a:tcPr>
                    <a:solidFill>
                      <a:srgbClr val="F3F5F8"/>
                    </a:solidFill>
                  </a:tcPr>
                </a:tc>
                <a:tc>
                  <a:txBody>
                    <a:bodyPr/>
                    <a:lstStyle/>
                    <a:p>
                      <a:r>
                        <a:rPr sz="1200" b="0">
                          <a:solidFill>
                            <a:srgbClr val="1F2328"/>
                          </a:solidFill>
                          <a:latin typeface="Microsoft JhengHei"/>
                          <a:ea typeface="Microsoft JhengHei"/>
                        </a:rPr>
                        <a:t>13.0</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474,334</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穩健｜2915 潤泰全</a:t>
                      </a:r>
                    </a:p>
                  </a:txBody>
                  <a:tcPr>
                    <a:solidFill>
                      <a:srgbClr val="FFFFFF"/>
                    </a:solidFill>
                  </a:tcPr>
                </a:tc>
                <a:tc>
                  <a:txBody>
                    <a:bodyPr/>
                    <a:lstStyle/>
                    <a:p>
                      <a:r>
                        <a:rPr sz="1200" b="0">
                          <a:solidFill>
                            <a:srgbClr val="1F2328"/>
                          </a:solidFill>
                          <a:latin typeface="Microsoft JhengHei"/>
                          <a:ea typeface="Microsoft JhengHei"/>
                        </a:rPr>
                        <a:t>7 張+173股</a:t>
                      </a:r>
                    </a:p>
                  </a:txBody>
                  <a:tcPr>
                    <a:solidFill>
                      <a:srgbClr val="FFFFFF"/>
                    </a:solidFill>
                  </a:tcPr>
                </a:tc>
                <a:tc>
                  <a:txBody>
                    <a:bodyPr/>
                    <a:lstStyle/>
                    <a:p>
                      <a:r>
                        <a:rPr sz="1200" b="0">
                          <a:solidFill>
                            <a:srgbClr val="1F2328"/>
                          </a:solidFill>
                          <a:latin typeface="Microsoft JhengHei"/>
                          <a:ea typeface="Microsoft JhengHei"/>
                        </a:rPr>
                        <a:t>56.6</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410,296</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進攻｜1560 中砂</a:t>
                      </a:r>
                    </a:p>
                  </a:txBody>
                  <a:tcPr>
                    <a:solidFill>
                      <a:srgbClr val="F3F5F8"/>
                    </a:solidFill>
                  </a:tcPr>
                </a:tc>
                <a:tc>
                  <a:txBody>
                    <a:bodyPr/>
                    <a:lstStyle/>
                    <a:p>
                      <a:r>
                        <a:rPr sz="1200" b="0">
                          <a:solidFill>
                            <a:srgbClr val="1F2328"/>
                          </a:solidFill>
                          <a:latin typeface="Microsoft JhengHei"/>
                          <a:ea typeface="Microsoft JhengHei"/>
                        </a:rPr>
                        <a:t>1 張+91股</a:t>
                      </a:r>
                    </a:p>
                  </a:txBody>
                  <a:tcPr>
                    <a:solidFill>
                      <a:srgbClr val="F3F5F8"/>
                    </a:solidFill>
                  </a:tcPr>
                </a:tc>
                <a:tc>
                  <a:txBody>
                    <a:bodyPr/>
                    <a:lstStyle/>
                    <a:p>
                      <a:r>
                        <a:rPr sz="1200" b="0">
                          <a:solidFill>
                            <a:srgbClr val="1F2328"/>
                          </a:solidFill>
                          <a:latin typeface="Microsoft JhengHei"/>
                          <a:ea typeface="Microsoft JhengHei"/>
                        </a:rPr>
                        <a:t>904.0</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997,174</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進攻｜6196 帆宣</a:t>
                      </a:r>
                    </a:p>
                  </a:txBody>
                  <a:tcPr>
                    <a:solidFill>
                      <a:srgbClr val="FFFFFF"/>
                    </a:solidFill>
                  </a:tcPr>
                </a:tc>
                <a:tc>
                  <a:txBody>
                    <a:bodyPr/>
                    <a:lstStyle/>
                    <a:p>
                      <a:r>
                        <a:rPr sz="1200" b="0">
                          <a:solidFill>
                            <a:srgbClr val="1F2328"/>
                          </a:solidFill>
                          <a:latin typeface="Microsoft JhengHei"/>
                          <a:ea typeface="Microsoft JhengHei"/>
                        </a:rPr>
                        <a:t>2 張+150股</a:t>
                      </a:r>
                    </a:p>
                  </a:txBody>
                  <a:tcPr>
                    <a:solidFill>
                      <a:srgbClr val="FFFFFF"/>
                    </a:solidFill>
                  </a:tcPr>
                </a:tc>
                <a:tc>
                  <a:txBody>
                    <a:bodyPr/>
                    <a:lstStyle/>
                    <a:p>
                      <a:r>
                        <a:rPr sz="1200" b="0">
                          <a:solidFill>
                            <a:srgbClr val="1F2328"/>
                          </a:solidFill>
                          <a:latin typeface="Microsoft JhengHei"/>
                          <a:ea typeface="Microsoft JhengHei"/>
                        </a:rPr>
                        <a:t>586.0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1,272,800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進攻｜2103 台橡</a:t>
                      </a:r>
                    </a:p>
                  </a:txBody>
                  <a:tcPr>
                    <a:solidFill>
                      <a:srgbClr val="F3F5F8"/>
                    </a:solidFill>
                  </a:tcPr>
                </a:tc>
                <a:tc>
                  <a:txBody>
                    <a:bodyPr/>
                    <a:lstStyle/>
                    <a:p>
                      <a:r>
                        <a:rPr sz="1200" b="0">
                          <a:solidFill>
                            <a:srgbClr val="1F2328"/>
                          </a:solidFill>
                          <a:latin typeface="Microsoft JhengHei"/>
                          <a:ea typeface="Microsoft JhengHei"/>
                        </a:rPr>
                        <a:t>3 張</a:t>
                      </a:r>
                    </a:p>
                  </a:txBody>
                  <a:tcPr>
                    <a:solidFill>
                      <a:srgbClr val="F3F5F8"/>
                    </a:solidFill>
                  </a:tcPr>
                </a:tc>
                <a:tc>
                  <a:txBody>
                    <a:bodyPr/>
                    <a:lstStyle/>
                    <a:p>
                      <a:r>
                        <a:rPr sz="1200" b="0">
                          <a:solidFill>
                            <a:srgbClr val="1F2328"/>
                          </a:solidFill>
                          <a:latin typeface="Microsoft JhengHei"/>
                          <a:ea typeface="Microsoft JhengHei"/>
                        </a:rPr>
                        <a:t>27.65</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83,850</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穩健｜2360 致茂</a:t>
                      </a:r>
                    </a:p>
                  </a:txBody>
                  <a:tcPr>
                    <a:solidFill>
                      <a:srgbClr val="FFFFFF"/>
                    </a:solidFill>
                  </a:tcPr>
                </a:tc>
                <a:tc>
                  <a:txBody>
                    <a:bodyPr/>
                    <a:lstStyle/>
                    <a:p>
                      <a:r>
                        <a:rPr sz="1200" b="0">
                          <a:solidFill>
                            <a:srgbClr val="1F2328"/>
                          </a:solidFill>
                          <a:latin typeface="Microsoft JhengHei"/>
                          <a:ea typeface="Microsoft JhengHei"/>
                        </a:rPr>
                        <a:t>0 張+8股</a:t>
                      </a:r>
                    </a:p>
                  </a:txBody>
                  <a:tcPr>
                    <a:solidFill>
                      <a:srgbClr val="FFFFFF"/>
                    </a:solidFill>
                  </a:tcPr>
                </a:tc>
                <a:tc>
                  <a:txBody>
                    <a:bodyPr/>
                    <a:lstStyle/>
                    <a:p>
                      <a:r>
                        <a:rPr sz="1200" b="0">
                          <a:solidFill>
                            <a:srgbClr val="1F2328"/>
                          </a:solidFill>
                          <a:latin typeface="Microsoft JhengHei"/>
                          <a:ea typeface="Microsoft JhengHei"/>
                        </a:rPr>
                        <a:t>2010.0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16,280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進攻｜6182 合晶</a:t>
                      </a:r>
                    </a:p>
                  </a:txBody>
                  <a:tcPr>
                    <a:solidFill>
                      <a:srgbClr val="F3F5F8"/>
                    </a:solidFill>
                  </a:tcPr>
                </a:tc>
                <a:tc>
                  <a:txBody>
                    <a:bodyPr/>
                    <a:lstStyle/>
                    <a:p>
                      <a:r>
                        <a:rPr sz="1200" b="0">
                          <a:solidFill>
                            <a:srgbClr val="1F2328"/>
                          </a:solidFill>
                          <a:latin typeface="Microsoft JhengHei"/>
                          <a:ea typeface="Microsoft JhengHei"/>
                        </a:rPr>
                        <a:t>1 張</a:t>
                      </a:r>
                    </a:p>
                  </a:txBody>
                  <a:tcPr>
                    <a:solidFill>
                      <a:srgbClr val="F3F5F8"/>
                    </a:solidFill>
                  </a:tcPr>
                </a:tc>
                <a:tc>
                  <a:txBody>
                    <a:bodyPr/>
                    <a:lstStyle/>
                    <a:p>
                      <a:r>
                        <a:rPr sz="1200" b="0">
                          <a:solidFill>
                            <a:srgbClr val="1F2328"/>
                          </a:solidFill>
                          <a:latin typeface="Microsoft JhengHei"/>
                          <a:ea typeface="Microsoft JhengHei"/>
                        </a:rPr>
                        <a:t>103.5</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105,000</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進攻｜3037 欣興</a:t>
                      </a:r>
                    </a:p>
                  </a:txBody>
                  <a:tcPr>
                    <a:solidFill>
                      <a:srgbClr val="FFFFFF"/>
                    </a:solidFill>
                  </a:tcPr>
                </a:tc>
                <a:tc>
                  <a:txBody>
                    <a:bodyPr/>
                    <a:lstStyle/>
                    <a:p>
                      <a:r>
                        <a:rPr sz="1200" b="0">
                          <a:solidFill>
                            <a:srgbClr val="1F2328"/>
                          </a:solidFill>
                          <a:latin typeface="Microsoft JhengHei"/>
                          <a:ea typeface="Microsoft JhengHei"/>
                        </a:rPr>
                        <a:t>0 張+570股</a:t>
                      </a:r>
                    </a:p>
                  </a:txBody>
                  <a:tcPr>
                    <a:solidFill>
                      <a:srgbClr val="FFFFFF"/>
                    </a:solidFill>
                  </a:tcPr>
                </a:tc>
                <a:tc>
                  <a:txBody>
                    <a:bodyPr/>
                    <a:lstStyle/>
                    <a:p>
                      <a:r>
                        <a:rPr sz="1200" b="0">
                          <a:solidFill>
                            <a:srgbClr val="1F2328"/>
                          </a:solidFill>
                          <a:latin typeface="Microsoft JhengHei"/>
                          <a:ea typeface="Microsoft JhengHei"/>
                        </a:rPr>
                        <a:t>1085.0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627,000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買進</a:t>
                      </a:r>
                    </a:p>
                  </a:txBody>
                  <a:tcPr>
                    <a:solidFill>
                      <a:srgbClr val="F3F5F8"/>
                    </a:solidFill>
                  </a:tcPr>
                </a:tc>
                <a:tc>
                  <a:txBody>
                    <a:bodyPr/>
                    <a:lstStyle/>
                    <a:p>
                      <a:r>
                        <a:rPr sz="1200" b="0">
                          <a:solidFill>
                            <a:srgbClr val="1F2328"/>
                          </a:solidFill>
                          <a:latin typeface="Microsoft JhengHei"/>
                          <a:ea typeface="Microsoft JhengHei"/>
                        </a:rPr>
                        <a:t>穩健｜1736 喬山</a:t>
                      </a:r>
                    </a:p>
                  </a:txBody>
                  <a:tcPr>
                    <a:solidFill>
                      <a:srgbClr val="F3F5F8"/>
                    </a:solidFill>
                  </a:tcPr>
                </a:tc>
                <a:tc>
                  <a:txBody>
                    <a:bodyPr/>
                    <a:lstStyle/>
                    <a:p>
                      <a:r>
                        <a:rPr sz="1200" b="0">
                          <a:solidFill>
                            <a:srgbClr val="1F2328"/>
                          </a:solidFill>
                          <a:latin typeface="Microsoft JhengHei"/>
                          <a:ea typeface="Microsoft JhengHei"/>
                        </a:rPr>
                        <a:t>3 張+767股</a:t>
                      </a:r>
                    </a:p>
                  </a:txBody>
                  <a:tcPr>
                    <a:solidFill>
                      <a:srgbClr val="F3F5F8"/>
                    </a:solidFill>
                  </a:tcPr>
                </a:tc>
                <a:tc>
                  <a:txBody>
                    <a:bodyPr/>
                    <a:lstStyle/>
                    <a:p>
                      <a:r>
                        <a:rPr sz="1200" b="0">
                          <a:solidFill>
                            <a:srgbClr val="1F2328"/>
                          </a:solidFill>
                          <a:latin typeface="Microsoft JhengHei"/>
                          <a:ea typeface="Microsoft JhengHei"/>
                        </a:rPr>
                        <a:t>120.5</a:t>
                      </a:r>
                    </a:p>
                  </a:txBody>
                  <a:tcPr>
                    <a:solidFill>
                      <a:srgbClr val="F3F5F8"/>
                    </a:solidFill>
                  </a:tcPr>
                </a:tc>
                <a:tc>
                  <a:txBody>
                    <a:bodyPr/>
                    <a:lstStyle/>
                    <a:p>
                      <a:r>
                        <a:rPr sz="1200" b="0">
                          <a:solidFill>
                            <a:srgbClr val="1F2328"/>
                          </a:solidFill>
                          <a:latin typeface="Microsoft JhengHei"/>
                          <a:ea typeface="Microsoft JhengHei"/>
                        </a:rPr>
                        <a:t>113.0</a:t>
                      </a:r>
                    </a:p>
                  </a:txBody>
                  <a:tcPr>
                    <a:solidFill>
                      <a:srgbClr val="F3F5F8"/>
                    </a:solidFill>
                  </a:tcPr>
                </a:tc>
                <a:tc>
                  <a:txBody>
                    <a:bodyPr/>
                    <a:lstStyle/>
                    <a:p>
                      <a:r>
                        <a:rPr sz="1200" b="0">
                          <a:solidFill>
                            <a:srgbClr val="1F2328"/>
                          </a:solidFill>
                          <a:latin typeface="Microsoft JhengHei"/>
                          <a:ea typeface="Microsoft JhengHei"/>
                        </a:rPr>
                        <a:t>453,924</a:t>
                      </a:r>
                    </a:p>
                  </a:txBody>
                  <a:tcPr>
                    <a:solidFill>
                      <a:srgbClr val="F3F5F8"/>
                    </a:solidFill>
                  </a:tcPr>
                </a:tc>
                <a:tc>
                  <a:txBody>
                    <a:bodyPr/>
                    <a:lstStyle/>
                    <a:p>
                      <a:r>
                        <a:rPr sz="1200" b="0">
                          <a:solidFill>
                            <a:srgbClr val="1F2328"/>
                          </a:solidFill>
                          <a:latin typeface="Microsoft JhengHei"/>
                          <a:ea typeface="Microsoft JhengHei"/>
                        </a:rPr>
                        <a:t>5.2%</a:t>
                      </a:r>
                    </a:p>
                  </a:txBody>
                  <a:tcPr>
                    <a:solidFill>
                      <a:srgbClr val="F3F5F8"/>
                    </a:solidFill>
                  </a:tcPr>
                </a:tc>
              </a:tr>
              <a:tr h="365760">
                <a:tc>
                  <a:txBody>
                    <a:bodyPr/>
                    <a:lstStyle/>
                    <a:p>
                      <a:r>
                        <a:rPr sz="1200" b="0">
                          <a:solidFill>
                            <a:srgbClr val="1F2328"/>
                          </a:solidFill>
                          <a:latin typeface="Microsoft JhengHei"/>
                          <a:ea typeface="Microsoft JhengHei"/>
                        </a:rPr>
                        <a:t>買進</a:t>
                      </a:r>
                    </a:p>
                  </a:txBody>
                  <a:tcPr>
                    <a:solidFill>
                      <a:srgbClr val="FFFFFF"/>
                    </a:solidFill>
                  </a:tcPr>
                </a:tc>
                <a:tc>
                  <a:txBody>
                    <a:bodyPr/>
                    <a:lstStyle/>
                    <a:p>
                      <a:r>
                        <a:rPr sz="1200" b="0">
                          <a:solidFill>
                            <a:srgbClr val="1F2328"/>
                          </a:solidFill>
                          <a:latin typeface="Microsoft JhengHei"/>
                          <a:ea typeface="Microsoft JhengHei"/>
                        </a:rPr>
                        <a:t>穩健｜6462 神盾</a:t>
                      </a:r>
                    </a:p>
                  </a:txBody>
                  <a:tcPr>
                    <a:solidFill>
                      <a:srgbClr val="FFFFFF"/>
                    </a:solidFill>
                  </a:tcPr>
                </a:tc>
                <a:tc>
                  <a:txBody>
                    <a:bodyPr/>
                    <a:lstStyle/>
                    <a:p>
                      <a:r>
                        <a:rPr sz="1200" b="0">
                          <a:solidFill>
                            <a:srgbClr val="1F2328"/>
                          </a:solidFill>
                          <a:latin typeface="Microsoft JhengHei"/>
                          <a:ea typeface="Microsoft JhengHei"/>
                        </a:rPr>
                        <a:t>4 張+263股</a:t>
                      </a:r>
                    </a:p>
                  </a:txBody>
                  <a:tcPr>
                    <a:solidFill>
                      <a:srgbClr val="FFFFFF"/>
                    </a:solidFill>
                  </a:tcPr>
                </a:tc>
                <a:tc>
                  <a:txBody>
                    <a:bodyPr/>
                    <a:lstStyle/>
                    <a:p>
                      <a:r>
                        <a:rPr sz="1200" b="0">
                          <a:solidFill>
                            <a:srgbClr val="1F2328"/>
                          </a:solidFill>
                          <a:latin typeface="Microsoft JhengHei"/>
                          <a:ea typeface="Microsoft JhengHei"/>
                        </a:rPr>
                        <a:t>99.0</a:t>
                      </a:r>
                    </a:p>
                  </a:txBody>
                  <a:tcPr>
                    <a:solidFill>
                      <a:srgbClr val="FFFFFF"/>
                    </a:solidFill>
                  </a:tcPr>
                </a:tc>
                <a:tc>
                  <a:txBody>
                    <a:bodyPr/>
                    <a:lstStyle/>
                    <a:p>
                      <a:r>
                        <a:rPr sz="1200" b="0">
                          <a:solidFill>
                            <a:srgbClr val="1F2328"/>
                          </a:solidFill>
                          <a:latin typeface="Microsoft JhengHei"/>
                          <a:ea typeface="Microsoft JhengHei"/>
                        </a:rPr>
                        <a:t>92.0</a:t>
                      </a:r>
                    </a:p>
                  </a:txBody>
                  <a:tcPr>
                    <a:solidFill>
                      <a:srgbClr val="FFFFFF"/>
                    </a:solidFill>
                  </a:tcPr>
                </a:tc>
                <a:tc>
                  <a:txBody>
                    <a:bodyPr/>
                    <a:lstStyle/>
                    <a:p>
                      <a:r>
                        <a:rPr sz="1200" b="0">
                          <a:solidFill>
                            <a:srgbClr val="1F2328"/>
                          </a:solidFill>
                          <a:latin typeface="Microsoft JhengHei"/>
                          <a:ea typeface="Microsoft JhengHei"/>
                        </a:rPr>
                        <a:t>422,037</a:t>
                      </a:r>
                    </a:p>
                  </a:txBody>
                  <a:tcPr>
                    <a:solidFill>
                      <a:srgbClr val="FFFFFF"/>
                    </a:solidFill>
                  </a:tcPr>
                </a:tc>
                <a:tc>
                  <a:txBody>
                    <a:bodyPr/>
                    <a:lstStyle/>
                    <a:p>
                      <a:r>
                        <a:rPr sz="1200" b="0">
                          <a:solidFill>
                            <a:srgbClr val="1F2328"/>
                          </a:solidFill>
                          <a:latin typeface="Microsoft JhengHei"/>
                          <a:ea typeface="Microsoft JhengHei"/>
                        </a:rPr>
                        <a:t>4.8%</a:t>
                      </a:r>
                    </a:p>
                  </a:txBody>
                  <a:tcPr>
                    <a:solidFill>
                      <a:srgbClr val="FFFFFF"/>
                    </a:solidFill>
                  </a:tcPr>
                </a:tc>
              </a:tr>
              <a:tr h="365760">
                <a:tc>
                  <a:txBody>
                    <a:bodyPr/>
                    <a:lstStyle/>
                    <a:p>
                      <a:r>
                        <a:rPr sz="1200" b="0">
                          <a:solidFill>
                            <a:srgbClr val="1F2328"/>
                          </a:solidFill>
                          <a:latin typeface="Microsoft JhengHei"/>
                          <a:ea typeface="Microsoft JhengHei"/>
                        </a:rPr>
                        <a:t>買進</a:t>
                      </a:r>
                    </a:p>
                  </a:txBody>
                  <a:tcPr>
                    <a:solidFill>
                      <a:srgbClr val="F3F5F8"/>
                    </a:solidFill>
                  </a:tcPr>
                </a:tc>
                <a:tc>
                  <a:txBody>
                    <a:bodyPr/>
                    <a:lstStyle/>
                    <a:p>
                      <a:r>
                        <a:rPr sz="1200" b="0">
                          <a:solidFill>
                            <a:srgbClr val="1F2328"/>
                          </a:solidFill>
                          <a:latin typeface="Microsoft JhengHei"/>
                          <a:ea typeface="Microsoft JhengHei"/>
                        </a:rPr>
                        <a:t>穩健｜2357 華碩</a:t>
                      </a:r>
                    </a:p>
                  </a:txBody>
                  <a:tcPr>
                    <a:solidFill>
                      <a:srgbClr val="F3F5F8"/>
                    </a:solidFill>
                  </a:tcPr>
                </a:tc>
                <a:tc>
                  <a:txBody>
                    <a:bodyPr/>
                    <a:lstStyle/>
                    <a:p>
                      <a:r>
                        <a:rPr sz="1200" b="0">
                          <a:solidFill>
                            <a:srgbClr val="1F2328"/>
                          </a:solidFill>
                          <a:latin typeface="Microsoft JhengHei"/>
                          <a:ea typeface="Microsoft JhengHei"/>
                        </a:rPr>
                        <a:t>0 張+674股</a:t>
                      </a:r>
                    </a:p>
                  </a:txBody>
                  <a:tcPr>
                    <a:solidFill>
                      <a:srgbClr val="F3F5F8"/>
                    </a:solidFill>
                  </a:tcPr>
                </a:tc>
                <a:tc>
                  <a:txBody>
                    <a:bodyPr/>
                    <a:lstStyle/>
                    <a:p>
                      <a:r>
                        <a:rPr sz="1200" b="0">
                          <a:solidFill>
                            <a:srgbClr val="1F2328"/>
                          </a:solidFill>
                          <a:latin typeface="Microsoft JhengHei"/>
                          <a:ea typeface="Microsoft JhengHei"/>
                        </a:rPr>
                        <a:t>988.0</a:t>
                      </a:r>
                    </a:p>
                  </a:txBody>
                  <a:tcPr>
                    <a:solidFill>
                      <a:srgbClr val="F3F5F8"/>
                    </a:solidFill>
                  </a:tcPr>
                </a:tc>
                <a:tc>
                  <a:txBody>
                    <a:bodyPr/>
                    <a:lstStyle/>
                    <a:p>
                      <a:r>
                        <a:rPr sz="1200" b="0">
                          <a:solidFill>
                            <a:srgbClr val="1F2328"/>
                          </a:solidFill>
                          <a:latin typeface="Microsoft JhengHei"/>
                          <a:ea typeface="Microsoft JhengHei"/>
                        </a:rPr>
                        <a:t>928.0</a:t>
                      </a:r>
                    </a:p>
                  </a:txBody>
                  <a:tcPr>
                    <a:solidFill>
                      <a:srgbClr val="F3F5F8"/>
                    </a:solidFill>
                  </a:tcPr>
                </a:tc>
                <a:tc>
                  <a:txBody>
                    <a:bodyPr/>
                    <a:lstStyle/>
                    <a:p>
                      <a:r>
                        <a:rPr sz="1200" b="0">
                          <a:solidFill>
                            <a:srgbClr val="1F2328"/>
                          </a:solidFill>
                          <a:latin typeface="Microsoft JhengHei"/>
                          <a:ea typeface="Microsoft JhengHei"/>
                        </a:rPr>
                        <a:t>665,912</a:t>
                      </a:r>
                    </a:p>
                  </a:txBody>
                  <a:tcPr>
                    <a:solidFill>
                      <a:srgbClr val="F3F5F8"/>
                    </a:solidFill>
                  </a:tcPr>
                </a:tc>
                <a:tc>
                  <a:txBody>
                    <a:bodyPr/>
                    <a:lstStyle/>
                    <a:p>
                      <a:r>
                        <a:rPr sz="1200" b="0">
                          <a:solidFill>
                            <a:srgbClr val="1F2328"/>
                          </a:solidFill>
                          <a:latin typeface="Microsoft JhengHei"/>
                          <a:ea typeface="Microsoft JhengHei"/>
                        </a:rPr>
                        <a:t>7.6%</a:t>
                      </a:r>
                    </a:p>
                  </a:txBody>
                  <a:tcPr>
                    <a:solidFill>
                      <a:srgbClr val="F3F5F8"/>
                    </a:solidFill>
                  </a:tcPr>
                </a:tc>
              </a:tr>
              <a:tr h="365760">
                <a:tc>
                  <a:txBody>
                    <a:bodyPr/>
                    <a:lstStyle/>
                    <a:p>
                      <a:r>
                        <a:rPr sz="1200" b="0">
                          <a:solidFill>
                            <a:srgbClr val="1F2328"/>
                          </a:solidFill>
                          <a:latin typeface="Microsoft JhengHei"/>
                          <a:ea typeface="Microsoft JhengHei"/>
                        </a:rPr>
                        <a:t>買進</a:t>
                      </a:r>
                    </a:p>
                  </a:txBody>
                  <a:tcPr>
                    <a:solidFill>
                      <a:srgbClr val="FFFFFF"/>
                    </a:solidFill>
                  </a:tcPr>
                </a:tc>
                <a:tc>
                  <a:txBody>
                    <a:bodyPr/>
                    <a:lstStyle/>
                    <a:p>
                      <a:r>
                        <a:rPr sz="1200" b="0">
                          <a:solidFill>
                            <a:srgbClr val="1F2328"/>
                          </a:solidFill>
                          <a:latin typeface="Microsoft JhengHei"/>
                          <a:ea typeface="Microsoft JhengHei"/>
                        </a:rPr>
                        <a:t>穩健｜2885 元大金</a:t>
                      </a:r>
                    </a:p>
                  </a:txBody>
                  <a:tcPr>
                    <a:solidFill>
                      <a:srgbClr val="FFFFFF"/>
                    </a:solidFill>
                  </a:tcPr>
                </a:tc>
                <a:tc>
                  <a:txBody>
                    <a:bodyPr/>
                    <a:lstStyle/>
                    <a:p>
                      <a:r>
                        <a:rPr sz="1200" b="0">
                          <a:solidFill>
                            <a:srgbClr val="1F2328"/>
                          </a:solidFill>
                          <a:latin typeface="Microsoft JhengHei"/>
                          <a:ea typeface="Microsoft JhengHei"/>
                        </a:rPr>
                        <a:t>7 張+967股</a:t>
                      </a:r>
                    </a:p>
                  </a:txBody>
                  <a:tcPr>
                    <a:solidFill>
                      <a:srgbClr val="FFFFFF"/>
                    </a:solidFill>
                  </a:tcPr>
                </a:tc>
                <a:tc>
                  <a:txBody>
                    <a:bodyPr/>
                    <a:lstStyle/>
                    <a:p>
                      <a:r>
                        <a:rPr sz="1200" b="0">
                          <a:solidFill>
                            <a:srgbClr val="1F2328"/>
                          </a:solidFill>
                          <a:latin typeface="Microsoft JhengHei"/>
                          <a:ea typeface="Microsoft JhengHei"/>
                        </a:rPr>
                        <a:t>73.0</a:t>
                      </a:r>
                    </a:p>
                  </a:txBody>
                  <a:tcPr>
                    <a:solidFill>
                      <a:srgbClr val="FFFFFF"/>
                    </a:solidFill>
                  </a:tcPr>
                </a:tc>
                <a:tc>
                  <a:txBody>
                    <a:bodyPr/>
                    <a:lstStyle/>
                    <a:p>
                      <a:r>
                        <a:rPr sz="1200" b="0">
                          <a:solidFill>
                            <a:srgbClr val="1F2328"/>
                          </a:solidFill>
                          <a:latin typeface="Microsoft JhengHei"/>
                          <a:ea typeface="Microsoft JhengHei"/>
                        </a:rPr>
                        <a:t>68.8</a:t>
                      </a:r>
                    </a:p>
                  </a:txBody>
                  <a:tcPr>
                    <a:solidFill>
                      <a:srgbClr val="FFFFFF"/>
                    </a:solidFill>
                  </a:tcPr>
                </a:tc>
                <a:tc>
                  <a:txBody>
                    <a:bodyPr/>
                    <a:lstStyle/>
                    <a:p>
                      <a:r>
                        <a:rPr sz="1200" b="0">
                          <a:solidFill>
                            <a:srgbClr val="1F2328"/>
                          </a:solidFill>
                          <a:latin typeface="Microsoft JhengHei"/>
                          <a:ea typeface="Microsoft JhengHei"/>
                        </a:rPr>
                        <a:t>581,591</a:t>
                      </a:r>
                    </a:p>
                  </a:txBody>
                  <a:tcPr>
                    <a:solidFill>
                      <a:srgbClr val="FFFFFF"/>
                    </a:solidFill>
                  </a:tcPr>
                </a:tc>
                <a:tc>
                  <a:txBody>
                    <a:bodyPr/>
                    <a:lstStyle/>
                    <a:p>
                      <a:r>
                        <a:rPr sz="1200" b="0">
                          <a:solidFill>
                            <a:srgbClr val="1F2328"/>
                          </a:solidFill>
                          <a:latin typeface="Microsoft JhengHei"/>
                          <a:ea typeface="Microsoft JhengHei"/>
                        </a:rPr>
                        <a:t>6.6%</a:t>
                      </a:r>
                    </a:p>
                  </a:txBody>
                  <a:tcP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5880 合庫金｜24 張</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22</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換股計畫 → 獲利換股：已獲利 +55,505 元（+8.85%）先入袋；這檔一個月預期只剩 +2.64%，轉買 00731 復華富時高息低波（預期 +4.40%）扣除換股成本後多 1.17%（門檻 1.0%），且收正報酬機率不低於原標的</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24 張（24,000 股），回收資金約 682,800 元，依分數重新配置到同一籃的買進候選（最佳替換標的 00731 復華富時高息低波，實際買進股數受單一標的與產業上限約束，見買進明細）；部分換股會讓兩檔都表現平庸，因此一次換完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2889 國票金｜40 張 + 416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23</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換股計畫 → 獲利換股：已獲利 +42,867 元（+6.61%）先入袋；這檔一個月預期只剩 +2.47%，轉買 00731 復華富時高息低波（預期 +4.40%）扣除換股成本後多 1.34%（門檻 1.0%），且收正報酬機率不低於原標的</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40 張又 416 股（共 40,416 股），回收資金約 691,114 元，依分數重新配置到同一籃的買進候選（最佳替換標的 00731 復華富時高息低波，實際買進股數受單一標的與產業上限約束，見買進明細）；部分換股會讓兩檔都表現平庸，因此一次換完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2845 遠東銀｜36 張 + 71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24</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換股計畫 → 獲利換股：已獲利 +6,526 元（+1.39%）先入袋；這檔一個月預期只剩 +1.01%，轉買 00731 復華富時高息低波（預期 +4.40%）扣除換股成本後多 2.80%（門檻 1.0%），且收正報酬機率不低於原標的；同時風險警示：負面新聞：公告受金管會裁罰案；股價偏弱，減碼三分之一；法人近 5 日賣超 3,347 張，籌碼轉弱</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36 張又 71 股（共 36,071 股），回收資金約 474,334 元，依分數重新配置到同一籃的買進候選（最佳替換標的 00731 復華富時高息低波，實際買進股數受單一標的與產業上限約束，見買進明細）；部分換股會讓兩檔都表現平庸，因此一次換完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2915 潤泰全｜7 張 + 173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25</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虧損補回計畫 → 換股：00731 復華富時高息低波 扣除換股成本後的預期報酬比續抱高 1.97%（門檻 1.0%），且收正報酬機率不低於原標的 → 換股補回虧損較快；回收資金依綜合分數配置到買進候選，各檔仍受單一標的與產業上限約束</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7 張又 173 股（共 7,173 股），回收資金約 410,296 元，依分數重新配置到同一籃的買進候選（最佳替換標的 00731 復華富時高息低波，實際買進股數受單一標的與產業上限約束，見買進明細）；部分換股會讓兩檔都表現平庸，因此一次換完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1560 中砂｜1 張 + 91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26</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觸發停損：收盤 914.00 元 ≤ 停損價 936.69 元（成本 1017.82 元，損益 -10.20%）；同時風險警示：已跌破停損價 936.69（目前 914.0）：依紀律全數出場；法人近 5 日賣超 863 張，籌碼轉弱</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停損一律全數出場，避免虧損擴大；紀律優先於預測</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6196 帆宣｜2 張 + 150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27</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觸發停損：收盤 592.00 元 ≤ 停損價 599.23 元（成本 634.77 元，損益 -6.74%）；同時風險警示：已跌破停損價 599.23（目前 592.0）：依紀律全數出場</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停損一律全數出場，避免虧損擴大；紀律優先於預測</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2103 台橡｜3 張</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28</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虧損補回計畫 → 換股：8215 明基材 扣除換股成本後的預期報酬比續抱高 8.88%（門檻 1.0%），且創新高機率不低於原標的 → 換股補回虧損較快；回收資金依綜合分數配置到買進候選，各檔仍受單一標的與產業上限約束</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3 張（3,000 股），回收資金約 83,850 元，依分數重新配置到同一籃的買進候選（最佳替換標的 8215 明基材，實際買進股數受單一標的與產業上限約束，見買進明細）；部分換股會讓兩檔都表現平庸，因此一次換完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2360 致茂｜0 張 + 8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29</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觸發停損：收盤 2035.00 元 ≤ 停損價 2069.91 元（成本 2365.62 元，損益 -13.98%）；同時風險警示：已跌破停損價 2069.91（目前 2035.0）：依紀律全數出場；負面新聞：董事會決議辦理現金增資發行普通股參與發行海外存託憑證；股價偏弱，減碼三分之一</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停損一律全數出場，避免虧損擴大；紀律優先於預測</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6182 合晶｜1 張</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30</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虧損補回計畫 → 換股：8215 明基材 扣除換股成本後的預期報酬比續抱高 7.91%（門檻 1.0%），且創新高機率不低於原標的 → 換股補回虧損較快；回收資金依綜合分數配置到買進候選，各檔仍受單一標的與產業上限約束；同時風險警示：負面新聞：董事會決議辦理現金增資發行新股及發行國內第九次與第十次無擔保轉換公司債；股價偏弱，減碼三分之一</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1 張（1,000 股），回收資金約 105,000 元，依分數重新配置到同一籃的買進候選（最佳替換標的 8215 明基材，實際買進股數受單一標的與產業上限約束，見買進明細）；部分換股會讓兩檔都表現平庸，因此一次換完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3037 欣興｜0 張 + 570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31</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虧損補回計畫 → 換股：8215 明基材 扣除換股成本後的預期報酬比續抱高 7.94%（門檻 1.0%），且創新高機率不低於原標的 → 換股補回虧損較快；回收資金依綜合分數配置到買進候選，各檔仍受單一標的與產業上限約束</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570 股（零股），回收資金約 627,000 元，依分數重新配置到同一籃的買進候選（最佳替換標的 8215 明基材，實際買進股數受單一標的與產業上限約束，見買進明細）；部分換股會讓兩檔都表現平庸，因此一次換完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買進【穩健籃】1736 喬山｜3 張 + 767 股｜限價 120.5</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32</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買進 喬山 3,767 股，限價 120.5，停損 113.0。</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【穩健籃】穩健分數 +0.86 達門檻（+0.20）；一個月收正報酬機率 66.5%、預期最大回檔 -5.5%，且未過熱</a:t>
            </a:r>
          </a:p>
          <a:p>
            <a:pPr>
              <a:spcAft>
                <a:spcPts val="400"/>
              </a:spcAft>
            </a:pPr>
            <a:r>
              <a:rPr sz="1200" b="0">
                <a:solidFill>
                  <a:srgbClr val="1F2328"/>
                </a:solidFill>
                <a:latin typeface="Microsoft JhengHei"/>
                <a:ea typeface="Microsoft JhengHei"/>
              </a:rPr>
              <a:t>• 穩健模型：未來一個月收正報酬機率 66.5%（全市場基準 51.9%），預期最大回檔 -5.5%（回檔幅度排名全市場最小的前 7%）</a:t>
            </a:r>
          </a:p>
          <a:p>
            <a:pPr>
              <a:spcAft>
                <a:spcPts val="400"/>
              </a:spcAft>
            </a:pPr>
            <a:r>
              <a:rPr sz="1200" b="0">
                <a:solidFill>
                  <a:srgbClr val="1F2328"/>
                </a:solidFill>
                <a:latin typeface="Microsoft JhengHei"/>
                <a:ea typeface="Microsoft JhengHei"/>
              </a:rPr>
              <a:t>• 持有到比賽結束（約 40 個交易日）：收正報酬機率 70.2%、預期報酬 +12.2%（模型估計，不是保證）</a:t>
            </a:r>
          </a:p>
          <a:p>
            <a:pPr>
              <a:spcAft>
                <a:spcPts val="400"/>
              </a:spcAft>
            </a:pPr>
            <a:r>
              <a:rPr sz="1200" b="0">
                <a:solidFill>
                  <a:srgbClr val="1F2328"/>
                </a:solidFill>
                <a:latin typeface="Microsoft JhengHei"/>
                <a:ea typeface="Microsoft JhengHei"/>
              </a:rPr>
              <a:t>• 風險：60 日 β = -0.01（大盤漲跌 1% 時約變動 -0.01%），日波動 1.49%</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150" b="1">
                <a:solidFill>
                  <a:srgbClr val="1F3A5F"/>
                </a:solidFill>
                <a:latin typeface="Microsoft JhengHei"/>
                <a:ea typeface="Microsoft JhengHei"/>
              </a:rPr>
              <a:t>為何是這個股數</a:t>
            </a:r>
          </a:p>
          <a:p>
            <a:pPr>
              <a:spcAft>
                <a:spcPts val="400"/>
              </a:spcAft>
            </a:pPr>
            <a:r>
              <a:rPr sz="950" b="0">
                <a:solidFill>
                  <a:srgbClr val="1F2328"/>
                </a:solidFill>
                <a:latin typeface="Microsoft JhengHei"/>
                <a:ea typeface="Microsoft JhengHei"/>
              </a:rPr>
              <a:t>• 籃子配置：穩健籃佔目標持股 25% → 目標金額 1,977,416 元（已持有 73,000 元）</a:t>
            </a:r>
          </a:p>
          <a:p>
            <a:pPr>
              <a:spcAft>
                <a:spcPts val="400"/>
              </a:spcAft>
            </a:pPr>
            <a:r>
              <a:rPr sz="950" b="0">
                <a:solidFill>
                  <a:srgbClr val="1F2328"/>
                </a:solidFill>
                <a:latin typeface="Microsoft JhengHei"/>
                <a:ea typeface="Microsoft JhengHei"/>
              </a:rPr>
              <a:t>• 風險預算：總資產 8,788,516 元 × 每筆風險 0.8% × 信心係數 1.50（由穩健分數 +0.86 換算）= 105,462 元</a:t>
            </a:r>
          </a:p>
          <a:p>
            <a:pPr>
              <a:spcAft>
                <a:spcPts val="400"/>
              </a:spcAft>
            </a:pPr>
            <a:r>
              <a:rPr sz="950" b="0">
                <a:solidFill>
                  <a:srgbClr val="1F2328"/>
                </a:solidFill>
                <a:latin typeface="Microsoft JhengHei"/>
                <a:ea typeface="Microsoft JhengHei"/>
              </a:rPr>
              <a:t>• 停損距離：取 2×ATR14 = 7.21 與距 10 日低點 120.00 的距離 0.50 之較大者 = 7.21 元（進場 120.50 → 停損 113.00 元，6.0%）</a:t>
            </a:r>
          </a:p>
          <a:p>
            <a:pPr>
              <a:spcAft>
                <a:spcPts val="400"/>
              </a:spcAft>
            </a:pPr>
            <a:r>
              <a:rPr sz="950" b="0">
                <a:solidFill>
                  <a:srgbClr val="1F2328"/>
                </a:solidFill>
                <a:latin typeface="Microsoft JhengHei"/>
                <a:ea typeface="Microsoft JhengHei"/>
              </a:rPr>
              <a:t>• 風險法可買股數 = 105,462 ÷ 7.21 = 14,619 股</a:t>
            </a:r>
          </a:p>
          <a:p>
            <a:pPr>
              <a:spcAft>
                <a:spcPts val="400"/>
              </a:spcAft>
            </a:pPr>
            <a:r>
              <a:rPr sz="950" b="0">
                <a:solidFill>
                  <a:srgbClr val="1F2328"/>
                </a:solidFill>
                <a:latin typeface="Microsoft JhengHei"/>
                <a:ea typeface="Microsoft JhengHei"/>
              </a:rPr>
              <a:t>• 受「流動性上限（20 日均量 440 張 × 2%）」限制，下修至 8,807 股</a:t>
            </a:r>
          </a:p>
          <a:p>
            <a:pPr>
              <a:spcAft>
                <a:spcPts val="400"/>
              </a:spcAft>
            </a:pPr>
            <a:r>
              <a:rPr sz="950" b="0">
                <a:solidFill>
                  <a:srgbClr val="1F2328"/>
                </a:solidFill>
                <a:latin typeface="Microsoft JhengHei"/>
                <a:ea typeface="Microsoft JhengHei"/>
              </a:rPr>
              <a:t>• 穩健籃合計超過籃子上限，等比例下修 5,039 股</a:t>
            </a:r>
          </a:p>
          <a:p>
            <a:pPr>
              <a:spcAft>
                <a:spcPts val="400"/>
              </a:spcAft>
            </a:pPr>
            <a:r>
              <a:rPr sz="950" b="0">
                <a:solidFill>
                  <a:srgbClr val="1F2328"/>
                </a:solidFill>
                <a:latin typeface="Microsoft JhengHei"/>
                <a:ea typeface="Microsoft JhengHei"/>
              </a:rPr>
              <a:t>• 進場價：穩健籃不追價：限價取預測開盤價 121.12 與前一日收盤 120.5 的較低者 = 120.5</a:t>
            </a:r>
          </a:p>
          <a:p>
            <a:pPr>
              <a:spcAft>
                <a:spcPts val="400"/>
              </a:spcAft>
            </a:pPr>
            <a:r>
              <a:rPr sz="950" b="0">
                <a:solidFill>
                  <a:srgbClr val="1F2328"/>
                </a:solidFill>
                <a:latin typeface="Microsoft JhengHei"/>
                <a:ea typeface="Microsoft JhengHei"/>
              </a:rPr>
              <a:t>• 取整後：3 張又 767 股（共 3,767 股），金額約 453,924 元，佔總資產 5.2%</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【多買】穩健分數 +0.86 高，信心係數 1.50 ≥ 1 放大部位</a:t>
            </a:r>
          </a:p>
          <a:p>
            <a:pPr>
              <a:spcAft>
                <a:spcPts val="400"/>
              </a:spcAft>
            </a:pPr>
            <a:r>
              <a:rPr sz="1100" b="0">
                <a:solidFill>
                  <a:srgbClr val="1F2328"/>
                </a:solidFill>
                <a:latin typeface="Microsoft JhengHei"/>
                <a:ea typeface="Microsoft JhengHei"/>
              </a:rPr>
              <a:t>【多買】日均波動（ATR）3.0%，波動溫和 → 可承擔較多股數</a:t>
            </a:r>
          </a:p>
          <a:p>
            <a:pPr>
              <a:spcAft>
                <a:spcPts val="400"/>
              </a:spcAft>
            </a:pPr>
            <a:r>
              <a:rPr sz="1100" b="0">
                <a:solidFill>
                  <a:srgbClr val="1F2328"/>
                </a:solidFill>
                <a:latin typeface="Microsoft JhengHei"/>
                <a:ea typeface="Microsoft JhengHei"/>
              </a:rPr>
              <a:t>【多買】一個月收正報酬機率 66.5%，可提高「正報酬晉級」機率</a:t>
            </a:r>
          </a:p>
          <a:p>
            <a:pPr>
              <a:spcAft>
                <a:spcPts val="400"/>
              </a:spcAft>
            </a:pPr>
            <a:r>
              <a:rPr sz="1100" b="0">
                <a:solidFill>
                  <a:srgbClr val="1F2328"/>
                </a:solidFill>
                <a:latin typeface="Microsoft JhengHei"/>
                <a:ea typeface="Microsoft JhengHei"/>
              </a:rPr>
              <a:t>【少買】成交量不足，為避免衝擊價格而少買</a:t>
            </a:r>
          </a:p>
          <a:p>
            <a:pPr>
              <a:spcAft>
                <a:spcPts val="400"/>
              </a:spcAft>
            </a:pPr>
            <a:r>
              <a:rPr sz="1100" b="0">
                <a:solidFill>
                  <a:srgbClr val="1F2328"/>
                </a:solidFill>
                <a:latin typeface="Microsoft JhengHei"/>
                <a:ea typeface="Microsoft JhengHei"/>
              </a:rPr>
              <a:t>【少買】預期最大回檔 -5.5%，下檔風險偏大</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停損：收盤跌破 113.00 元全數賣出 3 張又 767 股（共 3,767 股）</a:t>
            </a:r>
          </a:p>
          <a:p>
            <a:pPr>
              <a:spcAft>
                <a:spcPts val="400"/>
              </a:spcAft>
            </a:pPr>
            <a:r>
              <a:rPr sz="1100" b="0">
                <a:solidFill>
                  <a:srgbClr val="1F2328"/>
                </a:solidFill>
                <a:latin typeface="Microsoft JhengHei"/>
                <a:ea typeface="Microsoft JhengHei"/>
              </a:rPr>
              <a:t>• 訊號轉弱（穩健分數 ≤ -0.30）先減碼一半</a:t>
            </a:r>
          </a:p>
          <a:p>
            <a:pPr>
              <a:spcAft>
                <a:spcPts val="400"/>
              </a:spcAft>
            </a:pPr>
            <a:r>
              <a:rPr sz="1100" b="0">
                <a:solidFill>
                  <a:srgbClr val="1F2328"/>
                </a:solidFill>
                <a:latin typeface="Microsoft JhengHei"/>
                <a:ea typeface="Microsoft JhengHei"/>
              </a:rPr>
              <a:t>• 結單轉股：持有滿 10 個交易日後，綜合排名出現扣成本後預期多 1% 以上的股票就全部賣出換股；獲利已達 10% 時多 2% 就可以當天換</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買進【穩健籃】6462 神盾｜4 張 + 263 股｜限價 99.0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33</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買進 神盾 4,263 股，限價 99.0，停損 92.0。</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【穩健籃】穩健分數 +0.67 達門檻（+0.20）；一個月收正報酬機率 57.2%、預期最大回檔 -6.9%，且未過熱</a:t>
            </a:r>
          </a:p>
          <a:p>
            <a:pPr>
              <a:spcAft>
                <a:spcPts val="400"/>
              </a:spcAft>
            </a:pPr>
            <a:r>
              <a:rPr sz="1200" b="0">
                <a:solidFill>
                  <a:srgbClr val="1F2328"/>
                </a:solidFill>
                <a:latin typeface="Microsoft JhengHei"/>
                <a:ea typeface="Microsoft JhengHei"/>
              </a:rPr>
              <a:t>• 穩健模型：未來一個月收正報酬機率 57.2%（全市場基準 51.9%），預期最大回檔 -6.9%（回檔幅度排名全市場最小的前 15%）</a:t>
            </a:r>
          </a:p>
          <a:p>
            <a:pPr>
              <a:spcAft>
                <a:spcPts val="400"/>
              </a:spcAft>
            </a:pPr>
            <a:r>
              <a:rPr sz="1200" b="0">
                <a:solidFill>
                  <a:srgbClr val="1F2328"/>
                </a:solidFill>
                <a:latin typeface="Microsoft JhengHei"/>
                <a:ea typeface="Microsoft JhengHei"/>
              </a:rPr>
              <a:t>• 持有到比賽結束（約 40 個交易日）：收正報酬機率 60.7%、預期報酬 +13.3%（模型估計，不是保證）</a:t>
            </a:r>
          </a:p>
          <a:p>
            <a:pPr>
              <a:spcAft>
                <a:spcPts val="400"/>
              </a:spcAft>
            </a:pPr>
            <a:r>
              <a:rPr sz="1200" b="0">
                <a:solidFill>
                  <a:srgbClr val="1F2328"/>
                </a:solidFill>
                <a:latin typeface="Microsoft JhengHei"/>
                <a:ea typeface="Microsoft JhengHei"/>
              </a:rPr>
              <a:t>• 風險：60 日 β = 0.78（大盤漲跌 1% 時約變動 0.78%），日波動 1.98%</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150" b="1">
                <a:solidFill>
                  <a:srgbClr val="1F3A5F"/>
                </a:solidFill>
                <a:latin typeface="Microsoft JhengHei"/>
                <a:ea typeface="Microsoft JhengHei"/>
              </a:rPr>
              <a:t>為何是這個股數</a:t>
            </a:r>
          </a:p>
          <a:p>
            <a:pPr>
              <a:spcAft>
                <a:spcPts val="400"/>
              </a:spcAft>
            </a:pPr>
            <a:r>
              <a:rPr sz="950" b="0">
                <a:solidFill>
                  <a:srgbClr val="1F2328"/>
                </a:solidFill>
                <a:latin typeface="Microsoft JhengHei"/>
                <a:ea typeface="Microsoft JhengHei"/>
              </a:rPr>
              <a:t>• 籃子配置：穩健籃佔目標持股 25% → 目標金額 1,977,416 元（已持有 73,000 元）</a:t>
            </a:r>
          </a:p>
          <a:p>
            <a:pPr>
              <a:spcAft>
                <a:spcPts val="400"/>
              </a:spcAft>
            </a:pPr>
            <a:r>
              <a:rPr sz="950" b="0">
                <a:solidFill>
                  <a:srgbClr val="1F2328"/>
                </a:solidFill>
                <a:latin typeface="Microsoft JhengHei"/>
                <a:ea typeface="Microsoft JhengHei"/>
              </a:rPr>
              <a:t>• 風險預算：總資產 8,788,516 元 × 每筆風險 0.8% × 信心係數 1.34（由穩健分數 +0.67 換算）= 94,125 元</a:t>
            </a:r>
          </a:p>
          <a:p>
            <a:pPr>
              <a:spcAft>
                <a:spcPts val="400"/>
              </a:spcAft>
            </a:pPr>
            <a:r>
              <a:rPr sz="950" b="0">
                <a:solidFill>
                  <a:srgbClr val="1F2328"/>
                </a:solidFill>
                <a:latin typeface="Microsoft JhengHei"/>
                <a:ea typeface="Microsoft JhengHei"/>
              </a:rPr>
              <a:t>• 停損距離：取 2×ATR14 = 5.83 與距 10 日低點 92.10 的距離 6.90 之較大者 = 6.90 元（進場 99.00 → 停損 92.00 元，7.0%）</a:t>
            </a:r>
          </a:p>
          <a:p>
            <a:pPr>
              <a:spcAft>
                <a:spcPts val="400"/>
              </a:spcAft>
            </a:pPr>
            <a:r>
              <a:rPr sz="950" b="0">
                <a:solidFill>
                  <a:srgbClr val="1F2328"/>
                </a:solidFill>
                <a:latin typeface="Microsoft JhengHei"/>
                <a:ea typeface="Microsoft JhengHei"/>
              </a:rPr>
              <a:t>• 風險法可買股數 = 94,125 ÷ 6.90 = 13,641 股</a:t>
            </a:r>
          </a:p>
          <a:p>
            <a:pPr>
              <a:spcAft>
                <a:spcPts val="400"/>
              </a:spcAft>
            </a:pPr>
            <a:r>
              <a:rPr sz="950" b="0">
                <a:solidFill>
                  <a:srgbClr val="1F2328"/>
                </a:solidFill>
                <a:latin typeface="Microsoft JhengHei"/>
                <a:ea typeface="Microsoft JhengHei"/>
              </a:rPr>
              <a:t>• 受「流動性上限（20 日均量 498 張 × 2%）」限制，下修至 9,965 股</a:t>
            </a:r>
          </a:p>
          <a:p>
            <a:pPr>
              <a:spcAft>
                <a:spcPts val="400"/>
              </a:spcAft>
            </a:pPr>
            <a:r>
              <a:rPr sz="950" b="0">
                <a:solidFill>
                  <a:srgbClr val="1F2328"/>
                </a:solidFill>
                <a:latin typeface="Microsoft JhengHei"/>
                <a:ea typeface="Microsoft JhengHei"/>
              </a:rPr>
              <a:t>• 穩健籃合計超過籃子上限，等比例下修 5,701 股</a:t>
            </a:r>
          </a:p>
          <a:p>
            <a:pPr>
              <a:spcAft>
                <a:spcPts val="400"/>
              </a:spcAft>
            </a:pPr>
            <a:r>
              <a:rPr sz="950" b="0">
                <a:solidFill>
                  <a:srgbClr val="1F2328"/>
                </a:solidFill>
                <a:latin typeface="Microsoft JhengHei"/>
                <a:ea typeface="Microsoft JhengHei"/>
              </a:rPr>
              <a:t>• 進場價：穩健籃不追價：限價取預測開盤價 99.8 與前一日收盤 99.0 的較低者 = 99.0</a:t>
            </a:r>
          </a:p>
          <a:p>
            <a:pPr>
              <a:spcAft>
                <a:spcPts val="400"/>
              </a:spcAft>
            </a:pPr>
            <a:r>
              <a:rPr sz="950" b="0">
                <a:solidFill>
                  <a:srgbClr val="1F2328"/>
                </a:solidFill>
                <a:latin typeface="Microsoft JhengHei"/>
                <a:ea typeface="Microsoft JhengHei"/>
              </a:rPr>
              <a:t>• 取整後：4 張又 263 股（共 4,263 股），金額約 422,037 元，佔總資產 4.8%</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【多買】穩健分數 +0.67 高，信心係數 1.34 ≥ 1 放大部位</a:t>
            </a:r>
          </a:p>
          <a:p>
            <a:pPr>
              <a:spcAft>
                <a:spcPts val="400"/>
              </a:spcAft>
            </a:pPr>
            <a:r>
              <a:rPr sz="1100" b="0">
                <a:solidFill>
                  <a:srgbClr val="1F2328"/>
                </a:solidFill>
                <a:latin typeface="Microsoft JhengHei"/>
                <a:ea typeface="Microsoft JhengHei"/>
              </a:rPr>
              <a:t>【多買】日均波動（ATR）2.9%，波動溫和 → 可承擔較多股數</a:t>
            </a:r>
          </a:p>
          <a:p>
            <a:pPr>
              <a:spcAft>
                <a:spcPts val="400"/>
              </a:spcAft>
            </a:pPr>
            <a:r>
              <a:rPr sz="1100" b="0">
                <a:solidFill>
                  <a:srgbClr val="1F2328"/>
                </a:solidFill>
                <a:latin typeface="Microsoft JhengHei"/>
                <a:ea typeface="Microsoft JhengHei"/>
              </a:rPr>
              <a:t>【少買】成交量不足，為避免衝擊價格而少買</a:t>
            </a:r>
          </a:p>
          <a:p>
            <a:pPr>
              <a:spcAft>
                <a:spcPts val="400"/>
              </a:spcAft>
            </a:pPr>
            <a:r>
              <a:rPr sz="1100" b="0">
                <a:solidFill>
                  <a:srgbClr val="1F2328"/>
                </a:solidFill>
                <a:latin typeface="Microsoft JhengHei"/>
                <a:ea typeface="Microsoft JhengHei"/>
              </a:rPr>
              <a:t>【少買】一個月收正報酬機率 57.2%，勝率普通</a:t>
            </a:r>
          </a:p>
          <a:p>
            <a:pPr>
              <a:spcAft>
                <a:spcPts val="400"/>
              </a:spcAft>
            </a:pPr>
            <a:r>
              <a:rPr sz="1100" b="0">
                <a:solidFill>
                  <a:srgbClr val="1F2328"/>
                </a:solidFill>
                <a:latin typeface="Microsoft JhengHei"/>
                <a:ea typeface="Microsoft JhengHei"/>
              </a:rPr>
              <a:t>【少買】預期最大回檔 -6.9%，下檔風險偏大</a:t>
            </a:r>
          </a:p>
          <a:p>
            <a:pPr>
              <a:spcAft>
                <a:spcPts val="400"/>
              </a:spcAft>
            </a:pPr>
            <a:r>
              <a:rPr sz="1100" b="0">
                <a:solidFill>
                  <a:srgbClr val="1F2328"/>
                </a:solidFill>
                <a:latin typeface="Microsoft JhengHei"/>
                <a:ea typeface="Microsoft JhengHei"/>
              </a:rPr>
              <a:t>【少買】月營收年減 -0.3%，基本面偏弱</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停損：收盤跌破 92.00 元全數賣出 4 張又 263 股（共 4,263 股）</a:t>
            </a:r>
          </a:p>
          <a:p>
            <a:pPr>
              <a:spcAft>
                <a:spcPts val="400"/>
              </a:spcAft>
            </a:pPr>
            <a:r>
              <a:rPr sz="1100" b="0">
                <a:solidFill>
                  <a:srgbClr val="1F2328"/>
                </a:solidFill>
                <a:latin typeface="Microsoft JhengHei"/>
                <a:ea typeface="Microsoft JhengHei"/>
              </a:rPr>
              <a:t>• 訊號轉弱（穩健分數 ≤ -0.30）先減碼一半</a:t>
            </a:r>
          </a:p>
          <a:p>
            <a:pPr>
              <a:spcAft>
                <a:spcPts val="400"/>
              </a:spcAft>
            </a:pPr>
            <a:r>
              <a:rPr sz="1100" b="0">
                <a:solidFill>
                  <a:srgbClr val="1F2328"/>
                </a:solidFill>
                <a:latin typeface="Microsoft JhengHei"/>
                <a:ea typeface="Microsoft JhengHei"/>
              </a:rPr>
              <a:t>• 結單轉股：持有滿 10 個交易日後，綜合排名出現扣成本後預期多 1% 以上的股票就全部賣出換股；獲利已達 10% 時多 2% 就可以當天換</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買進【穩健籃】2357 華碩｜0 張 + 674 股｜限價 988.0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34</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買進 華碩 674 股，限價 988.0，停損 928.0。</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【穩健籃】穩健分數 +0.67 達門檻（+0.20）；一個月收正報酬機率 59.8%、預期最大回檔 -7.4%，且未過熱</a:t>
            </a:r>
          </a:p>
          <a:p>
            <a:pPr>
              <a:spcAft>
                <a:spcPts val="400"/>
              </a:spcAft>
            </a:pPr>
            <a:r>
              <a:rPr sz="1200" b="0">
                <a:solidFill>
                  <a:srgbClr val="1F2328"/>
                </a:solidFill>
                <a:latin typeface="Microsoft JhengHei"/>
                <a:ea typeface="Microsoft JhengHei"/>
              </a:rPr>
              <a:t>• 穩健模型：未來一個月收正報酬機率 59.8%（全市場基準 51.9%），預期最大回檔 -7.4%（回檔幅度排名全市場最小的前 19%）</a:t>
            </a:r>
          </a:p>
          <a:p>
            <a:pPr>
              <a:spcAft>
                <a:spcPts val="400"/>
              </a:spcAft>
            </a:pPr>
            <a:r>
              <a:rPr sz="1200" b="0">
                <a:solidFill>
                  <a:srgbClr val="1F2328"/>
                </a:solidFill>
                <a:latin typeface="Microsoft JhengHei"/>
                <a:ea typeface="Microsoft JhengHei"/>
              </a:rPr>
              <a:t>• 持有到比賽結束（約 40 個交易日）：收正報酬機率 69.1%、預期報酬 +6.6%（模型估計，不是保證）</a:t>
            </a:r>
          </a:p>
          <a:p>
            <a:pPr>
              <a:spcAft>
                <a:spcPts val="400"/>
              </a:spcAft>
            </a:pPr>
            <a:r>
              <a:rPr sz="1200" b="0">
                <a:solidFill>
                  <a:srgbClr val="1F2328"/>
                </a:solidFill>
                <a:latin typeface="Microsoft JhengHei"/>
                <a:ea typeface="Microsoft JhengHei"/>
              </a:rPr>
              <a:t>• 風險：60 日 β = 1.09（大盤漲跌 1% 時約變動 1.09%），日波動 1.81%</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200" b="1">
                <a:solidFill>
                  <a:srgbClr val="1F3A5F"/>
                </a:solidFill>
                <a:latin typeface="Microsoft JhengHei"/>
                <a:ea typeface="Microsoft JhengHei"/>
              </a:rPr>
              <a:t>為何是這個股數</a:t>
            </a:r>
          </a:p>
          <a:p>
            <a:pPr>
              <a:spcAft>
                <a:spcPts val="400"/>
              </a:spcAft>
            </a:pPr>
            <a:r>
              <a:rPr sz="1000" b="0">
                <a:solidFill>
                  <a:srgbClr val="1F2328"/>
                </a:solidFill>
                <a:latin typeface="Microsoft JhengHei"/>
                <a:ea typeface="Microsoft JhengHei"/>
              </a:rPr>
              <a:t>• 籃子配置：穩健籃佔目標持股 25% → 目標金額 1,977,416 元（已持有 73,000 元）</a:t>
            </a:r>
          </a:p>
          <a:p>
            <a:pPr>
              <a:spcAft>
                <a:spcPts val="400"/>
              </a:spcAft>
            </a:pPr>
            <a:r>
              <a:rPr sz="1000" b="0">
                <a:solidFill>
                  <a:srgbClr val="1F2328"/>
                </a:solidFill>
                <a:latin typeface="Microsoft JhengHei"/>
                <a:ea typeface="Microsoft JhengHei"/>
              </a:rPr>
              <a:t>• 風險預算：總資產 8,788,516 元 × 每筆風險 0.8% × 信心係數 1.33（由穩健分數 +0.67 換算）= 93,686 元</a:t>
            </a:r>
          </a:p>
          <a:p>
            <a:pPr>
              <a:spcAft>
                <a:spcPts val="400"/>
              </a:spcAft>
            </a:pPr>
            <a:r>
              <a:rPr sz="1000" b="0">
                <a:solidFill>
                  <a:srgbClr val="1F2328"/>
                </a:solidFill>
                <a:latin typeface="Microsoft JhengHei"/>
                <a:ea typeface="Microsoft JhengHei"/>
              </a:rPr>
              <a:t>• 停損距離：取 2×ATR14 = 59.43 與距 10 日低點 946.00 的距離 42.00 之較大者 = 59.43 元（進場 988.00 → 停損 928.00 元，6.0%）</a:t>
            </a:r>
          </a:p>
          <a:p>
            <a:pPr>
              <a:spcAft>
                <a:spcPts val="400"/>
              </a:spcAft>
            </a:pPr>
            <a:r>
              <a:rPr sz="1000" b="0">
                <a:solidFill>
                  <a:srgbClr val="1F2328"/>
                </a:solidFill>
                <a:latin typeface="Microsoft JhengHei"/>
                <a:ea typeface="Microsoft JhengHei"/>
              </a:rPr>
              <a:t>• 風險法可買股數 = 93,686 ÷ 59.43 = 1,576 股</a:t>
            </a:r>
          </a:p>
          <a:p>
            <a:pPr>
              <a:spcAft>
                <a:spcPts val="400"/>
              </a:spcAft>
            </a:pPr>
            <a:r>
              <a:rPr sz="1000" b="0">
                <a:solidFill>
                  <a:srgbClr val="1F2328"/>
                </a:solidFill>
                <a:latin typeface="Microsoft JhengHei"/>
                <a:ea typeface="Microsoft JhengHei"/>
              </a:rPr>
              <a:t>• 穩健籃合計超過籃子上限，等比例下修 902 股</a:t>
            </a:r>
          </a:p>
          <a:p>
            <a:pPr>
              <a:spcAft>
                <a:spcPts val="400"/>
              </a:spcAft>
            </a:pPr>
            <a:r>
              <a:rPr sz="1000" b="0">
                <a:solidFill>
                  <a:srgbClr val="1F2328"/>
                </a:solidFill>
                <a:latin typeface="Microsoft JhengHei"/>
                <a:ea typeface="Microsoft JhengHei"/>
              </a:rPr>
              <a:t>• 進場價：穩健籃不追價：限價取預測開盤價 991.02 與前一日收盤 988.0 的較低者 = 988.0</a:t>
            </a:r>
          </a:p>
          <a:p>
            <a:pPr>
              <a:spcAft>
                <a:spcPts val="400"/>
              </a:spcAft>
            </a:pPr>
            <a:r>
              <a:rPr sz="1000" b="0">
                <a:solidFill>
                  <a:srgbClr val="1F2328"/>
                </a:solidFill>
                <a:latin typeface="Microsoft JhengHei"/>
                <a:ea typeface="Microsoft JhengHei"/>
              </a:rPr>
              <a:t>• 取整後：674 股（零股），金額約 665,912 元，佔總資產 7.6%</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【多買】穩健分數 +0.67 高，信心係數 1.33 ≥ 1 放大部位</a:t>
            </a:r>
          </a:p>
          <a:p>
            <a:pPr>
              <a:spcAft>
                <a:spcPts val="400"/>
              </a:spcAft>
            </a:pPr>
            <a:r>
              <a:rPr sz="1100" b="0">
                <a:solidFill>
                  <a:srgbClr val="1F2328"/>
                </a:solidFill>
                <a:latin typeface="Microsoft JhengHei"/>
                <a:ea typeface="Microsoft JhengHei"/>
              </a:rPr>
              <a:t>【多買】日均波動（ATR）3.0%，波動溫和 → 可承擔較多股數</a:t>
            </a:r>
          </a:p>
          <a:p>
            <a:pPr>
              <a:spcAft>
                <a:spcPts val="400"/>
              </a:spcAft>
            </a:pPr>
            <a:r>
              <a:rPr sz="1100" b="0">
                <a:solidFill>
                  <a:srgbClr val="1F2328"/>
                </a:solidFill>
                <a:latin typeface="Microsoft JhengHei"/>
                <a:ea typeface="Microsoft JhengHei"/>
              </a:rPr>
              <a:t>【少買】一個月收正報酬機率 59.8%，勝率普通</a:t>
            </a:r>
          </a:p>
          <a:p>
            <a:pPr>
              <a:spcAft>
                <a:spcPts val="400"/>
              </a:spcAft>
            </a:pPr>
            <a:r>
              <a:rPr sz="1100" b="0">
                <a:solidFill>
                  <a:srgbClr val="1F2328"/>
                </a:solidFill>
                <a:latin typeface="Microsoft JhengHei"/>
                <a:ea typeface="Microsoft JhengHei"/>
              </a:rPr>
              <a:t>【少買】預期最大回檔 -7.4%，下檔風險偏大</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停損：收盤跌破 928.00 元全數賣出 674 股（零股）</a:t>
            </a:r>
          </a:p>
          <a:p>
            <a:pPr>
              <a:spcAft>
                <a:spcPts val="400"/>
              </a:spcAft>
            </a:pPr>
            <a:r>
              <a:rPr sz="1100" b="0">
                <a:solidFill>
                  <a:srgbClr val="1F2328"/>
                </a:solidFill>
                <a:latin typeface="Microsoft JhengHei"/>
                <a:ea typeface="Microsoft JhengHei"/>
              </a:rPr>
              <a:t>• 訊號轉弱（穩健分數 ≤ -0.30）先減碼一半</a:t>
            </a:r>
          </a:p>
          <a:p>
            <a:pPr>
              <a:spcAft>
                <a:spcPts val="400"/>
              </a:spcAft>
            </a:pPr>
            <a:r>
              <a:rPr sz="1100" b="0">
                <a:solidFill>
                  <a:srgbClr val="1F2328"/>
                </a:solidFill>
                <a:latin typeface="Microsoft JhengHei"/>
                <a:ea typeface="Microsoft JhengHei"/>
              </a:rPr>
              <a:t>• 結單轉股：持有滿 10 個交易日後，綜合排名出現扣成本後預期多 1% 以上的股票就全部賣出換股；獲利已達 10% 時多 2% 就可以當天換</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買進【穩健籃】2885 元大金｜7 張 + 967 股｜限價 73.0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35</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買進 元大金 7,967 股，限價 73.0，停損 68.8。</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【穩健籃】穩健分數 +0.49 達門檻（+0.20）；一個月收正報酬機率 63.4%、預期最大回檔 -8.5%，且未過熱</a:t>
            </a:r>
          </a:p>
          <a:p>
            <a:pPr>
              <a:spcAft>
                <a:spcPts val="400"/>
              </a:spcAft>
            </a:pPr>
            <a:r>
              <a:rPr sz="1200" b="0">
                <a:solidFill>
                  <a:srgbClr val="1F2328"/>
                </a:solidFill>
                <a:latin typeface="Microsoft JhengHei"/>
                <a:ea typeface="Microsoft JhengHei"/>
              </a:rPr>
              <a:t>• 穩健模型：未來一個月收正報酬機率 63.4%（全市場基準 51.9%），預期最大回檔 -8.5%（回檔幅度排名全市場最小的前 29%）</a:t>
            </a:r>
          </a:p>
          <a:p>
            <a:pPr>
              <a:spcAft>
                <a:spcPts val="400"/>
              </a:spcAft>
            </a:pPr>
            <a:r>
              <a:rPr sz="1200" b="0">
                <a:solidFill>
                  <a:srgbClr val="1F2328"/>
                </a:solidFill>
                <a:latin typeface="Microsoft JhengHei"/>
                <a:ea typeface="Microsoft JhengHei"/>
              </a:rPr>
              <a:t>• 持有到比賽結束（約 40 個交易日）：收正報酬機率 61.7%、預期報酬 +4.9%（模型估計，不是保證）</a:t>
            </a:r>
          </a:p>
          <a:p>
            <a:pPr>
              <a:spcAft>
                <a:spcPts val="400"/>
              </a:spcAft>
            </a:pPr>
            <a:r>
              <a:rPr sz="1200" b="0">
                <a:solidFill>
                  <a:srgbClr val="1F2328"/>
                </a:solidFill>
                <a:latin typeface="Microsoft JhengHei"/>
                <a:ea typeface="Microsoft JhengHei"/>
              </a:rPr>
              <a:t>• 風險：60 日 β = 0.64（大盤漲跌 1% 時約變動 0.64%），日波動 1.46%</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200" b="1">
                <a:solidFill>
                  <a:srgbClr val="1F3A5F"/>
                </a:solidFill>
                <a:latin typeface="Microsoft JhengHei"/>
                <a:ea typeface="Microsoft JhengHei"/>
              </a:rPr>
              <a:t>為何是這個股數</a:t>
            </a:r>
          </a:p>
          <a:p>
            <a:pPr>
              <a:spcAft>
                <a:spcPts val="400"/>
              </a:spcAft>
            </a:pPr>
            <a:r>
              <a:rPr sz="1000" b="0">
                <a:solidFill>
                  <a:srgbClr val="1F2328"/>
                </a:solidFill>
                <a:latin typeface="Microsoft JhengHei"/>
                <a:ea typeface="Microsoft JhengHei"/>
              </a:rPr>
              <a:t>• 籃子配置：穩健籃佔目標持股 25% → 目標金額 1,977,416 元（已持有 73,000 元）</a:t>
            </a:r>
          </a:p>
          <a:p>
            <a:pPr>
              <a:spcAft>
                <a:spcPts val="400"/>
              </a:spcAft>
            </a:pPr>
            <a:r>
              <a:rPr sz="1000" b="0">
                <a:solidFill>
                  <a:srgbClr val="1F2328"/>
                </a:solidFill>
                <a:latin typeface="Microsoft JhengHei"/>
                <a:ea typeface="Microsoft JhengHei"/>
              </a:rPr>
              <a:t>• 風險預算：總資產 8,788,516 元 × 每筆風險 0.8% × 信心係數 1.11（由穩健分數 +0.49 換算）= 78,218 元</a:t>
            </a:r>
          </a:p>
          <a:p>
            <a:pPr>
              <a:spcAft>
                <a:spcPts val="400"/>
              </a:spcAft>
            </a:pPr>
            <a:r>
              <a:rPr sz="1000" b="0">
                <a:solidFill>
                  <a:srgbClr val="1F2328"/>
                </a:solidFill>
                <a:latin typeface="Microsoft JhengHei"/>
                <a:ea typeface="Microsoft JhengHei"/>
              </a:rPr>
              <a:t>• 停損距離：取 2×ATR14 = 3.67 與距 10 日低點 68.80 的距離 4.20 之較大者 = 4.20 元（進場 73.00 → 停損 68.80 元，5.8%）</a:t>
            </a:r>
          </a:p>
          <a:p>
            <a:pPr>
              <a:spcAft>
                <a:spcPts val="400"/>
              </a:spcAft>
            </a:pPr>
            <a:r>
              <a:rPr sz="1000" b="0">
                <a:solidFill>
                  <a:srgbClr val="1F2328"/>
                </a:solidFill>
                <a:latin typeface="Microsoft JhengHei"/>
                <a:ea typeface="Microsoft JhengHei"/>
              </a:rPr>
              <a:t>• 風險法可買股數 = 78,218 ÷ 4.20 = 18,623 股</a:t>
            </a:r>
          </a:p>
          <a:p>
            <a:pPr>
              <a:spcAft>
                <a:spcPts val="400"/>
              </a:spcAft>
            </a:pPr>
            <a:r>
              <a:rPr sz="1000" b="0">
                <a:solidFill>
                  <a:srgbClr val="1F2328"/>
                </a:solidFill>
                <a:latin typeface="Microsoft JhengHei"/>
                <a:ea typeface="Microsoft JhengHei"/>
              </a:rPr>
              <a:t>• 穩健籃合計超過籃子上限，等比例下修 10,655 股</a:t>
            </a:r>
          </a:p>
          <a:p>
            <a:pPr>
              <a:spcAft>
                <a:spcPts val="400"/>
              </a:spcAft>
            </a:pPr>
            <a:r>
              <a:rPr sz="1000" b="0">
                <a:solidFill>
                  <a:srgbClr val="1F2328"/>
                </a:solidFill>
                <a:latin typeface="Microsoft JhengHei"/>
                <a:ea typeface="Microsoft JhengHei"/>
              </a:rPr>
              <a:t>• 進場價：穩健籃不追價：限價取預測開盤價 73.24 與前一日收盤 73.0 的較低者 = 73.0</a:t>
            </a:r>
          </a:p>
          <a:p>
            <a:pPr>
              <a:spcAft>
                <a:spcPts val="400"/>
              </a:spcAft>
            </a:pPr>
            <a:r>
              <a:rPr sz="1000" b="0">
                <a:solidFill>
                  <a:srgbClr val="1F2328"/>
                </a:solidFill>
                <a:latin typeface="Microsoft JhengHei"/>
                <a:ea typeface="Microsoft JhengHei"/>
              </a:rPr>
              <a:t>• 取整後：7 張又 967 股（共 7,967 股），金額約 581,591 元，佔總資產 6.6%</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【多買】穩健分數 +0.49 高，信心係數 1.11 ≥ 1 放大部位</a:t>
            </a:r>
          </a:p>
          <a:p>
            <a:pPr>
              <a:spcAft>
                <a:spcPts val="400"/>
              </a:spcAft>
            </a:pPr>
            <a:r>
              <a:rPr sz="1100" b="0">
                <a:solidFill>
                  <a:srgbClr val="1F2328"/>
                </a:solidFill>
                <a:latin typeface="Microsoft JhengHei"/>
                <a:ea typeface="Microsoft JhengHei"/>
              </a:rPr>
              <a:t>【多買】日均波動（ATR）2.5%，波動溫和 → 可承擔較多股數</a:t>
            </a:r>
          </a:p>
          <a:p>
            <a:pPr>
              <a:spcAft>
                <a:spcPts val="400"/>
              </a:spcAft>
            </a:pPr>
            <a:r>
              <a:rPr sz="1100" b="0">
                <a:solidFill>
                  <a:srgbClr val="1F2328"/>
                </a:solidFill>
                <a:latin typeface="Microsoft JhengHei"/>
                <a:ea typeface="Microsoft JhengHei"/>
              </a:rPr>
              <a:t>【多買】法人連續買超 4 日，籌碼穩定</a:t>
            </a:r>
          </a:p>
          <a:p>
            <a:pPr>
              <a:spcAft>
                <a:spcPts val="400"/>
              </a:spcAft>
            </a:pPr>
            <a:r>
              <a:rPr sz="1100" b="0">
                <a:solidFill>
                  <a:srgbClr val="1F2328"/>
                </a:solidFill>
                <a:latin typeface="Microsoft JhengHei"/>
                <a:ea typeface="Microsoft JhengHei"/>
              </a:rPr>
              <a:t>【多買】一個月收正報酬機率 63.4%，可提高「正報酬晉級」機率</a:t>
            </a:r>
          </a:p>
          <a:p>
            <a:pPr>
              <a:spcAft>
                <a:spcPts val="400"/>
              </a:spcAft>
            </a:pPr>
            <a:r>
              <a:rPr sz="1100" b="0">
                <a:solidFill>
                  <a:srgbClr val="1F2328"/>
                </a:solidFill>
                <a:latin typeface="Microsoft JhengHei"/>
                <a:ea typeface="Microsoft JhengHei"/>
              </a:rPr>
              <a:t>【多買】月營收年增 +22.7%，基本面支撐</a:t>
            </a:r>
          </a:p>
          <a:p>
            <a:pPr>
              <a:spcAft>
                <a:spcPts val="400"/>
              </a:spcAft>
            </a:pPr>
            <a:r>
              <a:rPr sz="1100" b="0">
                <a:solidFill>
                  <a:srgbClr val="1F2328"/>
                </a:solidFill>
                <a:latin typeface="Microsoft JhengHei"/>
                <a:ea typeface="Microsoft JhengHei"/>
              </a:rPr>
              <a:t>【少買】預期最大回檔 -8.5%，下檔風險偏大</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停損：收盤跌破 68.80 元全數賣出 7 張又 967 股（共 7,967 股）</a:t>
            </a:r>
          </a:p>
          <a:p>
            <a:pPr>
              <a:spcAft>
                <a:spcPts val="400"/>
              </a:spcAft>
            </a:pPr>
            <a:r>
              <a:rPr sz="1100" b="0">
                <a:solidFill>
                  <a:srgbClr val="1F2328"/>
                </a:solidFill>
                <a:latin typeface="Microsoft JhengHei"/>
                <a:ea typeface="Microsoft JhengHei"/>
              </a:rPr>
              <a:t>• 訊號轉弱（穩健分數 ≤ -0.30）先減碼一半</a:t>
            </a:r>
          </a:p>
          <a:p>
            <a:pPr>
              <a:spcAft>
                <a:spcPts val="400"/>
              </a:spcAft>
            </a:pPr>
            <a:r>
              <a:rPr sz="1100" b="0">
                <a:solidFill>
                  <a:srgbClr val="1F2328"/>
                </a:solidFill>
                <a:latin typeface="Microsoft JhengHei"/>
                <a:ea typeface="Microsoft JhengHei"/>
              </a:rPr>
              <a:t>• 結單轉股：持有滿 10 個交易日後，綜合排名出現扣成本後預期多 1% 以上的股票就全部賣出換股；獲利已達 10% 時多 2% 就可以當天換</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買進【進攻籃】7730 暉盛-創｜4 張 + 266 股｜限價 239.0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36</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買進 暉盛-創 4,266 股，限價 239.0，停損 215.0。</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【進攻籃】綜合分數 +0.79 達門檻（+0.30）；一個月模型預期超額報酬排名全市場前 0%、創新高機率 83.8%</a:t>
            </a:r>
          </a:p>
          <a:p>
            <a:pPr>
              <a:spcAft>
                <a:spcPts val="400"/>
              </a:spcAft>
            </a:pPr>
            <a:r>
              <a:rPr sz="1200" b="0">
                <a:solidFill>
                  <a:srgbClr val="1F2328"/>
                </a:solidFill>
                <a:latin typeface="Microsoft JhengHei"/>
                <a:ea typeface="Microsoft JhengHei"/>
              </a:rPr>
              <a:t>• 一個月模型：創 52 週新高機率 83.8%（全市場基準 18.0%，排名前 3%），預期超額報酬 +12.32%（排名前 0%）</a:t>
            </a:r>
          </a:p>
          <a:p>
            <a:pPr>
              <a:spcAft>
                <a:spcPts val="400"/>
              </a:spcAft>
            </a:pPr>
            <a:r>
              <a:rPr sz="1200" b="0">
                <a:solidFill>
                  <a:srgbClr val="1F2328"/>
                </a:solidFill>
                <a:latin typeface="Microsoft JhengHei"/>
                <a:ea typeface="Microsoft JhengHei"/>
              </a:rPr>
              <a:t>• 距 52 週高點 -6.1%（52 週高 252.5，現價 237.0）</a:t>
            </a:r>
          </a:p>
          <a:p>
            <a:pPr>
              <a:spcAft>
                <a:spcPts val="400"/>
              </a:spcAft>
            </a:pPr>
            <a:r>
              <a:rPr sz="1200" b="0">
                <a:solidFill>
                  <a:srgbClr val="1F2328"/>
                </a:solidFill>
                <a:latin typeface="Microsoft JhengHei"/>
                <a:ea typeface="Microsoft JhengHei"/>
              </a:rPr>
              <a:t>• 動能：近 20 日 +39.0%、近 60 日 +71.6%，相對大盤 20 日 +41.3%、60 日 +54.1%</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200" b="1">
                <a:solidFill>
                  <a:srgbClr val="1F3A5F"/>
                </a:solidFill>
                <a:latin typeface="Microsoft JhengHei"/>
                <a:ea typeface="Microsoft JhengHei"/>
              </a:rPr>
              <a:t>為何是這個股數</a:t>
            </a:r>
          </a:p>
          <a:p>
            <a:pPr>
              <a:spcAft>
                <a:spcPts val="400"/>
              </a:spcAft>
            </a:pPr>
            <a:r>
              <a:rPr sz="1000" b="0">
                <a:solidFill>
                  <a:srgbClr val="1F2328"/>
                </a:solidFill>
                <a:latin typeface="Microsoft JhengHei"/>
                <a:ea typeface="Microsoft JhengHei"/>
              </a:rPr>
              <a:t>• 籃子配置：進攻籃佔目標持股 75% → 目標金額 5,932,248 元（已持有 3,025,542 元）</a:t>
            </a:r>
          </a:p>
          <a:p>
            <a:pPr>
              <a:spcAft>
                <a:spcPts val="400"/>
              </a:spcAft>
            </a:pPr>
            <a:r>
              <a:rPr sz="1000" b="0">
                <a:solidFill>
                  <a:srgbClr val="1F2328"/>
                </a:solidFill>
                <a:latin typeface="Microsoft JhengHei"/>
                <a:ea typeface="Microsoft JhengHei"/>
              </a:rPr>
              <a:t>• 風險預算：總資產 8,788,516 元 × 每筆風險 0.8% × 信心係數 1.48（由綜合分數 +0.79 換算）= 104,232 元</a:t>
            </a:r>
          </a:p>
          <a:p>
            <a:pPr>
              <a:spcAft>
                <a:spcPts val="400"/>
              </a:spcAft>
            </a:pPr>
            <a:r>
              <a:rPr sz="1000" b="0">
                <a:solidFill>
                  <a:srgbClr val="1F2328"/>
                </a:solidFill>
                <a:latin typeface="Microsoft JhengHei"/>
                <a:ea typeface="Microsoft JhengHei"/>
              </a:rPr>
              <a:t>• 停損距離：取 2×ATR14 = 29.14 與距 10 日低點 188.00 的距離 51.00 之較大者，但不超過進場價 10%（23.90） = 23.90 元（進場 239.00 → 停損 215.00 元，10.0%）</a:t>
            </a:r>
          </a:p>
          <a:p>
            <a:pPr>
              <a:spcAft>
                <a:spcPts val="400"/>
              </a:spcAft>
            </a:pPr>
            <a:r>
              <a:rPr sz="1000" b="0">
                <a:solidFill>
                  <a:srgbClr val="1F2328"/>
                </a:solidFill>
                <a:latin typeface="Microsoft JhengHei"/>
                <a:ea typeface="Microsoft JhengHei"/>
              </a:rPr>
              <a:t>• 風險法可買股數 = 104,232 ÷ 23.90 = 4,361 股</a:t>
            </a:r>
          </a:p>
          <a:p>
            <a:pPr>
              <a:spcAft>
                <a:spcPts val="400"/>
              </a:spcAft>
            </a:pPr>
            <a:r>
              <a:rPr sz="1000" b="0">
                <a:solidFill>
                  <a:srgbClr val="1F2328"/>
                </a:solidFill>
                <a:latin typeface="Microsoft JhengHei"/>
                <a:ea typeface="Microsoft JhengHei"/>
              </a:rPr>
              <a:t>• 進攻籃合計超過籃子上限，等比例下修 94 股</a:t>
            </a:r>
          </a:p>
          <a:p>
            <a:pPr>
              <a:spcAft>
                <a:spcPts val="400"/>
              </a:spcAft>
            </a:pPr>
            <a:r>
              <a:rPr sz="1000" b="0">
                <a:solidFill>
                  <a:srgbClr val="1F2328"/>
                </a:solidFill>
                <a:latin typeface="Microsoft JhengHei"/>
                <a:ea typeface="Microsoft JhengHei"/>
              </a:rPr>
              <a:t>• 進場價：限價 = 預測開盤價 237.69 × (1 + 0.5%) = 239.0，提高成交機率</a:t>
            </a:r>
          </a:p>
          <a:p>
            <a:pPr>
              <a:spcAft>
                <a:spcPts val="400"/>
              </a:spcAft>
            </a:pPr>
            <a:r>
              <a:rPr sz="1000" b="0">
                <a:solidFill>
                  <a:srgbClr val="1F2328"/>
                </a:solidFill>
                <a:latin typeface="Microsoft JhengHei"/>
                <a:ea typeface="Microsoft JhengHei"/>
              </a:rPr>
              <a:t>• 取整後：4 張又 266 股（共 4,266 股），金額約 1,019,574 元，佔總資產 11.6%</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【多買】綜合分數 +0.79 高，信心係數 1.48 ≥ 1 放大部位</a:t>
            </a:r>
          </a:p>
          <a:p>
            <a:pPr>
              <a:spcAft>
                <a:spcPts val="400"/>
              </a:spcAft>
            </a:pPr>
            <a:r>
              <a:rPr sz="1100" b="0">
                <a:solidFill>
                  <a:srgbClr val="1F2328"/>
                </a:solidFill>
                <a:latin typeface="Microsoft JhengHei"/>
                <a:ea typeface="Microsoft JhengHei"/>
              </a:rPr>
              <a:t>【多買】一個月內創新高機率 83.8%，勝率高可多配置</a:t>
            </a:r>
          </a:p>
          <a:p>
            <a:pPr>
              <a:spcAft>
                <a:spcPts val="400"/>
              </a:spcAft>
            </a:pPr>
            <a:r>
              <a:rPr sz="1100" b="0">
                <a:solidFill>
                  <a:srgbClr val="1F2328"/>
                </a:solidFill>
                <a:latin typeface="Microsoft JhengHei"/>
                <a:ea typeface="Microsoft JhengHei"/>
              </a:rPr>
              <a:t>【多買】月營收年增 +64.4%，基本面支撐</a:t>
            </a:r>
          </a:p>
          <a:p>
            <a:pPr>
              <a:spcAft>
                <a:spcPts val="400"/>
              </a:spcAft>
            </a:pPr>
            <a:r>
              <a:rPr sz="1100" b="0">
                <a:solidFill>
                  <a:srgbClr val="1F2328"/>
                </a:solidFill>
                <a:latin typeface="Microsoft JhengHei"/>
                <a:ea typeface="Microsoft JhengHei"/>
              </a:rPr>
              <a:t>【少買】日均波動（ATR）6.1%，波動大 → 停損距離遠 → 股數少</a:t>
            </a:r>
          </a:p>
          <a:p>
            <a:pPr>
              <a:spcAft>
                <a:spcPts val="400"/>
              </a:spcAft>
            </a:pPr>
            <a:r>
              <a:rPr sz="1100" b="0">
                <a:solidFill>
                  <a:srgbClr val="1F2328"/>
                </a:solidFill>
                <a:latin typeface="Microsoft JhengHei"/>
                <a:ea typeface="Microsoft JhengHei"/>
              </a:rPr>
              <a:t>【少買】此檔開盤預測模型回測命中率未達門檻，預測權重已降低</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一個月目標：突破 52 週高點 252.5 元（距現價 6.1%）即確認創新高，續抱讓獲利奔跑</a:t>
            </a:r>
          </a:p>
          <a:p>
            <a:pPr>
              <a:spcAft>
                <a:spcPts val="400"/>
              </a:spcAft>
            </a:pPr>
            <a:r>
              <a:rPr sz="1100" b="0">
                <a:solidFill>
                  <a:srgbClr val="1F2328"/>
                </a:solidFill>
                <a:latin typeface="Microsoft JhengHei"/>
                <a:ea typeface="Microsoft JhengHei"/>
              </a:rPr>
              <a:t>• 停損：收盤跌破 215.00 元全數賣出 4 張又 266 股（共 4,266 股）</a:t>
            </a:r>
          </a:p>
          <a:p>
            <a:pPr>
              <a:spcAft>
                <a:spcPts val="400"/>
              </a:spcAft>
            </a:pPr>
            <a:r>
              <a:rPr sz="1100" b="0">
                <a:solidFill>
                  <a:srgbClr val="1F2328"/>
                </a:solidFill>
                <a:latin typeface="Microsoft JhengHei"/>
                <a:ea typeface="Microsoft JhengHei"/>
              </a:rPr>
              <a:t>• 訊號轉弱（綜合分數 ≤ -0.30）先減碼一半</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買進【進攻籃】6456 GIS-KY｜9 張 + 347 股｜限價 109.0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37</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買進 GIS-KY 9,347 股，限價 109.0，停損 98.1。</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【進攻籃】綜合分數 +0.79 達門檻（+0.30）；一個月模型預期超額報酬排名全市場前 4%、創新高機率 96.2%</a:t>
            </a:r>
          </a:p>
          <a:p>
            <a:pPr>
              <a:spcAft>
                <a:spcPts val="400"/>
              </a:spcAft>
            </a:pPr>
            <a:r>
              <a:rPr sz="1200" b="0">
                <a:solidFill>
                  <a:srgbClr val="1F2328"/>
                </a:solidFill>
                <a:latin typeface="Microsoft JhengHei"/>
                <a:ea typeface="Microsoft JhengHei"/>
              </a:rPr>
              <a:t>• 一個月模型：創 52 週新高機率 96.2%（全市場基準 18.0%，排名前 1%），預期超額報酬 +7.72%（排名前 4%）</a:t>
            </a:r>
          </a:p>
          <a:p>
            <a:pPr>
              <a:spcAft>
                <a:spcPts val="400"/>
              </a:spcAft>
            </a:pPr>
            <a:r>
              <a:rPr sz="1200" b="0">
                <a:solidFill>
                  <a:srgbClr val="1F2328"/>
                </a:solidFill>
                <a:latin typeface="Microsoft JhengHei"/>
                <a:ea typeface="Microsoft JhengHei"/>
              </a:rPr>
              <a:t>• 距 52 週高點 -0.5%（52 週高 108.0，現價 107.5），正處於創高區</a:t>
            </a:r>
          </a:p>
          <a:p>
            <a:pPr>
              <a:spcAft>
                <a:spcPts val="400"/>
              </a:spcAft>
            </a:pPr>
            <a:r>
              <a:rPr sz="1200" b="0">
                <a:solidFill>
                  <a:srgbClr val="1F2328"/>
                </a:solidFill>
                <a:latin typeface="Microsoft JhengHei"/>
                <a:ea typeface="Microsoft JhengHei"/>
              </a:rPr>
              <a:t>• 動能：近 20 日 +36.8%、近 60 日 +101.7%，相對大盤 20 日 +39.1%、60 日 +84.2%</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200" b="1">
                <a:solidFill>
                  <a:srgbClr val="1F3A5F"/>
                </a:solidFill>
                <a:latin typeface="Microsoft JhengHei"/>
                <a:ea typeface="Microsoft JhengHei"/>
              </a:rPr>
              <a:t>為何是這個股數</a:t>
            </a:r>
          </a:p>
          <a:p>
            <a:pPr>
              <a:spcAft>
                <a:spcPts val="400"/>
              </a:spcAft>
            </a:pPr>
            <a:r>
              <a:rPr sz="1000" b="0">
                <a:solidFill>
                  <a:srgbClr val="1F2328"/>
                </a:solidFill>
                <a:latin typeface="Microsoft JhengHei"/>
                <a:ea typeface="Microsoft JhengHei"/>
              </a:rPr>
              <a:t>• 籃子配置：進攻籃佔目標持股 75% → 目標金額 5,932,248 元（已持有 3,025,542 元）</a:t>
            </a:r>
          </a:p>
          <a:p>
            <a:pPr>
              <a:spcAft>
                <a:spcPts val="400"/>
              </a:spcAft>
            </a:pPr>
            <a:r>
              <a:rPr sz="1000" b="0">
                <a:solidFill>
                  <a:srgbClr val="1F2328"/>
                </a:solidFill>
                <a:latin typeface="Microsoft JhengHei"/>
                <a:ea typeface="Microsoft JhengHei"/>
              </a:rPr>
              <a:t>• 風險預算：總資產 8,788,516 元 × 每筆風險 0.8% × 信心係數 1.48（由綜合分數 +0.79 換算）= 104,144 元</a:t>
            </a:r>
          </a:p>
          <a:p>
            <a:pPr>
              <a:spcAft>
                <a:spcPts val="400"/>
              </a:spcAft>
            </a:pPr>
            <a:r>
              <a:rPr sz="1000" b="0">
                <a:solidFill>
                  <a:srgbClr val="1F2328"/>
                </a:solidFill>
                <a:latin typeface="Microsoft JhengHei"/>
                <a:ea typeface="Microsoft JhengHei"/>
              </a:rPr>
              <a:t>• 停損距離：取 2×ATR14 = 16.36 與距 10 日低點 83.30 的距離 25.70 之較大者，但不超過進場價 10%（10.90） = 10.90 元（進場 109.00 → 停損 98.10 元，10.0%）</a:t>
            </a:r>
          </a:p>
          <a:p>
            <a:pPr>
              <a:spcAft>
                <a:spcPts val="400"/>
              </a:spcAft>
            </a:pPr>
            <a:r>
              <a:rPr sz="1000" b="0">
                <a:solidFill>
                  <a:srgbClr val="1F2328"/>
                </a:solidFill>
                <a:latin typeface="Microsoft JhengHei"/>
                <a:ea typeface="Microsoft JhengHei"/>
              </a:rPr>
              <a:t>• 風險法可買股數 = 104,144 ÷ 10.90 = 9,554 股</a:t>
            </a:r>
          </a:p>
          <a:p>
            <a:pPr>
              <a:spcAft>
                <a:spcPts val="400"/>
              </a:spcAft>
            </a:pPr>
            <a:r>
              <a:rPr sz="1000" b="0">
                <a:solidFill>
                  <a:srgbClr val="1F2328"/>
                </a:solidFill>
                <a:latin typeface="Microsoft JhengHei"/>
                <a:ea typeface="Microsoft JhengHei"/>
              </a:rPr>
              <a:t>• 進攻籃合計超過籃子上限，等比例下修 207 股</a:t>
            </a:r>
          </a:p>
          <a:p>
            <a:pPr>
              <a:spcAft>
                <a:spcPts val="400"/>
              </a:spcAft>
            </a:pPr>
            <a:r>
              <a:rPr sz="1000" b="0">
                <a:solidFill>
                  <a:srgbClr val="1F2328"/>
                </a:solidFill>
                <a:latin typeface="Microsoft JhengHei"/>
                <a:ea typeface="Microsoft JhengHei"/>
              </a:rPr>
              <a:t>• 進場價：限價 = 預測開盤價 108.2 × (1 + 0.5%) = 109.0，提高成交機率</a:t>
            </a:r>
          </a:p>
          <a:p>
            <a:pPr>
              <a:spcAft>
                <a:spcPts val="400"/>
              </a:spcAft>
            </a:pPr>
            <a:r>
              <a:rPr sz="1000" b="0">
                <a:solidFill>
                  <a:srgbClr val="1F2328"/>
                </a:solidFill>
                <a:latin typeface="Microsoft JhengHei"/>
                <a:ea typeface="Microsoft JhengHei"/>
              </a:rPr>
              <a:t>• 取整後：9 張又 347 股（共 9,347 股），金額約 1,018,823 元，佔總資產 11.6%</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【多買】綜合分數 +0.79 高，信心係數 1.48 ≥ 1 放大部位</a:t>
            </a:r>
          </a:p>
          <a:p>
            <a:pPr>
              <a:spcAft>
                <a:spcPts val="400"/>
              </a:spcAft>
            </a:pPr>
            <a:r>
              <a:rPr sz="1100" b="0">
                <a:solidFill>
                  <a:srgbClr val="1F2328"/>
                </a:solidFill>
                <a:latin typeface="Microsoft JhengHei"/>
                <a:ea typeface="Microsoft JhengHei"/>
              </a:rPr>
              <a:t>【多買】一個月內創新高機率 96.2%，勝率高可多配置</a:t>
            </a:r>
          </a:p>
          <a:p>
            <a:pPr>
              <a:spcAft>
                <a:spcPts val="400"/>
              </a:spcAft>
            </a:pPr>
            <a:r>
              <a:rPr sz="1100" b="0">
                <a:solidFill>
                  <a:srgbClr val="1F2328"/>
                </a:solidFill>
                <a:latin typeface="Microsoft JhengHei"/>
                <a:ea typeface="Microsoft JhengHei"/>
              </a:rPr>
              <a:t>【多買】月營收年增 +30.8%，基本面支撐</a:t>
            </a:r>
          </a:p>
          <a:p>
            <a:pPr>
              <a:spcAft>
                <a:spcPts val="400"/>
              </a:spcAft>
            </a:pPr>
            <a:r>
              <a:rPr sz="1100" b="0">
                <a:solidFill>
                  <a:srgbClr val="1F2328"/>
                </a:solidFill>
                <a:latin typeface="Microsoft JhengHei"/>
                <a:ea typeface="Microsoft JhengHei"/>
              </a:rPr>
              <a:t>【少買】日均波動（ATR）7.6%，波動大 → 停損距離遠 → 股數少</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一個月目標：突破 52 週高點 108.0 元（距現價 0.5%）即確認創新高，續抱讓獲利奔跑</a:t>
            </a:r>
          </a:p>
          <a:p>
            <a:pPr>
              <a:spcAft>
                <a:spcPts val="400"/>
              </a:spcAft>
            </a:pPr>
            <a:r>
              <a:rPr sz="1100" b="0">
                <a:solidFill>
                  <a:srgbClr val="1F2328"/>
                </a:solidFill>
                <a:latin typeface="Microsoft JhengHei"/>
                <a:ea typeface="Microsoft JhengHei"/>
              </a:rPr>
              <a:t>• 停損：收盤跌破 98.10 元全數賣出 9 張又 347 股（共 9,347 股）</a:t>
            </a:r>
          </a:p>
          <a:p>
            <a:pPr>
              <a:spcAft>
                <a:spcPts val="400"/>
              </a:spcAft>
            </a:pPr>
            <a:r>
              <a:rPr sz="1100" b="0">
                <a:solidFill>
                  <a:srgbClr val="1F2328"/>
                </a:solidFill>
                <a:latin typeface="Microsoft JhengHei"/>
                <a:ea typeface="Microsoft JhengHei"/>
              </a:rPr>
              <a:t>• 訊號轉弱（綜合分數 ≤ -0.30）先減碼一半</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買進【進攻籃】3591 艾笛森｜28 張 + 928 股｜限價 27.05</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38</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買進 艾笛森 28,928 股，限價 27.05，停損 24.3。</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【進攻籃】綜合分數 +0.71 達門檻（+0.30）；一個月模型預期超額報酬排名全市場前 0%、創新高機率 44.6%</a:t>
            </a:r>
          </a:p>
          <a:p>
            <a:pPr>
              <a:spcAft>
                <a:spcPts val="400"/>
              </a:spcAft>
            </a:pPr>
            <a:r>
              <a:rPr sz="1200" b="0">
                <a:solidFill>
                  <a:srgbClr val="1F2328"/>
                </a:solidFill>
                <a:latin typeface="Microsoft JhengHei"/>
                <a:ea typeface="Microsoft JhengHei"/>
              </a:rPr>
              <a:t>• 一個月模型：創 52 週新高機率 44.6%（全市場基準 18.0%，排名前 20%），預期超額報酬 +12.96%（排名前 0%）</a:t>
            </a:r>
          </a:p>
          <a:p>
            <a:pPr>
              <a:spcAft>
                <a:spcPts val="400"/>
              </a:spcAft>
            </a:pPr>
            <a:r>
              <a:rPr sz="1200" b="0">
                <a:solidFill>
                  <a:srgbClr val="1F2328"/>
                </a:solidFill>
                <a:latin typeface="Microsoft JhengHei"/>
                <a:ea typeface="Microsoft JhengHei"/>
              </a:rPr>
              <a:t>• 距 52 週高點 -16.8%（52 週高 33.34，現價 27.75）</a:t>
            </a:r>
          </a:p>
          <a:p>
            <a:pPr>
              <a:spcAft>
                <a:spcPts val="400"/>
              </a:spcAft>
            </a:pPr>
            <a:r>
              <a:rPr sz="1200" b="0">
                <a:solidFill>
                  <a:srgbClr val="1F2328"/>
                </a:solidFill>
                <a:latin typeface="Microsoft JhengHei"/>
                <a:ea typeface="Microsoft JhengHei"/>
              </a:rPr>
              <a:t>• 動能：近 20 日 +14.0%、近 60 日 +17.1%，相對大盤 20 日 +15.6%、60 日 +6.9%</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150" b="1">
                <a:solidFill>
                  <a:srgbClr val="1F3A5F"/>
                </a:solidFill>
                <a:latin typeface="Microsoft JhengHei"/>
                <a:ea typeface="Microsoft JhengHei"/>
              </a:rPr>
              <a:t>為何是這個股數</a:t>
            </a:r>
          </a:p>
          <a:p>
            <a:pPr>
              <a:spcAft>
                <a:spcPts val="400"/>
              </a:spcAft>
            </a:pPr>
            <a:r>
              <a:rPr sz="950" b="0">
                <a:solidFill>
                  <a:srgbClr val="1F2328"/>
                </a:solidFill>
                <a:latin typeface="Microsoft JhengHei"/>
                <a:ea typeface="Microsoft JhengHei"/>
              </a:rPr>
              <a:t>• 籃子配置：進攻籃佔目標持股 75% → 目標金額 5,932,248 元（已持有 3,025,542 元）</a:t>
            </a:r>
          </a:p>
          <a:p>
            <a:pPr>
              <a:spcAft>
                <a:spcPts val="400"/>
              </a:spcAft>
            </a:pPr>
            <a:r>
              <a:rPr sz="950" b="0">
                <a:solidFill>
                  <a:srgbClr val="1F2328"/>
                </a:solidFill>
                <a:latin typeface="Microsoft JhengHei"/>
                <a:ea typeface="Microsoft JhengHei"/>
              </a:rPr>
              <a:t>• 風險預算：總資產 8,788,516 元 × 每筆風險 0.8% × 信心係數 1.39（由綜合分數 +0.71 換算）= 97,992 元</a:t>
            </a:r>
          </a:p>
          <a:p>
            <a:pPr>
              <a:spcAft>
                <a:spcPts val="400"/>
              </a:spcAft>
            </a:pPr>
            <a:r>
              <a:rPr sz="950" b="0">
                <a:solidFill>
                  <a:srgbClr val="1F2328"/>
                </a:solidFill>
                <a:latin typeface="Microsoft JhengHei"/>
                <a:ea typeface="Microsoft JhengHei"/>
              </a:rPr>
              <a:t>• 停損距離：取 2×ATR14 = 2.90 與距 10 日低點 25.30 的距離 1.75 之較大者，但不超過進場價 10%（2.71） = 2.71 元（進場 27.05 → 停損 24.30 元，10.0%）</a:t>
            </a:r>
          </a:p>
          <a:p>
            <a:pPr>
              <a:spcAft>
                <a:spcPts val="400"/>
              </a:spcAft>
            </a:pPr>
            <a:r>
              <a:rPr sz="950" b="0">
                <a:solidFill>
                  <a:srgbClr val="1F2328"/>
                </a:solidFill>
                <a:latin typeface="Microsoft JhengHei"/>
                <a:ea typeface="Microsoft JhengHei"/>
              </a:rPr>
              <a:t>• 風險法可買股數 = 97,992 ÷ 2.71 = 36,226 股</a:t>
            </a:r>
          </a:p>
          <a:p>
            <a:pPr>
              <a:spcAft>
                <a:spcPts val="400"/>
              </a:spcAft>
            </a:pPr>
            <a:r>
              <a:rPr sz="950" b="0">
                <a:solidFill>
                  <a:srgbClr val="1F2328"/>
                </a:solidFill>
                <a:latin typeface="Microsoft JhengHei"/>
                <a:ea typeface="Microsoft JhengHei"/>
              </a:rPr>
              <a:t>• 受「流動性上限（20 日均量 1,478 張 × 2%）」限制，下修至 29,567 股</a:t>
            </a:r>
          </a:p>
          <a:p>
            <a:pPr>
              <a:spcAft>
                <a:spcPts val="400"/>
              </a:spcAft>
            </a:pPr>
            <a:r>
              <a:rPr sz="950" b="0">
                <a:solidFill>
                  <a:srgbClr val="1F2328"/>
                </a:solidFill>
                <a:latin typeface="Microsoft JhengHei"/>
                <a:ea typeface="Microsoft JhengHei"/>
              </a:rPr>
              <a:t>• 進攻籃合計超過籃子上限，等比例下修 639 股</a:t>
            </a:r>
          </a:p>
          <a:p>
            <a:pPr>
              <a:spcAft>
                <a:spcPts val="400"/>
              </a:spcAft>
            </a:pPr>
            <a:r>
              <a:rPr sz="950" b="0">
                <a:solidFill>
                  <a:srgbClr val="1F2328"/>
                </a:solidFill>
                <a:latin typeface="Microsoft JhengHei"/>
                <a:ea typeface="Microsoft JhengHei"/>
              </a:rPr>
              <a:t>• 進場價：限價 = 預測開盤價 26.89 × (1 + 0.5%) = 27.05，提高成交機率</a:t>
            </a:r>
          </a:p>
          <a:p>
            <a:pPr>
              <a:spcAft>
                <a:spcPts val="400"/>
              </a:spcAft>
            </a:pPr>
            <a:r>
              <a:rPr sz="950" b="0">
                <a:solidFill>
                  <a:srgbClr val="1F2328"/>
                </a:solidFill>
                <a:latin typeface="Microsoft JhengHei"/>
                <a:ea typeface="Microsoft JhengHei"/>
              </a:rPr>
              <a:t>• 取整後：28 張又 928 股（共 28,928 股），金額約 782,502 元，佔總資產 8.9%</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【多買】綜合分數 +0.71 高，信心係數 1.39 ≥ 1 放大部位</a:t>
            </a:r>
          </a:p>
          <a:p>
            <a:pPr>
              <a:spcAft>
                <a:spcPts val="400"/>
              </a:spcAft>
            </a:pPr>
            <a:r>
              <a:rPr sz="1100" b="0">
                <a:solidFill>
                  <a:srgbClr val="1F2328"/>
                </a:solidFill>
                <a:latin typeface="Microsoft JhengHei"/>
                <a:ea typeface="Microsoft JhengHei"/>
              </a:rPr>
              <a:t>【多買】月營收年增 +40.6%，基本面支撐</a:t>
            </a:r>
          </a:p>
          <a:p>
            <a:pPr>
              <a:spcAft>
                <a:spcPts val="400"/>
              </a:spcAft>
            </a:pPr>
            <a:r>
              <a:rPr sz="1100" b="0">
                <a:solidFill>
                  <a:srgbClr val="1F2328"/>
                </a:solidFill>
                <a:latin typeface="Microsoft JhengHei"/>
                <a:ea typeface="Microsoft JhengHei"/>
              </a:rPr>
              <a:t>【少買】日均波動（ATR）5.4%，波動大 → 停損距離遠 → 股數少</a:t>
            </a:r>
          </a:p>
          <a:p>
            <a:pPr>
              <a:spcAft>
                <a:spcPts val="400"/>
              </a:spcAft>
            </a:pPr>
            <a:r>
              <a:rPr sz="1100" b="0">
                <a:solidFill>
                  <a:srgbClr val="1F2328"/>
                </a:solidFill>
                <a:latin typeface="Microsoft JhengHei"/>
                <a:ea typeface="Microsoft JhengHei"/>
              </a:rPr>
              <a:t>【少買】成交量不足，為避免衝擊價格而少買</a:t>
            </a:r>
          </a:p>
          <a:p>
            <a:pPr>
              <a:spcAft>
                <a:spcPts val="400"/>
              </a:spcAft>
            </a:pPr>
            <a:r>
              <a:rPr sz="1100" b="0">
                <a:solidFill>
                  <a:srgbClr val="1F2328"/>
                </a:solidFill>
                <a:latin typeface="Microsoft JhengHei"/>
                <a:ea typeface="Microsoft JhengHei"/>
              </a:rPr>
              <a:t>【少買】一個月內創新高機率 44.6%，勝率普通故保守配置</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一個月目標：突破 52 週高點 33.34 元（距現價 16.8%）即確認創新高，續抱讓獲利奔跑</a:t>
            </a:r>
          </a:p>
          <a:p>
            <a:pPr>
              <a:spcAft>
                <a:spcPts val="400"/>
              </a:spcAft>
            </a:pPr>
            <a:r>
              <a:rPr sz="1100" b="0">
                <a:solidFill>
                  <a:srgbClr val="1F2328"/>
                </a:solidFill>
                <a:latin typeface="Microsoft JhengHei"/>
                <a:ea typeface="Microsoft JhengHei"/>
              </a:rPr>
              <a:t>• 停損：收盤跌破 24.30 元全數賣出 28 張又 928 股（共 28,928 股）</a:t>
            </a:r>
          </a:p>
          <a:p>
            <a:pPr>
              <a:spcAft>
                <a:spcPts val="400"/>
              </a:spcAft>
            </a:pPr>
            <a:r>
              <a:rPr sz="1100" b="0">
                <a:solidFill>
                  <a:srgbClr val="1F2328"/>
                </a:solidFill>
                <a:latin typeface="Microsoft JhengHei"/>
                <a:ea typeface="Microsoft JhengHei"/>
              </a:rPr>
              <a:t>• 訊號轉弱（綜合分數 ≤ -0.30）先減碼一半</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買進【進攻籃】6213 聯茂｜0 張 + 319 股｜限價 795.0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39</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買進 聯茂 319 股，限價 795.0，停損 715.0。</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【進攻籃】綜合分數 +0.47 達門檻（+0.30）；一個月模型預期超額報酬排名全市場前 2%、創新高機率 55.9%</a:t>
            </a:r>
          </a:p>
          <a:p>
            <a:pPr>
              <a:spcAft>
                <a:spcPts val="400"/>
              </a:spcAft>
            </a:pPr>
            <a:r>
              <a:rPr sz="1200" b="0">
                <a:solidFill>
                  <a:srgbClr val="1F2328"/>
                </a:solidFill>
                <a:latin typeface="Microsoft JhengHei"/>
                <a:ea typeface="Microsoft JhengHei"/>
              </a:rPr>
              <a:t>• 一個月模型：創 52 週新高機率 55.9%（全市場基準 18.0%，排名前 14%），預期超額報酬 +9.59%（排名前 2%）</a:t>
            </a:r>
          </a:p>
          <a:p>
            <a:pPr>
              <a:spcAft>
                <a:spcPts val="400"/>
              </a:spcAft>
            </a:pPr>
            <a:r>
              <a:rPr sz="1200" b="0">
                <a:solidFill>
                  <a:srgbClr val="1F2328"/>
                </a:solidFill>
                <a:latin typeface="Microsoft JhengHei"/>
                <a:ea typeface="Microsoft JhengHei"/>
              </a:rPr>
              <a:t>• 距 52 週高點 -12.1%（52 週高 885.0，現價 778.0）</a:t>
            </a:r>
          </a:p>
          <a:p>
            <a:pPr>
              <a:spcAft>
                <a:spcPts val="400"/>
              </a:spcAft>
            </a:pPr>
            <a:r>
              <a:rPr sz="1200" b="0">
                <a:solidFill>
                  <a:srgbClr val="1F2328"/>
                </a:solidFill>
                <a:latin typeface="Microsoft JhengHei"/>
                <a:ea typeface="Microsoft JhengHei"/>
              </a:rPr>
              <a:t>• 動能：近 20 日 +43.8%、近 60 日 +212.4%，相對大盤 20 日 +46.1%、60 日 +195.0%</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150" b="1">
                <a:solidFill>
                  <a:srgbClr val="1F3A5F"/>
                </a:solidFill>
                <a:latin typeface="Microsoft JhengHei"/>
                <a:ea typeface="Microsoft JhengHei"/>
              </a:rPr>
              <a:t>為何是這個股數</a:t>
            </a:r>
          </a:p>
          <a:p>
            <a:pPr>
              <a:spcAft>
                <a:spcPts val="400"/>
              </a:spcAft>
            </a:pPr>
            <a:r>
              <a:rPr sz="950" b="0">
                <a:solidFill>
                  <a:srgbClr val="1F2328"/>
                </a:solidFill>
                <a:latin typeface="Microsoft JhengHei"/>
                <a:ea typeface="Microsoft JhengHei"/>
              </a:rPr>
              <a:t>• 籃子配置：進攻籃佔目標持股 75% → 目標金額 5,932,248 元（已持有 3,025,542 元）</a:t>
            </a:r>
          </a:p>
          <a:p>
            <a:pPr>
              <a:spcAft>
                <a:spcPts val="400"/>
              </a:spcAft>
            </a:pPr>
            <a:r>
              <a:rPr sz="950" b="0">
                <a:solidFill>
                  <a:srgbClr val="1F2328"/>
                </a:solidFill>
                <a:latin typeface="Microsoft JhengHei"/>
                <a:ea typeface="Microsoft JhengHei"/>
              </a:rPr>
              <a:t>• 風險預算：總資產 8,788,516 元 × 每筆風險 0.8% × 信心係數 1.08（由綜合分數 +0.47 換算）= 76,109 元</a:t>
            </a:r>
          </a:p>
          <a:p>
            <a:pPr>
              <a:spcAft>
                <a:spcPts val="400"/>
              </a:spcAft>
            </a:pPr>
            <a:r>
              <a:rPr sz="950" b="0">
                <a:solidFill>
                  <a:srgbClr val="1F2328"/>
                </a:solidFill>
                <a:latin typeface="Microsoft JhengHei"/>
                <a:ea typeface="Microsoft JhengHei"/>
              </a:rPr>
              <a:t>• 停損距離：取 2×ATR14 = 133.00 與距 10 日低點 721.00 的距離 74.00 之較大者，但不超過進場價 10%（79.50） = 79.50 元（進場 795.00 → 停損 715.00 元，10.0%）</a:t>
            </a:r>
          </a:p>
          <a:p>
            <a:pPr>
              <a:spcAft>
                <a:spcPts val="400"/>
              </a:spcAft>
            </a:pPr>
            <a:r>
              <a:rPr sz="950" b="0">
                <a:solidFill>
                  <a:srgbClr val="1F2328"/>
                </a:solidFill>
                <a:latin typeface="Microsoft JhengHei"/>
                <a:ea typeface="Microsoft JhengHei"/>
              </a:rPr>
              <a:t>• 風險法可買股數 = 76,109 ÷ 79.50 = 957 股</a:t>
            </a:r>
          </a:p>
          <a:p>
            <a:pPr>
              <a:spcAft>
                <a:spcPts val="400"/>
              </a:spcAft>
            </a:pPr>
            <a:r>
              <a:rPr sz="950" b="0">
                <a:solidFill>
                  <a:srgbClr val="1F2328"/>
                </a:solidFill>
                <a:latin typeface="Microsoft JhengHei"/>
                <a:ea typeface="Microsoft JhengHei"/>
              </a:rPr>
              <a:t>• 進攻籃合計超過籃子上限，等比例下修 21 股</a:t>
            </a:r>
          </a:p>
          <a:p>
            <a:pPr>
              <a:spcAft>
                <a:spcPts val="400"/>
              </a:spcAft>
            </a:pPr>
            <a:r>
              <a:rPr sz="950" b="0">
                <a:solidFill>
                  <a:srgbClr val="1F2328"/>
                </a:solidFill>
                <a:latin typeface="Microsoft JhengHei"/>
                <a:ea typeface="Microsoft JhengHei"/>
              </a:rPr>
              <a:t>• 受可用資金限制，實際買 319 股</a:t>
            </a:r>
          </a:p>
          <a:p>
            <a:pPr>
              <a:spcAft>
                <a:spcPts val="400"/>
              </a:spcAft>
            </a:pPr>
            <a:r>
              <a:rPr sz="950" b="0">
                <a:solidFill>
                  <a:srgbClr val="1F2328"/>
                </a:solidFill>
                <a:latin typeface="Microsoft JhengHei"/>
                <a:ea typeface="Microsoft JhengHei"/>
              </a:rPr>
              <a:t>• 進場價：限價 = 預測開盤價 790.56 × (1 + 0.5%) = 795.0，提高成交機率</a:t>
            </a:r>
          </a:p>
          <a:p>
            <a:pPr>
              <a:spcAft>
                <a:spcPts val="400"/>
              </a:spcAft>
            </a:pPr>
            <a:r>
              <a:rPr sz="950" b="0">
                <a:solidFill>
                  <a:srgbClr val="1F2328"/>
                </a:solidFill>
                <a:latin typeface="Microsoft JhengHei"/>
                <a:ea typeface="Microsoft JhengHei"/>
              </a:rPr>
              <a:t>• 取整後：319 股（零股），金額約 253,605 元，佔總資產 2.9%</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【多買】綜合分數 +0.47 高，信心係數 1.08 ≥ 1 放大部位</a:t>
            </a:r>
          </a:p>
          <a:p>
            <a:pPr>
              <a:spcAft>
                <a:spcPts val="400"/>
              </a:spcAft>
            </a:pPr>
            <a:r>
              <a:rPr sz="1100" b="0">
                <a:solidFill>
                  <a:srgbClr val="1F2328"/>
                </a:solidFill>
                <a:latin typeface="Microsoft JhengHei"/>
                <a:ea typeface="Microsoft JhengHei"/>
              </a:rPr>
              <a:t>【多買】月營收年增 +110.7%，基本面支撐</a:t>
            </a:r>
          </a:p>
          <a:p>
            <a:pPr>
              <a:spcAft>
                <a:spcPts val="400"/>
              </a:spcAft>
            </a:pPr>
            <a:r>
              <a:rPr sz="1100" b="0">
                <a:solidFill>
                  <a:srgbClr val="1F2328"/>
                </a:solidFill>
                <a:latin typeface="Microsoft JhengHei"/>
                <a:ea typeface="Microsoft JhengHei"/>
              </a:rPr>
              <a:t>【多買】使用融資（自備 40%）放大部位：進攻籃允許融資，且融資借款仍在總資產 30% 上限內</a:t>
            </a:r>
          </a:p>
          <a:p>
            <a:pPr>
              <a:spcAft>
                <a:spcPts val="400"/>
              </a:spcAft>
            </a:pPr>
            <a:r>
              <a:rPr sz="1100" b="0">
                <a:solidFill>
                  <a:srgbClr val="1F2328"/>
                </a:solidFill>
                <a:latin typeface="Microsoft JhengHei"/>
                <a:ea typeface="Microsoft JhengHei"/>
              </a:rPr>
              <a:t>【少買】日均波動（ATR）8.5%，波動大 → 停損距離遠 → 股數少</a:t>
            </a:r>
          </a:p>
          <a:p>
            <a:pPr>
              <a:spcAft>
                <a:spcPts val="400"/>
              </a:spcAft>
            </a:pPr>
            <a:r>
              <a:rPr sz="1100" b="0">
                <a:solidFill>
                  <a:srgbClr val="1F2328"/>
                </a:solidFill>
                <a:latin typeface="Microsoft JhengHei"/>
                <a:ea typeface="Microsoft JhengHei"/>
              </a:rPr>
              <a:t>【少買】一個月內創新高機率 55.9%，勝率普通故保守配置</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一個月目標：突破 52 週高點 885.0 元（距現價 12.1%）即確認創新高，續抱讓獲利奔跑</a:t>
            </a:r>
          </a:p>
          <a:p>
            <a:pPr>
              <a:spcAft>
                <a:spcPts val="400"/>
              </a:spcAft>
            </a:pPr>
            <a:r>
              <a:rPr sz="1100" b="0">
                <a:solidFill>
                  <a:srgbClr val="1F2328"/>
                </a:solidFill>
                <a:latin typeface="Microsoft JhengHei"/>
                <a:ea typeface="Microsoft JhengHei"/>
              </a:rPr>
              <a:t>• 停損：收盤跌破 715.00 元全數賣出 319 股（零股）</a:t>
            </a:r>
          </a:p>
          <a:p>
            <a:pPr>
              <a:spcAft>
                <a:spcPts val="400"/>
              </a:spcAft>
            </a:pPr>
            <a:r>
              <a:rPr sz="1100" b="0">
                <a:solidFill>
                  <a:srgbClr val="1F2328"/>
                </a:solidFill>
                <a:latin typeface="Microsoft JhengHei"/>
                <a:ea typeface="Microsoft JhengHei"/>
              </a:rPr>
              <a:t>• 訊號轉弱（綜合分數 ≤ -0.30）先減碼一半</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執行後持股配置</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40</a:t>
            </a:r>
          </a:p>
        </p:txBody>
      </p:sp>
      <p:pic>
        <p:nvPicPr>
          <p:cNvPr id="5" name="Picture 4" descr="2026-10-29_盤前報告_alloc.png"/>
          <p:cNvPicPr>
            <a:picLocks noChangeAspect="1"/>
          </p:cNvPicPr>
          <p:nvPr/>
        </p:nvPicPr>
        <p:blipFill>
          <a:blip r:embed="rId2"/>
          <a:stretch>
            <a:fillRect/>
          </a:stretch>
        </p:blipFill>
        <p:spPr>
          <a:xfrm>
            <a:off x="365760" y="1097280"/>
            <a:ext cx="4456555" cy="5212080"/>
          </a:xfrm>
          <a:prstGeom prst="rect">
            <a:avLst/>
          </a:prstGeom>
        </p:spPr>
      </p:pic>
      <p:sp>
        <p:nvSpPr>
          <p:cNvPr id="6" name="Rectangle 5"/>
          <p:cNvSpPr/>
          <p:nvPr/>
        </p:nvSpPr>
        <p:spPr>
          <a:xfrm>
            <a:off x="8138160" y="1188720"/>
            <a:ext cx="3657600" cy="50292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1280160"/>
            <a:ext cx="3383280" cy="484632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期貨戶轉入證券戶：361,925 元</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競賽規則檢查</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41</a:t>
            </a:r>
          </a:p>
        </p:txBody>
      </p:sp>
      <p:graphicFrame>
        <p:nvGraphicFramePr>
          <p:cNvPr id="5" name="Table 4"/>
          <p:cNvGraphicFramePr>
            <a:graphicFrameLocks noGrp="1"/>
          </p:cNvGraphicFramePr>
          <p:nvPr/>
        </p:nvGraphicFramePr>
        <p:xfrm>
          <a:off x="457200" y="1188720"/>
          <a:ext cx="11247119" cy="2926080"/>
        </p:xfrm>
        <a:graphic>
          <a:graphicData uri="http://schemas.openxmlformats.org/drawingml/2006/table">
            <a:tbl>
              <a:tblPr firstRow="1" bandRow="1">
                <a:tableStyleId>{5C22544A-7EE6-4342-B048-85BDC9FD1C3A}</a:tableStyleId>
              </a:tblPr>
              <a:tblGrid>
                <a:gridCol w="3078159"/>
                <a:gridCol w="1065516"/>
                <a:gridCol w="7103444"/>
              </a:tblGrid>
              <a:tr h="365760">
                <a:tc>
                  <a:txBody>
                    <a:bodyPr/>
                    <a:lstStyle/>
                    <a:p>
                      <a:r>
                        <a:rPr sz="1100" b="1">
                          <a:solidFill>
                            <a:srgbClr val="FFFFFF"/>
                          </a:solidFill>
                          <a:latin typeface="Microsoft JhengHei"/>
                          <a:ea typeface="Microsoft JhengHei"/>
                        </a:rPr>
                        <a:t>項目</a:t>
                      </a:r>
                    </a:p>
                  </a:txBody>
                  <a:tcPr>
                    <a:solidFill>
                      <a:srgbClr val="1F3A5F"/>
                    </a:solidFill>
                  </a:tcPr>
                </a:tc>
                <a:tc>
                  <a:txBody>
                    <a:bodyPr/>
                    <a:lstStyle/>
                    <a:p>
                      <a:r>
                        <a:rPr sz="1100" b="1">
                          <a:solidFill>
                            <a:srgbClr val="FFFFFF"/>
                          </a:solidFill>
                          <a:latin typeface="Microsoft JhengHei"/>
                          <a:ea typeface="Microsoft JhengHei"/>
                        </a:rPr>
                        <a:t>結果</a:t>
                      </a:r>
                    </a:p>
                  </a:txBody>
                  <a:tcPr>
                    <a:solidFill>
                      <a:srgbClr val="1F3A5F"/>
                    </a:solidFill>
                  </a:tcPr>
                </a:tc>
                <a:tc>
                  <a:txBody>
                    <a:bodyPr/>
                    <a:lstStyle/>
                    <a:p>
                      <a:r>
                        <a:rPr sz="1100" b="1">
                          <a:solidFill>
                            <a:srgbClr val="FFFFFF"/>
                          </a:solidFill>
                          <a:latin typeface="Microsoft JhengHei"/>
                          <a:ea typeface="Microsoft JhengHei"/>
                        </a:rPr>
                        <a:t>說明</a:t>
                      </a:r>
                    </a:p>
                  </a:txBody>
                  <a:tcPr>
                    <a:solidFill>
                      <a:srgbClr val="1F3A5F"/>
                    </a:solidFill>
                  </a:tcPr>
                </a:tc>
              </a:tr>
              <a:tr h="365760">
                <a:tc>
                  <a:txBody>
                    <a:bodyPr/>
                    <a:lstStyle/>
                    <a:p>
                      <a:r>
                        <a:rPr sz="1100" b="0">
                          <a:solidFill>
                            <a:srgbClr val="1F2328"/>
                          </a:solidFill>
                          <a:latin typeface="Microsoft JhengHei"/>
                          <a:ea typeface="Microsoft JhengHei"/>
                        </a:rPr>
                        <a:t>禁止交易權證</a:t>
                      </a:r>
                    </a:p>
                  </a:txBody>
                  <a:tcPr>
                    <a:solidFill>
                      <a:srgbClr val="F3F5F8"/>
                    </a:solidFill>
                  </a:tcPr>
                </a:tc>
                <a:tc>
                  <a:txBody>
                    <a:bodyPr/>
                    <a:lstStyle/>
                    <a:p>
                      <a:r>
                        <a:rPr sz="1100" b="0">
                          <a:solidFill>
                            <a:srgbClr val="1F2328"/>
                          </a:solidFill>
                          <a:latin typeface="Microsoft JhengHei"/>
                          <a:ea typeface="Microsoft JhengHei"/>
                        </a:rPr>
                        <a:t>通過</a:t>
                      </a:r>
                    </a:p>
                  </a:txBody>
                  <a:tcPr>
                    <a:solidFill>
                      <a:srgbClr val="F3F5F8"/>
                    </a:solidFill>
                  </a:tcPr>
                </a:tc>
                <a:tc>
                  <a:txBody>
                    <a:bodyPr/>
                    <a:lstStyle/>
                    <a:p>
                      <a:r>
                        <a:rPr sz="1100" b="0">
                          <a:solidFill>
                            <a:srgbClr val="1F2328"/>
                          </a:solidFill>
                          <a:latin typeface="Microsoft JhengHei"/>
                          <a:ea typeface="Microsoft JhengHei"/>
                        </a:rPr>
                        <a:t>無權證標的</a:t>
                      </a:r>
                    </a:p>
                  </a:txBody>
                  <a:tcPr>
                    <a:solidFill>
                      <a:srgbClr val="F3F5F8"/>
                    </a:solidFill>
                  </a:tcPr>
                </a:tc>
              </a:tr>
              <a:tr h="365760">
                <a:tc>
                  <a:txBody>
                    <a:bodyPr/>
                    <a:lstStyle/>
                    <a:p>
                      <a:r>
                        <a:rPr sz="1100" b="0">
                          <a:solidFill>
                            <a:srgbClr val="1F2328"/>
                          </a:solidFill>
                          <a:latin typeface="Microsoft JhengHei"/>
                          <a:ea typeface="Microsoft JhengHei"/>
                        </a:rPr>
                        <a:t>目前持股率 ≥ 70%</a:t>
                      </a:r>
                    </a:p>
                  </a:txBody>
                  <a:tcPr>
                    <a:solidFill>
                      <a:srgbClr val="FFFFFF"/>
                    </a:solidFill>
                  </a:tcPr>
                </a:tc>
                <a:tc>
                  <a:txBody>
                    <a:bodyPr/>
                    <a:lstStyle/>
                    <a:p>
                      <a:r>
                        <a:rPr sz="1100" b="0">
                          <a:solidFill>
                            <a:srgbClr val="1F2328"/>
                          </a:solidFill>
                          <a:latin typeface="Microsoft JhengHei"/>
                          <a:ea typeface="Microsoft JhengHei"/>
                        </a:rPr>
                        <a:t>通過</a:t>
                      </a:r>
                    </a:p>
                  </a:txBody>
                  <a:tcPr>
                    <a:solidFill>
                      <a:srgbClr val="FFFFFF"/>
                    </a:solidFill>
                  </a:tcPr>
                </a:tc>
                <a:tc>
                  <a:txBody>
                    <a:bodyPr/>
                    <a:lstStyle/>
                    <a:p>
                      <a:r>
                        <a:rPr sz="1100" b="0">
                          <a:solidFill>
                            <a:srgbClr val="1F2328"/>
                          </a:solidFill>
                          <a:latin typeface="Microsoft JhengHei"/>
                          <a:ea typeface="Microsoft JhengHei"/>
                        </a:rPr>
                        <a:t>目前 96.3%（每日收盤檢查，未達扣報酬率 0.2%）</a:t>
                      </a:r>
                    </a:p>
                  </a:txBody>
                  <a:tcPr>
                    <a:solidFill>
                      <a:srgbClr val="FFFFFF"/>
                    </a:solidFill>
                  </a:tcPr>
                </a:tc>
              </a:tr>
              <a:tr h="365760">
                <a:tc>
                  <a:txBody>
                    <a:bodyPr/>
                    <a:lstStyle/>
                    <a:p>
                      <a:r>
                        <a:rPr sz="1100" b="0">
                          <a:solidFill>
                            <a:srgbClr val="1F2328"/>
                          </a:solidFill>
                          <a:latin typeface="Microsoft JhengHei"/>
                          <a:ea typeface="Microsoft JhengHei"/>
                        </a:rPr>
                        <a:t>執行建議後持股率 ≥ 70%</a:t>
                      </a:r>
                    </a:p>
                  </a:txBody>
                  <a:tcPr>
                    <a:solidFill>
                      <a:srgbClr val="F3F5F8"/>
                    </a:solidFill>
                  </a:tcPr>
                </a:tc>
                <a:tc>
                  <a:txBody>
                    <a:bodyPr/>
                    <a:lstStyle/>
                    <a:p>
                      <a:r>
                        <a:rPr sz="1100" b="0">
                          <a:solidFill>
                            <a:srgbClr val="1F2328"/>
                          </a:solidFill>
                          <a:latin typeface="Microsoft JhengHei"/>
                          <a:ea typeface="Microsoft JhengHei"/>
                        </a:rPr>
                        <a:t>通過</a:t>
                      </a:r>
                    </a:p>
                  </a:txBody>
                  <a:tcPr>
                    <a:solidFill>
                      <a:srgbClr val="F3F5F8"/>
                    </a:solidFill>
                  </a:tcPr>
                </a:tc>
                <a:tc>
                  <a:txBody>
                    <a:bodyPr/>
                    <a:lstStyle/>
                    <a:p>
                      <a:r>
                        <a:rPr sz="1100" b="0">
                          <a:solidFill>
                            <a:srgbClr val="1F2328"/>
                          </a:solidFill>
                          <a:latin typeface="Microsoft JhengHei"/>
                          <a:ea typeface="Microsoft JhengHei"/>
                        </a:rPr>
                        <a:t>預估 95.1%（目標 90%）；注意只算實際成交，掛單未成交不算</a:t>
                      </a:r>
                    </a:p>
                  </a:txBody>
                  <a:tcPr>
                    <a:solidFill>
                      <a:srgbClr val="F3F5F8"/>
                    </a:solidFill>
                  </a:tcPr>
                </a:tc>
              </a:tr>
              <a:tr h="365760">
                <a:tc>
                  <a:txBody>
                    <a:bodyPr/>
                    <a:lstStyle/>
                    <a:p>
                      <a:r>
                        <a:rPr sz="1100" b="0">
                          <a:solidFill>
                            <a:srgbClr val="1F2328"/>
                          </a:solidFill>
                          <a:latin typeface="Microsoft JhengHei"/>
                          <a:ea typeface="Microsoft JhengHei"/>
                        </a:rPr>
                        <a:t>交易過的標的 ≥ 5（每日收盤追蹤）</a:t>
                      </a:r>
                    </a:p>
                  </a:txBody>
                  <a:tcPr>
                    <a:solidFill>
                      <a:srgbClr val="FFFFFF"/>
                    </a:solidFill>
                  </a:tcPr>
                </a:tc>
                <a:tc>
                  <a:txBody>
                    <a:bodyPr/>
                    <a:lstStyle/>
                    <a:p>
                      <a:r>
                        <a:rPr sz="1100" b="0">
                          <a:solidFill>
                            <a:srgbClr val="1F2328"/>
                          </a:solidFill>
                          <a:latin typeface="Microsoft JhengHei"/>
                          <a:ea typeface="Microsoft JhengHei"/>
                        </a:rPr>
                        <a:t>通過</a:t>
                      </a:r>
                    </a:p>
                  </a:txBody>
                  <a:tcPr>
                    <a:solidFill>
                      <a:srgbClr val="FFFFFF"/>
                    </a:solidFill>
                  </a:tcPr>
                </a:tc>
                <a:tc>
                  <a:txBody>
                    <a:bodyPr/>
                    <a:lstStyle/>
                    <a:p>
                      <a:r>
                        <a:rPr sz="1100" b="0">
                          <a:solidFill>
                            <a:srgbClr val="1F2328"/>
                          </a:solidFill>
                          <a:latin typeface="Microsoft JhengHei"/>
                          <a:ea typeface="Microsoft JhengHei"/>
                        </a:rPr>
                        <a:t>已成交 14 檔＋本次建議 = 19 檔；執行後持有 9 檔（未達每次扣報酬率 0.2%）</a:t>
                      </a:r>
                    </a:p>
                  </a:txBody>
                  <a:tcPr>
                    <a:solidFill>
                      <a:srgbClr val="FFFFFF"/>
                    </a:solidFill>
                  </a:tcPr>
                </a:tc>
              </a:tr>
              <a:tr h="365760">
                <a:tc>
                  <a:txBody>
                    <a:bodyPr/>
                    <a:lstStyle/>
                    <a:p>
                      <a:r>
                        <a:rPr sz="1100" b="0">
                          <a:solidFill>
                            <a:srgbClr val="1F2328"/>
                          </a:solidFill>
                          <a:latin typeface="Microsoft JhengHei"/>
                          <a:ea typeface="Microsoft JhengHei"/>
                        </a:rPr>
                        <a:t>總交易筆數 ≥ 10</a:t>
                      </a:r>
                    </a:p>
                  </a:txBody>
                  <a:tcPr>
                    <a:solidFill>
                      <a:srgbClr val="F3F5F8"/>
                    </a:solidFill>
                  </a:tcPr>
                </a:tc>
                <a:tc>
                  <a:txBody>
                    <a:bodyPr/>
                    <a:lstStyle/>
                    <a:p>
                      <a:r>
                        <a:rPr sz="1100" b="0">
                          <a:solidFill>
                            <a:srgbClr val="1F2328"/>
                          </a:solidFill>
                          <a:latin typeface="Microsoft JhengHei"/>
                          <a:ea typeface="Microsoft JhengHei"/>
                        </a:rPr>
                        <a:t>通過</a:t>
                      </a:r>
                    </a:p>
                  </a:txBody>
                  <a:tcPr>
                    <a:solidFill>
                      <a:srgbClr val="F3F5F8"/>
                    </a:solidFill>
                  </a:tcPr>
                </a:tc>
                <a:tc>
                  <a:txBody>
                    <a:bodyPr/>
                    <a:lstStyle/>
                    <a:p>
                      <a:r>
                        <a:rPr sz="1100" b="0">
                          <a:solidFill>
                            <a:srgbClr val="1F2328"/>
                          </a:solidFill>
                          <a:latin typeface="Microsoft JhengHei"/>
                          <a:ea typeface="Microsoft JhengHei"/>
                        </a:rPr>
                        <a:t>累計 88 筆＋本次建議 18 筆 = 106 筆；剩餘 22 個交易日</a:t>
                      </a:r>
                    </a:p>
                  </a:txBody>
                  <a:tcPr>
                    <a:solidFill>
                      <a:srgbClr val="F3F5F8"/>
                    </a:solidFill>
                  </a:tcPr>
                </a:tc>
              </a:tr>
              <a:tr h="365760">
                <a:tc>
                  <a:txBody>
                    <a:bodyPr/>
                    <a:lstStyle/>
                    <a:p>
                      <a:r>
                        <a:rPr sz="1100" b="0">
                          <a:solidFill>
                            <a:srgbClr val="1F2328"/>
                          </a:solidFill>
                          <a:latin typeface="Microsoft JhengHei"/>
                          <a:ea typeface="Microsoft JhengHei"/>
                        </a:rPr>
                        <a:t>融資借款在自訂上限內</a:t>
                      </a:r>
                    </a:p>
                  </a:txBody>
                  <a:tcPr>
                    <a:solidFill>
                      <a:srgbClr val="FFFFFF"/>
                    </a:solidFill>
                  </a:tcPr>
                </a:tc>
                <a:tc>
                  <a:txBody>
                    <a:bodyPr/>
                    <a:lstStyle/>
                    <a:p>
                      <a:r>
                        <a:rPr sz="1100" b="0">
                          <a:solidFill>
                            <a:srgbClr val="1F2328"/>
                          </a:solidFill>
                          <a:latin typeface="Microsoft JhengHei"/>
                          <a:ea typeface="Microsoft JhengHei"/>
                        </a:rPr>
                        <a:t>通過</a:t>
                      </a:r>
                    </a:p>
                  </a:txBody>
                  <a:tcPr>
                    <a:solidFill>
                      <a:srgbClr val="FFFFFF"/>
                    </a:solidFill>
                  </a:tcPr>
                </a:tc>
                <a:tc>
                  <a:txBody>
                    <a:bodyPr/>
                    <a:lstStyle/>
                    <a:p>
                      <a:r>
                        <a:rPr sz="1100" b="0">
                          <a:solidFill>
                            <a:srgbClr val="1F2328"/>
                          </a:solidFill>
                          <a:latin typeface="Microsoft JhengHei"/>
                          <a:ea typeface="Microsoft JhengHei"/>
                        </a:rPr>
                        <a:t>融資借款 152,163 元 / 上限 2,636,555 元（總資產 30%）</a:t>
                      </a:r>
                    </a:p>
                  </a:txBody>
                  <a:tcPr>
                    <a:solidFill>
                      <a:srgbClr val="FFFFFF"/>
                    </a:solidFill>
                  </a:tcPr>
                </a:tc>
              </a:tr>
              <a:tr h="365760">
                <a:tc>
                  <a:txBody>
                    <a:bodyPr/>
                    <a:lstStyle/>
                    <a:p>
                      <a:r>
                        <a:rPr sz="1100" b="0">
                          <a:solidFill>
                            <a:srgbClr val="1F2328"/>
                          </a:solidFill>
                          <a:latin typeface="Microsoft JhengHei"/>
                          <a:ea typeface="Microsoft JhengHei"/>
                        </a:rPr>
                        <a:t>累積報酬為正（才列入排名）</a:t>
                      </a:r>
                    </a:p>
                  </a:txBody>
                  <a:tcPr>
                    <a:solidFill>
                      <a:srgbClr val="F3F5F8"/>
                    </a:solidFill>
                  </a:tcPr>
                </a:tc>
                <a:tc>
                  <a:txBody>
                    <a:bodyPr/>
                    <a:lstStyle/>
                    <a:p>
                      <a:r>
                        <a:rPr sz="1100" b="0">
                          <a:solidFill>
                            <a:srgbClr val="1F2328"/>
                          </a:solidFill>
                          <a:latin typeface="Microsoft JhengHei"/>
                          <a:ea typeface="Microsoft JhengHei"/>
                        </a:rPr>
                        <a:t>注意</a:t>
                      </a:r>
                    </a:p>
                  </a:txBody>
                  <a:tcPr>
                    <a:solidFill>
                      <a:srgbClr val="F3F5F8"/>
                    </a:solidFill>
                  </a:tcPr>
                </a:tc>
                <a:tc>
                  <a:txBody>
                    <a:bodyPr/>
                    <a:lstStyle/>
                    <a:p>
                      <a:r>
                        <a:rPr sz="1100" b="0">
                          <a:solidFill>
                            <a:srgbClr val="1F2328"/>
                          </a:solidFill>
                          <a:latin typeface="Microsoft JhengHei"/>
                          <a:ea typeface="Microsoft JhengHei"/>
                        </a:rPr>
                        <a:t>目前累積報酬 -12.11%</a:t>
                      </a:r>
                    </a:p>
                  </a:txBody>
                  <a:tcPr>
                    <a:solidFill>
                      <a:srgbClr val="F3F5F8"/>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模型健康度與調整 Agent</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42</a:t>
            </a:r>
          </a:p>
        </p:txBody>
      </p:sp>
      <p:graphicFrame>
        <p:nvGraphicFramePr>
          <p:cNvPr id="5" name="Table 4"/>
          <p:cNvGraphicFramePr>
            <a:graphicFrameLocks noGrp="1"/>
          </p:cNvGraphicFramePr>
          <p:nvPr/>
        </p:nvGraphicFramePr>
        <p:xfrm>
          <a:off x="457200" y="1188720"/>
          <a:ext cx="11247120" cy="2560320"/>
        </p:xfrm>
        <a:graphic>
          <a:graphicData uri="http://schemas.openxmlformats.org/drawingml/2006/table">
            <a:tbl>
              <a:tblPr firstRow="1" bandRow="1">
                <a:tableStyleId>{5C22544A-7EE6-4342-B048-85BDC9FD1C3A}</a:tableStyleId>
              </a:tblPr>
              <a:tblGrid>
                <a:gridCol w="5623560"/>
                <a:gridCol w="1874520"/>
                <a:gridCol w="3749040"/>
              </a:tblGrid>
              <a:tr h="365760">
                <a:tc>
                  <a:txBody>
                    <a:bodyPr/>
                    <a:lstStyle/>
                    <a:p>
                      <a:r>
                        <a:rPr sz="1200" b="1">
                          <a:solidFill>
                            <a:srgbClr val="FFFFFF"/>
                          </a:solidFill>
                          <a:latin typeface="Microsoft JhengHei"/>
                          <a:ea typeface="Microsoft JhengHei"/>
                        </a:rPr>
                        <a:t>指標</a:t>
                      </a:r>
                    </a:p>
                  </a:txBody>
                  <a:tcPr>
                    <a:solidFill>
                      <a:srgbClr val="1F3A5F"/>
                    </a:solidFill>
                  </a:tcPr>
                </a:tc>
                <a:tc>
                  <a:txBody>
                    <a:bodyPr/>
                    <a:lstStyle/>
                    <a:p>
                      <a:r>
                        <a:rPr sz="1200" b="1">
                          <a:solidFill>
                            <a:srgbClr val="FFFFFF"/>
                          </a:solidFill>
                          <a:latin typeface="Microsoft JhengHei"/>
                          <a:ea typeface="Microsoft JhengHei"/>
                        </a:rPr>
                        <a:t>樣本</a:t>
                      </a:r>
                    </a:p>
                  </a:txBody>
                  <a:tcPr>
                    <a:solidFill>
                      <a:srgbClr val="1F3A5F"/>
                    </a:solidFill>
                  </a:tcPr>
                </a:tc>
                <a:tc>
                  <a:txBody>
                    <a:bodyPr/>
                    <a:lstStyle/>
                    <a:p>
                      <a:r>
                        <a:rPr sz="1200" b="1">
                          <a:solidFill>
                            <a:srgbClr val="FFFFFF"/>
                          </a:solidFill>
                          <a:latin typeface="Microsoft JhengHei"/>
                          <a:ea typeface="Microsoft JhengHei"/>
                        </a:rPr>
                        <a:t>表現</a:t>
                      </a:r>
                    </a:p>
                  </a:txBody>
                  <a:tcPr>
                    <a:solidFill>
                      <a:srgbClr val="1F3A5F"/>
                    </a:solidFill>
                  </a:tcPr>
                </a:tc>
              </a:tr>
              <a:tr h="365760">
                <a:tc>
                  <a:txBody>
                    <a:bodyPr/>
                    <a:lstStyle/>
                    <a:p>
                      <a:r>
                        <a:rPr sz="1200" b="0">
                          <a:solidFill>
                            <a:srgbClr val="1F2328"/>
                          </a:solidFill>
                          <a:latin typeface="Microsoft JhengHei"/>
                          <a:ea typeface="Microsoft JhengHei"/>
                        </a:rPr>
                        <a:t>大盤隔夜跳空命中率</a:t>
                      </a:r>
                    </a:p>
                  </a:txBody>
                  <a:tcPr>
                    <a:solidFill>
                      <a:srgbClr val="F3F5F8"/>
                    </a:solidFill>
                  </a:tcPr>
                </a:tc>
                <a:tc>
                  <a:txBody>
                    <a:bodyPr/>
                    <a:lstStyle/>
                    <a:p>
                      <a:r>
                        <a:rPr sz="1200" b="0">
                          <a:solidFill>
                            <a:srgbClr val="1F2328"/>
                          </a:solidFill>
                          <a:latin typeface="Microsoft JhengHei"/>
                          <a:ea typeface="Microsoft JhengHei"/>
                        </a:rPr>
                        <a:t>31</a:t>
                      </a:r>
                    </a:p>
                  </a:txBody>
                  <a:tcPr>
                    <a:solidFill>
                      <a:srgbClr val="F3F5F8"/>
                    </a:solidFill>
                  </a:tcPr>
                </a:tc>
                <a:tc>
                  <a:txBody>
                    <a:bodyPr/>
                    <a:lstStyle/>
                    <a:p>
                      <a:r>
                        <a:rPr sz="1200" b="0">
                          <a:solidFill>
                            <a:srgbClr val="1F2328"/>
                          </a:solidFill>
                          <a:latin typeface="Microsoft JhengHei"/>
                          <a:ea typeface="Microsoft JhengHei"/>
                        </a:rPr>
                        <a:t>87.1%</a:t>
                      </a:r>
                    </a:p>
                  </a:txBody>
                  <a:tcPr>
                    <a:solidFill>
                      <a:srgbClr val="F3F5F8"/>
                    </a:solidFill>
                  </a:tcPr>
                </a:tc>
              </a:tr>
              <a:tr h="365760">
                <a:tc>
                  <a:txBody>
                    <a:bodyPr/>
                    <a:lstStyle/>
                    <a:p>
                      <a:r>
                        <a:rPr sz="1200" b="0">
                          <a:solidFill>
                            <a:srgbClr val="1F2328"/>
                          </a:solidFill>
                          <a:latin typeface="Microsoft JhengHei"/>
                          <a:ea typeface="Microsoft JhengHei"/>
                        </a:rPr>
                        <a:t>個股隔夜跳空命中率</a:t>
                      </a:r>
                    </a:p>
                  </a:txBody>
                  <a:tcPr>
                    <a:solidFill>
                      <a:srgbClr val="FFFFFF"/>
                    </a:solidFill>
                  </a:tcPr>
                </a:tc>
                <a:tc>
                  <a:txBody>
                    <a:bodyPr/>
                    <a:lstStyle/>
                    <a:p>
                      <a:r>
                        <a:rPr sz="1200" b="0">
                          <a:solidFill>
                            <a:srgbClr val="1F2328"/>
                          </a:solidFill>
                          <a:latin typeface="Microsoft JhengHei"/>
                          <a:ea typeface="Microsoft JhengHei"/>
                        </a:rPr>
                        <a:t>1095</a:t>
                      </a:r>
                    </a:p>
                  </a:txBody>
                  <a:tcPr>
                    <a:solidFill>
                      <a:srgbClr val="FFFFFF"/>
                    </a:solidFill>
                  </a:tcPr>
                </a:tc>
                <a:tc>
                  <a:txBody>
                    <a:bodyPr/>
                    <a:lstStyle/>
                    <a:p>
                      <a:r>
                        <a:rPr sz="1200" b="0">
                          <a:solidFill>
                            <a:srgbClr val="1F2328"/>
                          </a:solidFill>
                          <a:latin typeface="Microsoft JhengHei"/>
                          <a:ea typeface="Microsoft JhengHei"/>
                        </a:rPr>
                        <a:t>73.8%</a:t>
                      </a:r>
                    </a:p>
                  </a:txBody>
                  <a:tcPr>
                    <a:solidFill>
                      <a:srgbClr val="FFFFFF"/>
                    </a:solidFill>
                  </a:tcPr>
                </a:tc>
              </a:tr>
              <a:tr h="365760">
                <a:tc>
                  <a:txBody>
                    <a:bodyPr/>
                    <a:lstStyle/>
                    <a:p>
                      <a:r>
                        <a:rPr sz="1200" b="0">
                          <a:solidFill>
                            <a:srgbClr val="1F2328"/>
                          </a:solidFill>
                          <a:latin typeface="Microsoft JhengHei"/>
                          <a:ea typeface="Microsoft JhengHei"/>
                        </a:rPr>
                        <a:t>一個月推薦實際超額報酬</a:t>
                      </a:r>
                    </a:p>
                  </a:txBody>
                  <a:tcPr>
                    <a:solidFill>
                      <a:srgbClr val="F3F5F8"/>
                    </a:solidFill>
                  </a:tcPr>
                </a:tc>
                <a:tc>
                  <a:txBody>
                    <a:bodyPr/>
                    <a:lstStyle/>
                    <a:p>
                      <a:r>
                        <a:rPr sz="1200" b="0">
                          <a:solidFill>
                            <a:srgbClr val="1F2328"/>
                          </a:solidFill>
                          <a:latin typeface="Microsoft JhengHei"/>
                          <a:ea typeface="Microsoft JhengHei"/>
                        </a:rPr>
                        <a:t>1112</a:t>
                      </a:r>
                    </a:p>
                  </a:txBody>
                  <a:tcPr>
                    <a:solidFill>
                      <a:srgbClr val="F3F5F8"/>
                    </a:solidFill>
                  </a:tcPr>
                </a:tc>
                <a:tc>
                  <a:txBody>
                    <a:bodyPr/>
                    <a:lstStyle/>
                    <a:p>
                      <a:r>
                        <a:rPr sz="1200" b="0">
                          <a:solidFill>
                            <a:srgbClr val="1F2328"/>
                          </a:solidFill>
                          <a:latin typeface="Microsoft JhengHei"/>
                          <a:ea typeface="Microsoft JhengHei"/>
                        </a:rPr>
                        <a:t>+0.88%</a:t>
                      </a:r>
                    </a:p>
                  </a:txBody>
                  <a:tcPr>
                    <a:solidFill>
                      <a:srgbClr val="F3F5F8"/>
                    </a:solidFill>
                  </a:tcPr>
                </a:tc>
              </a:tr>
              <a:tr h="365760">
                <a:tc>
                  <a:txBody>
                    <a:bodyPr/>
                    <a:lstStyle/>
                    <a:p>
                      <a:r>
                        <a:rPr sz="1200" b="0">
                          <a:solidFill>
                            <a:srgbClr val="1F2328"/>
                          </a:solidFill>
                          <a:latin typeface="Microsoft JhengHei"/>
                          <a:ea typeface="Microsoft JhengHei"/>
                        </a:rPr>
                        <a:t>一個月推薦實際創新高比例</a:t>
                      </a:r>
                    </a:p>
                  </a:txBody>
                  <a:tcPr>
                    <a:solidFill>
                      <a:srgbClr val="FFFFFF"/>
                    </a:solidFill>
                  </a:tcPr>
                </a:tc>
                <a:tc>
                  <a:txBody>
                    <a:bodyPr/>
                    <a:lstStyle/>
                    <a:p>
                      <a:r>
                        <a:rPr sz="1200" b="0">
                          <a:solidFill>
                            <a:srgbClr val="1F2328"/>
                          </a:solidFill>
                          <a:latin typeface="Microsoft JhengHei"/>
                          <a:ea typeface="Microsoft JhengHei"/>
                        </a:rPr>
                        <a:t>1112</a:t>
                      </a:r>
                    </a:p>
                  </a:txBody>
                  <a:tcPr>
                    <a:solidFill>
                      <a:srgbClr val="FFFFFF"/>
                    </a:solidFill>
                  </a:tcPr>
                </a:tc>
                <a:tc>
                  <a:txBody>
                    <a:bodyPr/>
                    <a:lstStyle/>
                    <a:p>
                      <a:r>
                        <a:rPr sz="1200" b="0">
                          <a:solidFill>
                            <a:srgbClr val="1F2328"/>
                          </a:solidFill>
                          <a:latin typeface="Microsoft JhengHei"/>
                          <a:ea typeface="Microsoft JhengHei"/>
                        </a:rPr>
                        <a:t>44.7%</a:t>
                      </a:r>
                    </a:p>
                  </a:txBody>
                  <a:tcPr>
                    <a:solidFill>
                      <a:srgbClr val="FFFFFF"/>
                    </a:solidFill>
                  </a:tcPr>
                </a:tc>
              </a:tr>
              <a:tr h="365760">
                <a:tc>
                  <a:txBody>
                    <a:bodyPr/>
                    <a:lstStyle/>
                    <a:p>
                      <a:r>
                        <a:rPr sz="1200" b="0">
                          <a:solidFill>
                            <a:srgbClr val="1F2328"/>
                          </a:solidFill>
                          <a:latin typeface="Microsoft JhengHei"/>
                          <a:ea typeface="Microsoft JhengHei"/>
                        </a:rPr>
                        <a:t>回測：前 20 名創新高率 / 基準</a:t>
                      </a:r>
                    </a:p>
                  </a:txBody>
                  <a:tcPr>
                    <a:solidFill>
                      <a:srgbClr val="F3F5F8"/>
                    </a:solidFill>
                  </a:tcPr>
                </a:tc>
                <a:tc>
                  <a:txBody>
                    <a:bodyPr/>
                    <a:lstStyle/>
                    <a:p>
                      <a:r>
                        <a:rPr sz="1200" b="0">
                          <a:solidFill>
                            <a:srgbClr val="1F2328"/>
                          </a:solidFill>
                          <a:latin typeface="Microsoft JhengHei"/>
                          <a:ea typeface="Microsoft JhengHei"/>
                        </a:rPr>
                        <a:t>4</a:t>
                      </a:r>
                    </a:p>
                  </a:txBody>
                  <a:tcPr>
                    <a:solidFill>
                      <a:srgbClr val="F3F5F8"/>
                    </a:solidFill>
                  </a:tcPr>
                </a:tc>
                <a:tc>
                  <a:txBody>
                    <a:bodyPr/>
                    <a:lstStyle/>
                    <a:p>
                      <a:r>
                        <a:rPr sz="1200" b="0">
                          <a:solidFill>
                            <a:srgbClr val="1F2328"/>
                          </a:solidFill>
                          <a:latin typeface="Microsoft JhengHei"/>
                          <a:ea typeface="Microsoft JhengHei"/>
                        </a:rPr>
                        <a:t>88.2% / 30.3%</a:t>
                      </a:r>
                    </a:p>
                  </a:txBody>
                  <a:tcPr>
                    <a:solidFill>
                      <a:srgbClr val="F3F5F8"/>
                    </a:solidFill>
                  </a:tcPr>
                </a:tc>
              </a:tr>
              <a:tr h="365760">
                <a:tc>
                  <a:txBody>
                    <a:bodyPr/>
                    <a:lstStyle/>
                    <a:p>
                      <a:r>
                        <a:rPr sz="1200" b="0">
                          <a:solidFill>
                            <a:srgbClr val="1F2328"/>
                          </a:solidFill>
                          <a:latin typeface="Microsoft JhengHei"/>
                          <a:ea typeface="Microsoft JhengHei"/>
                        </a:rPr>
                        <a:t>回測：前 20 名月超額報酬</a:t>
                      </a:r>
                    </a:p>
                  </a:txBody>
                  <a:tcPr>
                    <a:solidFill>
                      <a:srgbClr val="FFFFFF"/>
                    </a:solidFill>
                  </a:tcPr>
                </a:tc>
                <a:tc>
                  <a:txBody>
                    <a:bodyPr/>
                    <a:lstStyle/>
                    <a:p>
                      <a:r>
                        <a:rPr sz="1200" b="0">
                          <a:solidFill>
                            <a:srgbClr val="1F2328"/>
                          </a:solidFill>
                          <a:latin typeface="Microsoft JhengHei"/>
                          <a:ea typeface="Microsoft JhengHei"/>
                        </a:rPr>
                        <a:t>4</a:t>
                      </a:r>
                    </a:p>
                  </a:txBody>
                  <a:tcPr>
                    <a:solidFill>
                      <a:srgbClr val="FFFFFF"/>
                    </a:solidFill>
                  </a:tcPr>
                </a:tc>
                <a:tc>
                  <a:txBody>
                    <a:bodyPr/>
                    <a:lstStyle/>
                    <a:p>
                      <a:r>
                        <a:rPr sz="1200" b="0">
                          <a:solidFill>
                            <a:srgbClr val="1F2328"/>
                          </a:solidFill>
                          <a:latin typeface="Microsoft JhengHei"/>
                          <a:ea typeface="Microsoft JhengHei"/>
                        </a:rPr>
                        <a:t>+6.94%</a:t>
                      </a:r>
                    </a:p>
                  </a:txBody>
                  <a:tcPr>
                    <a:solidFill>
                      <a:srgbClr val="FFFFFF"/>
                    </a:solidFill>
                  </a:tcPr>
                </a:tc>
              </a:tr>
            </a:tbl>
          </a:graphicData>
        </a:graphic>
      </p:graphicFrame>
      <p:sp>
        <p:nvSpPr>
          <p:cNvPr id="6" name="TextBox 5"/>
          <p:cNvSpPr txBox="1"/>
          <p:nvPr/>
        </p:nvSpPr>
        <p:spPr>
          <a:xfrm>
            <a:off x="594360" y="4297680"/>
            <a:ext cx="10972800" cy="1920240"/>
          </a:xfrm>
          <a:prstGeom prst="rect">
            <a:avLst/>
          </a:prstGeom>
          <a:noFill/>
        </p:spPr>
        <p:txBody>
          <a:bodyPr wrap="square">
            <a:spAutoFit/>
          </a:bodyPr>
          <a:lstStyle/>
          <a:p>
            <a:pPr>
              <a:spcAft>
                <a:spcPts val="400"/>
              </a:spcAft>
            </a:pPr>
            <a:r>
              <a:rPr sz="1200" b="0">
                <a:solidFill>
                  <a:srgbClr val="1F2328"/>
                </a:solidFill>
                <a:latin typeface="Microsoft JhengHei"/>
                <a:ea typeface="Microsoft JhengHei"/>
              </a:rPr>
              <a:t>• 目前未偵測到重大失誤，參數維持不變</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累積報酬走勢</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盤前報告 2026-10-29　|　43</a:t>
            </a:r>
          </a:p>
        </p:txBody>
      </p:sp>
      <p:pic>
        <p:nvPicPr>
          <p:cNvPr id="5" name="Picture 4" descr="2026-10-29_盤前報告_nav.png"/>
          <p:cNvPicPr>
            <a:picLocks noChangeAspect="1"/>
          </p:cNvPicPr>
          <p:nvPr/>
        </p:nvPicPr>
        <p:blipFill>
          <a:blip r:embed="rId2"/>
          <a:stretch>
            <a:fillRect/>
          </a:stretch>
        </p:blipFill>
        <p:spPr>
          <a:xfrm>
            <a:off x="472287" y="1097280"/>
            <a:ext cx="11247120" cy="44988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